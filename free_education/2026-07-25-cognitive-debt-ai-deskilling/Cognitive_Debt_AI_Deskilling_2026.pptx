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00" b="1">
                <a:solidFill>
                  <a:srgbClr val="22222B"/>
                </a:solidFill>
                <a:latin typeface="Comic Sans MS"/>
              </a:rPr>
              <a:t>Cognitive Debt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51760"/>
            <a:ext cx="6583680" cy="146304"/>
          </a:xfrm>
          <a:prstGeom prst="rect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553A"/>
                </a:solidFill>
                <a:latin typeface="Comic Sans MS"/>
              </a:rPr>
              <a:t>The tool that saves you time can erode the skill it saves.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8A867E"/>
                </a:solidFill>
                <a:latin typeface="Comic Sans MS"/>
              </a:rPr>
              <a:t>AI-deskilling trend brief  ·  5-minute read  ·  25 July 2026</a:t>
            </a:r>
          </a:p>
        </p:txBody>
      </p:sp>
      <p:sp>
        <p:nvSpPr>
          <p:cNvPr id="7" name="Lightning Bolt 6"/>
          <p:cNvSpPr/>
          <p:nvPr/>
        </p:nvSpPr>
        <p:spPr>
          <a:xfrm>
            <a:off x="9966960" y="914400"/>
            <a:ext cx="1280160" cy="1828800"/>
          </a:xfrm>
          <a:prstGeom prst="lightningBolt">
            <a:avLst/>
          </a:prstGeom>
          <a:solidFill>
            <a:srgbClr val="FFE79C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8778240" y="4114800"/>
            <a:ext cx="1645920" cy="1645920"/>
          </a:xfrm>
          <a:prstGeom prst="blockArc">
            <a:avLst/>
          </a:prstGeom>
          <a:noFill/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4572000"/>
            <a:ext cx="1645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FB0"/>
                </a:solidFill>
                <a:latin typeface="Comic Sans MS"/>
              </a:rPr>
              <a:t>use AI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FB0"/>
                </a:solidFill>
                <a:latin typeface="Comic Sans MS"/>
              </a:rPr>
              <a:t>ON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8553A"/>
                </a:solidFill>
                <a:latin typeface="Comic Sans MS"/>
              </a:rPr>
              <a:t>The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320040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94183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Human skills don't just get MORE valuable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as AI rises —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they ATROPHY when you let AI do your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thinking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553A"/>
                </a:solidFill>
                <a:latin typeface="Comic Sans MS"/>
              </a:rPr>
              <a:t>New meta-move: not “use more AI.”  It's  use AI on purpose + keep your own reps.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The plot twist since last month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3931920"/>
          </a:xfrm>
          <a:prstGeom prst="roundRect">
            <a:avLst/>
          </a:prstGeom>
          <a:solidFill>
            <a:srgbClr val="EFECE4"/>
          </a:solidFill>
          <a:ln w="317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8A867E"/>
                </a:solidFill>
                <a:latin typeface="Comic Sans MS"/>
              </a:rPr>
              <a:t>OLD STORY —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AI does the TASK.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You keep the skill,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you lose the busywork.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value ▲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108960"/>
            <a:ext cx="822960" cy="822960"/>
          </a:xfrm>
          <a:prstGeom prst="rightArrow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554480"/>
            <a:ext cx="4572000" cy="3931920"/>
          </a:xfrm>
          <a:prstGeom prst="roundRect">
            <a:avLst/>
          </a:prstGeom>
          <a:solidFill>
            <a:srgbClr val="F9E4E0"/>
          </a:solidFill>
          <a:ln w="38100">
            <a:solidFill>
              <a:srgbClr val="C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C23B2E"/>
                </a:solidFill>
                <a:latin typeface="Comic Sans MS"/>
              </a:rPr>
              <a:t>NEW STORY — cognitive 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4023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AI does the THINKING.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You skip the reps,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the skill quietly decays.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B"/>
                </a:solidFill>
                <a:latin typeface="Comic Sans MS"/>
              </a:rPr>
              <a:t>value ▼ (if unmanaged)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8553A"/>
                </a:solidFill>
                <a:latin typeface="Comic Sans MS"/>
              </a:rPr>
              <a:t>Same tool. Opposite outcome — depending on how you use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The evidence landed this month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514600" cy="329184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C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C23B2E"/>
                </a:solidFill>
                <a:latin typeface="Comic Sans MS"/>
              </a:rPr>
              <a:t>Gartner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50% of orgs will require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“AI-FREE” skills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assessments thru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737360"/>
            <a:ext cx="2514600" cy="329184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96596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F6FB0"/>
                </a:solidFill>
                <a:latin typeface="Comic Sans MS"/>
              </a:rPr>
              <a:t>Anthropic RCT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4320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AI group 50% vs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hand-coding 67%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recall (“never-skilling”)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37360"/>
            <a:ext cx="2514600" cy="329184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96596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8553A"/>
                </a:solidFill>
                <a:latin typeface="Comic Sans MS"/>
              </a:rPr>
              <a:t>Wharton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“cognitive surrender”: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adopt the WRONG AI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answer &gt;80% of the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737360"/>
            <a:ext cx="2514600" cy="329184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96596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3B8C5A"/>
                </a:solidFill>
                <a:latin typeface="Comic Sans MS"/>
              </a:rPr>
              <a:t>Radiology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74320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unaided tumor detection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−6% in 3 months;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74% clinicians worried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2222B"/>
                </a:solidFill>
                <a:latin typeface="Comic Sans MS"/>
              </a:rPr>
              <a:t>BCG names it: the skills leaders rate most critical — judgment, problem-framing,</a:t>
            </a:r>
          </a:p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2222B"/>
                </a:solidFill>
                <a:latin typeface="Comic Sans MS"/>
              </a:rPr>
              <a:t>creative thinking — are the ones most at risk of erosion.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Meanwhile demand got LOUDER, not quieter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4114800"/>
            <a:ext cx="1280160" cy="457200"/>
          </a:xfrm>
          <a:prstGeom prst="roundRect">
            <a:avLst/>
          </a:prstGeom>
          <a:solidFill>
            <a:srgbClr val="8A867E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6118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+6%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1772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all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1280160" cy="2926080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143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+134%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61772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AI-skill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54480"/>
            <a:ext cx="6035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• AI-skill jobs growing ~8× faster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  than the market (69% vs 9%).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• WEF: ~170M roles created, ~92M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  displaced by 2030; half the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  workforce needs reskilling in 4 yrs.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• PwC wage premium holds at 62%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22222B"/>
                </a:solidFill>
                <a:latin typeface="Comic Sans MS"/>
              </a:rPr>
              <a:t>  (was 57%).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F6FB0"/>
                </a:solidFill>
                <a:latin typeface="Comic Sans MS"/>
              </a:rPr>
              <a:t>The premium isn't for the word “AI” on your résumé — it's for driving the tool AND catching it when it's wrong.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B8C5A"/>
                </a:solidFill>
                <a:latin typeface="Comic Sans MS"/>
              </a:rPr>
              <a:t>The paradox: active users are MORE engaged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737360"/>
            <a:ext cx="2743200" cy="274320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3B8C5A"/>
                </a:solidFill>
                <a:latin typeface="Comic Sans MS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of DAILY AI users are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fully engaged at work</a:t>
            </a:r>
          </a:p>
        </p:txBody>
      </p:sp>
      <p:sp>
        <p:nvSpPr>
          <p:cNvPr id="7" name="Oval 6"/>
          <p:cNvSpPr/>
          <p:nvPr/>
        </p:nvSpPr>
        <p:spPr>
          <a:xfrm>
            <a:off x="4206240" y="1737360"/>
            <a:ext cx="2743200" cy="274320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8A867E"/>
                </a:solidFill>
                <a:latin typeface="Comic Sans MS"/>
              </a:rPr>
              <a:t>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4290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of those who NEVER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use AI are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1737360"/>
            <a:ext cx="2743200" cy="274320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C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3774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C23B2E"/>
                </a:solidFill>
                <a:latin typeface="Comic Sans MS"/>
              </a:rP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290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“thriving at work” —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2222B"/>
                </a:solidFill>
                <a:latin typeface="Comic Sans MS"/>
              </a:rPr>
              <a:t>down from 66% in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>Only 22% feel their job is safe; 99% of CEOs expect AI layoffs within 2 years.</a:t>
            </a:r>
          </a:p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>Read together: avoidance loses, and surrender loses. Engaged OWNERSHIP wins.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The updated formula: add a denominator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468880" cy="1737360"/>
          </a:xfrm>
          <a:prstGeom prst="roundRect">
            <a:avLst/>
          </a:prstGeom>
          <a:solidFill>
            <a:srgbClr val="FBF7EF"/>
          </a:solidFill>
          <a:ln w="508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AI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920240"/>
            <a:ext cx="777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>
                <a:solidFill>
                  <a:srgbClr val="22222B"/>
                </a:solidFill>
                <a:latin typeface="Comic Sans MS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737360"/>
            <a:ext cx="2468880" cy="1737360"/>
          </a:xfrm>
          <a:prstGeom prst="roundRect">
            <a:avLst/>
          </a:prstGeom>
          <a:solidFill>
            <a:srgbClr val="FBF7EF"/>
          </a:solidFill>
          <a:ln w="508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10312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CRITICAL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THINKING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777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>
                <a:solidFill>
                  <a:srgbClr val="22222B"/>
                </a:solidFill>
                <a:latin typeface="Comic Sans MS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2468880" cy="1737360"/>
          </a:xfrm>
          <a:prstGeom prst="roundRect">
            <a:avLst/>
          </a:prstGeom>
          <a:solidFill>
            <a:srgbClr val="FBF7EF"/>
          </a:solidFill>
          <a:ln w="508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10312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3B8C5A"/>
                </a:solidFill>
                <a:latin typeface="Comic Sans MS"/>
              </a:rPr>
              <a:t>DOMAIN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3B8C5A"/>
                </a:solidFill>
                <a:latin typeface="Comic Sans MS"/>
              </a:rPr>
              <a:t>EXPERTISE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94760"/>
            <a:ext cx="10332720" cy="45720"/>
          </a:xfrm>
          <a:prstGeom prst="rect">
            <a:avLst/>
          </a:prstGeom>
          <a:solidFill>
            <a:srgbClr val="22222B"/>
          </a:solidFill>
          <a:ln w="127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4023360"/>
            <a:ext cx="4846320" cy="1188720"/>
          </a:xfrm>
          <a:prstGeom prst="roundRect">
            <a:avLst/>
          </a:prstGeom>
          <a:solidFill>
            <a:srgbClr val="F9E4E0"/>
          </a:solidFill>
          <a:ln w="38100">
            <a:solidFill>
              <a:srgbClr val="C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114800"/>
            <a:ext cx="4846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C23B2E"/>
                </a:solidFill>
                <a:latin typeface="Comic Sans MS"/>
              </a:rPr>
              <a:t>COGNITIVE DEBT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C23B2E"/>
                </a:solidFill>
                <a:latin typeface="Comic Sans MS"/>
              </a:rPr>
              <a:t>(the reps you skipped)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>Let AI think FOR you instead of WITH you and the denominator grows —</a:t>
            </a:r>
          </a:p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>your real value shrinks, no matter how good the tool looks.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🛠 A tool to try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22222B"/>
                </a:solidFill>
                <a:latin typeface="Comic Sans MS"/>
              </a:rPr>
              <a:t>The “AI-Free Rep” Protocol — 10 minutes, weekly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2082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1.  Pick one core JUDGMENT task you now do with AI (a decision, diagnosis, plan).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806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2.  Do it COLD first — write your own answer + reasoning before opening any AI. 5 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7530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3.  Then ask the AI. Compare. Where did you differ — and who was actually right?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9768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5254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4.  Log the gap. If the AI changed your mind, was it correct, or did you just surrender?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297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5.  Once a month go FULLY AI-free on one real task — your own private “Gartner assessment.”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8553A"/>
                </a:solidFill>
                <a:latin typeface="Comic Sans MS"/>
              </a:rPr>
              <a:t>Bonus: prompt the AI “give 3 reasons my conclusion is wrong.” Sparring partner, not oracle.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8553A"/>
                </a:solidFill>
                <a:latin typeface="Comic Sans MS"/>
              </a:rPr>
              <a:t>The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219456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01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22222B"/>
                </a:solidFill>
                <a:latin typeface="Comic Sans MS"/>
              </a:rPr>
              <a:t>The winners won't use AI the most or the least —</a:t>
            </a:r>
          </a:p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22222B"/>
                </a:solidFill>
                <a:latin typeface="Comic Sans MS"/>
              </a:rPr>
              <a:t>they'll use it DELIBERATELY, paying down cognitive debt</a:t>
            </a:r>
          </a:p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22222B"/>
                </a:solidFill>
                <a:latin typeface="Comic Sans MS"/>
              </a:rPr>
              <a:t>with regular unaided reps so the judgment stays theirs.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Sources: Gartner 2026 predictions · Anthropic deskilling RCT (via TNW) · Wharton “cognitive surrender” ·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BCG cognitive-debt report · PwC 2026 AI Jobs Barometer · WEF Future of Jobs 2026 · ADP People at Work 2026 ·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GMAC recruiter survey · Coursera micro-credentials 2026.  (Full links in the accompanying README.)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