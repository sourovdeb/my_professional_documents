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22222B"/>
                </a:solidFill>
                <a:latin typeface="Comic Sans MS"/>
              </a:rPr>
              <a:t>The Two-Track</a:t>
            </a:r>
          </a:p>
          <a:p>
            <a:pPr algn="l">
              <a:lnSpc>
                <a:spcPct val="105000"/>
              </a:lnSpc>
            </a:pPr>
            <a:r>
              <a:rPr sz="5400" b="1">
                <a:solidFill>
                  <a:srgbClr val="22222B"/>
                </a:solidFill>
                <a:latin typeface="Comic Sans MS"/>
              </a:rPr>
              <a:t>Labour 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46120"/>
            <a:ext cx="6400800" cy="146304"/>
          </a:xfrm>
          <a:prstGeom prst="rect">
            <a:avLst/>
          </a:prstGeom>
          <a:solidFill>
            <a:srgbClr val="E8553A"/>
          </a:solidFill>
          <a:ln w="127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553A"/>
                </a:solidFill>
                <a:latin typeface="Comic Sans MS"/>
              </a:rPr>
              <a:t>AI stopped being a pay bump. It's now splitting the workforce.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8A867E"/>
                </a:solidFill>
                <a:latin typeface="Comic Sans MS"/>
              </a:rPr>
              <a:t>Late-July 2026 trend brief  ·  5-minute read  ·  27 July 2026</a:t>
            </a:r>
          </a:p>
        </p:txBody>
      </p:sp>
      <p:sp>
        <p:nvSpPr>
          <p:cNvPr id="7" name="Left-Right Arrow 6"/>
          <p:cNvSpPr/>
          <p:nvPr/>
        </p:nvSpPr>
        <p:spPr>
          <a:xfrm>
            <a:off x="9326880" y="1188720"/>
            <a:ext cx="2103120" cy="1097280"/>
          </a:xfrm>
          <a:prstGeom prst="leftRightArrow">
            <a:avLst/>
          </a:prstGeom>
          <a:solidFill>
            <a:srgbClr val="E6EFF7"/>
          </a:solidFill>
          <a:ln w="381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0" y="141732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F6FB0"/>
                </a:solidFill>
                <a:latin typeface="Comic Sans MS"/>
              </a:rPr>
              <a:t>A  | 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8553A"/>
                </a:solidFill>
                <a:latin typeface="Comic Sans MS"/>
              </a:rPr>
              <a:t>The one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32720" cy="3291840"/>
          </a:xfrm>
          <a:prstGeom prst="roundRect">
            <a:avLst/>
          </a:prstGeom>
          <a:solidFill>
            <a:srgbClr val="FFF3D9"/>
          </a:solidFill>
          <a:ln w="381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>Eight days ago the story was the WAGE PREMIUM (+62%).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>The fresher data flips it to VOLUME + STRUCTURE: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>AI-skill demand grew +144% in a year (market: +7%),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>and the market is forking into two tracks.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E8553A"/>
                </a:solidFill>
                <a:latin typeface="Comic Sans MS"/>
              </a:rPr>
              <a:t>The twist: the fork hits EARLIEST at the bottom — AI is eating the junior on-ramp.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What changed since the 19 July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0515600" cy="621792"/>
          </a:xfrm>
          <a:prstGeom prst="roundRect">
            <a:avLst/>
          </a:prstGeom>
          <a:solidFill>
            <a:srgbClr val="FBF7EF"/>
          </a:solidFill>
          <a:ln w="190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222B"/>
                </a:solidFill>
                <a:latin typeface="Comic Sans MS"/>
              </a:rPr>
              <a:t>Wage premium (PwC)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41732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+62% (from 57%)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41732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222B"/>
                </a:solidFill>
                <a:latin typeface="Comic Sans MS"/>
              </a:rPr>
              <a:t>+62% confirmed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41732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8A867E"/>
                </a:solidFill>
                <a:latin typeface="Comic Sans MS"/>
              </a:rPr>
              <a:t>stable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93976"/>
            <a:ext cx="10515600" cy="621792"/>
          </a:xfrm>
          <a:prstGeom prst="roundRect">
            <a:avLst/>
          </a:prstGeom>
          <a:solidFill>
            <a:srgbClr val="FBF7EF"/>
          </a:solidFill>
          <a:ln w="1905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39696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222B"/>
                </a:solidFill>
                <a:latin typeface="Comic Sans MS"/>
              </a:rPr>
              <a:t>AI-skill DEMAND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39696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“outside IT”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3969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222B"/>
                </a:solidFill>
                <a:latin typeface="Comic Sans MS"/>
              </a:rPr>
              <a:t>+144% YoY vs +7%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139696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E8553A"/>
                </a:solidFill>
                <a:latin typeface="Comic Sans MS"/>
              </a:rPr>
              <a:t>NEW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16352"/>
            <a:ext cx="10515600" cy="621792"/>
          </a:xfrm>
          <a:prstGeom prst="roundRect">
            <a:avLst/>
          </a:prstGeom>
          <a:solidFill>
            <a:srgbClr val="FBF7EF"/>
          </a:solidFill>
          <a:ln w="1905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862072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222B"/>
                </a:solidFill>
                <a:latin typeface="Comic Sans MS"/>
              </a:rPr>
              <a:t>Premium dispersion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862072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one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62072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222B"/>
                </a:solidFill>
                <a:latin typeface="Comic Sans MS"/>
              </a:rPr>
              <a:t>118% → 16% by sector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862072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E8553A"/>
                </a:solidFill>
                <a:latin typeface="Comic Sans MS"/>
              </a:rPr>
              <a:t>a SPLIT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38728"/>
            <a:ext cx="10515600" cy="621792"/>
          </a:xfrm>
          <a:prstGeom prst="roundRect">
            <a:avLst/>
          </a:prstGeom>
          <a:solidFill>
            <a:srgbClr val="FBF7EF"/>
          </a:solidFill>
          <a:ln w="1905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584448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222B"/>
                </a:solidFill>
                <a:latin typeface="Comic Sans MS"/>
              </a:rPr>
              <a:t>Critical-thinking demand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584448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#1 skill (73%)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8444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222B"/>
                </a:solidFill>
                <a:latin typeface="Comic Sans MS"/>
              </a:rPr>
              <a:t>triple-digit YoY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584448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F6FB0"/>
                </a:solidFill>
                <a:latin typeface="Comic Sans MS"/>
              </a:rPr>
              <a:t>now a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261104"/>
            <a:ext cx="10515600" cy="621792"/>
          </a:xfrm>
          <a:prstGeom prst="roundRect">
            <a:avLst/>
          </a:prstGeom>
          <a:solidFill>
            <a:srgbClr val="FBF7EF"/>
          </a:solidFill>
          <a:ln w="1905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306824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222B"/>
                </a:solidFill>
                <a:latin typeface="Comic Sans MS"/>
              </a:rPr>
              <a:t>Entry-level roles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306824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not tracked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30682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222B"/>
                </a:solidFill>
                <a:latin typeface="Comic Sans MS"/>
              </a:rPr>
              <a:t>7× need senior judgment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306824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E8553A"/>
                </a:solidFill>
                <a:latin typeface="Comic Sans MS"/>
              </a:rPr>
              <a:t>on-ramp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983480"/>
            <a:ext cx="10515600" cy="621792"/>
          </a:xfrm>
          <a:prstGeom prst="roundRect">
            <a:avLst/>
          </a:prstGeom>
          <a:solidFill>
            <a:srgbClr val="FBF7EF"/>
          </a:solidFill>
          <a:ln w="190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02920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222B"/>
                </a:solidFill>
                <a:latin typeface="Comic Sans MS"/>
              </a:rPr>
              <a:t>Top-tier satisfaction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02920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22% job-safe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02920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222B"/>
                </a:solidFill>
                <a:latin typeface="Comic Sans MS"/>
              </a:rPr>
              <a:t>49.7% → 41.7% in 1 qtr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02920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8A867E"/>
                </a:solidFill>
                <a:latin typeface="Comic Sans MS"/>
              </a:rPr>
              <a:t>cracking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05856"/>
            <a:ext cx="10515600" cy="621792"/>
          </a:xfrm>
          <a:prstGeom prst="roundRect">
            <a:avLst/>
          </a:prstGeom>
          <a:solidFill>
            <a:srgbClr val="FBF7EF"/>
          </a:solidFill>
          <a:ln w="1905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51576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222B"/>
                </a:solidFill>
                <a:latin typeface="Comic Sans MS"/>
              </a:rPr>
              <a:t>Skilliday adoption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751576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8A867E"/>
                </a:solidFill>
                <a:latin typeface="Comic Sans MS"/>
              </a:rPr>
              <a:t>57% plan 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75157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222B"/>
                </a:solidFill>
                <a:latin typeface="Comic Sans MS"/>
              </a:rPr>
              <a:t>37% already BOOKED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751576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3B8C5A"/>
                </a:solidFill>
                <a:latin typeface="Comic Sans MS"/>
              </a:rPr>
              <a:t>intent→action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One market becoming two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4937760" cy="4114800"/>
          </a:xfrm>
          <a:prstGeom prst="roundRect">
            <a:avLst/>
          </a:prstGeom>
          <a:solidFill>
            <a:srgbClr val="E6EFF7"/>
          </a:solidFill>
          <a:ln w="508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2F6FB0"/>
                </a:solidFill>
                <a:latin typeface="Comic Sans MS"/>
              </a:rPr>
              <a:t>TRACK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4805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“AI × judgment”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• demand +144% YoY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• premium up to +118%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• judgment demanded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  EARLY in a career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• you validate &amp; decide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4937760" cy="4114800"/>
          </a:xfrm>
          <a:prstGeom prst="roundRect">
            <a:avLst/>
          </a:prstGeom>
          <a:solidFill>
            <a:srgbClr val="EFECE4"/>
          </a:solidFill>
          <a:ln w="3810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8A867E"/>
                </a:solidFill>
                <a:latin typeface="Comic Sans MS"/>
              </a:rPr>
              <a:t>TRACK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4805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“routine task”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• demand flat / ↓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• premium ~16% or none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• the tasks AI now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  drafts on its own</a:t>
            </a:r>
          </a:p>
          <a:p>
            <a:pPr algn="l">
              <a:lnSpc>
                <a:spcPct val="105000"/>
              </a:lnSpc>
            </a:pPr>
            <a:r>
              <a:rPr sz="1900" b="0">
                <a:solidFill>
                  <a:srgbClr val="22222B"/>
                </a:solidFill>
                <a:latin typeface="Comic Sans MS"/>
              </a:rPr>
              <a:t>• highest displacement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E8553A"/>
                </a:solidFill>
                <a:latin typeface="Comic Sans MS"/>
              </a:rPr>
              <a:t>The gap between them is exactly what “learning how to learn” closes.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The new lead: demand, not just pay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5166360"/>
            <a:ext cx="1463040" cy="320040"/>
          </a:xfrm>
          <a:prstGeom prst="roundRect">
            <a:avLst/>
          </a:prstGeom>
          <a:solidFill>
            <a:srgbClr val="8A867E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6634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2222B"/>
                </a:solidFill>
                <a:latin typeface="Comic Sans MS"/>
              </a:rPr>
              <a:t>+7%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53212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8A867E"/>
                </a:solidFill>
                <a:latin typeface="Comic Sans MS"/>
              </a:rPr>
              <a:t>Overall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194560"/>
            <a:ext cx="1463040" cy="3291840"/>
          </a:xfrm>
          <a:prstGeom prst="roundRect">
            <a:avLst/>
          </a:prstGeom>
          <a:solidFill>
            <a:srgbClr val="E8553A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691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2222B"/>
                </a:solidFill>
                <a:latin typeface="Comic Sans MS"/>
              </a:rPr>
              <a:t>+144%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553212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8A867E"/>
                </a:solidFill>
                <a:latin typeface="Comic Sans MS"/>
              </a:rPr>
              <a:t>AI-skill jobs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926080"/>
            <a:ext cx="1463040" cy="2560320"/>
          </a:xfrm>
          <a:prstGeom prst="roundRect">
            <a:avLst/>
          </a:prstGeom>
          <a:solidFill>
            <a:srgbClr val="2F6FB0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4231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2222B"/>
                </a:solidFill>
                <a:latin typeface="Comic Sans MS"/>
              </a:rPr>
              <a:t>triple-</a:t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2222B"/>
                </a:solidFill>
                <a:latin typeface="Comic Sans MS"/>
              </a:rPr>
              <a:t>digit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553212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8A867E"/>
                </a:solidFill>
                <a:latin typeface="Comic Sans MS"/>
              </a:rPr>
              <a:t>Critical thinking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463040"/>
            <a:ext cx="2286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AI-skill jobs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growing ~8×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faster than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the market.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(PwC 2026,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1bn+ postings)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AI is eating the junior on-ramp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4937760" cy="4023360"/>
          </a:xfrm>
          <a:prstGeom prst="roundRect">
            <a:avLst/>
          </a:prstGeom>
          <a:solidFill>
            <a:srgbClr val="EFECE4"/>
          </a:solidFill>
          <a:ln w="317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A867E"/>
                </a:solidFill>
                <a:latin typeface="Comic Sans MS"/>
              </a:rPr>
              <a:t>2022 JUNIOR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3891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Months reconciling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spreadsheets.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Dull — but it taught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what “wrong data”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feels like.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The apprenticeship.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97880" y="3108960"/>
            <a:ext cx="822960" cy="822960"/>
          </a:xfrm>
          <a:prstGeom prst="rightArrow">
            <a:avLst/>
          </a:prstGeom>
          <a:solidFill>
            <a:srgbClr val="E8553A"/>
          </a:solidFill>
          <a:ln w="127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1554480"/>
            <a:ext cx="4572000" cy="4023360"/>
          </a:xfrm>
          <a:prstGeom prst="roundRect">
            <a:avLst/>
          </a:prstGeom>
          <a:solidFill>
            <a:srgbClr val="E6EFF7"/>
          </a:solidFill>
          <a:ln w="381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73736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F6FB0"/>
                </a:solidFill>
                <a:latin typeface="Comic Sans MS"/>
              </a:rPr>
              <a:t>2026 JUNIOR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377440"/>
            <a:ext cx="40233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Agent reconciles it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before they arrive.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Day one: validate the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output &amp; brief a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director.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7× more likely to need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senior judgment.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E8553A"/>
                </a:solidFill>
                <a:latin typeface="Comic Sans MS"/>
              </a:rPr>
              <a:t>The on-ramp didn't vanish — it moved up the wall. Build the judgment layer on purpose.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553A"/>
                </a:solidFill>
                <a:latin typeface="Comic Sans MS"/>
              </a:rPr>
              <a:t>The mood: satisfaction starts to crack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737360"/>
            <a:ext cx="24688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41.7%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22B"/>
                </a:solidFill>
                <a:latin typeface="Comic Sans MS"/>
              </a:rPr>
              <a:t>“extremely satisfied”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22B"/>
                </a:solidFill>
                <a:latin typeface="Comic Sans MS"/>
              </a:rPr>
              <a:t>— down from 49.7%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22B"/>
                </a:solidFill>
                <a:latin typeface="Comic Sans MS"/>
              </a:rPr>
              <a:t>in one quarter</a:t>
            </a:r>
          </a:p>
        </p:txBody>
      </p:sp>
      <p:sp>
        <p:nvSpPr>
          <p:cNvPr id="7" name="Oval 6"/>
          <p:cNvSpPr/>
          <p:nvPr/>
        </p:nvSpPr>
        <p:spPr>
          <a:xfrm>
            <a:off x="3566160" y="1737360"/>
            <a:ext cx="24688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2860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1">
                <a:solidFill>
                  <a:srgbClr val="8A867E"/>
                </a:solidFill>
                <a:latin typeface="Comic Sans MS"/>
              </a:rPr>
              <a:t>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06324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22B"/>
                </a:solidFill>
                <a:latin typeface="Comic Sans MS"/>
              </a:rPr>
              <a:t>still strongly agree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22B"/>
                </a:solidFill>
                <a:latin typeface="Comic Sans MS"/>
              </a:rPr>
              <a:t>their job is safe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22B"/>
                </a:solidFill>
                <a:latin typeface="Comic Sans MS"/>
              </a:rPr>
              <a:t>(ADP, unchanged)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1737360"/>
            <a:ext cx="24688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1">
                <a:solidFill>
                  <a:srgbClr val="2F6FB0"/>
                </a:solidFill>
                <a:latin typeface="Comic Sans MS"/>
              </a:rPr>
              <a:t>30.8%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06324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22B"/>
                </a:solidFill>
                <a:latin typeface="Comic Sans MS"/>
              </a:rPr>
              <a:t>of EXECUTIVES most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22B"/>
                </a:solidFill>
                <a:latin typeface="Comic Sans MS"/>
              </a:rPr>
              <a:t>AI-anxious — 2.5×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22B"/>
                </a:solidFill>
                <a:latin typeface="Comic Sans MS"/>
              </a:rPr>
              <a:t>any other level</a:t>
            </a:r>
          </a:p>
        </p:txBody>
      </p:sp>
      <p:sp>
        <p:nvSpPr>
          <p:cNvPr id="13" name="Oval 12"/>
          <p:cNvSpPr/>
          <p:nvPr/>
        </p:nvSpPr>
        <p:spPr>
          <a:xfrm>
            <a:off x="9052560" y="1737360"/>
            <a:ext cx="24688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28600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53%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06324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22B"/>
                </a:solidFill>
                <a:latin typeface="Comic Sans MS"/>
              </a:rPr>
              <a:t>of AI mentions in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22B"/>
                </a:solidFill>
                <a:latin typeface="Comic Sans MS"/>
              </a:rPr>
              <a:t>reviews now negative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22B"/>
                </a:solidFill>
                <a:latin typeface="Comic Sans MS"/>
              </a:rPr>
              <a:t>(was 55% positive)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2222B"/>
                </a:solidFill>
                <a:latin typeface="Comic Sans MS"/>
              </a:rPr>
              <a:t>Economy (42%) is still cited as a bigger threat than AI (17%) — but AI is climbing.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22222B"/>
                </a:solidFill>
                <a:latin typeface="Comic Sans MS"/>
              </a:rPr>
              <a:t>Fear is a bad strategy, a useful signal: move from doing the task to owning the judgment.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3B8C5A"/>
                </a:solidFill>
                <a:latin typeface="Comic Sans MS"/>
              </a:rPr>
              <a:t>The counter-current + your move</a:t>
            </a:r>
          </a:p>
        </p:txBody>
      </p:sp>
      <p:sp>
        <p:nvSpPr>
          <p:cNvPr id="4" name="Sun 3"/>
          <p:cNvSpPr/>
          <p:nvPr/>
        </p:nvSpPr>
        <p:spPr>
          <a:xfrm>
            <a:off x="9784080" y="365760"/>
            <a:ext cx="1737360" cy="1737360"/>
          </a:xfrm>
          <a:prstGeom prst="sun">
            <a:avLst/>
          </a:prstGeom>
          <a:solidFill>
            <a:srgbClr val="FFE79C"/>
          </a:solidFill>
          <a:ln w="38100">
            <a:solidFill>
              <a:srgbClr val="E0A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3B8C5A"/>
                </a:solidFill>
                <a:latin typeface="Comic Sans MS"/>
              </a:rPr>
              <a:t>“Skilliday”: intent →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• ~half of Europeans plan;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  37% ALREADY BOOKED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• 82% say it's more memorable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• Languages 30% · cooking 28%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  · winemaking/cheese 28%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Same instinct as work: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reach for something embodied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&amp; hard to automate.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3444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E8553A"/>
                </a:solidFill>
                <a:latin typeface="Comic Sans MS"/>
              </a:rPr>
              <a:t>🛠 The Two-Track Self-Audit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566928"/>
          </a:xfrm>
          <a:prstGeom prst="roundRect">
            <a:avLst/>
          </a:prstGeom>
          <a:solidFill>
            <a:srgbClr val="F0F5FB"/>
          </a:solidFill>
          <a:ln w="1905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65376"/>
            <a:ext cx="48463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1. List the 5 tasks that fill your week.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487168"/>
            <a:ext cx="5120640" cy="566928"/>
          </a:xfrm>
          <a:prstGeom prst="roundRect">
            <a:avLst/>
          </a:prstGeom>
          <a:solidFill>
            <a:srgbClr val="F0F5FB"/>
          </a:solidFill>
          <a:ln w="1905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523744"/>
            <a:ext cx="48463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2. Sort each: Track A (judgment) or B (routine).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145536"/>
            <a:ext cx="5120640" cy="566928"/>
          </a:xfrm>
          <a:prstGeom prst="roundRect">
            <a:avLst/>
          </a:prstGeom>
          <a:solidFill>
            <a:srgbClr val="F0F5FB"/>
          </a:solidFill>
          <a:ln w="1905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182112"/>
            <a:ext cx="48463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3. Count Track B — your automation exposure.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803904"/>
            <a:ext cx="5120640" cy="566928"/>
          </a:xfrm>
          <a:prstGeom prst="roundRect">
            <a:avLst/>
          </a:prstGeom>
          <a:solidFill>
            <a:srgbClr val="F0F5FB"/>
          </a:solidFill>
          <a:ln w="1905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840480"/>
            <a:ext cx="48463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4. For each B, name the A-judgment it frees.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462272"/>
            <a:ext cx="5120640" cy="566928"/>
          </a:xfrm>
          <a:prstGeom prst="roundRect">
            <a:avLst/>
          </a:prstGeom>
          <a:solidFill>
            <a:srgbClr val="F0F5FB"/>
          </a:solidFill>
          <a:ln w="1905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498848"/>
            <a:ext cx="48463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5. Grow 1 durable + 1 technical. Review in 90 days.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21208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8553A"/>
                </a:solidFill>
                <a:latin typeface="Comic Sans MS"/>
              </a:rPr>
              <a:t>Free tool: use any AI as a sparring partner —</a:t>
            </a:r>
          </a:p>
          <a:p>
            <a:pPr algn="l">
              <a:lnSpc>
                <a:spcPct val="105000"/>
              </a:lnSpc>
            </a:pPr>
            <a:r>
              <a:rPr sz="1400" b="1">
                <a:solidFill>
                  <a:srgbClr val="E8553A"/>
                </a:solidFill>
                <a:latin typeface="Comic Sans MS"/>
              </a:rPr>
              <a:t>“Argue I'm wrong; list 3 assumptions I skipped.”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E8553A"/>
                </a:solidFill>
                <a:latin typeface="Comic Sans MS"/>
              </a:rPr>
              <a:t>The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32720" cy="2103120"/>
          </a:xfrm>
          <a:prstGeom prst="roundRect">
            <a:avLst/>
          </a:prstGeom>
          <a:solidFill>
            <a:srgbClr val="FFF3D9"/>
          </a:solidFill>
          <a:ln w="381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920240"/>
            <a:ext cx="960120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>Don't compete on the routine layer AI already owns.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>Build the judgment layer — deliberately, and early.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8A867E"/>
                </a:solidFill>
                <a:latin typeface="Comic Sans MS"/>
              </a:rPr>
              <a:t>Sources: PwC 2026 Global AI Jobs Barometer · SUCCESS (62% pay / 144% demand) ·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8A867E"/>
                </a:solidFill>
                <a:latin typeface="Comic Sans MS"/>
              </a:rPr>
              <a:t>Job Skills Report 2026 · Critical Core Skills 2026 · 4 Corner Resources Q2 2026 · ADP ·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8A867E"/>
                </a:solidFill>
                <a:latin typeface="Comic Sans MS"/>
              </a:rPr>
              <a:t>Mastercard / Euronews skilliday survey · WEF Future of Jobs 2026.  (Full links in the README.)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