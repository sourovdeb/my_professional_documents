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E85D2E"/>
          </a:solidFill>
          <a:ln w="6350">
            <a:solidFill>
              <a:srgbClr val="E85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1D1D2B"/>
                </a:solidFill>
                <a:latin typeface="Comic Sans MS"/>
              </a:rPr>
              <a:t>You just got promoted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E85D2E"/>
                </a:solidFill>
                <a:latin typeface="Comic Sans MS"/>
              </a:rPr>
              <a:t>to “Agent Boss”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3337560"/>
            <a:ext cx="6217920" cy="109728"/>
          </a:xfrm>
          <a:prstGeom prst="roundRect">
            <a:avLst/>
          </a:prstGeom>
          <a:solidFill>
            <a:srgbClr val="2E6BE8"/>
          </a:solidFill>
          <a:ln w="6350">
            <a:solidFill>
              <a:srgbClr val="2E6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61188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D1D2B"/>
                </a:solidFill>
                <a:latin typeface="Comic Sans MS"/>
              </a:rPr>
              <a:t>As AI agents do the execution, the #1 human skill flipped:</a:t>
            </a:r>
          </a:p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D1D2B"/>
                </a:solidFill>
                <a:latin typeface="Comic Sans MS"/>
              </a:rPr>
              <a:t>not producing work — CHECKING the machine’s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85216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1">
                <a:solidFill>
                  <a:srgbClr val="6B665C"/>
                </a:solidFill>
                <a:latin typeface="Comic Sans MS"/>
              </a:rPr>
              <a:t>5-minute read  ·  Trend monitor  ·  21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D1D2B"/>
                </a:solidFill>
                <a:latin typeface="Comic Sans MS"/>
              </a:rPr>
              <a:t>The work moved up one floor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43000"/>
            <a:ext cx="5486400" cy="109728"/>
          </a:xfrm>
          <a:prstGeom prst="roundRect">
            <a:avLst/>
          </a:prstGeom>
          <a:solidFill>
            <a:srgbClr val="E85D2E"/>
          </a:solidFill>
          <a:ln w="6350">
            <a:solidFill>
              <a:srgbClr val="E85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6B665C"/>
                </a:solidFill>
                <a:latin typeface="Comic Sans MS"/>
              </a:rPr>
              <a:t>You used to sit on the bottom floor doing the task. The agent sits there now — you moved up.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2103120"/>
            <a:ext cx="5577840" cy="1554480"/>
          </a:xfrm>
          <a:prstGeom prst="roundRect">
            <a:avLst/>
          </a:prstGeom>
          <a:noFill/>
          <a:ln w="38100">
            <a:solidFill>
              <a:srgbClr val="2EA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0" y="2194560"/>
            <a:ext cx="5394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EA05A"/>
                </a:solidFill>
                <a:latin typeface="Comic Sans MS"/>
              </a:rPr>
              <a:t>YOU — the AGENT BOSS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2788920"/>
            <a:ext cx="5394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1D1D2B"/>
                </a:solidFill>
                <a:latin typeface="Comic Sans MS"/>
              </a:rPr>
              <a:t>aim the agent  ·  JUDGE the output ★  ·  own the outcome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2331720"/>
            <a:ext cx="3017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E85D2E"/>
                </a:solidFill>
                <a:latin typeface="Comic Sans MS"/>
              </a:rPr>
              <a:t>← the new #1 skill</a:t>
            </a:r>
          </a:p>
        </p:txBody>
      </p:sp>
      <p:sp>
        <p:nvSpPr>
          <p:cNvPr id="9" name="Down Arrow 8"/>
          <p:cNvSpPr/>
          <p:nvPr/>
        </p:nvSpPr>
        <p:spPr>
          <a:xfrm>
            <a:off x="5806440" y="3749039"/>
            <a:ext cx="502920" cy="731520"/>
          </a:xfrm>
          <a:prstGeom prst="downArrow">
            <a:avLst/>
          </a:prstGeom>
          <a:solidFill>
            <a:srgbClr val="6B665C"/>
          </a:solidFill>
          <a:ln w="12700">
            <a:solidFill>
              <a:srgbClr val="6B6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886200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665C"/>
                </a:solidFill>
                <a:latin typeface="Comic Sans MS"/>
              </a:rPr>
              <a:t>delegates execution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4617720"/>
            <a:ext cx="5577840" cy="1371600"/>
          </a:xfrm>
          <a:prstGeom prst="roundRect">
            <a:avLst/>
          </a:prstGeom>
          <a:noFill/>
          <a:ln w="31750">
            <a:solidFill>
              <a:srgbClr val="6B6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4709160"/>
            <a:ext cx="5394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6B665C"/>
                </a:solidFill>
                <a:latin typeface="Comic Sans MS"/>
              </a:rPr>
              <a:t>AI AGENT — the doer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5303520"/>
            <a:ext cx="5394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1D1D2B"/>
                </a:solidFill>
                <a:latin typeface="Comic Sans MS"/>
              </a:rPr>
              <a:t>drafts  ·  builds  ·  fetches  ·  analyses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D1D2B"/>
                </a:solidFill>
                <a:latin typeface="Comic Sans MS"/>
              </a:rPr>
              <a:t>The numbers that shifted this week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43000"/>
            <a:ext cx="6035040" cy="109728"/>
          </a:xfrm>
          <a:prstGeom prst="roundRect">
            <a:avLst/>
          </a:prstGeom>
          <a:solidFill>
            <a:srgbClr val="E85D2E"/>
          </a:solidFill>
          <a:ln w="6350">
            <a:solidFill>
              <a:srgbClr val="E85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54480"/>
            <a:ext cx="3383280" cy="2148840"/>
          </a:xfrm>
          <a:prstGeom prst="roundRect">
            <a:avLst/>
          </a:prstGeom>
          <a:noFill/>
          <a:ln w="31750">
            <a:solidFill>
              <a:srgbClr val="E85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19072"/>
            <a:ext cx="3383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1" i="0">
                <a:solidFill>
                  <a:srgbClr val="E85D2E"/>
                </a:solidFill>
                <a:latin typeface="Comic Sans MS"/>
              </a:rPr>
              <a:t>50%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8892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D1D2B"/>
                </a:solidFill>
                <a:latin typeface="Comic Sans MS"/>
              </a:rPr>
              <a:t>say quality-control of</a:t>
            </a:r>
          </a:p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D1D2B"/>
                </a:solidFill>
                <a:latin typeface="Comic Sans MS"/>
              </a:rPr>
              <a:t>AI output is the #1 skill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554480"/>
            <a:ext cx="3383280" cy="2148840"/>
          </a:xfrm>
          <a:prstGeom prst="roundRect">
            <a:avLst/>
          </a:prstGeom>
          <a:noFill/>
          <a:ln w="31750">
            <a:solidFill>
              <a:srgbClr val="2E6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59" y="1719072"/>
            <a:ext cx="3383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1" i="0">
                <a:solidFill>
                  <a:srgbClr val="2E6BE8"/>
                </a:solidFill>
                <a:latin typeface="Comic Sans MS"/>
              </a:rPr>
              <a:t>46%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59" y="278892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D1D2B"/>
                </a:solidFill>
                <a:latin typeface="Comic Sans MS"/>
              </a:rPr>
              <a:t>critical thinking</a:t>
            </a:r>
          </a:p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D1D2B"/>
                </a:solidFill>
                <a:latin typeface="Comic Sans MS"/>
              </a:rPr>
              <a:t>— the #2 skill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554480"/>
            <a:ext cx="3383280" cy="2148840"/>
          </a:xfrm>
          <a:prstGeom prst="roundRect">
            <a:avLst/>
          </a:prstGeom>
          <a:noFill/>
          <a:ln w="31750">
            <a:solidFill>
              <a:srgbClr val="2EA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1719072"/>
            <a:ext cx="3383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1" i="0">
                <a:solidFill>
                  <a:srgbClr val="2EA05A"/>
                </a:solidFill>
                <a:latin typeface="Comic Sans MS"/>
              </a:rPr>
              <a:t>62%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78892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D1D2B"/>
                </a:solidFill>
                <a:latin typeface="Comic Sans MS"/>
              </a:rPr>
              <a:t>AI-skill wage premium</a:t>
            </a:r>
          </a:p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D1D2B"/>
                </a:solidFill>
                <a:latin typeface="Comic Sans MS"/>
              </a:rPr>
              <a:t>(“144% more demand”)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023360"/>
            <a:ext cx="3383280" cy="2148840"/>
          </a:xfrm>
          <a:prstGeom prst="roundRect">
            <a:avLst/>
          </a:prstGeom>
          <a:noFill/>
          <a:ln w="31750">
            <a:solidFill>
              <a:srgbClr val="E85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187952"/>
            <a:ext cx="3383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1" i="0">
                <a:solidFill>
                  <a:srgbClr val="E85D2E"/>
                </a:solidFill>
                <a:latin typeface="Comic Sans MS"/>
              </a:rPr>
              <a:t>+40%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5780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D1D2B"/>
                </a:solidFill>
                <a:latin typeface="Comic Sans MS"/>
              </a:rPr>
              <a:t>top per-skill pay:</a:t>
            </a:r>
          </a:p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D1D2B"/>
                </a:solidFill>
                <a:latin typeface="Comic Sans MS"/>
              </a:rPr>
              <a:t>machine learning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4023360"/>
            <a:ext cx="3383280" cy="2148840"/>
          </a:xfrm>
          <a:prstGeom prst="roundRect">
            <a:avLst/>
          </a:prstGeom>
          <a:noFill/>
          <a:ln w="31750">
            <a:solidFill>
              <a:srgbClr val="2E6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59" y="4187952"/>
            <a:ext cx="3383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1" i="0">
                <a:solidFill>
                  <a:srgbClr val="2E6BE8"/>
                </a:solidFill>
                <a:latin typeface="Comic Sans MS"/>
              </a:rPr>
              <a:t>1.3M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525780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D1D2B"/>
                </a:solidFill>
                <a:latin typeface="Comic Sans MS"/>
              </a:rPr>
              <a:t>new AI job types</a:t>
            </a:r>
          </a:p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D1D2B"/>
                </a:solidFill>
                <a:latin typeface="Comic Sans MS"/>
              </a:rPr>
              <a:t>created in 2 yrs (LinkedIn)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4023360"/>
            <a:ext cx="3383280" cy="2148840"/>
          </a:xfrm>
          <a:prstGeom prst="roundRect">
            <a:avLst/>
          </a:prstGeom>
          <a:noFill/>
          <a:ln w="31750">
            <a:solidFill>
              <a:srgbClr val="2EA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79" y="4187952"/>
            <a:ext cx="3383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1" i="0">
                <a:solidFill>
                  <a:srgbClr val="2EA05A"/>
                </a:solidFill>
                <a:latin typeface="Comic Sans MS"/>
              </a:rPr>
              <a:t>49%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525780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D1D2B"/>
                </a:solidFill>
                <a:latin typeface="Comic Sans MS"/>
              </a:rPr>
              <a:t>of AI use is cognitive</a:t>
            </a:r>
          </a:p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D1D2B"/>
                </a:solidFill>
                <a:latin typeface="Comic Sans MS"/>
              </a:rPr>
              <a:t>work, not typing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172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1">
                <a:solidFill>
                  <a:srgbClr val="6B665C"/>
                </a:solidFill>
                <a:latin typeface="Comic Sans MS"/>
              </a:rPr>
              <a:t>Sources: Microsoft 2026 Work Trend Index · PwC AI Jobs Barometer · LinkedIn · index.dev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D1D2B"/>
                </a:solidFill>
                <a:latin typeface="Comic Sans MS"/>
              </a:rPr>
              <a:t>Energised AND uneasy — at once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43000"/>
            <a:ext cx="6035040" cy="109728"/>
          </a:xfrm>
          <a:prstGeom prst="roundRect">
            <a:avLst/>
          </a:prstGeom>
          <a:solidFill>
            <a:srgbClr val="2E6BE8"/>
          </a:solidFill>
          <a:ln w="6350">
            <a:solidFill>
              <a:srgbClr val="2E6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6B665C"/>
                </a:solidFill>
                <a:latin typeface="Comic Sans MS"/>
              </a:rPr>
              <a:t>Both columns are true for the same workers this month (Microsoft WTI 2026).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5029200" cy="3657600"/>
          </a:xfrm>
          <a:prstGeom prst="roundRect">
            <a:avLst/>
          </a:prstGeom>
          <a:noFill/>
          <a:ln w="38100">
            <a:solidFill>
              <a:srgbClr val="2EA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EA05A"/>
                </a:solidFill>
                <a:latin typeface="Comic Sans MS"/>
              </a:rPr>
              <a:t>THE UPSIDE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926080"/>
            <a:ext cx="45720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D1D2B"/>
                </a:solidFill>
                <a:latin typeface="Comic Sans MS"/>
              </a:rPr>
              <a:t>66%  spend more time on</a:t>
            </a:r>
          </a:p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D1D2B"/>
                </a:solidFill>
                <a:latin typeface="Comic Sans MS"/>
              </a:rPr>
              <a:t>        high-value work</a:t>
            </a:r>
          </a:p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D1D2B"/>
                </a:solidFill>
                <a:latin typeface="Comic Sans M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D1D2B"/>
                </a:solidFill>
                <a:latin typeface="Comic Sans MS"/>
              </a:rPr>
              <a:t>58%  produce work they</a:t>
            </a:r>
          </a:p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D1D2B"/>
                </a:solidFill>
                <a:latin typeface="Comic Sans MS"/>
              </a:rPr>
              <a:t>        couldn’t make a year ago</a:t>
            </a:r>
          </a:p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D1D2B"/>
                </a:solidFill>
                <a:latin typeface="Comic Sans M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D1D2B"/>
                </a:solidFill>
                <a:latin typeface="Comic Sans MS"/>
              </a:rPr>
              <a:t>49%  of AI use is cognitive</a:t>
            </a:r>
          </a:p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D1D2B"/>
                </a:solidFill>
                <a:latin typeface="Comic Sans MS"/>
              </a:rPr>
              <a:t>        (analysis, problem-solving)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103120"/>
            <a:ext cx="5029200" cy="3657600"/>
          </a:xfrm>
          <a:prstGeom prst="roundRect">
            <a:avLst/>
          </a:prstGeom>
          <a:noFill/>
          <a:ln w="38100">
            <a:solidFill>
              <a:srgbClr val="E85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24028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E85D2E"/>
                </a:solidFill>
                <a:latin typeface="Comic Sans MS"/>
              </a:rPr>
              <a:t>THE FEAR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926080"/>
            <a:ext cx="45720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D1D2B"/>
                </a:solidFill>
                <a:latin typeface="Comic Sans MS"/>
              </a:rPr>
              <a:t>65%  fear falling behind</a:t>
            </a:r>
          </a:p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D1D2B"/>
                </a:solidFill>
                <a:latin typeface="Comic Sans MS"/>
              </a:rPr>
              <a:t>        without adapting to AI</a:t>
            </a:r>
          </a:p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D1D2B"/>
                </a:solidFill>
                <a:latin typeface="Comic Sans M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D1D2B"/>
                </a:solidFill>
                <a:latin typeface="Comic Sans MS"/>
              </a:rPr>
              <a:t>45%  say redesigning work</a:t>
            </a:r>
          </a:p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D1D2B"/>
                </a:solidFill>
                <a:latin typeface="Comic Sans MS"/>
              </a:rPr>
              <a:t>        feels riskier than standing still</a:t>
            </a:r>
          </a:p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D1D2B"/>
                </a:solidFill>
                <a:latin typeface="Comic Sans M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D1D2B"/>
                </a:solidFill>
                <a:latin typeface="Comic Sans MS"/>
              </a:rPr>
              <a:t>22%  (ADP) still feel their</a:t>
            </a:r>
          </a:p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D1D2B"/>
                </a:solidFill>
                <a:latin typeface="Comic Sans MS"/>
              </a:rPr>
              <a:t>        job is safe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E6BE8"/>
          </a:solidFill>
          <a:ln w="6350">
            <a:solidFill>
              <a:srgbClr val="2E6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D1D2B"/>
                </a:solidFill>
                <a:latin typeface="Comic Sans MS"/>
              </a:rPr>
              <a:t>🛠  The tool: B.O.S.S.S. — inspect before you ship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80160"/>
            <a:ext cx="7863840" cy="109728"/>
          </a:xfrm>
          <a:prstGeom prst="roundRect">
            <a:avLst/>
          </a:prstGeom>
          <a:solidFill>
            <a:srgbClr val="2E6BE8"/>
          </a:solidFill>
          <a:ln w="6350">
            <a:solidFill>
              <a:srgbClr val="2E6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1">
                <a:solidFill>
                  <a:srgbClr val="6B665C"/>
                </a:solidFill>
                <a:latin typeface="Comic Sans MS"/>
              </a:rPr>
              <a:t>You can’t be an agent boss without a fast way to inspect. Five gates, 2 minutes, every output.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2834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E85D2E"/>
                </a:solidFill>
                <a:latin typeface="Comic Sans MS"/>
              </a:rPr>
              <a:t>B  BIAS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2148840"/>
            <a:ext cx="7315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D1D2B"/>
                </a:solidFill>
                <a:latin typeface="Comic Sans MS"/>
              </a:rPr>
              <a:t>Whose view is baked in? What’s missing?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62072"/>
            <a:ext cx="2834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2E6BE8"/>
                </a:solidFill>
                <a:latin typeface="Comic Sans MS"/>
              </a:rPr>
              <a:t>O  ORIGIN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862072"/>
            <a:ext cx="7315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D1D2B"/>
                </a:solidFill>
                <a:latin typeface="Comic Sans MS"/>
              </a:rPr>
              <a:t>Can I trace every number/claim to a source?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75304"/>
            <a:ext cx="2834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2EA05A"/>
                </a:solidFill>
                <a:latin typeface="Comic Sans MS"/>
              </a:rPr>
              <a:t>S  SANITY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575304"/>
            <a:ext cx="7315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D1D2B"/>
                </a:solidFill>
                <a:latin typeface="Comic Sans MS"/>
              </a:rPr>
              <a:t>Does it pass a back-of-envelope gut check?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288536"/>
            <a:ext cx="2834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E85D2E"/>
                </a:solidFill>
                <a:latin typeface="Comic Sans MS"/>
              </a:rPr>
              <a:t>S  STAKES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4288536"/>
            <a:ext cx="7315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D1D2B"/>
                </a:solidFill>
                <a:latin typeface="Comic Sans MS"/>
              </a:rPr>
              <a:t>If this is wrong, who gets hurt — and how badly?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01768"/>
            <a:ext cx="2834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2E6BE8"/>
                </a:solidFill>
                <a:latin typeface="Comic Sans MS"/>
              </a:rPr>
              <a:t>S  SECOND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5001768"/>
            <a:ext cx="7315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D1D2B"/>
                </a:solidFill>
                <a:latin typeface="Comic Sans MS"/>
              </a:rPr>
              <a:t>Ask the AI to argue the OPPOSITE, then judge.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94360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1">
                <a:solidFill>
                  <a:srgbClr val="2EA05A"/>
                </a:solidFill>
                <a:latin typeface="Comic Sans MS"/>
              </a:rPr>
              <a:t>Green on all five → ship.  Any red → you just earned your salary.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8016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BF7EE"/>
                </a:solidFill>
                <a:latin typeface="Comic Sans MS"/>
              </a:rPr>
              <a:t>The move for this week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2286000"/>
            <a:ext cx="4754880" cy="109728"/>
          </a:xfrm>
          <a:prstGeom prst="roundRect">
            <a:avLst/>
          </a:prstGeom>
          <a:solidFill>
            <a:srgbClr val="E85D2E"/>
          </a:solidFill>
          <a:ln w="6350">
            <a:solidFill>
              <a:srgbClr val="E85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327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BF7EE"/>
                </a:solidFill>
                <a:latin typeface="Comic Sans MS"/>
              </a:rPr>
              <a:t>The agent took the bottom floor.</a:t>
            </a:r>
          </a:p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BF7EE"/>
                </a:solidFill>
                <a:latin typeface="Comic Sans MS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BF7EE"/>
                </a:solidFill>
                <a:latin typeface="Comic Sans MS"/>
              </a:rPr>
              <a:t>You moved up to agent boss — rent paid in JUDGMENT.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32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1">
                <a:solidFill>
                  <a:srgbClr val="E8E2D5"/>
                </a:solidFill>
                <a:latin typeface="Comic Sans MS"/>
              </a:rPr>
              <a:t>Build the skill the market just named #1: validate what the machine produces.</a:t>
            </a:r>
          </a:p>
          <a:p>
            <a:pPr algn="l">
              <a:lnSpc>
                <a:spcPct val="105000"/>
              </a:lnSpc>
            </a:pPr>
            <a:r>
              <a:rPr sz="1800" b="0" i="1">
                <a:solidFill>
                  <a:srgbClr val="E8E2D5"/>
                </a:solidFill>
                <a:latin typeface="Comic Sans MS"/>
              </a:rPr>
              <a:t>Keep one embodied human skill alive off the clock. Keep learning how to learn.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