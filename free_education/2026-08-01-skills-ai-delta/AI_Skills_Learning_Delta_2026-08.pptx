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E85D2E"/>
          </a:solidFill>
          <a:ln w="6350">
            <a:solidFill>
              <a:srgbClr val="E85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800" b="1" i="0">
                <a:solidFill>
                  <a:srgbClr val="1D1D2B"/>
                </a:solidFill>
                <a:latin typeface="Comic Sans MS"/>
              </a:rPr>
              <a:t>The Anxiety Ladder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514600"/>
            <a:ext cx="5486400" cy="109728"/>
          </a:xfrm>
          <a:prstGeom prst="roundRect">
            <a:avLst/>
          </a:prstGeom>
          <a:solidFill>
            <a:srgbClr val="E85D2E"/>
          </a:solidFill>
          <a:ln w="6350">
            <a:solidFill>
              <a:srgbClr val="E85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78892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E6BE8"/>
                </a:solidFill>
                <a:latin typeface="Comic Sans MS"/>
              </a:rPr>
              <a:t>Same numbers, sharper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49039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D1D2B"/>
                </a:solidFill>
                <a:latin typeface="Comic Sans MS"/>
              </a:rPr>
              <a:t>The headline data hasn't moved. What sharpened: AI anxiety is now</a:t>
            </a:r>
          </a:p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D1D2B"/>
                </a:solidFill>
                <a:latin typeface="Comic Sans MS"/>
              </a:rPr>
              <a:t>STRATIFIED by seniority and role — and learning is going social.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85216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1">
                <a:solidFill>
                  <a:srgbClr val="6B665C"/>
                </a:solidFill>
                <a:latin typeface="Comic Sans MS"/>
              </a:rPr>
              <a:t>5-minute delta update  ·  Trend monitor  ·  1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D1D2B"/>
                </a:solidFill>
                <a:latin typeface="Comic Sans MS"/>
              </a:rPr>
              <a:t>First, the honest headline: flagship data is UNCHANGED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43000"/>
            <a:ext cx="6949440" cy="109728"/>
          </a:xfrm>
          <a:prstGeom prst="roundRect">
            <a:avLst/>
          </a:prstGeom>
          <a:solidFill>
            <a:srgbClr val="6B665C"/>
          </a:solidFill>
          <a:ln w="6350">
            <a:solidFill>
              <a:srgbClr val="6B6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665C"/>
                </a:solidFill>
                <a:latin typeface="Comic Sans MS"/>
              </a:rPr>
              <a:t>No major new report in 2 weeks. Re-verified 1 Aug — the July pillars still stand: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3383280" cy="1417320"/>
          </a:xfrm>
          <a:prstGeom prst="roundRect">
            <a:avLst/>
          </a:prstGeom>
          <a:noFill/>
          <a:ln w="25400">
            <a:solidFill>
              <a:srgbClr val="6B6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04288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6B665C"/>
                </a:solidFill>
                <a:latin typeface="Comic Sans MS"/>
              </a:rPr>
              <a:t>+62%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1D1D2B"/>
                </a:solidFill>
                <a:latin typeface="Comic Sans MS"/>
              </a:rPr>
              <a:t>wage premium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2194560"/>
            <a:ext cx="3383280" cy="1417320"/>
          </a:xfrm>
          <a:prstGeom prst="roundRect">
            <a:avLst/>
          </a:prstGeom>
          <a:noFill/>
          <a:ln w="25400">
            <a:solidFill>
              <a:srgbClr val="6B6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304288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6B665C"/>
                </a:solidFill>
                <a:latin typeface="Comic Sans MS"/>
              </a:rPr>
              <a:t>~8×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301752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1D1D2B"/>
                </a:solidFill>
                <a:latin typeface="Comic Sans MS"/>
              </a:rPr>
              <a:t>faster AI-job growth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194560"/>
            <a:ext cx="3383280" cy="1417320"/>
          </a:xfrm>
          <a:prstGeom prst="roundRect">
            <a:avLst/>
          </a:prstGeom>
          <a:noFill/>
          <a:ln w="25400">
            <a:solidFill>
              <a:srgbClr val="6B6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304288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6B665C"/>
                </a:solidFill>
                <a:latin typeface="Comic Sans MS"/>
              </a:rPr>
              <a:t>51%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01752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1D1D2B"/>
                </a:solidFill>
                <a:latin typeface="Comic Sans MS"/>
              </a:rPr>
              <a:t>AI jobs outside 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977639"/>
            <a:ext cx="3383280" cy="1417320"/>
          </a:xfrm>
          <a:prstGeom prst="roundRect">
            <a:avLst/>
          </a:prstGeom>
          <a:noFill/>
          <a:ln w="25400">
            <a:solidFill>
              <a:srgbClr val="6B6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87368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6B665C"/>
                </a:solidFill>
                <a:latin typeface="Comic Sans MS"/>
              </a:rPr>
              <a:t>22%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1D1D2B"/>
                </a:solidFill>
                <a:latin typeface="Comic Sans MS"/>
              </a:rPr>
              <a:t>feel job-safe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3977639"/>
            <a:ext cx="3383280" cy="1417320"/>
          </a:xfrm>
          <a:prstGeom prst="roundRect">
            <a:avLst/>
          </a:prstGeom>
          <a:noFill/>
          <a:ln w="25400">
            <a:solidFill>
              <a:srgbClr val="6B6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4087368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6B665C"/>
                </a:solidFill>
                <a:latin typeface="Comic Sans MS"/>
              </a:rPr>
              <a:t>48%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80060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1D1D2B"/>
                </a:solidFill>
                <a:latin typeface="Comic Sans MS"/>
              </a:rPr>
              <a:t>plan a skilliday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977639"/>
            <a:ext cx="3383280" cy="1417320"/>
          </a:xfrm>
          <a:prstGeom prst="roundRect">
            <a:avLst/>
          </a:prstGeom>
          <a:noFill/>
          <a:ln w="25400">
            <a:solidFill>
              <a:srgbClr val="6B6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087368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6B665C"/>
                </a:solidFill>
                <a:latin typeface="Comic Sans MS"/>
              </a:rPr>
              <a:t>50%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80060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1D1D2B"/>
                </a:solidFill>
                <a:latin typeface="Comic Sans MS"/>
              </a:rPr>
              <a:t>orgs → AI-free tests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172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E85D2E"/>
                </a:solidFill>
                <a:latin typeface="Comic Sans MS"/>
              </a:rPr>
              <a:t>⏸  Track only headlines? Nothing new to act on — the July playbook holds. The value is underneath.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D1D2B"/>
                </a:solidFill>
                <a:latin typeface="Comic Sans MS"/>
              </a:rPr>
              <a:t>The doodle: the Anxiety Ladder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43000"/>
            <a:ext cx="5120640" cy="109728"/>
          </a:xfrm>
          <a:prstGeom prst="roundRect">
            <a:avLst/>
          </a:prstGeom>
          <a:solidFill>
            <a:srgbClr val="E85D2E"/>
          </a:solidFill>
          <a:ln w="6350">
            <a:solidFill>
              <a:srgbClr val="E85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665C"/>
                </a:solidFill>
                <a:latin typeface="Comic Sans MS"/>
              </a:rPr>
              <a:t>"Only 22% feel safe" hid a gradient. The newest ADP cut, by rung: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30552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700" b="1" i="0">
                <a:solidFill>
                  <a:srgbClr val="1D1D2B"/>
                </a:solidFill>
                <a:latin typeface="Comic Sans MS"/>
              </a:rPr>
              <a:t>C-suite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2148840"/>
            <a:ext cx="6126480" cy="502920"/>
          </a:xfrm>
          <a:prstGeom prst="roundRect">
            <a:avLst/>
          </a:prstGeom>
          <a:solidFill>
            <a:srgbClr val="2EA05A"/>
          </a:solidFill>
          <a:ln w="6350">
            <a:solidFill>
              <a:srgbClr val="2EA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95560" y="2130552"/>
            <a:ext cx="1280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2EA05A"/>
                </a:solidFill>
                <a:latin typeface="Comic Sans MS"/>
              </a:rPr>
              <a:t>35%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43784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700" b="1" i="0">
                <a:solidFill>
                  <a:srgbClr val="1D1D2B"/>
                </a:solidFill>
                <a:latin typeface="Comic Sans MS"/>
              </a:rPr>
              <a:t>Upper managers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2862072"/>
            <a:ext cx="5426310" cy="502920"/>
          </a:xfrm>
          <a:prstGeom prst="roundRect">
            <a:avLst/>
          </a:prstGeom>
          <a:solidFill>
            <a:srgbClr val="2EA05A"/>
          </a:solidFill>
          <a:ln w="6350">
            <a:solidFill>
              <a:srgbClr val="2EA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95390" y="2843784"/>
            <a:ext cx="1280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2EA05A"/>
                </a:solidFill>
                <a:latin typeface="Comic Sans MS"/>
              </a:rPr>
              <a:t>31%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57016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700" b="1" i="0">
                <a:solidFill>
                  <a:srgbClr val="1D1D2B"/>
                </a:solidFill>
                <a:latin typeface="Comic Sans MS"/>
              </a:rPr>
              <a:t>Middle managers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3575304"/>
            <a:ext cx="4025972" cy="502920"/>
          </a:xfrm>
          <a:prstGeom prst="roundRect">
            <a:avLst/>
          </a:prstGeom>
          <a:solidFill>
            <a:srgbClr val="2E6BE8"/>
          </a:solidFill>
          <a:ln w="6350">
            <a:solidFill>
              <a:srgbClr val="2E6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5052" y="3557016"/>
            <a:ext cx="1280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2E6BE8"/>
                </a:solidFill>
                <a:latin typeface="Comic Sans MS"/>
              </a:rPr>
              <a:t>23%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70248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700" b="1" i="0">
                <a:solidFill>
                  <a:srgbClr val="1D1D2B"/>
                </a:solidFill>
                <a:latin typeface="Comic Sans MS"/>
              </a:rPr>
              <a:t>Managers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4288536"/>
            <a:ext cx="3675888" cy="502920"/>
          </a:xfrm>
          <a:prstGeom prst="roundRect">
            <a:avLst/>
          </a:prstGeom>
          <a:solidFill>
            <a:srgbClr val="E85D2E"/>
          </a:solidFill>
          <a:ln w="6350">
            <a:solidFill>
              <a:srgbClr val="E85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4968" y="4270248"/>
            <a:ext cx="1280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E85D2E"/>
                </a:solidFill>
                <a:latin typeface="Comic Sans MS"/>
              </a:rPr>
              <a:t>21%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83480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700" b="1" i="0">
                <a:solidFill>
                  <a:srgbClr val="1D1D2B"/>
                </a:solidFill>
                <a:latin typeface="Comic Sans MS"/>
              </a:rPr>
              <a:t>Rank-and-file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31920" y="5001768"/>
            <a:ext cx="3150761" cy="502920"/>
          </a:xfrm>
          <a:prstGeom prst="roundRect">
            <a:avLst/>
          </a:prstGeom>
          <a:solidFill>
            <a:srgbClr val="E85D2E"/>
          </a:solidFill>
          <a:ln w="6350">
            <a:solidFill>
              <a:srgbClr val="E85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19841" y="4983480"/>
            <a:ext cx="1280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E85D2E"/>
                </a:solidFill>
                <a:latin typeface="Comic Sans MS"/>
              </a:rPr>
              <a:t>18%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064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665C"/>
                </a:solidFill>
                <a:latin typeface="Comic Sans MS"/>
              </a:rPr>
              <a:t>The higher you sit, the safer you feel — a ~17-point gap. Anxiety concentrates exactly</a:t>
            </a:r>
          </a:p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665C"/>
                </a:solidFill>
                <a:latin typeface="Comic Sans MS"/>
              </a:rPr>
              <a:t>where the work is most routine. Closest to the task = bottom rung. Source: ADP Research.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D1D2B"/>
                </a:solidFill>
                <a:latin typeface="Comic Sans MS"/>
              </a:rPr>
              <a:t>Three genuinely-new signals since July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43000"/>
            <a:ext cx="6035040" cy="109728"/>
          </a:xfrm>
          <a:prstGeom prst="roundRect">
            <a:avLst/>
          </a:prstGeom>
          <a:solidFill>
            <a:srgbClr val="2E6BE8"/>
          </a:solidFill>
          <a:ln w="6350">
            <a:solidFill>
              <a:srgbClr val="2E6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3520440" cy="4023360"/>
          </a:xfrm>
          <a:prstGeom prst="roundRect">
            <a:avLst/>
          </a:prstGeom>
          <a:noFill/>
          <a:ln w="31750">
            <a:solidFill>
              <a:srgbClr val="E85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063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E85D2E"/>
                </a:solidFill>
                <a:latin typeface="Comic Sans MS"/>
              </a:rPr>
              <a:t>1 · ANXIETY BY 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88920"/>
            <a:ext cx="306324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Not just seniority. Researchers 51%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anxious vs founders 15%. Designers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63% overwhelmed, 61% tired — highest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of any role. Exposure is uneven inside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the same company.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828800"/>
            <a:ext cx="3520440" cy="4023360"/>
          </a:xfrm>
          <a:prstGeom prst="roundRect">
            <a:avLst/>
          </a:prstGeom>
          <a:noFill/>
          <a:ln w="31750">
            <a:solidFill>
              <a:srgbClr val="2EA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2011680"/>
            <a:ext cx="3063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2EA05A"/>
                </a:solidFill>
                <a:latin typeface="Comic Sans MS"/>
              </a:rPr>
              <a:t>2 · LEARNING GOES SOCIAL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788920"/>
            <a:ext cx="306324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"Festivalization of wellness" — raves,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multi-day group immersions. The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skilliday turns communal &amp; identity-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driven. We crave the embodied things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AI can't do — with other humans.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1828800"/>
            <a:ext cx="3520440" cy="4023360"/>
          </a:xfrm>
          <a:prstGeom prst="roundRect">
            <a:avLst/>
          </a:prstGeom>
          <a:noFill/>
          <a:ln w="31750">
            <a:solidFill>
              <a:srgbClr val="2E6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2011680"/>
            <a:ext cx="3063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2E6BE8"/>
                </a:solidFill>
                <a:latin typeface="Comic Sans MS"/>
              </a:rPr>
              <a:t>3 · GAP PRICED AS MACRO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788920"/>
            <a:ext cx="306324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A ~$5.5T skills-gap price tag is doing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the rounds (advocacy — caution). But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it matches verified data: 85% of hiring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mgrs are positive yet name skill gaps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as their #1 problem.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126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1">
                <a:solidFill>
                  <a:srgbClr val="6B665C"/>
                </a:solidFill>
                <a:latin typeface="Comic Sans MS"/>
              </a:rPr>
              <a:t>Sources: ADP · Lenny's Newsletter (directional) · Global Wellness Summit 2026 · iternal.ai (caveated)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E6BE8"/>
          </a:solidFill>
          <a:ln w="6350">
            <a:solidFill>
              <a:srgbClr val="2E6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D1D2B"/>
                </a:solidFill>
                <a:latin typeface="Comic Sans MS"/>
              </a:rPr>
              <a:t>🛠  The tool: the Judgment Journal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6217920" cy="109728"/>
          </a:xfrm>
          <a:prstGeom prst="roundRect">
            <a:avLst/>
          </a:prstGeom>
          <a:solidFill>
            <a:srgbClr val="2E6BE8"/>
          </a:solidFill>
          <a:ln w="6350">
            <a:solidFill>
              <a:srgbClr val="2E6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1D1D2B"/>
                </a:solidFill>
                <a:latin typeface="Comic Sans MS"/>
              </a:rPr>
              <a:t>Gartner says half of orgs will soon test if you can think WITHOUT AI. You can't cram — but you can build proof.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468880"/>
            <a:ext cx="2834640" cy="640080"/>
          </a:xfrm>
          <a:prstGeom prst="roundRect">
            <a:avLst/>
          </a:prstGeom>
          <a:noFill/>
          <a:ln w="25400">
            <a:solidFill>
              <a:srgbClr val="E85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523744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E85D2E"/>
                </a:solidFill>
                <a:latin typeface="Comic Sans MS"/>
              </a:rPr>
              <a:t>1 · CAUGHT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468880"/>
            <a:ext cx="6858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D1D2B"/>
                </a:solidFill>
                <a:latin typeface="Comic Sans MS"/>
              </a:rPr>
              <a:t>One thing AI got wrong this week that I caught &amp; fixed.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337560"/>
            <a:ext cx="2834640" cy="640080"/>
          </a:xfrm>
          <a:prstGeom prst="roundRect">
            <a:avLst/>
          </a:prstGeom>
          <a:noFill/>
          <a:ln w="25400">
            <a:solidFill>
              <a:srgbClr val="2E6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392424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2E6BE8"/>
                </a:solidFill>
                <a:latin typeface="Comic Sans MS"/>
              </a:rPr>
              <a:t>2 · OVERRODE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3337560"/>
            <a:ext cx="6858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D1D2B"/>
                </a:solidFill>
                <a:latin typeface="Comic Sans MS"/>
              </a:rPr>
              <a:t>One time I chose against the AI's suggestion — and why.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206240"/>
            <a:ext cx="2834640" cy="640080"/>
          </a:xfrm>
          <a:prstGeom prst="roundRect">
            <a:avLst/>
          </a:prstGeom>
          <a:noFill/>
          <a:ln w="25400">
            <a:solidFill>
              <a:srgbClr val="2EA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61103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2EA05A"/>
                </a:solidFill>
                <a:latin typeface="Comic Sans MS"/>
              </a:rPr>
              <a:t>3 · NO-AI WIN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4206240"/>
            <a:ext cx="6858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D1D2B"/>
                </a:solidFill>
                <a:latin typeface="Comic Sans MS"/>
              </a:rPr>
              <a:t>One decision I made with zero AI help. My reasoning?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257800"/>
            <a:ext cx="9966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D1D2B"/>
                </a:solidFill>
                <a:latin typeface="Comic Sans MS"/>
              </a:rPr>
              <a:t>5 minutes a week. After 8 weeks you hold a portfolio of judgment — concrete proof for the</a:t>
            </a: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D1D2B"/>
                </a:solidFill>
                <a:latin typeface="Comic Sans MS"/>
              </a:rPr>
              <a:t>"AI-free assessment" era, and a mirror that keeps your critical thinking sharp.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8016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BF7EE"/>
                </a:solidFill>
                <a:latin typeface="Comic Sans MS"/>
              </a:rPr>
              <a:t>Bottom line for the fortnight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2286000"/>
            <a:ext cx="4754880" cy="109728"/>
          </a:xfrm>
          <a:prstGeom prst="roundRect">
            <a:avLst/>
          </a:prstGeom>
          <a:solidFill>
            <a:srgbClr val="E85D2E"/>
          </a:solidFill>
          <a:ln w="6350">
            <a:solidFill>
              <a:srgbClr val="E85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97480"/>
            <a:ext cx="103327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BF7EE"/>
                </a:solidFill>
                <a:latin typeface="Comic Sans MS"/>
              </a:rPr>
              <a:t>No new magnitude — higher resolution.</a:t>
            </a:r>
          </a:p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BF7EE"/>
                </a:solidFill>
                <a:latin typeface="Comic Sans M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BF7EE"/>
                </a:solidFill>
                <a:latin typeface="Comic Sans MS"/>
              </a:rPr>
              <a:t>The July playbook stands: AI × critical thinking × domain.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1">
                <a:solidFill>
                  <a:srgbClr val="E8E2D5"/>
                </a:solidFill>
                <a:latin typeface="Comic Sans MS"/>
              </a:rPr>
              <a:t>The one fresh instruction is personal: start a Judgment Journal. The era of proving you can</a:t>
            </a:r>
          </a:p>
          <a:p>
            <a:pPr algn="l">
              <a:lnSpc>
                <a:spcPct val="105000"/>
              </a:lnSpc>
            </a:pPr>
            <a:r>
              <a:rPr sz="1800" b="0" i="1">
                <a:solidFill>
                  <a:srgbClr val="E8E2D5"/>
                </a:solidFill>
                <a:latin typeface="Comic Sans MS"/>
              </a:rPr>
              <a:t>think without the machine is arriving faster than the headline numbers move.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