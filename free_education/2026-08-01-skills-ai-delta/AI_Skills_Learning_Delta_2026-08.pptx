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D1D2B"/>
                </a:solidFill>
                <a:latin typeface="Comic Sans MS"/>
              </a:rPr>
              <a:t>Quiet 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514600"/>
            <a:ext cx="4572000" cy="109728"/>
          </a:xfrm>
          <a:prstGeom prst="round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E6BE8"/>
                </a:solidFill>
                <a:latin typeface="Comic Sans MS"/>
              </a:rPr>
              <a:t>The Scoreboard still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49039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D1D2B"/>
                </a:solidFill>
                <a:latin typeface="Comic Sans MS"/>
              </a:rPr>
              <a:t>One day on from the 31 July brief, no significant new data landed.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D1D2B"/>
                </a:solidFill>
                <a:latin typeface="Comic Sans MS"/>
              </a:rPr>
              <a:t>The big move was last week: forecast → measured. Today = honest confirmation.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6B665C"/>
                </a:solidFill>
                <a:latin typeface="Comic Sans MS"/>
              </a:rPr>
              <a:t>5-minute check-in  ·  Trend monitor  ·  1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D2B"/>
                </a:solidFill>
                <a:latin typeface="Comic Sans MS"/>
              </a:rPr>
              <a:t>Where the story stands (31 Jul — still current)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43000"/>
            <a:ext cx="6766560" cy="109728"/>
          </a:xfrm>
          <a:prstGeom prst="round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665C"/>
                </a:solidFill>
                <a:latin typeface="Comic Sans MS"/>
              </a:rPr>
              <a:t>The measured picture from last week hasn't been superseded — it remains the plan: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203704"/>
            <a:ext cx="201168" cy="201168"/>
          </a:xfrm>
          <a:prstGeom prst="ellipse">
            <a:avLst/>
          </a:prstGeom>
          <a:solidFill>
            <a:srgbClr val="E85D2E"/>
          </a:solidFill>
          <a:ln w="635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1D2B"/>
                </a:solidFill>
                <a:latin typeface="Comic Sans MS"/>
              </a:rPr>
              <a:t>AI = #1 stated layoff reason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05740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665C"/>
                </a:solidFill>
                <a:latin typeface="Comic Sans MS"/>
              </a:rPr>
              <a:t>4 months running · ~101,743 AI-cited cuts H1 (≈2× 2025)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80944"/>
            <a:ext cx="201168" cy="201168"/>
          </a:xfrm>
          <a:prstGeom prst="ellipse">
            <a:avLst/>
          </a:prstGeom>
          <a:solidFill>
            <a:srgbClr val="E85D2E"/>
          </a:solidFill>
          <a:ln w="635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1D2B"/>
                </a:solidFill>
                <a:latin typeface="Comic Sans MS"/>
              </a:rPr>
              <a:t>Entry-level −13%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83464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665C"/>
                </a:solidFill>
                <a:latin typeface="Comic Sans MS"/>
              </a:rPr>
              <a:t>22–25s in AI-exposed jobs; −20% junior devs — Stanford payroll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58184"/>
            <a:ext cx="201168" cy="201168"/>
          </a:xfrm>
          <a:prstGeom prst="ellipse">
            <a:avLst/>
          </a:prstGeom>
          <a:solidFill>
            <a:srgbClr val="2E6BE8"/>
          </a:solidFill>
          <a:ln w="635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1D2B"/>
                </a:solidFill>
                <a:latin typeface="Comic Sans MS"/>
              </a:rPr>
              <a:t>AI literacy = #1 rising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61188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665C"/>
                </a:solidFill>
                <a:latin typeface="Comic Sans MS"/>
              </a:rPr>
              <a:t>soft skills take 7 of top 10 — LinkedIn 2026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535424"/>
            <a:ext cx="201168" cy="201168"/>
          </a:xfrm>
          <a:prstGeom prst="ellipse">
            <a:avLst/>
          </a:prstGeom>
          <a:solidFill>
            <a:srgbClr val="2E6BE8"/>
          </a:solidFill>
          <a:ln w="635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38912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1D2B"/>
                </a:solidFill>
                <a:latin typeface="Comic Sans MS"/>
              </a:rPr>
              <a:t>Trained for today's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438912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665C"/>
                </a:solidFill>
                <a:latin typeface="Comic Sans MS"/>
              </a:rPr>
              <a:t>not tomorrow's job — Conference Board (28 Jul)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312664"/>
            <a:ext cx="201168" cy="201168"/>
          </a:xfrm>
          <a:prstGeom prst="ellipse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6636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1D2B"/>
                </a:solidFill>
                <a:latin typeface="Comic Sans MS"/>
              </a:rPr>
              <a:t>+62% premium · 22% feel safe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516636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665C"/>
                </a:solidFill>
                <a:latin typeface="Comic Sans MS"/>
              </a:rPr>
              <a:t>48% plan a skilliday — PwC · ADP · Mastercard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2EA05A"/>
                </a:solidFill>
                <a:latin typeface="Comic Sans MS"/>
              </a:rPr>
              <a:t>✅  If you read the 31 July Scoreboard, you are up to date. Nothing today changes the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D1D2B"/>
                </a:solidFill>
                <a:latin typeface="Comic Sans MS"/>
              </a:rPr>
              <a:t>What moved in 24h: minor texture only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43000"/>
            <a:ext cx="5760720" cy="109728"/>
          </a:xfrm>
          <a:prstGeom prst="roundRect">
            <a:avLst/>
          </a:prstGeom>
          <a:solidFill>
            <a:srgbClr val="E85D2E"/>
          </a:solidFill>
          <a:ln w="635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6B665C"/>
                </a:solidFill>
                <a:latin typeface="Comic Sans MS"/>
              </a:rPr>
              <a:t>No new flagship report. One detail worth logging: the "22% feel safe" number is a ladder.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1D1D2B"/>
                </a:solidFill>
                <a:latin typeface="Comic Sans MS"/>
              </a:rPr>
              <a:t>C-suite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2103120"/>
            <a:ext cx="6035040" cy="457200"/>
          </a:xfrm>
          <a:prstGeom prst="round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04119" y="2084831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EA05A"/>
                </a:solidFill>
                <a:latin typeface="Comic Sans MS"/>
              </a:rPr>
              <a:t>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199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1D1D2B"/>
                </a:solidFill>
                <a:latin typeface="Comic Sans MS"/>
              </a:rPr>
              <a:t>Upper managers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761487"/>
            <a:ext cx="5345321" cy="457200"/>
          </a:xfrm>
          <a:prstGeom prst="round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4401" y="2743199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EA05A"/>
                </a:solidFill>
                <a:latin typeface="Comic Sans MS"/>
              </a:rPr>
              <a:t>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1D1D2B"/>
                </a:solidFill>
                <a:latin typeface="Comic Sans MS"/>
              </a:rPr>
              <a:t>Middle managers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419856"/>
            <a:ext cx="3965883" cy="457200"/>
          </a:xfrm>
          <a:prstGeom prst="roundRect">
            <a:avLst/>
          </a:prstGeom>
          <a:solidFill>
            <a:srgbClr val="2E6BE8"/>
          </a:solidFill>
          <a:ln w="635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4963" y="3401568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E6BE8"/>
                </a:solidFill>
                <a:latin typeface="Comic Sans MS"/>
              </a:rPr>
              <a:t>23%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1D1D2B"/>
                </a:solidFill>
                <a:latin typeface="Comic Sans MS"/>
              </a:rPr>
              <a:t>Managers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4078224"/>
            <a:ext cx="3621024" cy="457200"/>
          </a:xfrm>
          <a:prstGeom prst="roundRect">
            <a:avLst/>
          </a:prstGeom>
          <a:solidFill>
            <a:srgbClr val="E85D2E"/>
          </a:solidFill>
          <a:ln w="635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0104" y="4059936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E85D2E"/>
                </a:solidFill>
                <a:latin typeface="Comic Sans MS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18304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1" i="0">
                <a:solidFill>
                  <a:srgbClr val="1D1D2B"/>
                </a:solidFill>
                <a:latin typeface="Comic Sans MS"/>
              </a:rPr>
              <a:t>Rank-and-file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4736592"/>
            <a:ext cx="3103734" cy="457200"/>
          </a:xfrm>
          <a:prstGeom prst="roundRect">
            <a:avLst/>
          </a:prstGeom>
          <a:solidFill>
            <a:srgbClr val="E85D2E"/>
          </a:solidFill>
          <a:ln w="635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2814" y="4718304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E85D2E"/>
                </a:solidFill>
                <a:latin typeface="Comic Sans MS"/>
              </a:rPr>
              <a:t>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665C"/>
                </a:solidFill>
                <a:latin typeface="Comic Sans MS"/>
              </a:rPr>
              <a:t>Not new data — a finer cut of the same ADP survey. But it's the year in one shape:</a:t>
            </a:r>
          </a:p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665C"/>
                </a:solidFill>
                <a:latin typeface="Comic Sans MS"/>
              </a:rPr>
              <a:t>anxiety concentrates where the work is most automatable — the same rung Stanford's −13%</a:t>
            </a:r>
          </a:p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665C"/>
                </a:solidFill>
                <a:latin typeface="Comic Sans MS"/>
              </a:rPr>
              <a:t>payroll data shows actually shrinking. (Also, by role: researchers 51% anxious vs founders 15%.)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6BE8"/>
          </a:solidFill>
          <a:ln w="635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D1D2B"/>
                </a:solidFill>
                <a:latin typeface="Comic Sans MS"/>
              </a:rPr>
              <a:t>🛠  The tool: the Judgment Journal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80160"/>
            <a:ext cx="6217920" cy="109728"/>
          </a:xfrm>
          <a:prstGeom prst="roundRect">
            <a:avLst/>
          </a:prstGeom>
          <a:solidFill>
            <a:srgbClr val="2E6BE8"/>
          </a:solidFill>
          <a:ln w="635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1D1D2B"/>
                </a:solidFill>
                <a:latin typeface="Comic Sans MS"/>
              </a:rPr>
              <a:t>Pairs with last week's Reskill Ledger. Gartner says half of orgs will soon test if you can think WITHOUT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468880"/>
            <a:ext cx="2834640" cy="640080"/>
          </a:xfrm>
          <a:prstGeom prst="roundRect">
            <a:avLst/>
          </a:prstGeom>
          <a:noFill/>
          <a:ln w="25400">
            <a:solidFill>
              <a:srgbClr val="E85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23744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E85D2E"/>
                </a:solidFill>
                <a:latin typeface="Comic Sans MS"/>
              </a:rPr>
              <a:t>1 · CAUGHT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468880"/>
            <a:ext cx="6858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1D2B"/>
                </a:solidFill>
                <a:latin typeface="Comic Sans MS"/>
              </a:rPr>
              <a:t>One thing AI got wrong this week that I caught &amp; fixed.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37560"/>
            <a:ext cx="2834640" cy="640080"/>
          </a:xfrm>
          <a:prstGeom prst="roundRect">
            <a:avLst/>
          </a:prstGeom>
          <a:noFill/>
          <a:ln w="25400">
            <a:solidFill>
              <a:srgbClr val="2E6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92424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E6BE8"/>
                </a:solidFill>
                <a:latin typeface="Comic Sans MS"/>
              </a:rPr>
              <a:t>2 · OVERRODE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337560"/>
            <a:ext cx="6858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1D2B"/>
                </a:solidFill>
                <a:latin typeface="Comic Sans MS"/>
              </a:rPr>
              <a:t>One time I chose against the AI's suggestion — and why.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206240"/>
            <a:ext cx="2834640" cy="640080"/>
          </a:xfrm>
          <a:prstGeom prst="roundRect">
            <a:avLst/>
          </a:prstGeom>
          <a:noFill/>
          <a:ln w="2540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261103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2EA05A"/>
                </a:solidFill>
                <a:latin typeface="Comic Sans MS"/>
              </a:rPr>
              <a:t>3 · NO-AI 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206240"/>
            <a:ext cx="6858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1D2B"/>
                </a:solidFill>
                <a:latin typeface="Comic Sans MS"/>
              </a:rPr>
              <a:t>One decision I made with zero AI help. My reasoning?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9966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D1D2B"/>
                </a:solidFill>
                <a:latin typeface="Comic Sans MS"/>
              </a:rPr>
              <a:t>5 minutes a week. After 8 weeks you hold a portfolio of judgment — concrete proof for the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D1D2B"/>
                </a:solidFill>
                <a:latin typeface="Comic Sans MS"/>
              </a:rPr>
              <a:t>"AI-free assessment" era, and a mirror that keeps your critical thinking sharp.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BF7EE"/>
                </a:solidFill>
                <a:latin typeface="Comic Sans MS"/>
              </a:rP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2286000"/>
            <a:ext cx="3108960" cy="109728"/>
          </a:xfrm>
          <a:prstGeom prst="roundRect">
            <a:avLst/>
          </a:prstGeom>
          <a:solidFill>
            <a:srgbClr val="2EA05A"/>
          </a:solidFill>
          <a:ln w="6350">
            <a:solidFill>
              <a:srgbClr val="2EA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BF7EE"/>
                </a:solidFill>
                <a:latin typeface="Comic Sans MS"/>
              </a:rPr>
              <a:t>A genuinely quiet day.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BF7EE"/>
                </a:solidFill>
                <a:latin typeface="Comic Sans M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BF7EE"/>
                </a:solidFill>
                <a:latin typeface="Comic Sans MS"/>
              </a:rPr>
              <a:t>The 31 July Scoreboard is the current state — no correction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E8E2D5"/>
                </a:solidFill>
                <a:latin typeface="Comic Sans MS"/>
              </a:rPr>
              <a:t>The move is unchanged: AI literacy × critical thinking × domain × reskill-ahead-of-the-tool.</a:t>
            </a:r>
          </a:p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E8E2D5"/>
                </a:solidFill>
                <a:latin typeface="Comic Sans MS"/>
              </a:rPr>
              <a:t>One fresh personal step: start a Judgment Journal alongside your Reskill Ledger.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