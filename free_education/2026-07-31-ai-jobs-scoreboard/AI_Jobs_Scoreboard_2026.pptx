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E85D2E"/>
          </a:solidFill>
          <a:ln w="6350">
            <a:solidFill>
              <a:srgbClr val="E85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 i="0">
                <a:solidFill>
                  <a:srgbClr val="1D1D2B"/>
                </a:solidFill>
                <a:latin typeface="Comic Sans MS"/>
              </a:rPr>
              <a:t>The Scoreboard Arrives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2514600"/>
            <a:ext cx="6035040" cy="109728"/>
          </a:xfrm>
          <a:prstGeom prst="roundRect">
            <a:avLst/>
          </a:prstGeom>
          <a:solidFill>
            <a:srgbClr val="E85D2E"/>
          </a:solidFill>
          <a:ln w="6350">
            <a:solidFill>
              <a:srgbClr val="E85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78892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2E6BE8"/>
                </a:solidFill>
                <a:latin typeface="Comic Sans MS"/>
              </a:rPr>
              <a:t>The AI-jobs story just moved from forecast to measured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9476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D1D2B"/>
                </a:solidFill>
                <a:latin typeface="Comic Sans MS"/>
              </a:rPr>
              <a:t>AI is now the #1 stated reason for US layoffs — four months running.</a:t>
            </a:r>
          </a:p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D1D2B"/>
                </a:solidFill>
                <a:latin typeface="Comic Sans MS"/>
              </a:rPr>
              <a:t>The entry-level decline is no longer a prediction. It is a measured 13%.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52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1">
                <a:solidFill>
                  <a:srgbClr val="6B665C"/>
                </a:solidFill>
                <a:latin typeface="Comic Sans MS"/>
              </a:rPr>
              <a:t>5-minute read  ·  Human-Skills trend monitor  ·  31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D1D2B"/>
                </a:solidFill>
                <a:latin typeface="Comic Sans MS"/>
              </a:rPr>
              <a:t>Soft signal  →  hard scoreboard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5669280" cy="109728"/>
          </a:xfrm>
          <a:prstGeom prst="roundRect">
            <a:avLst/>
          </a:prstGeom>
          <a:solidFill>
            <a:srgbClr val="E85D2E"/>
          </a:solidFill>
          <a:ln w="6350">
            <a:solidFill>
              <a:srgbClr val="E85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665C"/>
                </a:solidFill>
                <a:latin typeface="Comic Sans MS"/>
              </a:rPr>
              <a:t>The evidence quality jumped: from what people FEAR to what the data SHOWS.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4937760" cy="3383280"/>
          </a:xfrm>
          <a:prstGeom prst="roundRect">
            <a:avLst/>
          </a:prstGeom>
          <a:noFill/>
          <a:ln w="31750">
            <a:solidFill>
              <a:srgbClr val="6B6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6B665C"/>
                </a:solidFill>
                <a:latin typeface="Comic Sans MS"/>
              </a:rPr>
              <a:t>EARLIER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63240"/>
            <a:ext cx="45720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6B665C"/>
                </a:solidFill>
                <a:latin typeface="Comic Sans MS"/>
              </a:rPr>
              <a:t>“AI pays 62% more”      (survey)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6B665C"/>
                </a:solidFill>
                <a:latin typeface="Comic Sans MS"/>
              </a:rPr>
              <a:t/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6B665C"/>
                </a:solidFill>
                <a:latin typeface="Comic Sans MS"/>
              </a:rPr>
              <a:t>“AI skills +144% demand”  (job ads)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6B665C"/>
                </a:solidFill>
                <a:latin typeface="Comic Sans MS"/>
              </a:rPr>
              <a:t/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6B665C"/>
                </a:solidFill>
                <a:latin typeface="Comic Sans MS"/>
              </a:rPr>
              <a:t>“only 22% feel job-safe”  (sentiment)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6B665C"/>
                </a:solidFill>
                <a:latin typeface="Comic Sans MS"/>
              </a:rPr>
              <a:t/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6B665C"/>
                </a:solidFill>
                <a:latin typeface="Comic Sans MS"/>
              </a:rPr>
              <a:t>forecasts &amp; feelings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6B665C"/>
                </a:solidFill>
                <a:latin typeface="Comic Sans MS"/>
              </a:rPr>
              <a:t>— easy to wave away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897880" y="3566160"/>
            <a:ext cx="411480" cy="640080"/>
          </a:xfrm>
          <a:prstGeom prst="rightArrow">
            <a:avLst/>
          </a:prstGeom>
          <a:solidFill>
            <a:srgbClr val="E85D2E"/>
          </a:solidFill>
          <a:ln w="12700">
            <a:solidFill>
              <a:srgbClr val="E85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2194560"/>
            <a:ext cx="4937760" cy="3383280"/>
          </a:xfrm>
          <a:prstGeom prst="roundRect">
            <a:avLst/>
          </a:prstGeom>
          <a:noFill/>
          <a:ln w="381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33172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C0392B"/>
                </a:solidFill>
                <a:latin typeface="Comic Sans MS"/>
              </a:rPr>
              <a:t>NOW (end of July)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063240"/>
            <a:ext cx="45720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1D1D2B"/>
                </a:solidFill>
                <a:latin typeface="Comic Sans MS"/>
              </a:rPr>
              <a:t>“101,743 AI-cited layoffs YTD”   COUNTED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1D1D2B"/>
                </a:solidFill>
                <a:latin typeface="Comic Sans MS"/>
              </a:rPr>
              <a:t/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1D1D2B"/>
                </a:solidFill>
                <a:latin typeface="Comic Sans MS"/>
              </a:rPr>
              <a:t>“22–25s down 13% in exposed jobs”  MEASURED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1D1D2B"/>
                </a:solidFill>
                <a:latin typeface="Comic Sans MS"/>
              </a:rPr>
              <a:t/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1D1D2B"/>
                </a:solidFill>
                <a:latin typeface="Comic Sans MS"/>
              </a:rPr>
              <a:t>“AI = #1 layoff reason, 4 mo.”   RECORDED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1D1D2B"/>
                </a:solidFill>
                <a:latin typeface="Comic Sans MS"/>
              </a:rPr>
              <a:t/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1D1D2B"/>
                </a:solidFill>
                <a:latin typeface="Comic Sans MS"/>
              </a:rPr>
              <a:t>hard operational data</a:t>
            </a:r>
          </a:p>
          <a:p>
            <a:pPr algn="ctr">
              <a:lnSpc>
                <a:spcPct val="105000"/>
              </a:lnSpc>
            </a:pPr>
            <a:r>
              <a:rPr sz="1600" b="0" i="0">
                <a:solidFill>
                  <a:srgbClr val="1D1D2B"/>
                </a:solidFill>
                <a:latin typeface="Comic Sans MS"/>
              </a:rPr>
              <a:t>— shows up in the ledger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D1D2B"/>
                </a:solidFill>
                <a:latin typeface="Comic Sans MS"/>
              </a:rPr>
              <a:t>1 · The layoff ledger now names AI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5852160" cy="109728"/>
          </a:xfrm>
          <a:prstGeom prst="roundRect">
            <a:avLst/>
          </a:prstGeom>
          <a:solidFill>
            <a:srgbClr val="C0392B"/>
          </a:solidFill>
          <a:ln w="63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00200"/>
            <a:ext cx="3383280" cy="2103120"/>
          </a:xfrm>
          <a:prstGeom prst="roundRect">
            <a:avLst/>
          </a:prstGeom>
          <a:noFill/>
          <a:ln w="317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C0392B"/>
                </a:solidFill>
                <a:latin typeface="Comic Sans MS"/>
              </a:rPr>
              <a:t>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8892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stated layoff reason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4 months straight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600200"/>
            <a:ext cx="3383280" cy="2103120"/>
          </a:xfrm>
          <a:prstGeom prst="roundRect">
            <a:avLst/>
          </a:prstGeom>
          <a:noFill/>
          <a:ln w="31750">
            <a:solidFill>
              <a:srgbClr val="E85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178308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E85D2E"/>
                </a:solidFill>
                <a:latin typeface="Comic Sans MS"/>
              </a:rPr>
              <a:t>101,743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278892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AI-cited cuts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in H1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600200"/>
            <a:ext cx="3383280" cy="2103120"/>
          </a:xfrm>
          <a:prstGeom prst="roundRect">
            <a:avLst/>
          </a:prstGeom>
          <a:noFill/>
          <a:ln w="31750">
            <a:solidFill>
              <a:srgbClr val="2E6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78308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2E6BE8"/>
                </a:solidFill>
                <a:latin typeface="Comic Sans MS"/>
              </a:rPr>
              <a:t>~2×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78892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all of 2025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(was 54,836)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023360"/>
            <a:ext cx="3383280" cy="2103120"/>
          </a:xfrm>
          <a:prstGeom prst="roundRect">
            <a:avLst/>
          </a:prstGeom>
          <a:noFill/>
          <a:ln w="317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20624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C0392B"/>
                </a:solidFill>
                <a:latin typeface="Comic Sans MS"/>
              </a:rPr>
              <a:t>31%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1208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of June's cuts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tagged to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4023360"/>
            <a:ext cx="3383280" cy="2103120"/>
          </a:xfrm>
          <a:prstGeom prst="roundRect">
            <a:avLst/>
          </a:prstGeom>
          <a:noFill/>
          <a:ln w="31750">
            <a:solidFill>
              <a:srgbClr val="E85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420624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E85D2E"/>
                </a:solidFill>
                <a:latin typeface="Comic Sans MS"/>
              </a:rPr>
              <a:t>+83%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521208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tech-sector cuts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YoY (H1)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4023360"/>
            <a:ext cx="3383280" cy="2103120"/>
          </a:xfrm>
          <a:prstGeom prst="roundRect">
            <a:avLst/>
          </a:prstGeom>
          <a:noFill/>
          <a:ln w="31750">
            <a:solidFill>
              <a:srgbClr val="2E6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4206240"/>
            <a:ext cx="3383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2E6BE8"/>
                </a:solidFill>
                <a:latin typeface="Comic Sans MS"/>
              </a:rPr>
              <a:t>hiring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5212080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Goldman: AI suppresses</a:t>
            </a:r>
          </a:p>
          <a:p>
            <a:pPr algn="ctr">
              <a:lnSpc>
                <a:spcPct val="105000"/>
              </a:lnSpc>
            </a:pPr>
            <a:r>
              <a:rPr sz="1500" b="0" i="0">
                <a:solidFill>
                  <a:srgbClr val="1D1D2B"/>
                </a:solidFill>
                <a:latin typeface="Comic Sans MS"/>
              </a:rPr>
              <a:t>HIRING &gt; firing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217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6B665C"/>
                </a:solidFill>
                <a:latin typeface="Comic Sans MS"/>
              </a:rPr>
              <a:t>Source: Challenger, Gray &amp; Christmas June 2026 report · Goldman Sachs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D1D2B"/>
                </a:solidFill>
                <a:latin typeface="Comic Sans MS"/>
              </a:rPr>
              <a:t>2 · The entry-level squeeze is now measured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6217920" cy="109728"/>
          </a:xfrm>
          <a:prstGeom prst="roundRect">
            <a:avLst/>
          </a:prstGeom>
          <a:solidFill>
            <a:srgbClr val="C0392B"/>
          </a:solidFill>
          <a:ln w="63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1D1D2B"/>
                </a:solidFill>
                <a:latin typeface="Comic Sans MS"/>
              </a:rPr>
              <a:t>Stanford, on ADP payroll data for 25 million workers: employment change since late 2022.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50592"/>
            <a:ext cx="4023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1" i="0">
                <a:solidFill>
                  <a:srgbClr val="1D1D2B"/>
                </a:solidFill>
                <a:latin typeface="Comic Sans MS"/>
              </a:rPr>
              <a:t>Junior software devs (22–25)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2468880"/>
            <a:ext cx="5852160" cy="548640"/>
          </a:xfrm>
          <a:prstGeom prst="roundRect">
            <a:avLst/>
          </a:prstGeom>
          <a:solidFill>
            <a:srgbClr val="C0392B"/>
          </a:solidFill>
          <a:ln w="63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27080" y="2450592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C0392B"/>
                </a:solidFill>
                <a:latin typeface="Comic Sans MS"/>
              </a:rPr>
              <a:t>-20%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10712"/>
            <a:ext cx="4023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1" i="0">
                <a:solidFill>
                  <a:srgbClr val="1D1D2B"/>
                </a:solidFill>
                <a:latin typeface="Comic Sans MS"/>
              </a:rPr>
              <a:t>All young workers (22–25)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3429000"/>
            <a:ext cx="3803904" cy="548640"/>
          </a:xfrm>
          <a:prstGeom prst="roundRect">
            <a:avLst/>
          </a:prstGeom>
          <a:solidFill>
            <a:srgbClr val="E85D2E"/>
          </a:solidFill>
          <a:ln w="6350">
            <a:solidFill>
              <a:srgbClr val="E85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78824" y="3410712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E85D2E"/>
                </a:solidFill>
                <a:latin typeface="Comic Sans MS"/>
              </a:rPr>
              <a:t>-13%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70832"/>
            <a:ext cx="40233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5000"/>
              </a:lnSpc>
            </a:pPr>
            <a:r>
              <a:rPr sz="1600" b="1" i="0">
                <a:solidFill>
                  <a:srgbClr val="1D1D2B"/>
                </a:solidFill>
                <a:latin typeface="Comic Sans MS"/>
              </a:rPr>
              <a:t>Older / less-exposed workers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4389120"/>
            <a:ext cx="228600" cy="548640"/>
          </a:xfrm>
          <a:prstGeom prst="roundRect">
            <a:avLst/>
          </a:prstGeom>
          <a:solidFill>
            <a:srgbClr val="2EA05A"/>
          </a:solidFill>
          <a:ln w="6350">
            <a:solidFill>
              <a:srgbClr val="2EA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4370832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2EA05A"/>
                </a:solidFill>
                <a:latin typeface="Comic Sans MS"/>
              </a:rPr>
              <a:t>~flat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53212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1">
                <a:solidFill>
                  <a:srgbClr val="6B665C"/>
                </a:solidFill>
                <a:latin typeface="Comic Sans MS"/>
              </a:rPr>
              <a:t>Declines cluster where AI AUTOMATES work — and are muted where it AUGMENTS. Dallas Fed agrees.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636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6B665C"/>
                </a:solidFill>
                <a:latin typeface="Comic Sans MS"/>
              </a:rPr>
              <a:t>Source: Stanford (Brynjolfsson et al.) · Dallas Fed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1D2B"/>
                </a:solidFill>
                <a:latin typeface="Comic Sans MS"/>
              </a:rPr>
              <a:t>3 · Trained for today's AI — not tomorrow's job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097280"/>
            <a:ext cx="6400800" cy="109728"/>
          </a:xfrm>
          <a:prstGeom prst="roundRect">
            <a:avLst/>
          </a:prstGeom>
          <a:solidFill>
            <a:srgbClr val="2E6BE8"/>
          </a:solidFill>
          <a:ln w="6350">
            <a:solidFill>
              <a:srgbClr val="2E6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D1D2B"/>
                </a:solidFill>
                <a:latin typeface="Comic Sans MS"/>
              </a:rPr>
              <a:t>The Conference Board (28 Jul): most organisations prepare workers for TODAY's AI —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D1D2B"/>
                </a:solidFill>
                <a:latin typeface="Comic Sans MS"/>
              </a:rPr>
              <a:t>investing in AI literacy &amp; current-role upskilling, but rarely in real reskilling.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2743200"/>
            <a:ext cx="9601200" cy="1371600"/>
          </a:xfrm>
          <a:prstGeom prst="roundRect">
            <a:avLst/>
          </a:prstGeom>
          <a:noFill/>
          <a:ln w="38100">
            <a:solidFill>
              <a:srgbClr val="E85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2971800"/>
            <a:ext cx="9235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E85D2E"/>
                </a:solidFill>
                <a:latin typeface="Comic Sans MS"/>
              </a:rPr>
              <a:t>So don't outsource your reskilling to your employer's training budget.</a:t>
            </a:r>
          </a:p>
          <a:p>
            <a:pPr algn="ctr">
              <a:lnSpc>
                <a:spcPct val="105000"/>
              </a:lnSpc>
            </a:pPr>
            <a:r>
              <a:rPr sz="2000" b="1" i="0">
                <a:solidFill>
                  <a:srgbClr val="E85D2E"/>
                </a:solidFill>
                <a:latin typeface="Comic Sans MS"/>
              </a:rPr>
              <a:t>Their horizon is this quarter's tool. Yours has to be the next role.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572000"/>
            <a:ext cx="107899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D1D2B"/>
                </a:solidFill>
                <a:latin typeface="Comic Sans MS"/>
              </a:rPr>
              <a:t>Durable-skill lists this week converge: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D1D2B"/>
                </a:solidFill>
                <a:latin typeface="Comic Sans MS"/>
              </a:rPr>
              <a:t>   •  LinkedIn — AI literacy is #1, and means JUDGING the machine · soft skills take 7 of top 10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D1D2B"/>
                </a:solidFill>
                <a:latin typeface="Comic Sans MS"/>
              </a:rPr>
              <a:t>   •  Resume-of-the-Future (O*NET) — reasoning, problem recognition, flexible thinking, judgment, focus</a:t>
            </a:r>
          </a:p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1D1D2B"/>
                </a:solidFill>
                <a:latin typeface="Comic Sans MS"/>
              </a:rPr>
              <a:t>   •  78% of ICT roles now embed AI skills → the differentiator is the human layer on top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E6BE8"/>
          </a:solidFill>
          <a:ln w="6350">
            <a:solidFill>
              <a:srgbClr val="2E6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D1D2B"/>
                </a:solidFill>
                <a:latin typeface="Comic Sans MS"/>
              </a:rPr>
              <a:t>🛠  The tool: the Next-Role Reskill Ledger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6949440" cy="109728"/>
          </a:xfrm>
          <a:prstGeom prst="roundRect">
            <a:avLst/>
          </a:prstGeom>
          <a:solidFill>
            <a:srgbClr val="2E6BE8"/>
          </a:solidFill>
          <a:ln w="6350">
            <a:solidFill>
              <a:srgbClr val="2E6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E85D2E"/>
                </a:solidFill>
                <a:latin typeface="Comic Sans MS"/>
              </a:rPr>
              <a:t>1  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783080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1D2B"/>
                </a:solidFill>
                <a:latin typeface="Comic Sans MS"/>
              </a:rPr>
              <a:t>your role as an AI agent would describe it in one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41448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E85D2E"/>
                </a:solidFill>
                <a:latin typeface="Comic Sans MS"/>
              </a:rPr>
              <a:t>2  STRIP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441448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1D2B"/>
                </a:solidFill>
                <a:latin typeface="Comic Sans MS"/>
              </a:rPr>
              <a:t>which part can AI already draft?  = your at-risk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99815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E85D2E"/>
                </a:solidFill>
                <a:latin typeface="Comic Sans MS"/>
              </a:rPr>
              <a:t>3  LIFT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099815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1D2B"/>
                </a:solidFill>
                <a:latin typeface="Comic Sans MS"/>
              </a:rPr>
              <a:t>the judgment the routine was feeding: validate · decide · persuade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58184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E85D2E"/>
                </a:solidFill>
                <a:latin typeface="Comic Sans MS"/>
              </a:rPr>
              <a:t>4  RESKILL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758184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1D2B"/>
                </a:solidFill>
                <a:latin typeface="Comic Sans MS"/>
              </a:rPr>
              <a:t>1 durable skill + 1 NEXT-tool skill (not this quarter's tool)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416552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E85D2E"/>
                </a:solidFill>
                <a:latin typeface="Comic Sans MS"/>
              </a:rPr>
              <a:t>5  DATE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4416552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D1D2B"/>
                </a:solidFill>
                <a:latin typeface="Comic Sans MS"/>
              </a:rPr>
              <a:t>90-day review — beat the skill half-life on purpose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5166360"/>
            <a:ext cx="10241280" cy="1143000"/>
          </a:xfrm>
          <a:prstGeom prst="roundRect">
            <a:avLst/>
          </a:prstGeom>
          <a:noFill/>
          <a:ln w="31750">
            <a:solidFill>
              <a:srgbClr val="2EA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5303520"/>
            <a:ext cx="9966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0" i="1">
                <a:solidFill>
                  <a:srgbClr val="1D1D2B"/>
                </a:solidFill>
                <a:latin typeface="Comic Sans MS"/>
              </a:rPr>
              <a:t>Sparring partner, not oracle — paste your conclusion back to any AI and prompt:</a:t>
            </a:r>
          </a:p>
          <a:p>
            <a:pPr algn="ctr">
              <a:lnSpc>
                <a:spcPct val="105000"/>
              </a:lnSpc>
            </a:pPr>
            <a:r>
              <a:rPr sz="1600" b="0" i="1">
                <a:solidFill>
                  <a:srgbClr val="1D1D2B"/>
                </a:solidFill>
                <a:latin typeface="Comic Sans MS"/>
              </a:rPr>
              <a:t>“Argue the strongest case that I'm wrong. List the three assumptions I didn't check.”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1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28016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BF7EE"/>
                </a:solidFill>
                <a:latin typeface="Comic Sans MS"/>
              </a:rPr>
              <a:t>The move for 31 July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0120" y="2286000"/>
            <a:ext cx="4572000" cy="109728"/>
          </a:xfrm>
          <a:prstGeom prst="roundRect">
            <a:avLst/>
          </a:prstGeom>
          <a:solidFill>
            <a:srgbClr val="E85D2E"/>
          </a:solidFill>
          <a:ln w="6350">
            <a:solidFill>
              <a:srgbClr val="E85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65176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BF7EE"/>
                </a:solidFill>
                <a:latin typeface="Comic Sans MS"/>
              </a:rPr>
              <a:t>AI literacy  ×  critical thinking  ×  domain  ×  reskill-ahead.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E8E2D5"/>
                </a:solidFill>
                <a:latin typeface="Comic Sans MS"/>
              </a:rPr>
              <a:t>The scoreboard is real: AI now names itself in the layoff ledger, and the entry-level</a:t>
            </a:r>
          </a:p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E8E2D5"/>
                </a:solidFill>
                <a:latin typeface="Comic Sans MS"/>
              </a:rPr>
              <a:t>decline is measured, not feared. As routine work gets automated, value migrates to the</a:t>
            </a:r>
          </a:p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E8E2D5"/>
                </a:solidFill>
                <a:latin typeface="Comic Sans MS"/>
              </a:rPr>
              <a:t>judgment ceiling — and “AI literacy” now means judging the machine, not just running it.</a:t>
            </a:r>
          </a:p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E8E2D5"/>
                </a:solidFill>
                <a:latin typeface="Comic Sans MS"/>
              </a:rPr>
              <a:t>Reskill for the NEXT role. Keep the embodied, human learning alive. Learn how to learn.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