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1D1D2B"/>
                </a:solidFill>
                <a:latin typeface="Comic Sans MS"/>
              </a:rPr>
              <a:t>The Great Skill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606040"/>
            <a:ext cx="566928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E6BE8"/>
                </a:solidFill>
                <a:latin typeface="Comic Sans MS"/>
              </a:rPr>
              <a:t>Why your “human” skills just got a raise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1D2B"/>
                </a:solidFill>
                <a:latin typeface="Comic Sans MS"/>
              </a:rPr>
              <a:t>AI is not flattening the value of skills — it is SPLITTING it.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1D2B"/>
                </a:solidFill>
                <a:latin typeface="Comic Sans MS"/>
              </a:rPr>
              <a:t>Routine work gets cheaper. Judgment, taste &amp; steering AI get a pay 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6B665C"/>
                </a:solidFill>
                <a:latin typeface="Comic Sans MS"/>
              </a:rPr>
              <a:t>5-minute read  ·  Trend monitor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D2B"/>
                </a:solidFill>
                <a:latin typeface="Comic Sans MS"/>
              </a:rPr>
              <a:t>One labour market, two doors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12064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665C"/>
                </a:solidFill>
                <a:latin typeface="Comic Sans MS"/>
              </a:rPr>
              <a:t>Same person, same skill. What decides your door? Whether you ADD judgment — or just hand the task over.</a:t>
            </a:r>
          </a:p>
        </p:txBody>
      </p:sp>
      <p:sp>
        <p:nvSpPr>
          <p:cNvPr id="5" name="Oval 4"/>
          <p:cNvSpPr/>
          <p:nvPr/>
        </p:nvSpPr>
        <p:spPr>
          <a:xfrm>
            <a:off x="5212080" y="2057400"/>
            <a:ext cx="1920240" cy="822960"/>
          </a:xfrm>
          <a:prstGeom prst="ellipse">
            <a:avLst/>
          </a:prstGeom>
          <a:noFill/>
          <a:ln w="31750">
            <a:solidFill>
              <a:srgbClr val="1D1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224028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1D2B"/>
                </a:solidFill>
                <a:latin typeface="Comic Sans MS"/>
              </a:rPr>
              <a:t>YOU + a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4206240" cy="2286000"/>
          </a:xfrm>
          <a:prstGeom prst="roundRect">
            <a:avLst/>
          </a:prstGeom>
          <a:noFill/>
          <a:ln w="3175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6B665C"/>
                </a:solidFill>
                <a:latin typeface="Comic Sans MS"/>
              </a:rPr>
              <a:t>ROUTINE DOOR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665C"/>
                </a:solidFill>
                <a:latin typeface="Comic Sans MS"/>
              </a:rPr>
              <a:t>“AI can do this for you”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665C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665C"/>
                </a:solidFill>
                <a:latin typeface="Comic Sans MS"/>
              </a:rPr>
              <a:t>value drifts DOWN ↓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665C"/>
                </a:solidFill>
                <a:latin typeface="Comic Sans MS"/>
              </a:rPr>
              <a:t>wages flat, roles thin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665C"/>
                </a:solidFill>
                <a:latin typeface="Comic Sans MS"/>
              </a:rPr>
              <a:t>“prompt it and pray”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566160"/>
            <a:ext cx="4206240" cy="2286000"/>
          </a:xfrm>
          <a:prstGeom prst="roundRect">
            <a:avLst/>
          </a:prstGeom>
          <a:noFill/>
          <a:ln w="381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70332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EA05A"/>
                </a:solidFill>
                <a:latin typeface="Comic Sans MS"/>
              </a:rPr>
              <a:t>JUDGMENT 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34340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“AI needs a human on the loop”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value climbs UP ↑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+62% wage premium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“prompt it, THEN judge it”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63240" y="2880360"/>
            <a:ext cx="457200" cy="685800"/>
          </a:xfrm>
          <a:prstGeom prst="downArrow">
            <a:avLst/>
          </a:prstGeom>
          <a:solidFill>
            <a:srgbClr val="6B665C"/>
          </a:solidFill>
          <a:ln w="1270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641080" y="2880360"/>
            <a:ext cx="457200" cy="685800"/>
          </a:xfrm>
          <a:prstGeom prst="downArrow">
            <a:avLst/>
          </a:prstGeom>
          <a:solidFill>
            <a:srgbClr val="2EA05A"/>
          </a:solidFill>
          <a:ln w="1270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D2B"/>
                </a:solidFill>
                <a:latin typeface="Comic Sans MS"/>
              </a:rPr>
              <a:t>The 2026 numbers that matter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39496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383280" cy="2148840"/>
          </a:xfrm>
          <a:prstGeom prst="roundRect">
            <a:avLst/>
          </a:prstGeom>
          <a:noFill/>
          <a:ln w="317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E85D2E"/>
                </a:solidFill>
                <a:latin typeface="Comic Sans MS"/>
              </a:rPr>
              <a:t>+62%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AI-skill wage premium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(was 57% → ~25%)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83280" cy="2148840"/>
          </a:xfrm>
          <a:prstGeom prst="roundRect">
            <a:avLst/>
          </a:prstGeom>
          <a:noFill/>
          <a:ln w="317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1907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2E6BE8"/>
                </a:solidFill>
                <a:latin typeface="Comic Sans MS"/>
              </a:rPr>
              <a:t>~8×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AI jobs grow faster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69% vs 9%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54480"/>
            <a:ext cx="3383280" cy="2148840"/>
          </a:xfrm>
          <a:prstGeom prst="roundRect">
            <a:avLst/>
          </a:prstGeom>
          <a:noFill/>
          <a:ln w="317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1907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2EA05A"/>
                </a:solidFill>
                <a:latin typeface="Comic Sans MS"/>
              </a:rPr>
              <a:t>51%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of AI jobs are now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OUTSIDE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23360"/>
            <a:ext cx="3383280" cy="2148840"/>
          </a:xfrm>
          <a:prstGeom prst="roundRect">
            <a:avLst/>
          </a:prstGeom>
          <a:noFill/>
          <a:ln w="317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8795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E85D2E"/>
                </a:solidFill>
                <a:latin typeface="Comic Sans MS"/>
              </a:rPr>
              <a:t>7×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entry-level roles want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SENIOR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023360"/>
            <a:ext cx="3383280" cy="2148840"/>
          </a:xfrm>
          <a:prstGeom prst="roundRect">
            <a:avLst/>
          </a:prstGeom>
          <a:noFill/>
          <a:ln w="317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18795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2E6BE8"/>
                </a:solidFill>
                <a:latin typeface="Comic Sans MS"/>
              </a:rP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52578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of workers feel their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job is safe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023360"/>
            <a:ext cx="3383280" cy="2148840"/>
          </a:xfrm>
          <a:prstGeom prst="roundRect">
            <a:avLst/>
          </a:prstGeom>
          <a:noFill/>
          <a:ln w="317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187952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2EA05A"/>
                </a:solidFill>
                <a:latin typeface="Comic Sans MS"/>
              </a:rP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25780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of orgs to run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“AI-free” thinking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65C"/>
                </a:solidFill>
                <a:latin typeface="Comic Sans MS"/>
              </a:rPr>
              <a:t>Sources: PwC 2026 AI Jobs Barometer · Lightcast · Gartner · ADP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D2B"/>
                </a:solidFill>
                <a:latin typeface="Comic Sans MS"/>
              </a:rPr>
              <a:t>The human antidote: “skillidays”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852160" cy="109728"/>
          </a:xfrm>
          <a:prstGeom prst="roundRect">
            <a:avLst/>
          </a:prstGeom>
          <a:solidFill>
            <a:srgbClr val="2EA05A"/>
          </a:solidFill>
          <a:ln w="63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1D1D2B"/>
                </a:solidFill>
                <a:latin typeface="Comic Sans MS"/>
              </a:rPr>
              <a:t>Learning for identity, not just jobs. 48% of Europeans (Gen Z: 57%) plan to learn a skill on holiday.</a:t>
            </a:r>
          </a:p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1D1D2B"/>
                </a:solidFill>
                <a:latin typeface="Comic Sans MS"/>
              </a:rPr>
              <a:t>In an AI world, we crave what AI can’t do FOR us — embodied, experiential,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3347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651760"/>
            <a:ext cx="6766560" cy="502920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2633472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6BE8"/>
                </a:solidFill>
                <a:latin typeface="Comic Sans MS"/>
              </a:rP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Cookery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493008"/>
            <a:ext cx="6315456" cy="502920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8776" y="3474720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E85D2E"/>
                </a:solidFill>
                <a:latin typeface="Comic Sans MS"/>
              </a:rPr>
              <a:t>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159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Wellness (yoga/dance)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334256"/>
            <a:ext cx="5638800" cy="502920"/>
          </a:xfrm>
          <a:prstGeom prst="roundRect">
            <a:avLst/>
          </a:prstGeom>
          <a:solidFill>
            <a:srgbClr val="2EA05A"/>
          </a:solidFill>
          <a:ln w="63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2120" y="4315968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A05A"/>
                </a:solidFill>
                <a:latin typeface="Comic Sans MS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57216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D1D2B"/>
                </a:solidFill>
                <a:latin typeface="Comic Sans MS"/>
              </a:rPr>
              <a:t>Traditional crafts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5175504"/>
            <a:ext cx="5413248" cy="502920"/>
          </a:xfrm>
          <a:prstGeom prst="roundRect">
            <a:avLst/>
          </a:prstGeom>
          <a:solidFill>
            <a:srgbClr val="1D1D2B"/>
          </a:solidFill>
          <a:ln w="6350">
            <a:solidFill>
              <a:srgbClr val="1D1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5157216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1D2B"/>
                </a:solidFill>
                <a:latin typeface="Comic Sans MS"/>
              </a:rPr>
              <a:t>24%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65C"/>
                </a:solidFill>
                <a:latin typeface="Comic Sans MS"/>
              </a:rPr>
              <a:t>Source: Mastercard survey, 27,000 travellers / 28 European countries (Euronews, Jul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2B"/>
                </a:solidFill>
                <a:latin typeface="Comic Sans MS"/>
              </a:rPr>
              <a:t>🛠  The tool: the AI × Judgment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658368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691640"/>
            <a:ext cx="9601200" cy="914400"/>
          </a:xfrm>
          <a:prstGeom prst="roundRect">
            <a:avLst/>
          </a:prstGeom>
          <a:noFill/>
          <a:ln w="31750">
            <a:solidFill>
              <a:srgbClr val="1D1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4708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E85D2E"/>
                </a:solidFill>
                <a:latin typeface="Comic Sans MS"/>
              </a:rPr>
              <a:t>VALUE  =  AI-LEVERAGE  ×  JUDGMENT  × 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6BE8"/>
                </a:solidFill>
                <a:latin typeface="Comic Sans MS"/>
              </a:rPr>
              <a:t>AI-LEVERAGE  [1–5]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8036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Do I use AI to do this 5–10× faster?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3016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E85D2E"/>
                </a:solidFill>
                <a:latin typeface="Comic Sans MS"/>
              </a:rPr>
              <a:t>JUDGMENT  [1–5]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30168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Do I catch what AI gets wrong or can’t see?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79976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A05A"/>
                </a:solidFill>
                <a:latin typeface="Comic Sans MS"/>
              </a:rPr>
              <a:t>DOMAIN  [1–5]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79976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Do I know this field deeper than the model?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57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Multiply the three (max 125):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  •  &lt; 20   Routine-Door risk — add a judgment or domain layer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  •  20–60  Mixed — level up your lowest score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  •  &gt; 60   Judgment-Door moat — go deeper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BF7EE"/>
                </a:solidFill>
                <a:latin typeface="Comic Sans MS"/>
              </a:rPr>
              <a:t>The move for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2377440"/>
            <a:ext cx="411480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BF7EE"/>
                </a:solidFill>
                <a:latin typeface="Comic Sans MS"/>
              </a:rPr>
              <a:t>Not AI OR human skills.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BF7EE"/>
                </a:solidFill>
                <a:latin typeface="Comic Sans M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BF7EE"/>
                </a:solidFill>
                <a:latin typeface="Comic Sans MS"/>
              </a:rPr>
              <a:t>AI  ×  critical thinking  ×  domain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E8E2D5"/>
                </a:solidFill>
                <a:latin typeface="Comic Sans MS"/>
              </a:rPr>
              <a:t>Stack judgment on top of automation. Keep the embodied, human learning alive.</a:t>
            </a:r>
          </a:p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E8E2D5"/>
                </a:solidFill>
                <a:latin typeface="Comic Sans MS"/>
              </a:rPr>
              <a:t>The real meta-skill is learning how to learn — because the tools change every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