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The Pincer Closes on Juniors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377440"/>
            <a:ext cx="6766560" cy="146304"/>
          </a:xfrm>
          <a:prstGeom prst="rect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8553A"/>
                </a:solidFill>
                <a:latin typeface="Comic Sans MS"/>
              </a:rPr>
              <a:t>Human skills vs AI — the August 2026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8A867E"/>
                </a:solidFill>
                <a:latin typeface="Comic Sans MS"/>
              </a:rPr>
              <a:t>Sentiment → mechanism.  We now see WHERE it lands (juniors)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8A867E"/>
                </a:solidFill>
                <a:latin typeface="Comic Sans MS"/>
              </a:rPr>
              <a:t>and HOW FAST people adapt (+185% critical-thinking enrollments).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8A867E"/>
                </a:solidFill>
                <a:latin typeface="Comic Sans MS"/>
              </a:rPr>
              <a:t>5-minute read  ·  deltas vs the 19 July baseline  ·  2 August 2026</a:t>
            </a:r>
          </a:p>
        </p:txBody>
      </p:sp>
      <p:sp>
        <p:nvSpPr>
          <p:cNvPr id="8" name="Lightning Bolt 7"/>
          <p:cNvSpPr/>
          <p:nvPr/>
        </p:nvSpPr>
        <p:spPr>
          <a:xfrm>
            <a:off x="9966960" y="822960"/>
            <a:ext cx="1280160" cy="1828800"/>
          </a:xfrm>
          <a:prstGeom prst="lightningBolt">
            <a:avLst/>
          </a:prstGeom>
          <a:solidFill>
            <a:srgbClr val="FFE79C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356616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183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Two weeks ago this monitor reported FEAR.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This edition reports DATA —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and it lands hardest on early-career workers.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The AI-skills premium held. But the entry-level door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didn't slam — it NARROWED and RAISED its bar: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surviving junior jobs now demand senior judgment on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The July thesis held:  AI × human, not AI vs human.  What's new is the COORDINATE.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shift: from fear to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4937760" cy="4480560"/>
          </a:xfrm>
          <a:prstGeom prst="roundRect">
            <a:avLst/>
          </a:prstGeom>
          <a:solidFill>
            <a:srgbClr val="EFECE4"/>
          </a:solidFill>
          <a:ln w="317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A867E"/>
                </a:solidFill>
                <a:latin typeface="Comic Sans MS"/>
              </a:rPr>
              <a:t>19 JULY — 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4805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“60% expect AI to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destroy more jobs.”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“22% feel their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job is safe.”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“Learn durable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skills.”  (advice)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291840"/>
            <a:ext cx="822960" cy="822960"/>
          </a:xfrm>
          <a:prstGeom prst="rightArrow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4572000" cy="4480560"/>
          </a:xfrm>
          <a:prstGeom prst="roundRect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2 AUGUST —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1148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Stanford AI Index: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−20% employment for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devs aged 22–25.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Entry roles “seniorised”: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+35% ask for judgment.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Critical-thinking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enrollments +185%.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People are ACTING.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The premium held — the primary source got sharper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8A867E"/>
                </a:solidFill>
                <a:latin typeface="Comic Sans MS"/>
              </a:rPr>
              <a:t>PwC 2026 Barometer (1bn+ ads, 27 countries) — now direct, not secondhand: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48840"/>
            <a:ext cx="2377440" cy="475488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3055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62%  (held)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AI wage premium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880360"/>
            <a:ext cx="4389120" cy="475488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86207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+69%  vs +9% mkt (8×)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AI-job demand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611880"/>
            <a:ext cx="5120640" cy="475488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59359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+144%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AI-skill demand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343400"/>
            <a:ext cx="5394960" cy="475488"/>
          </a:xfrm>
          <a:prstGeom prst="roundRect">
            <a:avLst/>
          </a:prstGeom>
          <a:solidFill>
            <a:srgbClr val="3B8C5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432511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163%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Productivity, top firms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5074920"/>
            <a:ext cx="1097280" cy="475488"/>
          </a:xfrm>
          <a:prstGeom prst="roundRect">
            <a:avLst/>
          </a:prstGeom>
          <a:solidFill>
            <a:srgbClr val="8A867E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505663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16%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Premium — govt floor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5577840"/>
            <a:ext cx="5486400" cy="475488"/>
          </a:xfrm>
          <a:prstGeom prst="roundRect">
            <a:avLst/>
          </a:prstGeom>
          <a:solidFill>
            <a:srgbClr val="8A867E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555955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118%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Premium — consumer 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Read: not a bubble popping — the money held while the VOLUME accelerated to 8× the wider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8553A"/>
                </a:solidFill>
                <a:latin typeface="Comic Sans MS"/>
              </a:rPr>
              <a:t>Durable skills — now with a body count at the bottom rung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00200"/>
            <a:ext cx="33832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E8553A"/>
                </a:solidFill>
                <a:latin typeface="Comic Sans MS"/>
              </a:rPr>
              <a:t>−20%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software-dev employment,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ages 22–25, since 2024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(Stanford AI Index)</a:t>
            </a:r>
          </a:p>
        </p:txBody>
      </p:sp>
      <p:sp>
        <p:nvSpPr>
          <p:cNvPr id="7" name="Oval 6"/>
          <p:cNvSpPr/>
          <p:nvPr/>
        </p:nvSpPr>
        <p:spPr>
          <a:xfrm>
            <a:off x="4571999" y="1600200"/>
            <a:ext cx="33832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20574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2F6FB0"/>
                </a:solidFill>
                <a:latin typeface="Comic Sans MS"/>
              </a:rPr>
              <a:t>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9260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more likely an entry role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now demands SENIOR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judgment (PwC)</a:t>
            </a:r>
          </a:p>
        </p:txBody>
      </p:sp>
      <p:sp>
        <p:nvSpPr>
          <p:cNvPr id="10" name="Oval 9"/>
          <p:cNvSpPr/>
          <p:nvPr/>
        </p:nvSpPr>
        <p:spPr>
          <a:xfrm>
            <a:off x="8321038" y="1600200"/>
            <a:ext cx="33832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8" y="20574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3B8C5A"/>
                </a:solidFill>
                <a:latin typeface="Comic Sans MS"/>
              </a:rPr>
              <a:t>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8" y="29260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of firms already FROZE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entry-level hiring; ~half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expect to end it by 2027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FFF3D9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THE NUANCE THAT MATTERS: this is a HIRING freeze, not a firing wave.</a:t>
            </a:r>
          </a:p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AI is suppressing the FRONT DOOR, not eliminating incumbents. The danger isn't</a:t>
            </a:r>
          </a:p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“everyone gets replaced” — it's “no one gets the first rung.”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What it looks like: the sawn-off ladder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4937760" cy="4480560"/>
          </a:xfrm>
          <a:prstGeom prst="roundRect">
            <a:avLst/>
          </a:prstGeom>
          <a:solidFill>
            <a:srgbClr val="EFECE4"/>
          </a:solidFill>
          <a:ln w="317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A867E"/>
                </a:solidFill>
                <a:latin typeface="Comic Sans MS"/>
              </a:rPr>
              <a:t>2024 junior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4805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Year one = cleaning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data, reconciling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spreadsheets.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Boring — but it's how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you learn what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“wrong” looks like.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You climbed rung by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rung.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291840"/>
            <a:ext cx="822960" cy="822960"/>
          </a:xfrm>
          <a:prstGeom prst="rightArrow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4572000" cy="4480560"/>
          </a:xfrm>
          <a:prstGeom prst="roundRect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2026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1148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An agent does rungs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1 &amp; 2 in seconds.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The job ad now reads: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“exercise judgment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over AI outputs,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present to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stakeholders.”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You're asked to START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at rung three.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Winners build rung-three skills BEFORE they're hired.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B8C5A"/>
                </a:solidFill>
                <a:latin typeface="Comic Sans MS"/>
              </a:rPr>
              <a:t>People are voting with their course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8A867E"/>
                </a:solidFill>
                <a:latin typeface="Comic Sans MS"/>
              </a:rPr>
              <a:t>Coursera Job Skills Report 2026 — YoY enrollment growth: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8595360" cy="566928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0" y="201168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+234%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880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GenAI (record: 14/min)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61488"/>
            <a:ext cx="6967806" cy="566928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526" y="2761488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+185%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880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Critical thinking (GenAI)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511296"/>
            <a:ext cx="6403144" cy="566928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7864" y="3511296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+168%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11296"/>
            <a:ext cx="2880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Critical thinking (Data)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261104"/>
            <a:ext cx="4177713" cy="566928"/>
          </a:xfrm>
          <a:prstGeom prst="roundRect">
            <a:avLst/>
          </a:prstGeom>
          <a:solidFill>
            <a:srgbClr val="3B8C5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2433" y="4261104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+101%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61104"/>
            <a:ext cx="2880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Critical thinking (IT)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Coursera's own framing matches this monitor exactly:</a:t>
            </a:r>
          </a:p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the human role is moving “from collaborator to EXPERT VALIDATOR of the output.”</a:t>
            </a:r>
          </a:p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Skilliday deepened too: Hilton — 72% would take work time off for a skill-trip.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🛠 A tool to try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The “Rung-Three Résumé” test  (10 minutes, early-career)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676656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0824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1.  Write the job you want. List 3 tasks in it an AI agent now does end-to-end. Cross them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61488"/>
            <a:ext cx="10515600" cy="676656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16352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2.  For each, name the judgment on top: is it right? is it wise? should we act? — that's rung three.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57016"/>
            <a:ext cx="10515600" cy="676656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3.  Score yourself 0–2 on each judgment call. Zeros are your gap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52544"/>
            <a:ext cx="10515600" cy="676656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07408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4.  Manufacture reps: run real data through an AI, write “here's what it got wrong.” Do 5 = portfolio.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48072"/>
            <a:ext cx="10515600" cy="676656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202936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5.  Habit: ask any AI to argue the OPPOSITE of your conclusion. Autopilot → critical-thinking gym.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8553A"/>
                </a:solidFill>
                <a:latin typeface="Comic Sans MS"/>
              </a:rPr>
              <a:t>The market stopped buying “I can produce the output.” It buys “I can be trusted to VALIDATE it.”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scoreboard vs 19 July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603504"/>
          </a:xfrm>
          <a:prstGeom prst="roundRect">
            <a:avLst/>
          </a:prstGeom>
          <a:solidFill>
            <a:srgbClr val="FBF7EF"/>
          </a:solidFill>
          <a:ln w="2540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PwC AI wage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3108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62% → 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417320"/>
            <a:ext cx="1737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8A867E"/>
                </a:solidFill>
                <a:latin typeface="Comic Sans MS"/>
              </a:rPr>
              <a:t>held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30552"/>
            <a:ext cx="10515600" cy="603504"/>
          </a:xfrm>
          <a:prstGeom prst="roundRect">
            <a:avLst/>
          </a:prstGeom>
          <a:solidFill>
            <a:srgbClr val="FBF7EF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AI-job demand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30552"/>
            <a:ext cx="3108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→ +69% (8×)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30552"/>
            <a:ext cx="1737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FB0"/>
                </a:solidFill>
                <a:latin typeface="Comic Sans MS"/>
              </a:rPr>
              <a:t>new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43784"/>
            <a:ext cx="10515600" cy="603504"/>
          </a:xfrm>
          <a:prstGeom prst="roundRect">
            <a:avLst/>
          </a:prstGeom>
          <a:solidFill>
            <a:srgbClr val="FBF7EF"/>
          </a:solidFill>
          <a:ln w="254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Entry-level dev employment (22–25)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43784"/>
            <a:ext cx="3108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fear → −20%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843784"/>
            <a:ext cx="1737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E8553A"/>
                </a:solidFill>
                <a:latin typeface="Comic Sans MS"/>
              </a:rPr>
              <a:t>HARD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57016"/>
            <a:ext cx="10515600" cy="603504"/>
          </a:xfrm>
          <a:prstGeom prst="roundRect">
            <a:avLst/>
          </a:prstGeom>
          <a:solidFill>
            <a:srgbClr val="FBF7EF"/>
          </a:solidFill>
          <a:ln w="254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57016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Critical-thinking enrollments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57016"/>
            <a:ext cx="3108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→ +185% 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557016"/>
            <a:ext cx="1737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B8C5A"/>
                </a:solidFill>
                <a:latin typeface="Comic Sans MS"/>
              </a:rPr>
              <a:t>new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70248"/>
            <a:ext cx="10515600" cy="603504"/>
          </a:xfrm>
          <a:prstGeom prst="roundRect">
            <a:avLst/>
          </a:prstGeom>
          <a:solidFill>
            <a:srgbClr val="FBF7EF"/>
          </a:solidFill>
          <a:ln w="254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70248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Skilliday intent (Gen 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3108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57% plan → 72% off-work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70248"/>
            <a:ext cx="1737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B8C5A"/>
                </a:solidFill>
                <a:latin typeface="Comic Sans MS"/>
              </a:rPr>
              <a:t>deepened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Biggest shift: the entry-level story went from worker FEAR to measured CONTRACTION.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Sources: PwC 2026 AI Jobs Barometer · SUCCESS · Coursera Job Skills Report 2026 · No Jitter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Stanford HAI AI Index · Goldman Sachs · Axis Intelligence · Hilton/Priority Pass skillcation.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(Full links in the accompanying README.)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