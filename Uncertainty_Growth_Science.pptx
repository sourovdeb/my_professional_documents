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superposition is not just physics jargon—it's a precise metaphor for human paralysis. Before you decide to move countries, change jobs, or marry, both futures feel equally real. Your brain literally holds multiple competing neural programs until the moment of choice. This isn't weakness; it's your mind's way of modeling uncertainty. We'll explore why some people embrace this and others paralyze, and what neuroscience reveals about timing that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productivity advice ignores the body. But every 90 minutes, your brain depletes adenosine and cortisol dysregulates—you literally cannot hold contradictory thoughts clearly. Resilience isn't about willpower; it's about syncing decisions to your neurochemistry. Hospitals have higher error rates in afternoon shifts. Visa interviews go better after sleep. Your relocation decision will be higher quality at 10 a.m. than 4 p.m., not because you're smarter, but because your brain has fewer competing neural programs in superposition.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hear all sounds equally. Your native language wired your brain to ignore acoustic differences that don't matter in your language, amplifying those that do. This is not a hearing problem—it's a perceptual problem wired into your brain by age 3. When you relocate, your accent isn't just pronunciation; it's phonological identity. Coworkers unconsciously mark you as 'outsider' based on phonotactic patterns that triggered coalition-detection circuits in their brain. Understanding this isn't about accent reduction; it's about recognizing that language wires belonging.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brain evolved for tribal competition. Every colleague is unconsciously sorted into ally/rival/neutral based on signals (accent, origin, humor style) that predicted tribal loyalty 200,000 years ago. In a 10,000-person company, you're still running 150-person tribal software. This explains office paranoia, why some sick colleagues get support and others get marginalized, and why international hires face invisible friction. It's not prejudice—it's mismatch between ancient circuits and modern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are sophisticated pattern-matching machines, not reasoners. They succeed by learning token-to-token correlations—what words typically follow other words. But correlation isn't causation. When a model encounters truly novel input, it breaks down because it's never seen that exact token sequence. Your brain has the same problem: you hallucinate memories, fill gaps with plausible detail, and mistake correlation for causation. Understanding this helps you use LLMs as brainstorming partners, not truth-tellers, and recognize your own cognitive biases.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intellectual spine of the talk. Every system here—quantum, neural, linguistic, machine, human—solves compression: taking infinite possibility and bundling it into actionable categories. Quantum superposition is a mathematical compression of infinite states; your brain compresses 20 billion neurons into a single decision; language compresses acoustic reality into 40 phonemes; LLMs compress English into 50,000 tokens. When any system's compression breaks—you get hallucinations in LLMs, stuttering in speech, career paralysis in life. Understanding compression as a universal principle lets you recognize when you're hitting a compression limit.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isn't heroism—it's recognizing which superpositions are physiological (your 90-min rhythm), which are cognitive (LLM hallucinations about your competence), and which are genuine (quantum uncertainty in life choices). When a health crisis hits, your tribe's coalition-detection marks you as in-group or out-group based on phonological similarity. When you relocate, your accent triggers out-group detection even though you're the same human. When you face immigration uncertainty, your brain holds two futures in superposition until legal paperwork collapses it. The people who navigate these with grace aren't luckier; they understand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productivity advice misses the point. You can't force your brain to focus by willpower alone; you must time cognition to your neurochemistry. You can't eliminate tribal bias by good intentions; you must recognize when coalition-detection is firing and consciously override it. You can't make LLMs truthful; you must use them as brainstorming partners and verify claims against causal reasoning. Resilience in modern life means understanding these mechanisms deeply enough to work with your wiring, not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anxiety often stems from false comparison. LLMs aren't nearly-human reasoners; they're superhuman pattern-matchers with superhuman blindness to causality. Humans aren't nearly-LLM brainstormers; we're superhuman reasoners with tribal superposition stuck in our wiring. The future isn't competition—it's complementarity. You'll use LLMs to find novel patterns; you'll use your brain to evaluate causality and ethics. The worst outcome is humans offloading causal reasoning to machines that cannot do it, or machines pretending to understand causation they've only correlated.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superposition feels like a curse—all futures equally real, decision feels impossible. But it's your brain's way of modeling complexity. The people who navigate uncertainty with grace don't eliminate it; they extend their superposition window: they gather information, test alternatives, consult causal reasoning. Then they collapse decisively. You're not broken for feeling indecision during relocation, visa limbo, or career change—you're modeling reality. The rare skill is knowing when you've modeled enough and when you must commit.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The Superposition Problem:</a:t>
            </a:r>
            <a:br/>
            <a:r>
              <a:t>Why Decision-Making Feels Impossible</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Quantum superposition: particles exist in all states simultaneously until observed</a:t>
            </a:r>
          </a:p>
          <a:p>
            <a:pPr>
              <a:spcBef>
                <a:spcPts val="0"/>
              </a:spcBef>
              <a:spcAft>
                <a:spcPts val="1200"/>
              </a:spcAft>
              <a:defRPr sz="1600">
                <a:solidFill>
                  <a:srgbClr val="282832"/>
                </a:solidFill>
              </a:defRPr>
            </a:pPr>
            <a:r>
              <a:t>Schrödinger's career choice: all futures coexist until the moment you commit</a:t>
            </a:r>
          </a:p>
          <a:p>
            <a:pPr>
              <a:spcBef>
                <a:spcPts val="0"/>
              </a:spcBef>
              <a:spcAft>
                <a:spcPts val="1200"/>
              </a:spcAft>
              <a:defRPr sz="1600">
                <a:solidFill>
                  <a:srgbClr val="282832"/>
                </a:solidFill>
              </a:defRPr>
            </a:pPr>
            <a:r>
              <a:t>Everyday uncertainty: health crises, visa decisions, relocation, relationship pivots share this structure</a:t>
            </a:r>
          </a:p>
          <a:p>
            <a:pPr>
              <a:spcBef>
                <a:spcPts val="0"/>
              </a:spcBef>
              <a:spcAft>
                <a:spcPts val="1200"/>
              </a:spcAft>
              <a:defRPr sz="1600">
                <a:solidFill>
                  <a:srgbClr val="282832"/>
                </a:solidFill>
              </a:defRPr>
            </a:pPr>
            <a:r>
              <a:t>Your brain mirrors quantum indecision: neural superposition precedes action</a:t>
            </a:r>
          </a:p>
          <a:p>
            <a:pPr>
              <a:spcBef>
                <a:spcPts val="0"/>
              </a:spcBef>
              <a:spcAft>
                <a:spcPts val="1200"/>
              </a:spcAft>
              <a:defRPr sz="1600">
                <a:solidFill>
                  <a:srgbClr val="282832"/>
                </a:solidFill>
              </a:defRPr>
            </a:pPr>
            <a:r>
              <a:t>The observer effect in life: the moment you commit, the future collapses into one path</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Superposition in Motion—</a:t>
            </a:r>
            <a:br/>
            <a:r>
              <a:t>The Ultradian Rhythm &amp; Your 90-Minute Cycle</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Ultradian rhythms: 90-min cycles of focus/depletion, driven by cortisol and adenosine</a:t>
            </a:r>
          </a:p>
          <a:p>
            <a:pPr>
              <a:spcBef>
                <a:spcPts val="0"/>
              </a:spcBef>
              <a:spcAft>
                <a:spcPts val="1200"/>
              </a:spcAft>
              <a:defRPr sz="1600">
                <a:solidFill>
                  <a:srgbClr val="282832"/>
                </a:solidFill>
              </a:defRPr>
            </a:pPr>
            <a:r>
              <a:t>Rest-activity cycle: willpower, focus, and decision-making capacity peak at predictable intervals</a:t>
            </a:r>
          </a:p>
          <a:p>
            <a:pPr>
              <a:spcBef>
                <a:spcPts val="0"/>
              </a:spcBef>
              <a:spcAft>
                <a:spcPts val="1200"/>
              </a:spcAft>
              <a:defRPr sz="1600">
                <a:solidFill>
                  <a:srgbClr val="282832"/>
                </a:solidFill>
              </a:defRPr>
            </a:pPr>
            <a:r>
              <a:t>The crash: neurotransmitter depletion around 90 min creates physiological superposition</a:t>
            </a:r>
          </a:p>
          <a:p>
            <a:pPr>
              <a:spcBef>
                <a:spcPts val="0"/>
              </a:spcBef>
              <a:spcAft>
                <a:spcPts val="1200"/>
              </a:spcAft>
              <a:defRPr sz="1600">
                <a:solidFill>
                  <a:srgbClr val="282832"/>
                </a:solidFill>
              </a:defRPr>
            </a:pPr>
            <a:r>
              <a:t>Career resilience hinges on recognizing these cycles during health crises, burnout, visa stress</a:t>
            </a:r>
          </a:p>
          <a:p>
            <a:pPr>
              <a:spcBef>
                <a:spcPts val="0"/>
              </a:spcBef>
              <a:spcAft>
                <a:spcPts val="1200"/>
              </a:spcAft>
              <a:defRPr sz="1600">
                <a:solidFill>
                  <a:srgbClr val="282832"/>
                </a:solidFill>
              </a:defRPr>
            </a:pPr>
            <a:r>
              <a:t>Timing your big decisions: commit during high-cortisol, high-adenosine windows</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The Language You Speak Wires Your Bias—</a:t>
            </a:r>
            <a:br/>
            <a:r>
              <a:t>Phonology &amp; Category Boundaries</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Phonotactics: language enforces rules on which sounds can sit next to each other</a:t>
            </a:r>
          </a:p>
          <a:p>
            <a:pPr>
              <a:spcBef>
                <a:spcPts val="0"/>
              </a:spcBef>
              <a:spcAft>
                <a:spcPts val="1200"/>
              </a:spcAft>
              <a:defRPr sz="1600">
                <a:solidFill>
                  <a:srgbClr val="282832"/>
                </a:solidFill>
              </a:defRPr>
            </a:pPr>
            <a:r>
              <a:t>Categorical perception: your language locks you into specific ways of dividing sound and identity</a:t>
            </a:r>
          </a:p>
          <a:p>
            <a:pPr>
              <a:spcBef>
                <a:spcPts val="0"/>
              </a:spcBef>
              <a:spcAft>
                <a:spcPts val="1200"/>
              </a:spcAft>
              <a:defRPr sz="1600">
                <a:solidFill>
                  <a:srgbClr val="282832"/>
                </a:solidFill>
              </a:defRPr>
            </a:pPr>
            <a:r>
              <a:t>The /r/ vs. /l/ illusion: Japanese speakers cannot hear the difference without 200 hours of exposure</a:t>
            </a:r>
          </a:p>
          <a:p>
            <a:pPr>
              <a:spcBef>
                <a:spcPts val="0"/>
              </a:spcBef>
              <a:spcAft>
                <a:spcPts val="1200"/>
              </a:spcAft>
              <a:defRPr sz="1600">
                <a:solidFill>
                  <a:srgbClr val="282832"/>
                </a:solidFill>
              </a:defRPr>
            </a:pPr>
            <a:r>
              <a:t>Language wires tribal bias: words for 'us' and 'them' carry phonological weight</a:t>
            </a:r>
          </a:p>
          <a:p>
            <a:pPr>
              <a:spcBef>
                <a:spcPts val="0"/>
              </a:spcBef>
              <a:spcAft>
                <a:spcPts val="1200"/>
              </a:spcAft>
              <a:defRPr sz="1600">
                <a:solidFill>
                  <a:srgbClr val="282832"/>
                </a:solidFill>
              </a:defRPr>
            </a:pPr>
            <a:r>
              <a:t>Immigration &amp; identity: your accent carries phonological identity—colleagues judge on sound, not substance</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Your Tribal Mind in a Global Office—</a:t>
            </a:r>
            <a:br/>
            <a:r>
              <a:t>Coalition Detection &amp; Modern Chaos</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Coalition-detection circuits: evolved to track alliances in ~150-person groups (Dunbar's number)</a:t>
            </a:r>
          </a:p>
          <a:p>
            <a:pPr>
              <a:spcBef>
                <a:spcPts val="0"/>
              </a:spcBef>
              <a:spcAft>
                <a:spcPts val="1200"/>
              </a:spcAft>
              <a:defRPr sz="1600">
                <a:solidFill>
                  <a:srgbClr val="282832"/>
                </a:solidFill>
              </a:defRPr>
            </a:pPr>
            <a:r>
              <a:t>The mismatch: modern orgs have thousands; your brain treats them as a tribe, marking in-group/out-group</a:t>
            </a:r>
          </a:p>
          <a:p>
            <a:pPr>
              <a:spcBef>
                <a:spcPts val="0"/>
              </a:spcBef>
              <a:spcAft>
                <a:spcPts val="1200"/>
              </a:spcAft>
              <a:defRPr sz="1600">
                <a:solidFill>
                  <a:srgbClr val="282832"/>
                </a:solidFill>
              </a:defRPr>
            </a:pPr>
            <a:r>
              <a:t>Office politics = tribal warfare software running on ancient hardware (loyalty flips, gossip networks)</a:t>
            </a:r>
          </a:p>
          <a:p>
            <a:pPr>
              <a:spcBef>
                <a:spcPts val="0"/>
              </a:spcBef>
              <a:spcAft>
                <a:spcPts val="1200"/>
              </a:spcAft>
              <a:defRPr sz="1600">
                <a:solidFill>
                  <a:srgbClr val="282832"/>
                </a:solidFill>
              </a:defRPr>
            </a:pPr>
            <a:r>
              <a:t>Health crises &amp; social capital: colleagues rally or distance based on in-group perception</a:t>
            </a:r>
          </a:p>
          <a:p>
            <a:pPr>
              <a:spcBef>
                <a:spcPts val="0"/>
              </a:spcBef>
              <a:spcAft>
                <a:spcPts val="1200"/>
              </a:spcAft>
              <a:defRPr sz="1600">
                <a:solidFill>
                  <a:srgbClr val="282832"/>
                </a:solidFill>
              </a:defRPr>
            </a:pPr>
            <a:r>
              <a:t>Visa/relocation paradox: you're trying to activate tribal inclusion while perceived as permanent 'outsider'</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Inside the LLM:</a:t>
            </a:r>
            <a:br/>
            <a:r>
              <a:t>How Token Prediction Creates Illusion &amp; Insight</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Transformer architecture: models predict the next token by computing attention over previous tokens</a:t>
            </a:r>
          </a:p>
          <a:p>
            <a:pPr>
              <a:spcBef>
                <a:spcPts val="0"/>
              </a:spcBef>
              <a:spcAft>
                <a:spcPts val="1200"/>
              </a:spcAft>
              <a:defRPr sz="1600">
                <a:solidFill>
                  <a:srgbClr val="282832"/>
                </a:solidFill>
              </a:defRPr>
            </a:pPr>
            <a:r>
              <a:t>Attention collapse: on uncertain predictions, models output high-probability tokens as confident hallucinations</a:t>
            </a:r>
          </a:p>
          <a:p>
            <a:pPr>
              <a:spcBef>
                <a:spcPts val="0"/>
              </a:spcBef>
              <a:spcAft>
                <a:spcPts val="1200"/>
              </a:spcAft>
              <a:defRPr sz="1600">
                <a:solidFill>
                  <a:srgbClr val="282832"/>
                </a:solidFill>
              </a:defRPr>
            </a:pPr>
            <a:r>
              <a:t>Token vs. phoneme: LLMs tokenize language like your brain does—grouping patterns that matter, ignoring the rest</a:t>
            </a:r>
          </a:p>
          <a:p>
            <a:pPr>
              <a:spcBef>
                <a:spcPts val="0"/>
              </a:spcBef>
              <a:spcAft>
                <a:spcPts val="1200"/>
              </a:spcAft>
              <a:defRPr sz="1600">
                <a:solidFill>
                  <a:srgbClr val="282832"/>
                </a:solidFill>
              </a:defRPr>
            </a:pPr>
            <a:r>
              <a:t>The hallucination trap: LLMs fail identically to humans—when uncertain, they confabulate plausible falsehoods</a:t>
            </a:r>
          </a:p>
          <a:p>
            <a:pPr>
              <a:spcBef>
                <a:spcPts val="0"/>
              </a:spcBef>
              <a:spcAft>
                <a:spcPts val="1200"/>
              </a:spcAft>
              <a:defRPr sz="1600">
                <a:solidFill>
                  <a:srgbClr val="282832"/>
                </a:solidFill>
              </a:defRPr>
            </a:pPr>
            <a:r>
              <a:t>Why LLMs can't reason causally: tokenization erases causal structure (tokens capture correlation, not causation)</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Superposition, Tokens &amp; Compression—</a:t>
            </a:r>
            <a:br/>
            <a:r>
              <a:t>The Hidden Principle Across All Five Domains</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Compression principle: all five domains solve the same problem—reduce infinite possibility into actionable categories</a:t>
            </a:r>
          </a:p>
          <a:p>
            <a:pPr>
              <a:spcBef>
                <a:spcPts val="0"/>
              </a:spcBef>
              <a:spcAft>
                <a:spcPts val="1200"/>
              </a:spcAft>
              <a:defRPr sz="1600">
                <a:solidFill>
                  <a:srgbClr val="282832"/>
                </a:solidFill>
              </a:defRPr>
            </a:pPr>
            <a:r>
              <a:t>Quantum superposition = compressed representation (infinite states bundled; collapse = selection)</a:t>
            </a:r>
          </a:p>
          <a:p>
            <a:pPr>
              <a:spcBef>
                <a:spcPts val="0"/>
              </a:spcBef>
              <a:spcAft>
                <a:spcPts val="1200"/>
              </a:spcAft>
              <a:defRPr sz="1600">
                <a:solidFill>
                  <a:srgbClr val="282832"/>
                </a:solidFill>
              </a:defRPr>
            </a:pPr>
            <a:r>
              <a:t>Neural superposition = cortisol/adenosine drives compressed decision (many commands, one action)</a:t>
            </a:r>
          </a:p>
          <a:p>
            <a:pPr>
              <a:spcBef>
                <a:spcPts val="0"/>
              </a:spcBef>
              <a:spcAft>
                <a:spcPts val="1200"/>
              </a:spcAft>
              <a:defRPr sz="1600">
                <a:solidFill>
                  <a:srgbClr val="282832"/>
                </a:solidFill>
              </a:defRPr>
            </a:pPr>
            <a:r>
              <a:t>Phonotactics = compressed phoneme space (millions of acoustic variations → 40–50 phonemes per language)</a:t>
            </a:r>
          </a:p>
          <a:p>
            <a:pPr>
              <a:spcBef>
                <a:spcPts val="0"/>
              </a:spcBef>
              <a:spcAft>
                <a:spcPts val="1200"/>
              </a:spcAft>
              <a:defRPr sz="1600">
                <a:solidFill>
                  <a:srgbClr val="282832"/>
                </a:solidFill>
              </a:defRPr>
            </a:pPr>
            <a:r>
              <a:t>Token prediction &amp; life choices = compression of meaning and futures; when compression fails = hallucination, paralysis</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From Uncertainty to Resilience—</a:t>
            </a:r>
            <a:br/>
            <a:r>
              <a:t>A Career Across Five Dimensions</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Health crisis: when your body fails (superposition collapse), your tribe judges you by phonological/cultural markers</a:t>
            </a:r>
          </a:p>
          <a:p>
            <a:pPr>
              <a:spcBef>
                <a:spcPts val="0"/>
              </a:spcBef>
              <a:spcAft>
                <a:spcPts val="1200"/>
              </a:spcAft>
              <a:defRPr sz="1600">
                <a:solidFill>
                  <a:srgbClr val="282832"/>
                </a:solidFill>
              </a:defRPr>
            </a:pPr>
            <a:r>
              <a:t>Career conflict: office politics (tribal bias) collides with your competence (token prediction of your value)</a:t>
            </a:r>
          </a:p>
          <a:p>
            <a:pPr>
              <a:spcBef>
                <a:spcPts val="0"/>
              </a:spcBef>
              <a:spcAft>
                <a:spcPts val="1200"/>
              </a:spcAft>
              <a:defRPr sz="1600">
                <a:solidFill>
                  <a:srgbClr val="282832"/>
                </a:solidFill>
              </a:defRPr>
            </a:pPr>
            <a:r>
              <a:t>Relocation: new country = all phonological rules change; your accent marks you as out-group</a:t>
            </a:r>
          </a:p>
          <a:p>
            <a:pPr>
              <a:spcBef>
                <a:spcPts val="0"/>
              </a:spcBef>
              <a:spcAft>
                <a:spcPts val="1200"/>
              </a:spcAft>
              <a:defRPr sz="1600">
                <a:solidFill>
                  <a:srgbClr val="282832"/>
                </a:solidFill>
              </a:defRPr>
            </a:pPr>
            <a:r>
              <a:t>Immigration/visa: superposition at its most extreme (legally, you're in two states: immigrant and local)</a:t>
            </a:r>
          </a:p>
          <a:p>
            <a:pPr>
              <a:spcBef>
                <a:spcPts val="0"/>
              </a:spcBef>
              <a:spcAft>
                <a:spcPts val="1200"/>
              </a:spcAft>
              <a:defRPr sz="1600">
                <a:solidFill>
                  <a:srgbClr val="282832"/>
                </a:solidFill>
              </a:defRPr>
            </a:pPr>
            <a:r>
              <a:t>Relationship &amp; family: the most sophisticated compression your brain does—holding love and conflict in superposition</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Building Flow in Chaos—</a:t>
            </a:r>
            <a:br/>
            <a:r>
              <a:t>Practical Synthesis</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Sync decisions to ultradian rhythms: time your visa interview, job offer, relocation for high-cortisol windows</a:t>
            </a:r>
          </a:p>
          <a:p>
            <a:pPr>
              <a:spcBef>
                <a:spcPts val="0"/>
              </a:spcBef>
              <a:spcAft>
                <a:spcPts val="1200"/>
              </a:spcAft>
              <a:defRPr sz="1600">
                <a:solidFill>
                  <a:srgbClr val="282832"/>
                </a:solidFill>
              </a:defRPr>
            </a:pPr>
            <a:r>
              <a:t>Recognize phonological bias: when you dismiss an idea because of accent, notice coalition-detection; separate identity from contribution</a:t>
            </a:r>
          </a:p>
          <a:p>
            <a:pPr>
              <a:spcBef>
                <a:spcPts val="0"/>
              </a:spcBef>
              <a:spcAft>
                <a:spcPts val="1200"/>
              </a:spcAft>
              <a:defRPr sz="1600">
                <a:solidFill>
                  <a:srgbClr val="282832"/>
                </a:solidFill>
              </a:defRPr>
            </a:pPr>
            <a:r>
              <a:t>Use LLMs as pattern-matchers, not oracles: ask for brainstorm (correlation useful), verify for truth (causation requires embodiment)</a:t>
            </a:r>
          </a:p>
          <a:p>
            <a:pPr>
              <a:spcBef>
                <a:spcPts val="0"/>
              </a:spcBef>
              <a:spcAft>
                <a:spcPts val="1200"/>
              </a:spcAft>
              <a:defRPr sz="1600">
                <a:solidFill>
                  <a:srgbClr val="282832"/>
                </a:solidFill>
              </a:defRPr>
            </a:pPr>
            <a:r>
              <a:t>Build tribe intentionally: in offices &gt;150 people, find explicit ally networks that transcend phonological/ethnic markers</a:t>
            </a:r>
          </a:p>
          <a:p>
            <a:pPr>
              <a:spcBef>
                <a:spcPts val="0"/>
              </a:spcBef>
              <a:spcAft>
                <a:spcPts val="1200"/>
              </a:spcAft>
              <a:defRPr sz="1600">
                <a:solidFill>
                  <a:srgbClr val="282832"/>
                </a:solidFill>
              </a:defRPr>
            </a:pPr>
            <a:r>
              <a:t>Embrace superposition in life: holding multiple futures until commitment is not a bug—it's your brain modeling complexity</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The Future of Human + AI—</a:t>
            </a:r>
            <a:br/>
            <a:r>
              <a:t>Complementary Blindness</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Human strength: causal reasoning (you understand why doctor causes healing, visa changes identity)</a:t>
            </a:r>
          </a:p>
          <a:p>
            <a:pPr>
              <a:spcBef>
                <a:spcPts val="0"/>
              </a:spcBef>
              <a:spcAft>
                <a:spcPts val="1200"/>
              </a:spcAft>
              <a:defRPr sz="1600">
                <a:solidFill>
                  <a:srgbClr val="282832"/>
                </a:solidFill>
              </a:defRPr>
            </a:pPr>
            <a:r>
              <a:t>LLM strength: correlation detection (they find patterns in massive data you'd miss)</a:t>
            </a:r>
          </a:p>
          <a:p>
            <a:pPr>
              <a:spcBef>
                <a:spcPts val="0"/>
              </a:spcBef>
              <a:spcAft>
                <a:spcPts val="1200"/>
              </a:spcAft>
              <a:defRPr sz="1600">
                <a:solidFill>
                  <a:srgbClr val="282832"/>
                </a:solidFill>
              </a:defRPr>
            </a:pPr>
            <a:r>
              <a:t>Human blindness: cognitive biases, phonological tribalism, superposition paralysis</a:t>
            </a:r>
          </a:p>
          <a:p>
            <a:pPr>
              <a:spcBef>
                <a:spcPts val="0"/>
              </a:spcBef>
              <a:spcAft>
                <a:spcPts val="1200"/>
              </a:spcAft>
              <a:defRPr sz="1600">
                <a:solidFill>
                  <a:srgbClr val="282832"/>
                </a:solidFill>
              </a:defRPr>
            </a:pPr>
            <a:r>
              <a:t>LLM blindness: no embodiment, no causality, hallucination under uncertainty</a:t>
            </a:r>
          </a:p>
          <a:p>
            <a:pPr>
              <a:spcBef>
                <a:spcPts val="0"/>
              </a:spcBef>
              <a:spcAft>
                <a:spcPts val="1200"/>
              </a:spcAft>
              <a:defRPr sz="1600">
                <a:solidFill>
                  <a:srgbClr val="282832"/>
                </a:solidFill>
              </a:defRPr>
            </a:pPr>
            <a:r>
              <a:t>Hybrid future: humans set goals (causal reasoning); LLMs identify paths (correlation); together &gt; either alone</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defRPr sz="4000" b="1">
                <a:solidFill>
                  <a:srgbClr val="192D55"/>
                </a:solidFill>
              </a:defRPr>
            </a:pPr>
            <a:r>
              <a:t>The Superposition Advantage—</a:t>
            </a:r>
            <a:br/>
            <a:r>
              <a:t>Holding Contradiction Without Collapse</a:t>
            </a:r>
          </a:p>
        </p:txBody>
      </p:sp>
      <p:sp>
        <p:nvSpPr>
          <p:cNvPr id="3" name="TextBox 2"/>
          <p:cNvSpPr txBox="1"/>
          <p:nvPr/>
        </p:nvSpPr>
        <p:spPr>
          <a:xfrm>
            <a:off x="457200" y="1371600"/>
            <a:ext cx="8229600" cy="91440"/>
          </a:xfrm>
          <a:prstGeom prst="rect">
            <a:avLst/>
          </a:prstGeom>
          <a:noFill/>
        </p:spPr>
        <p:txBody>
          <a:bodyPr wrap="none">
            <a:spAutoFit/>
          </a:bodyPr>
          <a:lstStyle/>
          <a:p>
            <a:pPr>
              <a:defRPr>
                <a:solidFill>
                  <a:srgbClr val="0096B4"/>
                </a:solidFill>
              </a:defRPr>
            </a:pPr>
            <a:r>
              <a:t>────────────────────────────────────────────────────────────────────────────────────────────────────</a:t>
            </a:r>
          </a:p>
        </p:txBody>
      </p:sp>
      <p:sp>
        <p:nvSpPr>
          <p:cNvPr id="4" name="TextBox 3"/>
          <p:cNvSpPr txBox="1"/>
          <p:nvPr/>
        </p:nvSpPr>
        <p:spPr>
          <a:xfrm>
            <a:off x="640080" y="1645920"/>
            <a:ext cx="7863840" cy="4114800"/>
          </a:xfrm>
          <a:prstGeom prst="rect">
            <a:avLst/>
          </a:prstGeom>
          <a:noFill/>
        </p:spPr>
        <p:txBody>
          <a:bodyPr wrap="square">
            <a:spAutoFit/>
          </a:bodyPr>
          <a:lstStyle/>
          <a:p>
            <a:pPr>
              <a:spcBef>
                <a:spcPts val="0"/>
              </a:spcBef>
              <a:spcAft>
                <a:spcPts val="1200"/>
              </a:spcAft>
              <a:defRPr sz="1600">
                <a:solidFill>
                  <a:srgbClr val="282832"/>
                </a:solidFill>
              </a:defRPr>
            </a:pPr>
            <a:r>
              <a:t>Most people collapse superposition too early: commit to one future before fully modeling alternatives</a:t>
            </a:r>
          </a:p>
          <a:p>
            <a:pPr>
              <a:spcBef>
                <a:spcPts val="0"/>
              </a:spcBef>
              <a:spcAft>
                <a:spcPts val="1200"/>
              </a:spcAft>
              <a:defRPr sz="1600">
                <a:solidFill>
                  <a:srgbClr val="282832"/>
                </a:solidFill>
              </a:defRPr>
            </a:pPr>
            <a:r>
              <a:t>The quantum advantage: hold multiple futures long enough to gather information (health options, visa pathways, choices)</a:t>
            </a:r>
          </a:p>
          <a:p>
            <a:pPr>
              <a:spcBef>
                <a:spcPts val="0"/>
              </a:spcBef>
              <a:spcAft>
                <a:spcPts val="1200"/>
              </a:spcAft>
              <a:defRPr sz="1600">
                <a:solidFill>
                  <a:srgbClr val="282832"/>
                </a:solidFill>
              </a:defRPr>
            </a:pPr>
            <a:r>
              <a:t>Timing your collapse: commit when cortisol is high, alternatives are modeled, causal reasoning (not tribal bias) guides you</a:t>
            </a:r>
          </a:p>
          <a:p>
            <a:pPr>
              <a:spcBef>
                <a:spcPts val="0"/>
              </a:spcBef>
              <a:spcAft>
                <a:spcPts val="1200"/>
              </a:spcAft>
              <a:defRPr sz="1600">
                <a:solidFill>
                  <a:srgbClr val="282832"/>
                </a:solidFill>
              </a:defRPr>
            </a:pPr>
            <a:r>
              <a:t>The paradox of growth: you must sit in uncertainty (superposition) long enough to learn; then collapse decisively enough to act</a:t>
            </a:r>
          </a:p>
          <a:p>
            <a:pPr>
              <a:spcBef>
                <a:spcPts val="0"/>
              </a:spcBef>
              <a:spcAft>
                <a:spcPts val="1200"/>
              </a:spcAft>
              <a:defRPr sz="1600">
                <a:solidFill>
                  <a:srgbClr val="282832"/>
                </a:solidFill>
              </a:defRPr>
            </a:pPr>
            <a:r>
              <a:t>Your rare advantage: understanding the mechanism means you can choose when to hold superposition and when to commit</a:t>
            </a:r>
          </a:p>
        </p:txBody>
      </p:sp>
      <p:sp>
        <p:nvSpPr>
          <p:cNvPr id="5" name="TextBox 4"/>
          <p:cNvSpPr txBox="1"/>
          <p:nvPr/>
        </p:nvSpPr>
        <p:spPr>
          <a:xfrm>
            <a:off x="8229600" y="6400800"/>
            <a:ext cx="822960" cy="365760"/>
          </a:xfrm>
          <a:prstGeom prst="rect">
            <a:avLst/>
          </a:prstGeom>
          <a:noFill/>
        </p:spPr>
        <p:txBody>
          <a:bodyPr wrap="none">
            <a:spAutoFit/>
          </a:bodyPr>
          <a:lstStyle/>
          <a:p>
            <a:pPr algn="r">
              <a:defRPr sz="1200">
                <a:solidFill>
                  <a:srgbClr val="B4B4BE"/>
                </a:solidFill>
              </a:defRPr>
            </a:pPr>
            <a:r>
              <a:t>Slide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