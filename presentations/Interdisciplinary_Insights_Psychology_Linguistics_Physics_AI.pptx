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connects four disciplines — psychology, linguistics, physics, and AI — through concepts that rarely make it into a standard survey course, and grounds each one in a single real case study. The goal is to show that the most interesting insights usually sit at the boundary between fields, not inside any one of them. We will move from how the mind manages attention, to how sound carries meaning, to why institutions default to exclusion, to how language models and quantum systems behave in surprisingly similar probabilistic ways — and finally to a lived case study that makes all of it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Traditional productivity advice assumes a stable, uninterrupted attention span, which is exactly what many people don’t have. The Zeigarnik Effect explains why an open task nags at you more than a closed one — it’s the basis of the "two-minute rule" and of cliffhangers in storytelling. For ADHD specifically, effective systems replace willpower with structure: externalizing memory into visible lists, using body doubling to borrow focus from another person’s presence, and treating hyperfocus as a resource to schedule around rather than a distraction to fight.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Phonology is the part of language teaching that native speakers do entirely unconsciously and non-native speakers have to learn explicitly. The Bouba/Kiki effect, discovered by Wolfgang Köhler in 1929 and popularized by V.S. Ramachandran, shows that the link between sound and meaning is not arbitrary the way linguists long assumed — round sounds map to round shapes across very different languages and even in young children before they can read. Phonaesthesia is the everyday version of the same phenomenon: certain sound clusters just "feel" slippery, sharp, or soft.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biases evolved to protect small groups from real threats, and they still fire the same way inside large bureaucracies. A visa office is a clean example: once fraud has been detected in a population, risk-averse policy tightens for everyone in that population, regardless of individual history. This is the mechanism behind the case study later in this deck, where a family member’s visa application was treated with blanket suspicion rather than assessed on its own facts — not malice, but bias operating exactly as it evolved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Brand naming is applied phonaesthesia. A name built from round, sonorant sounds primes a "soft" or "trustworthy" read before a customer processes any meaning, which is why so many comfort and baby-care brands lean on those sounds, while energy drinks and sports brands lean on sharp plosives. Layered on top of sound symbolism is the Mere Exposure Effect: familiarity alone, from repeated advertising or repeated pronunciation, increases liking. Combined with the fluency heuristic — we trust what is easy to say — this explains why so much of brand strategy is really applied linguistics and psychology, rarely named as such.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LLM does not "read" the way a person does. It converts text into tokens, embeds them as vectors, and uses self-attention to let every token inform every other token simultaneously — which is what allows it to track long-range meaning across a paragraph. What surprises even its own creators is that certain abilities, like chain-of-thought reasoning, do not scale in gracefully — they appear abruptly once a model crosses a size threshold. The Alignment Problem names the resulting risk: a system that is very good at optimizing a stated goal can satisfy that goal in ways nobody intended, which is why fine-tuning and human-feedback alignment exist as a second, separate stage after pre-training.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ideas are the conceptual core of quantum mechanics, and each has a genuinely strange consequence. The double-slit experiment is the clearest demonstration that observation itself is not passive: measuring which slit a particle passed through collapses the interference pattern that only appears when no one is looking. Quantum tunneling is not exotic in practice — without it, protons in the sun’s core could never overcome their mutual repulsion to fuse, so the sun simply would not shine. A growing field called quantum cognition even borrows the mathematics of superposition to model contradictions in human judgment and decision-making, which is the bridge into the next section of this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case study follows one person across a workplace dispute, an occupational-health ruling, and a teacher-training programme, all overlapping in the same period. The médecin du travail is the French occupational physician whose sign-off can end an employment relationship on medical grounds — a system designed to protect workers that can also become a fast exit route out of a conflict. In parallel, his CELTA teacher-training course, despite committing on paper to disability accommodations once ADHD and depression were disclosed, did not put them in place. The common mechanism across both is the institutional bias from Slide 4: it is easier for a system to remove the person than to adapt the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 out from the institutions in the previous slide and the same life is also a migration story: more than a decade building a career in Australia, family still rooted in Bangladesh, and a marriage and new chapter in France that he describes as the best decision he has made. The visa difficulty his mother faced is the lived version of the evolutionary-bias slide earlier in this deck — bureaucratic risk-aversion experienced by an actual family, not an abstraction. Running underneath all of it are two formal diagnoses, depression and ADHD, being managed at the same time as a cross-border marriage, a workplace dispute, and a teacher-training programme — which is the resilience this case study is really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idea in this deck reappears in the case study, and that is the point: cognitive bias, sound symbolism, quantum-style uncertainty, and AI pattern-matching are not separate curiosities, they are four lenses on the same underlying behavior of complex systems — human or otherwise. The closing takeaway is practical: when you’re stuck on a hard problem, borrowing a concept from an unrelated field is often faster than going deeper into the field you started in. That is exactly how this presentation was built, and it is the mindset worth taking away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1280160"/>
            <a:ext cx="4572000" cy="4572000"/>
          </a:xfrm>
          <a:prstGeom prst="ellipse">
            <a:avLst/>
          </a:prstGeom>
          <a:solidFill>
            <a:srgbClr val="2A3570"/>
          </a:solidFill>
          <a:ln/>
        </p:spPr>
      </p:sp>
      <p:sp>
        <p:nvSpPr>
          <p:cNvPr id="3" name="Shape 1"/>
          <p:cNvSpPr/>
          <p:nvPr/>
        </p:nvSpPr>
        <p:spPr>
          <a:xfrm>
            <a:off x="-1645920" y="4754880"/>
            <a:ext cx="3840480" cy="3840480"/>
          </a:xfrm>
          <a:prstGeom prst="ellipse">
            <a:avLst/>
          </a:prstGeom>
          <a:solidFill>
            <a:srgbClr val="2A3570"/>
          </a:solidFill>
          <a:ln/>
        </p:spPr>
      </p:sp>
      <p:sp>
        <p:nvSpPr>
          <p:cNvPr id="4" name="Shape 2"/>
          <p:cNvSpPr/>
          <p:nvPr/>
        </p:nvSpPr>
        <p:spPr>
          <a:xfrm>
            <a:off x="5276088" y="1234440"/>
            <a:ext cx="1645920" cy="1645920"/>
          </a:xfrm>
          <a:prstGeom prst="ellipse">
            <a:avLst/>
          </a:prstGeom>
          <a:solidFill>
            <a:srgbClr val="F2B134"/>
          </a:solidFill>
          <a:ln/>
          <a:effectLst>
            <a:outerShdw sx="100000" sy="100000" kx="0" ky="0" algn="bl" rotWithShape="0" blurRad="127000" dist="50800" dir="5400000">
              <a:srgbClr val="000000">
                <a:alpha val="35000"/>
              </a:srgbClr>
            </a:outerShdw>
          </a:effectLst>
        </p:spPr>
      </p:sp>
      <p:pic>
        <p:nvPicPr>
          <p:cNvPr id="5" name="Image 0" descr="/tmp/claude-0/-home-user-my-professional-documents/fde50819-489d-5f4b-b2af-3e5402494ffb/scratchpad/pptx_build/icons/sparkles.png">    </p:cNvPr>
          <p:cNvPicPr>
            <a:picLocks noChangeAspect="1"/>
          </p:cNvPicPr>
          <p:nvPr/>
        </p:nvPicPr>
        <p:blipFill>
          <a:blip r:embed="rId1"/>
          <a:stretch>
            <a:fillRect/>
          </a:stretch>
        </p:blipFill>
        <p:spPr>
          <a:xfrm>
            <a:off x="5779008" y="1737360"/>
            <a:ext cx="640080" cy="640080"/>
          </a:xfrm>
          <a:prstGeom prst="rect">
            <a:avLst/>
          </a:prstGeom>
        </p:spPr>
      </p:pic>
      <p:sp>
        <p:nvSpPr>
          <p:cNvPr id="6" name="Text 3"/>
          <p:cNvSpPr/>
          <p:nvPr/>
        </p:nvSpPr>
        <p:spPr>
          <a:xfrm>
            <a:off x="731520" y="3063240"/>
            <a:ext cx="10698480" cy="457200"/>
          </a:xfrm>
          <a:prstGeom prst="rect">
            <a:avLst/>
          </a:prstGeom>
          <a:noFill/>
          <a:ln/>
        </p:spPr>
        <p:txBody>
          <a:bodyPr wrap="square" lIns="0" tIns="0" rIns="0" bIns="0" rtlCol="0" anchor="ctr"/>
          <a:lstStyle/>
          <a:p>
            <a:pPr algn="ctr" indent="0" marL="0">
              <a:buNone/>
            </a:pPr>
            <a:r>
              <a:rPr lang="en-US" sz="1500" b="1" spc="300" kern="0" dirty="0">
                <a:solidFill>
                  <a:srgbClr val="F2B134"/>
                </a:solidFill>
                <a:latin typeface="Calibri" pitchFamily="34" charset="0"/>
                <a:ea typeface="Calibri" pitchFamily="34" charset="-122"/>
                <a:cs typeface="Calibri" pitchFamily="34" charset="-120"/>
              </a:rPr>
              <a:t>INTERDISCIPLINARY INSIGHTS</a:t>
            </a:r>
            <a:endParaRPr lang="en-US" sz="1500" dirty="0"/>
          </a:p>
        </p:txBody>
      </p:sp>
      <p:sp>
        <p:nvSpPr>
          <p:cNvPr id="7" name="Text 4"/>
          <p:cNvSpPr/>
          <p:nvPr/>
        </p:nvSpPr>
        <p:spPr>
          <a:xfrm>
            <a:off x="731520" y="3520440"/>
            <a:ext cx="10698480" cy="82296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Psychology, Linguistics, Physics &amp; AI</a:t>
            </a:r>
            <a:endParaRPr lang="en-US" sz="4000" dirty="0"/>
          </a:p>
        </p:txBody>
      </p:sp>
      <p:sp>
        <p:nvSpPr>
          <p:cNvPr id="8" name="Text 5"/>
          <p:cNvSpPr/>
          <p:nvPr/>
        </p:nvSpPr>
        <p:spPr>
          <a:xfrm>
            <a:off x="731520" y="4343400"/>
            <a:ext cx="10698480" cy="457200"/>
          </a:xfrm>
          <a:prstGeom prst="rect">
            <a:avLst/>
          </a:prstGeom>
          <a:noFill/>
          <a:ln/>
        </p:spPr>
        <p:txBody>
          <a:bodyPr wrap="square" lIns="0" tIns="0" rIns="0" bIns="0" rtlCol="0" anchor="ctr"/>
          <a:lstStyle/>
          <a:p>
            <a:pPr algn="ctr" indent="0" marL="0">
              <a:buNone/>
            </a:pPr>
            <a:r>
              <a:rPr lang="en-US" sz="1600" i="1" dirty="0">
                <a:solidFill>
                  <a:srgbClr val="CADCFC"/>
                </a:solidFill>
                <a:latin typeface="Calibri" pitchFamily="34" charset="0"/>
                <a:ea typeface="Calibri" pitchFamily="34" charset="-122"/>
                <a:cs typeface="Calibri" pitchFamily="34" charset="-120"/>
              </a:rPr>
              <a:t>A Case-Study Approach — Rarely-Discussed Ideas, Grounded in One Real Life</a:t>
            </a:r>
            <a:endParaRPr lang="en-US" sz="1600" dirty="0"/>
          </a:p>
        </p:txBody>
      </p:sp>
      <p:sp>
        <p:nvSpPr>
          <p:cNvPr id="9" name="Text 6"/>
          <p:cNvSpPr/>
          <p:nvPr/>
        </p:nvSpPr>
        <p:spPr>
          <a:xfrm>
            <a:off x="731520" y="5989320"/>
            <a:ext cx="10698480" cy="365760"/>
          </a:xfrm>
          <a:prstGeom prst="rect">
            <a:avLst/>
          </a:prstGeom>
          <a:noFill/>
          <a:ln/>
        </p:spPr>
        <p:txBody>
          <a:bodyPr wrap="square" lIns="0" tIns="0" rIns="0" bIns="0" rtlCol="0" anchor="ctr"/>
          <a:lstStyle/>
          <a:p>
            <a:pPr algn="ctr" indent="0" marL="0">
              <a:buNone/>
            </a:pPr>
            <a:r>
              <a:rPr lang="en-US" sz="1200" dirty="0">
                <a:solidFill>
                  <a:srgbClr val="9AA6D1"/>
                </a:solidFill>
                <a:latin typeface="Calibri" pitchFamily="34" charset="0"/>
                <a:ea typeface="Calibri" pitchFamily="34" charset="-122"/>
                <a:cs typeface="Calibri" pitchFamily="34" charset="-120"/>
              </a:rPr>
              <a:t>Sourov Deb  ·  July 2026</a:t>
            </a:r>
            <a:endParaRPr lang="en-US" sz="1200" dirty="0"/>
          </a:p>
        </p:txBody>
      </p:sp>
      <p:sp>
        <p:nvSpPr>
          <p:cNvPr id="11" name="Text 7"/>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8891B5"/>
                </a:solidFill>
                <a:latin typeface="Calibri" pitchFamily="34" charset="0"/>
                <a:ea typeface="Calibri" pitchFamily="34" charset="-122"/>
                <a:cs typeface="Calibri" pitchFamily="34" charset="-120"/>
              </a:rPr>
              <a:t>Interdisciplinary Insights  ·  1 / 10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E2761"/>
          </a:solidFill>
          <a:ln/>
          <a:effectLst>
            <a:outerShdw sx="100000" sy="100000" kx="0" ky="0" algn="bl" rotWithShape="0" blurRad="101600" dist="38100" dir="5400000">
              <a:srgbClr val="1E2761">
                <a:alpha val="18000"/>
              </a:srgbClr>
            </a:outerShdw>
          </a:effectLst>
        </p:spPr>
      </p:sp>
      <p:pic>
        <p:nvPicPr>
          <p:cNvPr id="3" name="Image 0" descr="/tmp/claude-0/-home-user-my-professional-documents/fde50819-489d-5f4b-b2af-3e5402494ffb/scratchpad/pptx_build/icons/brain.png">    </p:cNvPr>
          <p:cNvPicPr>
            <a:picLocks noChangeAspect="1"/>
          </p:cNvPicPr>
          <p:nvPr/>
        </p:nvPicPr>
        <p:blipFill>
          <a:blip r:embed="rId1"/>
          <a:stretch>
            <a:fillRect/>
          </a:stretch>
        </p:blipFill>
        <p:spPr>
          <a:xfrm>
            <a:off x="722376" y="630936"/>
            <a:ext cx="310896" cy="310896"/>
          </a:xfrm>
          <a:prstGeom prst="rect">
            <a:avLst/>
          </a:prstGeom>
        </p:spPr>
      </p:pic>
      <p:sp>
        <p:nvSpPr>
          <p:cNvPr id="4" name="Text 1"/>
          <p:cNvSpPr/>
          <p:nvPr/>
        </p:nvSpPr>
        <p:spPr>
          <a:xfrm>
            <a:off x="1371600" y="457200"/>
            <a:ext cx="7772400" cy="310896"/>
          </a:xfrm>
          <a:prstGeom prst="rect">
            <a:avLst/>
          </a:prstGeom>
          <a:noFill/>
          <a:ln/>
        </p:spPr>
        <p:txBody>
          <a:bodyPr wrap="square" lIns="0" tIns="0" rIns="0" bIns="0" rtlCol="0" anchor="b"/>
          <a:lstStyle/>
          <a:p>
            <a:pPr algn="l" indent="0" marL="0">
              <a:buNone/>
            </a:pPr>
            <a:r>
              <a:rPr lang="en-US" sz="1300" b="1" spc="200" kern="0" dirty="0">
                <a:solidFill>
                  <a:srgbClr val="F2B134"/>
                </a:solidFill>
                <a:latin typeface="Calibri" pitchFamily="34" charset="0"/>
                <a:ea typeface="Calibri" pitchFamily="34" charset="-122"/>
                <a:cs typeface="Calibri" pitchFamily="34" charset="-120"/>
              </a:rPr>
              <a:t>PSYCHOLOGY</a:t>
            </a:r>
            <a:endParaRPr lang="en-US" sz="1300" dirty="0"/>
          </a:p>
        </p:txBody>
      </p:sp>
      <p:sp>
        <p:nvSpPr>
          <p:cNvPr id="5" name="Text 2"/>
          <p:cNvSpPr/>
          <p:nvPr/>
        </p:nvSpPr>
        <p:spPr>
          <a:xfrm>
            <a:off x="1371600" y="749808"/>
            <a:ext cx="10241280" cy="603504"/>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The Psychology of Getting Things Done</a:t>
            </a:r>
            <a:endParaRPr lang="en-US" sz="3000" dirty="0"/>
          </a:p>
        </p:txBody>
      </p:sp>
      <p:sp>
        <p:nvSpPr>
          <p:cNvPr id="6" name="Text 3"/>
          <p:cNvSpPr/>
          <p:nvPr/>
        </p:nvSpPr>
        <p:spPr>
          <a:xfrm>
            <a:off x="548640" y="1600200"/>
            <a:ext cx="6492240" cy="4572000"/>
          </a:xfrm>
          <a:prstGeom prst="rect">
            <a:avLst/>
          </a:prstGeom>
          <a:noFill/>
          <a:ln/>
        </p:spPr>
        <p:txBody>
          <a:bodyPr wrap="square" lIns="0" tIns="0" rIns="0" bIns="0" rtlCol="0" anchor="t"/>
          <a:lstStyle/>
          <a:p>
            <a:pPr marL="228600" indent="-228600">
              <a:lnSpc>
                <a:spcPct val="125000"/>
              </a:lnSpc>
              <a:spcAft>
                <a:spcPts val="1400"/>
              </a:spcAft>
              <a:buSzPct val="100000"/>
              <a:buChar char="▪"/>
            </a:pPr>
            <a:r>
              <a:rPr lang="en-US" sz="1500" dirty="0">
                <a:solidFill>
                  <a:srgbClr val="1B1F2A"/>
                </a:solidFill>
                <a:latin typeface="Calibri" pitchFamily="34" charset="0"/>
                <a:ea typeface="Calibri" pitchFamily="34" charset="-122"/>
                <a:cs typeface="Calibri" pitchFamily="34" charset="-120"/>
              </a:rPr>
              <a:t>The Zeigarnik Effect: unfinished tasks create cognitive tension that keeps pulling your attention back until they’re closed out</a:t>
            </a:r>
            <a:endParaRPr lang="en-US" sz="1500" dirty="0"/>
          </a:p>
          <a:p>
            <a:pPr marL="228600" indent="-228600">
              <a:lnSpc>
                <a:spcPct val="125000"/>
              </a:lnSpc>
              <a:spcAft>
                <a:spcPts val="1400"/>
              </a:spcAft>
              <a:buSzPct val="100000"/>
              <a:buChar char="▪"/>
            </a:pPr>
            <a:r>
              <a:rPr lang="en-US" sz="1500" dirty="0">
                <a:solidFill>
                  <a:srgbClr val="1B1F2A"/>
                </a:solidFill>
                <a:latin typeface="Calibri" pitchFamily="34" charset="0"/>
                <a:ea typeface="Calibri" pitchFamily="34" charset="-122"/>
                <a:cs typeface="Calibri" pitchFamily="34" charset="-120"/>
              </a:rPr>
              <a:t>Deep Work (Cal Newport): sustained, distraction-free concentration, trained like a muscle rather than found by willpower</a:t>
            </a:r>
            <a:endParaRPr lang="en-US" sz="1500" dirty="0"/>
          </a:p>
          <a:p>
            <a:pPr marL="228600" indent="-228600">
              <a:lnSpc>
                <a:spcPct val="125000"/>
              </a:lnSpc>
              <a:spcAft>
                <a:spcPts val="1400"/>
              </a:spcAft>
              <a:buSzPct val="100000"/>
              <a:buChar char="▪"/>
            </a:pPr>
            <a:r>
              <a:rPr lang="en-US" sz="1500" dirty="0">
                <a:solidFill>
                  <a:srgbClr val="1B1F2A"/>
                </a:solidFill>
                <a:latin typeface="Calibri" pitchFamily="34" charset="0"/>
                <a:ea typeface="Calibri" pitchFamily="34" charset="-122"/>
                <a:cs typeface="Calibri" pitchFamily="34" charset="-120"/>
              </a:rPr>
              <a:t>ADHD-specific systems: externalized memory, body doubling, and visual timers — because the bottleneck is rarely motivation</a:t>
            </a:r>
            <a:endParaRPr lang="en-US" sz="1500" dirty="0"/>
          </a:p>
          <a:p>
            <a:pPr marL="228600" indent="-228600">
              <a:lnSpc>
                <a:spcPct val="125000"/>
              </a:lnSpc>
              <a:spcAft>
                <a:spcPts val="1400"/>
              </a:spcAft>
              <a:buSzPct val="100000"/>
              <a:buChar char="▪"/>
            </a:pPr>
            <a:r>
              <a:rPr lang="en-US" sz="1500" dirty="0">
                <a:solidFill>
                  <a:srgbClr val="1B1F2A"/>
                </a:solidFill>
                <a:latin typeface="Calibri" pitchFamily="34" charset="0"/>
                <a:ea typeface="Calibri" pitchFamily="34" charset="-122"/>
                <a:cs typeface="Calibri" pitchFamily="34" charset="-120"/>
              </a:rPr>
              <a:t>The neurodiversity advantage: hyperfocus and rapid pattern recognition often outperform "normal" attention under real pressure</a:t>
            </a:r>
            <a:endParaRPr lang="en-US" sz="1500" dirty="0"/>
          </a:p>
        </p:txBody>
      </p:sp>
      <p:sp>
        <p:nvSpPr>
          <p:cNvPr id="7" name="Shape 4"/>
          <p:cNvSpPr/>
          <p:nvPr/>
        </p:nvSpPr>
        <p:spPr>
          <a:xfrm>
            <a:off x="7498080" y="1737360"/>
            <a:ext cx="4114800" cy="3017520"/>
          </a:xfrm>
          <a:prstGeom prst="roundRect">
            <a:avLst>
              <a:gd name="adj" fmla="val 3636"/>
            </a:avLst>
          </a:prstGeom>
          <a:solidFill>
            <a:srgbClr val="CADCFC"/>
          </a:solidFill>
          <a:ln/>
          <a:effectLst>
            <a:outerShdw sx="100000" sy="100000" kx="0" ky="0" algn="bl" rotWithShape="0" blurRad="101600" dist="38100" dir="5400000">
              <a:srgbClr val="1E2761">
                <a:alpha val="18000"/>
              </a:srgbClr>
            </a:outerShdw>
          </a:effectLst>
        </p:spPr>
      </p:sp>
      <p:sp>
        <p:nvSpPr>
          <p:cNvPr id="8" name="Text 5"/>
          <p:cNvSpPr/>
          <p:nvPr/>
        </p:nvSpPr>
        <p:spPr>
          <a:xfrm>
            <a:off x="7772400" y="1993392"/>
            <a:ext cx="3566160" cy="274320"/>
          </a:xfrm>
          <a:prstGeom prst="rect">
            <a:avLst/>
          </a:prstGeom>
          <a:noFill/>
          <a:ln/>
        </p:spPr>
        <p:txBody>
          <a:bodyPr wrap="square" lIns="0" tIns="0" rIns="0" bIns="0" rtlCol="0" anchor="ctr"/>
          <a:lstStyle/>
          <a:p>
            <a:pPr indent="0" marL="0">
              <a:buNone/>
            </a:pPr>
            <a:r>
              <a:rPr lang="en-US" sz="1100" b="1" spc="150" kern="0" dirty="0">
                <a:solidFill>
                  <a:srgbClr val="1E2761"/>
                </a:solidFill>
                <a:latin typeface="Calibri" pitchFamily="34" charset="0"/>
                <a:ea typeface="Calibri" pitchFamily="34" charset="-122"/>
                <a:cs typeface="Calibri" pitchFamily="34" charset="-120"/>
              </a:rPr>
              <a:t>THE HIDDEN COST</a:t>
            </a:r>
            <a:endParaRPr lang="en-US" sz="1100" dirty="0"/>
          </a:p>
        </p:txBody>
      </p:sp>
      <p:sp>
        <p:nvSpPr>
          <p:cNvPr id="9" name="Text 6"/>
          <p:cNvSpPr/>
          <p:nvPr/>
        </p:nvSpPr>
        <p:spPr>
          <a:xfrm>
            <a:off x="7772400" y="2304288"/>
            <a:ext cx="3566160" cy="2194560"/>
          </a:xfrm>
          <a:prstGeom prst="rect">
            <a:avLst/>
          </a:prstGeom>
          <a:noFill/>
          <a:ln/>
        </p:spPr>
        <p:txBody>
          <a:bodyPr wrap="square" lIns="0" tIns="0" rIns="0" bIns="0" rtlCol="0" anchor="t"/>
          <a:lstStyle/>
          <a:p>
            <a:pPr indent="0" marL="0">
              <a:lnSpc>
                <a:spcPct val="120000"/>
              </a:lnSpc>
              <a:buNone/>
            </a:pPr>
            <a:r>
              <a:rPr lang="en-US" sz="1600" i="1" dirty="0">
                <a:solidFill>
                  <a:srgbClr val="1E2761"/>
                </a:solidFill>
                <a:latin typeface="Cambria" pitchFamily="34" charset="0"/>
                <a:ea typeface="Cambria" pitchFamily="34" charset="-122"/>
                <a:cs typeface="Cambria" pitchFamily="34" charset="-120"/>
              </a:rPr>
              <a:t>20–40% of productive attention is lost every time focus is broken by an interruption — and the cost compounds for ADHD brains, which take longer to re-enter flow.</a:t>
            </a:r>
            <a:endParaRPr lang="en-US" sz="1600" dirty="0"/>
          </a:p>
        </p:txBody>
      </p:sp>
      <p:sp>
        <p:nvSpPr>
          <p:cNvPr id="11" name="Text 7"/>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Interdisciplinary Insights  ·  2 / 10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E2761"/>
          </a:solidFill>
          <a:ln/>
          <a:effectLst>
            <a:outerShdw sx="100000" sy="100000" kx="0" ky="0" algn="bl" rotWithShape="0" blurRad="101600" dist="38100" dir="5400000">
              <a:srgbClr val="1E2761">
                <a:alpha val="18000"/>
              </a:srgbClr>
            </a:outerShdw>
          </a:effectLst>
        </p:spPr>
      </p:sp>
      <p:pic>
        <p:nvPicPr>
          <p:cNvPr id="3" name="Image 0" descr="/tmp/claude-0/-home-user-my-professional-documents/fde50819-489d-5f4b-b2af-3e5402494ffb/scratchpad/pptx_build/icons/voice.png">    </p:cNvPr>
          <p:cNvPicPr>
            <a:picLocks noChangeAspect="1"/>
          </p:cNvPicPr>
          <p:nvPr/>
        </p:nvPicPr>
        <p:blipFill>
          <a:blip r:embed="rId1"/>
          <a:stretch>
            <a:fillRect/>
          </a:stretch>
        </p:blipFill>
        <p:spPr>
          <a:xfrm>
            <a:off x="722376" y="630936"/>
            <a:ext cx="310896" cy="310896"/>
          </a:xfrm>
          <a:prstGeom prst="rect">
            <a:avLst/>
          </a:prstGeom>
        </p:spPr>
      </p:pic>
      <p:sp>
        <p:nvSpPr>
          <p:cNvPr id="4" name="Text 1"/>
          <p:cNvSpPr/>
          <p:nvPr/>
        </p:nvSpPr>
        <p:spPr>
          <a:xfrm>
            <a:off x="1371600" y="457200"/>
            <a:ext cx="7772400" cy="310896"/>
          </a:xfrm>
          <a:prstGeom prst="rect">
            <a:avLst/>
          </a:prstGeom>
          <a:noFill/>
          <a:ln/>
        </p:spPr>
        <p:txBody>
          <a:bodyPr wrap="square" lIns="0" tIns="0" rIns="0" bIns="0" rtlCol="0" anchor="b"/>
          <a:lstStyle/>
          <a:p>
            <a:pPr algn="l" indent="0" marL="0">
              <a:buNone/>
            </a:pPr>
            <a:r>
              <a:rPr lang="en-US" sz="1300" b="1" spc="200" kern="0" dirty="0">
                <a:solidFill>
                  <a:srgbClr val="F2B134"/>
                </a:solidFill>
                <a:latin typeface="Calibri" pitchFamily="34" charset="0"/>
                <a:ea typeface="Calibri" pitchFamily="34" charset="-122"/>
                <a:cs typeface="Calibri" pitchFamily="34" charset="-120"/>
              </a:rPr>
              <a:t>LINGUISTICS</a:t>
            </a:r>
            <a:endParaRPr lang="en-US" sz="1300" dirty="0"/>
          </a:p>
        </p:txBody>
      </p:sp>
      <p:sp>
        <p:nvSpPr>
          <p:cNvPr id="5" name="Text 2"/>
          <p:cNvSpPr/>
          <p:nvPr/>
        </p:nvSpPr>
        <p:spPr>
          <a:xfrm>
            <a:off x="1371600" y="749808"/>
            <a:ext cx="10241280" cy="603504"/>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Why Some Words Just Sound Right</a:t>
            </a:r>
            <a:endParaRPr lang="en-US" sz="3000" dirty="0"/>
          </a:p>
        </p:txBody>
      </p:sp>
      <p:sp>
        <p:nvSpPr>
          <p:cNvPr id="6" name="Text 3"/>
          <p:cNvSpPr/>
          <p:nvPr/>
        </p:nvSpPr>
        <p:spPr>
          <a:xfrm>
            <a:off x="548640" y="1600200"/>
            <a:ext cx="10241280" cy="3200400"/>
          </a:xfrm>
          <a:prstGeom prst="rect">
            <a:avLst/>
          </a:prstGeom>
          <a:noFill/>
          <a:ln/>
        </p:spPr>
        <p:txBody>
          <a:bodyPr wrap="square" lIns="0" tIns="0" rIns="0" bIns="0" rtlCol="0" anchor="t"/>
          <a:lstStyle/>
          <a:p>
            <a:pPr marL="228600" indent="-228600">
              <a:lnSpc>
                <a:spcPct val="125000"/>
              </a:lnSpc>
              <a:spcAft>
                <a:spcPts val="1400"/>
              </a:spcAft>
              <a:buSzPct val="100000"/>
              <a:buChar char="▪"/>
            </a:pPr>
            <a:r>
              <a:rPr lang="en-US" sz="1500" dirty="0">
                <a:solidFill>
                  <a:srgbClr val="1B1F2A"/>
                </a:solidFill>
                <a:latin typeface="Calibri" pitchFamily="34" charset="0"/>
                <a:ea typeface="Calibri" pitchFamily="34" charset="-122"/>
                <a:cs typeface="Calibri" pitchFamily="34" charset="-120"/>
              </a:rPr>
              <a:t>English has roughly 44 distinct sounds (phonemes) squeezed into just 26 letters — spelling was never built to match pronunciation</a:t>
            </a:r>
            <a:endParaRPr lang="en-US" sz="1500" dirty="0"/>
          </a:p>
          <a:p>
            <a:pPr marL="228600" indent="-228600">
              <a:lnSpc>
                <a:spcPct val="125000"/>
              </a:lnSpc>
              <a:spcAft>
                <a:spcPts val="1400"/>
              </a:spcAft>
              <a:buSzPct val="100000"/>
              <a:buChar char="▪"/>
            </a:pPr>
            <a:r>
              <a:rPr lang="en-US" sz="1500" dirty="0">
                <a:solidFill>
                  <a:srgbClr val="1B1F2A"/>
                </a:solidFill>
                <a:latin typeface="Calibri" pitchFamily="34" charset="0"/>
                <a:ea typeface="Calibri" pitchFamily="34" charset="-122"/>
                <a:cs typeface="Calibri" pitchFamily="34" charset="-120"/>
              </a:rPr>
              <a:t>Suprasegmentals — stress, rhythm, and intonation — often carry more meaning than the words themselves, and are the hardest part to teach</a:t>
            </a:r>
            <a:endParaRPr lang="en-US" sz="1500" dirty="0"/>
          </a:p>
          <a:p>
            <a:pPr marL="228600" indent="-228600">
              <a:lnSpc>
                <a:spcPct val="125000"/>
              </a:lnSpc>
              <a:spcAft>
                <a:spcPts val="1400"/>
              </a:spcAft>
              <a:buSzPct val="100000"/>
              <a:buChar char="▪"/>
            </a:pPr>
            <a:r>
              <a:rPr lang="en-US" sz="1500" dirty="0">
                <a:solidFill>
                  <a:srgbClr val="1B1F2A"/>
                </a:solidFill>
                <a:latin typeface="Calibri" pitchFamily="34" charset="0"/>
                <a:ea typeface="Calibri" pitchFamily="34" charset="-122"/>
                <a:cs typeface="Calibri" pitchFamily="34" charset="-120"/>
              </a:rPr>
              <a:t>The Bouba/Kiki Effect: most people match "bouba" to a rounded shape and "kiki" to a spiky one — sound symbolism that crosses cultures</a:t>
            </a:r>
            <a:endParaRPr lang="en-US" sz="1500" dirty="0"/>
          </a:p>
          <a:p>
            <a:pPr marL="228600" indent="-228600">
              <a:lnSpc>
                <a:spcPct val="125000"/>
              </a:lnSpc>
              <a:spcAft>
                <a:spcPts val="1400"/>
              </a:spcAft>
              <a:buSzPct val="100000"/>
              <a:buChar char="▪"/>
            </a:pPr>
            <a:r>
              <a:rPr lang="en-US" sz="1500" dirty="0">
                <a:solidFill>
                  <a:srgbClr val="1B1F2A"/>
                </a:solidFill>
                <a:latin typeface="Calibri" pitchFamily="34" charset="0"/>
                <a:ea typeface="Calibri" pitchFamily="34" charset="-122"/>
                <a:cs typeface="Calibri" pitchFamily="34" charset="-120"/>
              </a:rPr>
              <a:t>Phonaesthesia: words like "glitter," "slime," and "hiss" sound like what they mean, even across unrelated languages</a:t>
            </a:r>
            <a:endParaRPr lang="en-US" sz="1500" dirty="0"/>
          </a:p>
        </p:txBody>
      </p:sp>
      <p:sp>
        <p:nvSpPr>
          <p:cNvPr id="7" name="Shape 4"/>
          <p:cNvSpPr/>
          <p:nvPr/>
        </p:nvSpPr>
        <p:spPr>
          <a:xfrm>
            <a:off x="1005840" y="5029200"/>
            <a:ext cx="3230880" cy="1051560"/>
          </a:xfrm>
          <a:prstGeom prst="roundRect">
            <a:avLst>
              <a:gd name="adj" fmla="val 8696"/>
            </a:avLst>
          </a:prstGeom>
          <a:solidFill>
            <a:srgbClr val="1E2761"/>
          </a:solidFill>
          <a:ln/>
          <a:effectLst>
            <a:outerShdw sx="100000" sy="100000" kx="0" ky="0" algn="bl" rotWithShape="0" blurRad="101600" dist="38100" dir="5400000">
              <a:srgbClr val="1E2761">
                <a:alpha val="18000"/>
              </a:srgbClr>
            </a:outerShdw>
          </a:effectLst>
        </p:spPr>
      </p:sp>
      <p:sp>
        <p:nvSpPr>
          <p:cNvPr id="8" name="Text 5"/>
          <p:cNvSpPr/>
          <p:nvPr/>
        </p:nvSpPr>
        <p:spPr>
          <a:xfrm>
            <a:off x="1005840" y="5138928"/>
            <a:ext cx="3230880" cy="502920"/>
          </a:xfrm>
          <a:prstGeom prst="rect">
            <a:avLst/>
          </a:prstGeom>
          <a:noFill/>
          <a:ln/>
        </p:spPr>
        <p:txBody>
          <a:bodyPr wrap="square" lIns="0" tIns="0" rIns="0" bIns="0" rtlCol="0" anchor="ctr"/>
          <a:lstStyle/>
          <a:p>
            <a:pPr algn="ctr" indent="0" marL="0">
              <a:buNone/>
            </a:pPr>
            <a:r>
              <a:rPr lang="en-US" sz="2400" b="1" dirty="0">
                <a:solidFill>
                  <a:srgbClr val="F2B134"/>
                </a:solidFill>
                <a:latin typeface="Cambria" pitchFamily="34" charset="0"/>
                <a:ea typeface="Cambria" pitchFamily="34" charset="-122"/>
                <a:cs typeface="Cambria" pitchFamily="34" charset="-120"/>
              </a:rPr>
              <a:t>44</a:t>
            </a:r>
            <a:endParaRPr lang="en-US" sz="2400" dirty="0"/>
          </a:p>
        </p:txBody>
      </p:sp>
      <p:sp>
        <p:nvSpPr>
          <p:cNvPr id="9" name="Text 6"/>
          <p:cNvSpPr/>
          <p:nvPr/>
        </p:nvSpPr>
        <p:spPr>
          <a:xfrm>
            <a:off x="1097280" y="5650992"/>
            <a:ext cx="3048000" cy="384048"/>
          </a:xfrm>
          <a:prstGeom prst="rect">
            <a:avLst/>
          </a:prstGeom>
          <a:noFill/>
          <a:ln/>
        </p:spPr>
        <p:txBody>
          <a:bodyPr wrap="square" lIns="0" tIns="0" rIns="0" bIns="0" rtlCol="0" anchor="t"/>
          <a:lstStyle/>
          <a:p>
            <a:pPr algn="ctr" indent="0" marL="0">
              <a:buNone/>
            </a:pPr>
            <a:r>
              <a:rPr lang="en-US" sz="1050" dirty="0">
                <a:solidFill>
                  <a:srgbClr val="FFFFFF"/>
                </a:solidFill>
                <a:latin typeface="Calibri" pitchFamily="34" charset="0"/>
                <a:ea typeface="Calibri" pitchFamily="34" charset="-122"/>
                <a:cs typeface="Calibri" pitchFamily="34" charset="-120"/>
              </a:rPr>
              <a:t>English phonemes</a:t>
            </a:r>
            <a:endParaRPr lang="en-US" sz="1050" dirty="0"/>
          </a:p>
        </p:txBody>
      </p:sp>
      <p:sp>
        <p:nvSpPr>
          <p:cNvPr id="10" name="Shape 7"/>
          <p:cNvSpPr/>
          <p:nvPr/>
        </p:nvSpPr>
        <p:spPr>
          <a:xfrm>
            <a:off x="4511040" y="5029200"/>
            <a:ext cx="3230880" cy="1051560"/>
          </a:xfrm>
          <a:prstGeom prst="roundRect">
            <a:avLst>
              <a:gd name="adj" fmla="val 8696"/>
            </a:avLst>
          </a:prstGeom>
          <a:solidFill>
            <a:srgbClr val="1E2761"/>
          </a:solidFill>
          <a:ln/>
          <a:effectLst>
            <a:outerShdw sx="100000" sy="100000" kx="0" ky="0" algn="bl" rotWithShape="0" blurRad="101600" dist="38100" dir="5400000">
              <a:srgbClr val="1E2761">
                <a:alpha val="18000"/>
              </a:srgbClr>
            </a:outerShdw>
          </a:effectLst>
        </p:spPr>
      </p:sp>
      <p:sp>
        <p:nvSpPr>
          <p:cNvPr id="11" name="Text 8"/>
          <p:cNvSpPr/>
          <p:nvPr/>
        </p:nvSpPr>
        <p:spPr>
          <a:xfrm>
            <a:off x="4511040" y="5138928"/>
            <a:ext cx="3230880" cy="502920"/>
          </a:xfrm>
          <a:prstGeom prst="rect">
            <a:avLst/>
          </a:prstGeom>
          <a:noFill/>
          <a:ln/>
        </p:spPr>
        <p:txBody>
          <a:bodyPr wrap="square" lIns="0" tIns="0" rIns="0" bIns="0" rtlCol="0" anchor="ctr"/>
          <a:lstStyle/>
          <a:p>
            <a:pPr algn="ctr" indent="0" marL="0">
              <a:buNone/>
            </a:pPr>
            <a:r>
              <a:rPr lang="en-US" sz="2400" b="1" dirty="0">
                <a:solidFill>
                  <a:srgbClr val="F2B134"/>
                </a:solidFill>
                <a:latin typeface="Cambria" pitchFamily="34" charset="0"/>
                <a:ea typeface="Cambria" pitchFamily="34" charset="-122"/>
                <a:cs typeface="Cambria" pitchFamily="34" charset="-120"/>
              </a:rPr>
              <a:t>26</a:t>
            </a:r>
            <a:endParaRPr lang="en-US" sz="2400" dirty="0"/>
          </a:p>
        </p:txBody>
      </p:sp>
      <p:sp>
        <p:nvSpPr>
          <p:cNvPr id="12" name="Text 9"/>
          <p:cNvSpPr/>
          <p:nvPr/>
        </p:nvSpPr>
        <p:spPr>
          <a:xfrm>
            <a:off x="4602480" y="5650992"/>
            <a:ext cx="3048000" cy="384048"/>
          </a:xfrm>
          <a:prstGeom prst="rect">
            <a:avLst/>
          </a:prstGeom>
          <a:noFill/>
          <a:ln/>
        </p:spPr>
        <p:txBody>
          <a:bodyPr wrap="square" lIns="0" tIns="0" rIns="0" bIns="0" rtlCol="0" anchor="t"/>
          <a:lstStyle/>
          <a:p>
            <a:pPr algn="ctr" indent="0" marL="0">
              <a:buNone/>
            </a:pPr>
            <a:r>
              <a:rPr lang="en-US" sz="1050" dirty="0">
                <a:solidFill>
                  <a:srgbClr val="FFFFFF"/>
                </a:solidFill>
                <a:latin typeface="Calibri" pitchFamily="34" charset="0"/>
                <a:ea typeface="Calibri" pitchFamily="34" charset="-122"/>
                <a:cs typeface="Calibri" pitchFamily="34" charset="-120"/>
              </a:rPr>
              <a:t>Letters available</a:t>
            </a:r>
            <a:endParaRPr lang="en-US" sz="1050" dirty="0"/>
          </a:p>
        </p:txBody>
      </p:sp>
      <p:sp>
        <p:nvSpPr>
          <p:cNvPr id="13" name="Shape 10"/>
          <p:cNvSpPr/>
          <p:nvPr/>
        </p:nvSpPr>
        <p:spPr>
          <a:xfrm>
            <a:off x="8016240" y="5029200"/>
            <a:ext cx="3230880" cy="1051560"/>
          </a:xfrm>
          <a:prstGeom prst="roundRect">
            <a:avLst>
              <a:gd name="adj" fmla="val 8696"/>
            </a:avLst>
          </a:prstGeom>
          <a:solidFill>
            <a:srgbClr val="1E2761"/>
          </a:solidFill>
          <a:ln/>
          <a:effectLst>
            <a:outerShdw sx="100000" sy="100000" kx="0" ky="0" algn="bl" rotWithShape="0" blurRad="101600" dist="38100" dir="5400000">
              <a:srgbClr val="1E2761">
                <a:alpha val="18000"/>
              </a:srgbClr>
            </a:outerShdw>
          </a:effectLst>
        </p:spPr>
      </p:sp>
      <p:sp>
        <p:nvSpPr>
          <p:cNvPr id="14" name="Text 11"/>
          <p:cNvSpPr/>
          <p:nvPr/>
        </p:nvSpPr>
        <p:spPr>
          <a:xfrm>
            <a:off x="8016240" y="5138928"/>
            <a:ext cx="3230880" cy="502920"/>
          </a:xfrm>
          <a:prstGeom prst="rect">
            <a:avLst/>
          </a:prstGeom>
          <a:noFill/>
          <a:ln/>
        </p:spPr>
        <p:txBody>
          <a:bodyPr wrap="square" lIns="0" tIns="0" rIns="0" bIns="0" rtlCol="0" anchor="ctr"/>
          <a:lstStyle/>
          <a:p>
            <a:pPr algn="ctr" indent="0" marL="0">
              <a:buNone/>
            </a:pPr>
            <a:r>
              <a:rPr lang="en-US" sz="2400" b="1" dirty="0">
                <a:solidFill>
                  <a:srgbClr val="F2B134"/>
                </a:solidFill>
                <a:latin typeface="Cambria" pitchFamily="34" charset="0"/>
                <a:ea typeface="Cambria" pitchFamily="34" charset="-122"/>
                <a:cs typeface="Cambria" pitchFamily="34" charset="-120"/>
              </a:rPr>
              <a:t>~95%</a:t>
            </a:r>
            <a:endParaRPr lang="en-US" sz="2400" dirty="0"/>
          </a:p>
        </p:txBody>
      </p:sp>
      <p:sp>
        <p:nvSpPr>
          <p:cNvPr id="15" name="Text 12"/>
          <p:cNvSpPr/>
          <p:nvPr/>
        </p:nvSpPr>
        <p:spPr>
          <a:xfrm>
            <a:off x="8107680" y="5650992"/>
            <a:ext cx="3048000" cy="384048"/>
          </a:xfrm>
          <a:prstGeom prst="rect">
            <a:avLst/>
          </a:prstGeom>
          <a:noFill/>
          <a:ln/>
        </p:spPr>
        <p:txBody>
          <a:bodyPr wrap="square" lIns="0" tIns="0" rIns="0" bIns="0" rtlCol="0" anchor="t"/>
          <a:lstStyle/>
          <a:p>
            <a:pPr algn="ctr" indent="0" marL="0">
              <a:buNone/>
            </a:pPr>
            <a:r>
              <a:rPr lang="en-US" sz="1050" dirty="0">
                <a:solidFill>
                  <a:srgbClr val="FFFFFF"/>
                </a:solidFill>
                <a:latin typeface="Calibri" pitchFamily="34" charset="0"/>
                <a:ea typeface="Calibri" pitchFamily="34" charset="-122"/>
                <a:cs typeface="Calibri" pitchFamily="34" charset="-120"/>
              </a:rPr>
              <a:t>Bouba/Kiki agreement</a:t>
            </a:r>
            <a:endParaRPr lang="en-US" sz="1050" dirty="0"/>
          </a:p>
        </p:txBody>
      </p:sp>
      <p:sp>
        <p:nvSpPr>
          <p:cNvPr id="17" name="Text 13"/>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Interdisciplinary Insights  ·  3 / 10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E2761"/>
          </a:solidFill>
          <a:ln/>
          <a:effectLst>
            <a:outerShdw sx="100000" sy="100000" kx="0" ky="0" algn="bl" rotWithShape="0" blurRad="101600" dist="38100" dir="5400000">
              <a:srgbClr val="1E2761">
                <a:alpha val="18000"/>
              </a:srgbClr>
            </a:outerShdw>
          </a:effectLst>
        </p:spPr>
      </p:sp>
      <p:pic>
        <p:nvPicPr>
          <p:cNvPr id="3" name="Image 0" descr="/tmp/claude-0/-home-user-my-professional-documents/fde50819-489d-5f4b-b2af-3e5402494ffb/scratchpad/pptx_build/icons/scale.png">    </p:cNvPr>
          <p:cNvPicPr>
            <a:picLocks noChangeAspect="1"/>
          </p:cNvPicPr>
          <p:nvPr/>
        </p:nvPicPr>
        <p:blipFill>
          <a:blip r:embed="rId1"/>
          <a:stretch>
            <a:fillRect/>
          </a:stretch>
        </p:blipFill>
        <p:spPr>
          <a:xfrm>
            <a:off x="722376" y="630936"/>
            <a:ext cx="310896" cy="310896"/>
          </a:xfrm>
          <a:prstGeom prst="rect">
            <a:avLst/>
          </a:prstGeom>
        </p:spPr>
      </p:pic>
      <p:sp>
        <p:nvSpPr>
          <p:cNvPr id="4" name="Text 1"/>
          <p:cNvSpPr/>
          <p:nvPr/>
        </p:nvSpPr>
        <p:spPr>
          <a:xfrm>
            <a:off x="1371600" y="457200"/>
            <a:ext cx="7772400" cy="310896"/>
          </a:xfrm>
          <a:prstGeom prst="rect">
            <a:avLst/>
          </a:prstGeom>
          <a:noFill/>
          <a:ln/>
        </p:spPr>
        <p:txBody>
          <a:bodyPr wrap="square" lIns="0" tIns="0" rIns="0" bIns="0" rtlCol="0" anchor="b"/>
          <a:lstStyle/>
          <a:p>
            <a:pPr algn="l" indent="0" marL="0">
              <a:buNone/>
            </a:pPr>
            <a:r>
              <a:rPr lang="en-US" sz="1300" b="1" spc="200" kern="0" dirty="0">
                <a:solidFill>
                  <a:srgbClr val="F2B134"/>
                </a:solidFill>
                <a:latin typeface="Calibri" pitchFamily="34" charset="0"/>
                <a:ea typeface="Calibri" pitchFamily="34" charset="-122"/>
                <a:cs typeface="Calibri" pitchFamily="34" charset="-120"/>
              </a:rPr>
              <a:t>PSYCHOLOGY</a:t>
            </a:r>
            <a:endParaRPr lang="en-US" sz="1300" dirty="0"/>
          </a:p>
        </p:txBody>
      </p:sp>
      <p:sp>
        <p:nvSpPr>
          <p:cNvPr id="5" name="Text 2"/>
          <p:cNvSpPr/>
          <p:nvPr/>
        </p:nvSpPr>
        <p:spPr>
          <a:xfrm>
            <a:off x="1371600" y="749808"/>
            <a:ext cx="10241280" cy="603504"/>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Why Systems Default to "No"</a:t>
            </a:r>
            <a:endParaRPr lang="en-US" sz="3000" dirty="0"/>
          </a:p>
        </p:txBody>
      </p:sp>
      <p:sp>
        <p:nvSpPr>
          <p:cNvPr id="6" name="Text 3"/>
          <p:cNvSpPr/>
          <p:nvPr/>
        </p:nvSpPr>
        <p:spPr>
          <a:xfrm>
            <a:off x="548640" y="1600200"/>
            <a:ext cx="6492240" cy="4572000"/>
          </a:xfrm>
          <a:prstGeom prst="rect">
            <a:avLst/>
          </a:prstGeom>
          <a:noFill/>
          <a:ln/>
        </p:spPr>
        <p:txBody>
          <a:bodyPr wrap="square" lIns="0" tIns="0" rIns="0" bIns="0" rtlCol="0" anchor="t"/>
          <a:lstStyle/>
          <a:p>
            <a:pPr marL="228600" indent="-228600">
              <a:lnSpc>
                <a:spcPct val="125000"/>
              </a:lnSpc>
              <a:spcAft>
                <a:spcPts val="1400"/>
              </a:spcAft>
              <a:buSzPct val="100000"/>
              <a:buChar char="▪"/>
            </a:pPr>
            <a:r>
              <a:rPr lang="en-US" sz="1500" dirty="0">
                <a:solidFill>
                  <a:srgbClr val="1B1F2A"/>
                </a:solidFill>
                <a:latin typeface="Calibri" pitchFamily="34" charset="0"/>
                <a:ea typeface="Calibri" pitchFamily="34" charset="-122"/>
                <a:cs typeface="Calibri" pitchFamily="34" charset="-120"/>
              </a:rPr>
              <a:t>In-group bias: an inherited shortcut for "who is safe" now runs inside institutions, not just tribes</a:t>
            </a:r>
            <a:endParaRPr lang="en-US" sz="1500" dirty="0"/>
          </a:p>
          <a:p>
            <a:pPr marL="228600" indent="-228600">
              <a:lnSpc>
                <a:spcPct val="125000"/>
              </a:lnSpc>
              <a:spcAft>
                <a:spcPts val="1400"/>
              </a:spcAft>
              <a:buSzPct val="100000"/>
              <a:buChar char="▪"/>
            </a:pPr>
            <a:r>
              <a:rPr lang="en-US" sz="1500" dirty="0">
                <a:solidFill>
                  <a:srgbClr val="1B1F2A"/>
                </a:solidFill>
                <a:latin typeface="Calibri" pitchFamily="34" charset="0"/>
                <a:ea typeface="Calibri" pitchFamily="34" charset="-122"/>
                <a:cs typeface="Calibri" pitchFamily="34" charset="-120"/>
              </a:rPr>
              <a:t>Status-quo bias: changing a rule feels riskier to an institution than the harm of quietly keeping it</a:t>
            </a:r>
            <a:endParaRPr lang="en-US" sz="1500" dirty="0"/>
          </a:p>
          <a:p>
            <a:pPr marL="228600" indent="-228600">
              <a:lnSpc>
                <a:spcPct val="125000"/>
              </a:lnSpc>
              <a:spcAft>
                <a:spcPts val="1400"/>
              </a:spcAft>
              <a:buSzPct val="100000"/>
              <a:buChar char="▪"/>
            </a:pPr>
            <a:r>
              <a:rPr lang="en-US" sz="1500" dirty="0">
                <a:solidFill>
                  <a:srgbClr val="1B1F2A"/>
                </a:solidFill>
                <a:latin typeface="Calibri" pitchFamily="34" charset="0"/>
                <a:ea typeface="Calibri" pitchFamily="34" charset="-122"/>
                <a:cs typeface="Calibri" pitchFamily="34" charset="-120"/>
              </a:rPr>
              <a:t>Confirmation bias: once a system has been burned by abuse, every new applicant gets read through that same lens</a:t>
            </a:r>
            <a:endParaRPr lang="en-US" sz="1500" dirty="0"/>
          </a:p>
          <a:p>
            <a:pPr marL="228600" indent="-228600">
              <a:lnSpc>
                <a:spcPct val="125000"/>
              </a:lnSpc>
              <a:spcAft>
                <a:spcPts val="1400"/>
              </a:spcAft>
              <a:buSzPct val="100000"/>
              <a:buChar char="▪"/>
            </a:pPr>
            <a:r>
              <a:rPr lang="en-US" sz="1500" dirty="0">
                <a:solidFill>
                  <a:srgbClr val="1B1F2A"/>
                </a:solidFill>
                <a:latin typeface="Calibri" pitchFamily="34" charset="0"/>
                <a:ea typeface="Calibri" pitchFamily="34" charset="-122"/>
                <a:cs typeface="Calibri" pitchFamily="34" charset="-120"/>
              </a:rPr>
              <a:t>The result: exclusion is often a rational, evolved strategy for the system — even when it is unjust for the individual in front of it</a:t>
            </a:r>
            <a:endParaRPr lang="en-US" sz="1500" dirty="0"/>
          </a:p>
        </p:txBody>
      </p:sp>
      <p:sp>
        <p:nvSpPr>
          <p:cNvPr id="7" name="Shape 4"/>
          <p:cNvSpPr/>
          <p:nvPr/>
        </p:nvSpPr>
        <p:spPr>
          <a:xfrm>
            <a:off x="7498080" y="1737360"/>
            <a:ext cx="4114800" cy="3017520"/>
          </a:xfrm>
          <a:prstGeom prst="roundRect">
            <a:avLst>
              <a:gd name="adj" fmla="val 3636"/>
            </a:avLst>
          </a:prstGeom>
          <a:solidFill>
            <a:srgbClr val="CADCFC"/>
          </a:solidFill>
          <a:ln/>
          <a:effectLst>
            <a:outerShdw sx="100000" sy="100000" kx="0" ky="0" algn="bl" rotWithShape="0" blurRad="101600" dist="38100" dir="5400000">
              <a:srgbClr val="1E2761">
                <a:alpha val="18000"/>
              </a:srgbClr>
            </a:outerShdw>
          </a:effectLst>
        </p:spPr>
      </p:sp>
      <p:sp>
        <p:nvSpPr>
          <p:cNvPr id="8" name="Text 5"/>
          <p:cNvSpPr/>
          <p:nvPr/>
        </p:nvSpPr>
        <p:spPr>
          <a:xfrm>
            <a:off x="7772400" y="1993392"/>
            <a:ext cx="3566160" cy="274320"/>
          </a:xfrm>
          <a:prstGeom prst="rect">
            <a:avLst/>
          </a:prstGeom>
          <a:noFill/>
          <a:ln/>
        </p:spPr>
        <p:txBody>
          <a:bodyPr wrap="square" lIns="0" tIns="0" rIns="0" bIns="0" rtlCol="0" anchor="ctr"/>
          <a:lstStyle/>
          <a:p>
            <a:pPr indent="0" marL="0">
              <a:buNone/>
            </a:pPr>
            <a:r>
              <a:rPr lang="en-US" sz="1100" b="1" spc="150" kern="0" dirty="0">
                <a:solidFill>
                  <a:srgbClr val="1E2761"/>
                </a:solidFill>
                <a:latin typeface="Calibri" pitchFamily="34" charset="0"/>
                <a:ea typeface="Calibri" pitchFamily="34" charset="-122"/>
                <a:cs typeface="Calibri" pitchFamily="34" charset="-120"/>
              </a:rPr>
              <a:t>CASE IN POINT</a:t>
            </a:r>
            <a:endParaRPr lang="en-US" sz="1100" dirty="0"/>
          </a:p>
        </p:txBody>
      </p:sp>
      <p:sp>
        <p:nvSpPr>
          <p:cNvPr id="9" name="Text 6"/>
          <p:cNvSpPr/>
          <p:nvPr/>
        </p:nvSpPr>
        <p:spPr>
          <a:xfrm>
            <a:off x="7772400" y="2304288"/>
            <a:ext cx="3566160" cy="2194560"/>
          </a:xfrm>
          <a:prstGeom prst="rect">
            <a:avLst/>
          </a:prstGeom>
          <a:noFill/>
          <a:ln/>
        </p:spPr>
        <p:txBody>
          <a:bodyPr wrap="square" lIns="0" tIns="0" rIns="0" bIns="0" rtlCol="0" anchor="t"/>
          <a:lstStyle/>
          <a:p>
            <a:pPr indent="0" marL="0">
              <a:lnSpc>
                <a:spcPct val="120000"/>
              </a:lnSpc>
              <a:buNone/>
            </a:pPr>
            <a:r>
              <a:rPr lang="en-US" sz="1600" i="1" dirty="0">
                <a:solidFill>
                  <a:srgbClr val="1E2761"/>
                </a:solidFill>
                <a:latin typeface="Cambria" pitchFamily="34" charset="0"/>
                <a:ea typeface="Cambria" pitchFamily="34" charset="-122"/>
                <a:cs typeface="Cambria" pitchFamily="34" charset="-120"/>
              </a:rPr>
              <a:t>A visa office that has seen fraud starts treating every applicant — including a tax-paying resident’s own elderly mother — as a suspect first and a person second.</a:t>
            </a:r>
            <a:endParaRPr lang="en-US" sz="1600" dirty="0"/>
          </a:p>
        </p:txBody>
      </p:sp>
      <p:sp>
        <p:nvSpPr>
          <p:cNvPr id="11" name="Text 7"/>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Interdisciplinary Insights  ·  4 / 10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E2761"/>
          </a:solidFill>
          <a:ln/>
          <a:effectLst>
            <a:outerShdw sx="100000" sy="100000" kx="0" ky="0" algn="bl" rotWithShape="0" blurRad="101600" dist="38100" dir="5400000">
              <a:srgbClr val="1E2761">
                <a:alpha val="18000"/>
              </a:srgbClr>
            </a:outerShdw>
          </a:effectLst>
        </p:spPr>
      </p:sp>
      <p:pic>
        <p:nvPicPr>
          <p:cNvPr id="3" name="Image 0" descr="/tmp/claude-0/-home-user-my-professional-documents/fde50819-489d-5f4b-b2af-3e5402494ffb/scratchpad/pptx_build/icons/tag.png">    </p:cNvPr>
          <p:cNvPicPr>
            <a:picLocks noChangeAspect="1"/>
          </p:cNvPicPr>
          <p:nvPr/>
        </p:nvPicPr>
        <p:blipFill>
          <a:blip r:embed="rId1"/>
          <a:stretch>
            <a:fillRect/>
          </a:stretch>
        </p:blipFill>
        <p:spPr>
          <a:xfrm>
            <a:off x="722376" y="630936"/>
            <a:ext cx="310896" cy="310896"/>
          </a:xfrm>
          <a:prstGeom prst="rect">
            <a:avLst/>
          </a:prstGeom>
        </p:spPr>
      </p:pic>
      <p:sp>
        <p:nvSpPr>
          <p:cNvPr id="4" name="Text 1"/>
          <p:cNvSpPr/>
          <p:nvPr/>
        </p:nvSpPr>
        <p:spPr>
          <a:xfrm>
            <a:off x="1371600" y="457200"/>
            <a:ext cx="7772400" cy="310896"/>
          </a:xfrm>
          <a:prstGeom prst="rect">
            <a:avLst/>
          </a:prstGeom>
          <a:noFill/>
          <a:ln/>
        </p:spPr>
        <p:txBody>
          <a:bodyPr wrap="square" lIns="0" tIns="0" rIns="0" bIns="0" rtlCol="0" anchor="b"/>
          <a:lstStyle/>
          <a:p>
            <a:pPr algn="l" indent="0" marL="0">
              <a:buNone/>
            </a:pPr>
            <a:r>
              <a:rPr lang="en-US" sz="1300" b="1" spc="200" kern="0" dirty="0">
                <a:solidFill>
                  <a:srgbClr val="F2B134"/>
                </a:solidFill>
                <a:latin typeface="Calibri" pitchFamily="34" charset="0"/>
                <a:ea typeface="Calibri" pitchFamily="34" charset="-122"/>
                <a:cs typeface="Calibri" pitchFamily="34" charset="-120"/>
              </a:rPr>
              <a:t>LINGUISTICS × PSYCHOLOGY</a:t>
            </a:r>
            <a:endParaRPr lang="en-US" sz="1300" dirty="0"/>
          </a:p>
        </p:txBody>
      </p:sp>
      <p:sp>
        <p:nvSpPr>
          <p:cNvPr id="5" name="Text 2"/>
          <p:cNvSpPr/>
          <p:nvPr/>
        </p:nvSpPr>
        <p:spPr>
          <a:xfrm>
            <a:off x="1371600" y="749808"/>
            <a:ext cx="10241280" cy="603504"/>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Why Some Brands Just Feel Right</a:t>
            </a:r>
            <a:endParaRPr lang="en-US" sz="3000" dirty="0"/>
          </a:p>
        </p:txBody>
      </p:sp>
      <p:sp>
        <p:nvSpPr>
          <p:cNvPr id="6" name="Text 3"/>
          <p:cNvSpPr/>
          <p:nvPr/>
        </p:nvSpPr>
        <p:spPr>
          <a:xfrm>
            <a:off x="548640" y="1600200"/>
            <a:ext cx="10241280" cy="3200400"/>
          </a:xfrm>
          <a:prstGeom prst="rect">
            <a:avLst/>
          </a:prstGeom>
          <a:noFill/>
          <a:ln/>
        </p:spPr>
        <p:txBody>
          <a:bodyPr wrap="square" lIns="0" tIns="0" rIns="0" bIns="0" rtlCol="0" anchor="t"/>
          <a:lstStyle/>
          <a:p>
            <a:pPr marL="228600" indent="-228600">
              <a:lnSpc>
                <a:spcPct val="125000"/>
              </a:lnSpc>
              <a:spcAft>
                <a:spcPts val="1400"/>
              </a:spcAft>
              <a:buSzPct val="100000"/>
              <a:buChar char="▪"/>
            </a:pPr>
            <a:r>
              <a:rPr lang="en-US" sz="1500" dirty="0">
                <a:solidFill>
                  <a:srgbClr val="1B1F2A"/>
                </a:solidFill>
                <a:latin typeface="Calibri" pitchFamily="34" charset="0"/>
                <a:ea typeface="Calibri" pitchFamily="34" charset="-122"/>
                <a:cs typeface="Calibri" pitchFamily="34" charset="-120"/>
              </a:rPr>
              <a:t>Phonetic branding: round sounds ("b," "o," "m") read as soft and friendly; sharp sounds ("k," "t," "x") read as fast and edgy — before anyone reads the logo</a:t>
            </a:r>
            <a:endParaRPr lang="en-US" sz="1500" dirty="0"/>
          </a:p>
          <a:p>
            <a:pPr marL="228600" indent="-228600">
              <a:lnSpc>
                <a:spcPct val="125000"/>
              </a:lnSpc>
              <a:spcAft>
                <a:spcPts val="1400"/>
              </a:spcAft>
              <a:buSzPct val="100000"/>
              <a:buChar char="▪"/>
            </a:pPr>
            <a:r>
              <a:rPr lang="en-US" sz="1500" dirty="0">
                <a:solidFill>
                  <a:srgbClr val="1B1F2A"/>
                </a:solidFill>
                <a:latin typeface="Calibri" pitchFamily="34" charset="0"/>
                <a:ea typeface="Calibri" pitchFamily="34" charset="-122"/>
                <a:cs typeface="Calibri" pitchFamily="34" charset="-120"/>
              </a:rPr>
              <a:t>The Mere Exposure Effect (Zajonc, 1968): repetition alone increases liking, independent of quality</a:t>
            </a:r>
            <a:endParaRPr lang="en-US" sz="1500" dirty="0"/>
          </a:p>
          <a:p>
            <a:pPr marL="228600" indent="-228600">
              <a:lnSpc>
                <a:spcPct val="125000"/>
              </a:lnSpc>
              <a:spcAft>
                <a:spcPts val="1400"/>
              </a:spcAft>
              <a:buSzPct val="100000"/>
              <a:buChar char="▪"/>
            </a:pPr>
            <a:r>
              <a:rPr lang="en-US" sz="1500" dirty="0">
                <a:solidFill>
                  <a:srgbClr val="1B1F2A"/>
                </a:solidFill>
                <a:latin typeface="Calibri" pitchFamily="34" charset="0"/>
                <a:ea typeface="Calibri" pitchFamily="34" charset="-122"/>
                <a:cs typeface="Calibri" pitchFamily="34" charset="-120"/>
              </a:rPr>
              <a:t>The fluency heuristic: names that are easier to pronounce are trusted more and remembered longer</a:t>
            </a:r>
            <a:endParaRPr lang="en-US" sz="1500" dirty="0"/>
          </a:p>
          <a:p>
            <a:pPr marL="228600" indent="-228600">
              <a:lnSpc>
                <a:spcPct val="125000"/>
              </a:lnSpc>
              <a:spcAft>
                <a:spcPts val="1400"/>
              </a:spcAft>
              <a:buSzPct val="100000"/>
              <a:buChar char="▪"/>
            </a:pPr>
            <a:r>
              <a:rPr lang="en-US" sz="1500" dirty="0">
                <a:solidFill>
                  <a:srgbClr val="1B1F2A"/>
                </a:solidFill>
                <a:latin typeface="Calibri" pitchFamily="34" charset="0"/>
                <a:ea typeface="Calibri" pitchFamily="34" charset="-122"/>
                <a:cs typeface="Calibri" pitchFamily="34" charset="-120"/>
              </a:rPr>
              <a:t>A rarely-taught link: the same sound-symbolism research behind the Bouba/Kiki effect quietly underpins the naming industry</a:t>
            </a:r>
            <a:endParaRPr lang="en-US" sz="1500" dirty="0"/>
          </a:p>
        </p:txBody>
      </p:sp>
      <p:sp>
        <p:nvSpPr>
          <p:cNvPr id="7" name="Shape 4"/>
          <p:cNvSpPr/>
          <p:nvPr/>
        </p:nvSpPr>
        <p:spPr>
          <a:xfrm>
            <a:off x="1005840" y="5029200"/>
            <a:ext cx="3230880" cy="1051560"/>
          </a:xfrm>
          <a:prstGeom prst="roundRect">
            <a:avLst>
              <a:gd name="adj" fmla="val 8696"/>
            </a:avLst>
          </a:prstGeom>
          <a:solidFill>
            <a:srgbClr val="1E2761"/>
          </a:solidFill>
          <a:ln/>
          <a:effectLst>
            <a:outerShdw sx="100000" sy="100000" kx="0" ky="0" algn="bl" rotWithShape="0" blurRad="101600" dist="38100" dir="5400000">
              <a:srgbClr val="1E2761">
                <a:alpha val="18000"/>
              </a:srgbClr>
            </a:outerShdw>
          </a:effectLst>
        </p:spPr>
      </p:sp>
      <p:sp>
        <p:nvSpPr>
          <p:cNvPr id="8" name="Text 5"/>
          <p:cNvSpPr/>
          <p:nvPr/>
        </p:nvSpPr>
        <p:spPr>
          <a:xfrm>
            <a:off x="1005840" y="5138928"/>
            <a:ext cx="3230880" cy="502920"/>
          </a:xfrm>
          <a:prstGeom prst="rect">
            <a:avLst/>
          </a:prstGeom>
          <a:noFill/>
          <a:ln/>
        </p:spPr>
        <p:txBody>
          <a:bodyPr wrap="square" lIns="0" tIns="0" rIns="0" bIns="0" rtlCol="0" anchor="ctr"/>
          <a:lstStyle/>
          <a:p>
            <a:pPr algn="ctr" indent="0" marL="0">
              <a:buNone/>
            </a:pPr>
            <a:r>
              <a:rPr lang="en-US" sz="2400" b="1" dirty="0">
                <a:solidFill>
                  <a:srgbClr val="F2B134"/>
                </a:solidFill>
                <a:latin typeface="Cambria" pitchFamily="34" charset="0"/>
                <a:ea typeface="Cambria" pitchFamily="34" charset="-122"/>
                <a:cs typeface="Cambria" pitchFamily="34" charset="-120"/>
              </a:rPr>
              <a:t>Bouba</a:t>
            </a:r>
            <a:endParaRPr lang="en-US" sz="2400" dirty="0"/>
          </a:p>
        </p:txBody>
      </p:sp>
      <p:sp>
        <p:nvSpPr>
          <p:cNvPr id="9" name="Text 6"/>
          <p:cNvSpPr/>
          <p:nvPr/>
        </p:nvSpPr>
        <p:spPr>
          <a:xfrm>
            <a:off x="1097280" y="5650992"/>
            <a:ext cx="3048000" cy="384048"/>
          </a:xfrm>
          <a:prstGeom prst="rect">
            <a:avLst/>
          </a:prstGeom>
          <a:noFill/>
          <a:ln/>
        </p:spPr>
        <p:txBody>
          <a:bodyPr wrap="square" lIns="0" tIns="0" rIns="0" bIns="0" rtlCol="0" anchor="t"/>
          <a:lstStyle/>
          <a:p>
            <a:pPr algn="ctr" indent="0" marL="0">
              <a:buNone/>
            </a:pPr>
            <a:r>
              <a:rPr lang="en-US" sz="1050" dirty="0">
                <a:solidFill>
                  <a:srgbClr val="FFFFFF"/>
                </a:solidFill>
                <a:latin typeface="Calibri" pitchFamily="34" charset="0"/>
                <a:ea typeface="Calibri" pitchFamily="34" charset="-122"/>
                <a:cs typeface="Calibri" pitchFamily="34" charset="-120"/>
              </a:rPr>
              <a:t>Soft, round, trustworthy</a:t>
            </a:r>
            <a:endParaRPr lang="en-US" sz="1050" dirty="0"/>
          </a:p>
        </p:txBody>
      </p:sp>
      <p:sp>
        <p:nvSpPr>
          <p:cNvPr id="10" name="Shape 7"/>
          <p:cNvSpPr/>
          <p:nvPr/>
        </p:nvSpPr>
        <p:spPr>
          <a:xfrm>
            <a:off x="4511040" y="5029200"/>
            <a:ext cx="3230880" cy="1051560"/>
          </a:xfrm>
          <a:prstGeom prst="roundRect">
            <a:avLst>
              <a:gd name="adj" fmla="val 8696"/>
            </a:avLst>
          </a:prstGeom>
          <a:solidFill>
            <a:srgbClr val="1E2761"/>
          </a:solidFill>
          <a:ln/>
          <a:effectLst>
            <a:outerShdw sx="100000" sy="100000" kx="0" ky="0" algn="bl" rotWithShape="0" blurRad="101600" dist="38100" dir="5400000">
              <a:srgbClr val="1E2761">
                <a:alpha val="18000"/>
              </a:srgbClr>
            </a:outerShdw>
          </a:effectLst>
        </p:spPr>
      </p:sp>
      <p:sp>
        <p:nvSpPr>
          <p:cNvPr id="11" name="Text 8"/>
          <p:cNvSpPr/>
          <p:nvPr/>
        </p:nvSpPr>
        <p:spPr>
          <a:xfrm>
            <a:off x="4511040" y="5138928"/>
            <a:ext cx="3230880" cy="502920"/>
          </a:xfrm>
          <a:prstGeom prst="rect">
            <a:avLst/>
          </a:prstGeom>
          <a:noFill/>
          <a:ln/>
        </p:spPr>
        <p:txBody>
          <a:bodyPr wrap="square" lIns="0" tIns="0" rIns="0" bIns="0" rtlCol="0" anchor="ctr"/>
          <a:lstStyle/>
          <a:p>
            <a:pPr algn="ctr" indent="0" marL="0">
              <a:buNone/>
            </a:pPr>
            <a:r>
              <a:rPr lang="en-US" sz="2400" b="1" dirty="0">
                <a:solidFill>
                  <a:srgbClr val="F2B134"/>
                </a:solidFill>
                <a:latin typeface="Cambria" pitchFamily="34" charset="0"/>
                <a:ea typeface="Cambria" pitchFamily="34" charset="-122"/>
                <a:cs typeface="Cambria" pitchFamily="34" charset="-120"/>
              </a:rPr>
              <a:t>Kiki</a:t>
            </a:r>
            <a:endParaRPr lang="en-US" sz="2400" dirty="0"/>
          </a:p>
        </p:txBody>
      </p:sp>
      <p:sp>
        <p:nvSpPr>
          <p:cNvPr id="12" name="Text 9"/>
          <p:cNvSpPr/>
          <p:nvPr/>
        </p:nvSpPr>
        <p:spPr>
          <a:xfrm>
            <a:off x="4602480" y="5650992"/>
            <a:ext cx="3048000" cy="384048"/>
          </a:xfrm>
          <a:prstGeom prst="rect">
            <a:avLst/>
          </a:prstGeom>
          <a:noFill/>
          <a:ln/>
        </p:spPr>
        <p:txBody>
          <a:bodyPr wrap="square" lIns="0" tIns="0" rIns="0" bIns="0" rtlCol="0" anchor="t"/>
          <a:lstStyle/>
          <a:p>
            <a:pPr algn="ctr" indent="0" marL="0">
              <a:buNone/>
            </a:pPr>
            <a:r>
              <a:rPr lang="en-US" sz="1050" dirty="0">
                <a:solidFill>
                  <a:srgbClr val="FFFFFF"/>
                </a:solidFill>
                <a:latin typeface="Calibri" pitchFamily="34" charset="0"/>
                <a:ea typeface="Calibri" pitchFamily="34" charset="-122"/>
                <a:cs typeface="Calibri" pitchFamily="34" charset="-120"/>
              </a:rPr>
              <a:t>Sharp, fast, energetic</a:t>
            </a:r>
            <a:endParaRPr lang="en-US" sz="1050" dirty="0"/>
          </a:p>
        </p:txBody>
      </p:sp>
      <p:sp>
        <p:nvSpPr>
          <p:cNvPr id="13" name="Shape 10"/>
          <p:cNvSpPr/>
          <p:nvPr/>
        </p:nvSpPr>
        <p:spPr>
          <a:xfrm>
            <a:off x="8016240" y="5029200"/>
            <a:ext cx="3230880" cy="1051560"/>
          </a:xfrm>
          <a:prstGeom prst="roundRect">
            <a:avLst>
              <a:gd name="adj" fmla="val 8696"/>
            </a:avLst>
          </a:prstGeom>
          <a:solidFill>
            <a:srgbClr val="1E2761"/>
          </a:solidFill>
          <a:ln/>
          <a:effectLst>
            <a:outerShdw sx="100000" sy="100000" kx="0" ky="0" algn="bl" rotWithShape="0" blurRad="101600" dist="38100" dir="5400000">
              <a:srgbClr val="1E2761">
                <a:alpha val="18000"/>
              </a:srgbClr>
            </a:outerShdw>
          </a:effectLst>
        </p:spPr>
      </p:sp>
      <p:sp>
        <p:nvSpPr>
          <p:cNvPr id="14" name="Text 11"/>
          <p:cNvSpPr/>
          <p:nvPr/>
        </p:nvSpPr>
        <p:spPr>
          <a:xfrm>
            <a:off x="8016240" y="5138928"/>
            <a:ext cx="3230880" cy="502920"/>
          </a:xfrm>
          <a:prstGeom prst="rect">
            <a:avLst/>
          </a:prstGeom>
          <a:noFill/>
          <a:ln/>
        </p:spPr>
        <p:txBody>
          <a:bodyPr wrap="square" lIns="0" tIns="0" rIns="0" bIns="0" rtlCol="0" anchor="ctr"/>
          <a:lstStyle/>
          <a:p>
            <a:pPr algn="ctr" indent="0" marL="0">
              <a:buNone/>
            </a:pPr>
            <a:r>
              <a:rPr lang="en-US" sz="2400" b="1" dirty="0">
                <a:solidFill>
                  <a:srgbClr val="F2B134"/>
                </a:solidFill>
                <a:latin typeface="Cambria" pitchFamily="34" charset="0"/>
                <a:ea typeface="Cambria" pitchFamily="34" charset="-122"/>
                <a:cs typeface="Cambria" pitchFamily="34" charset="-120"/>
              </a:rPr>
              <a:t>Fluency</a:t>
            </a:r>
            <a:endParaRPr lang="en-US" sz="2400" dirty="0"/>
          </a:p>
        </p:txBody>
      </p:sp>
      <p:sp>
        <p:nvSpPr>
          <p:cNvPr id="15" name="Text 12"/>
          <p:cNvSpPr/>
          <p:nvPr/>
        </p:nvSpPr>
        <p:spPr>
          <a:xfrm>
            <a:off x="8107680" y="5650992"/>
            <a:ext cx="3048000" cy="384048"/>
          </a:xfrm>
          <a:prstGeom prst="rect">
            <a:avLst/>
          </a:prstGeom>
          <a:noFill/>
          <a:ln/>
        </p:spPr>
        <p:txBody>
          <a:bodyPr wrap="square" lIns="0" tIns="0" rIns="0" bIns="0" rtlCol="0" anchor="t"/>
          <a:lstStyle/>
          <a:p>
            <a:pPr algn="ctr" indent="0" marL="0">
              <a:buNone/>
            </a:pPr>
            <a:r>
              <a:rPr lang="en-US" sz="1050" dirty="0">
                <a:solidFill>
                  <a:srgbClr val="FFFFFF"/>
                </a:solidFill>
                <a:latin typeface="Calibri" pitchFamily="34" charset="0"/>
                <a:ea typeface="Calibri" pitchFamily="34" charset="-122"/>
                <a:cs typeface="Calibri" pitchFamily="34" charset="-120"/>
              </a:rPr>
              <a:t>Easy to say = easy to like</a:t>
            </a:r>
            <a:endParaRPr lang="en-US" sz="1050" dirty="0"/>
          </a:p>
        </p:txBody>
      </p:sp>
      <p:sp>
        <p:nvSpPr>
          <p:cNvPr id="17" name="Text 13"/>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Interdisciplinary Insights  ·  5 / 10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E2761"/>
          </a:solidFill>
          <a:ln/>
          <a:effectLst>
            <a:outerShdw sx="100000" sy="100000" kx="0" ky="0" algn="bl" rotWithShape="0" blurRad="101600" dist="38100" dir="5400000">
              <a:srgbClr val="1E2761">
                <a:alpha val="18000"/>
              </a:srgbClr>
            </a:outerShdw>
          </a:effectLst>
        </p:spPr>
      </p:sp>
      <p:pic>
        <p:nvPicPr>
          <p:cNvPr id="3" name="Image 0" descr="/tmp/claude-0/-home-user-my-professional-documents/fde50819-489d-5f4b-b2af-3e5402494ffb/scratchpad/pptx_build/icons/cpu.png">    </p:cNvPr>
          <p:cNvPicPr>
            <a:picLocks noChangeAspect="1"/>
          </p:cNvPicPr>
          <p:nvPr/>
        </p:nvPicPr>
        <p:blipFill>
          <a:blip r:embed="rId1"/>
          <a:stretch>
            <a:fillRect/>
          </a:stretch>
        </p:blipFill>
        <p:spPr>
          <a:xfrm>
            <a:off x="722376" y="630936"/>
            <a:ext cx="310896" cy="310896"/>
          </a:xfrm>
          <a:prstGeom prst="rect">
            <a:avLst/>
          </a:prstGeom>
        </p:spPr>
      </p:pic>
      <p:sp>
        <p:nvSpPr>
          <p:cNvPr id="4" name="Text 1"/>
          <p:cNvSpPr/>
          <p:nvPr/>
        </p:nvSpPr>
        <p:spPr>
          <a:xfrm>
            <a:off x="1371600" y="457200"/>
            <a:ext cx="7772400" cy="310896"/>
          </a:xfrm>
          <a:prstGeom prst="rect">
            <a:avLst/>
          </a:prstGeom>
          <a:noFill/>
          <a:ln/>
        </p:spPr>
        <p:txBody>
          <a:bodyPr wrap="square" lIns="0" tIns="0" rIns="0" bIns="0" rtlCol="0" anchor="b"/>
          <a:lstStyle/>
          <a:p>
            <a:pPr algn="l" indent="0" marL="0">
              <a:buNone/>
            </a:pPr>
            <a:r>
              <a:rPr lang="en-US" sz="1300" b="1" spc="200" kern="0" dirty="0">
                <a:solidFill>
                  <a:srgbClr val="F2B134"/>
                </a:solidFill>
                <a:latin typeface="Calibri" pitchFamily="34" charset="0"/>
                <a:ea typeface="Calibri" pitchFamily="34" charset="-122"/>
                <a:cs typeface="Calibri" pitchFamily="34" charset="-120"/>
              </a:rPr>
              <a:t>ARTIFICIAL INTELLIGENCE</a:t>
            </a:r>
            <a:endParaRPr lang="en-US" sz="1300" dirty="0"/>
          </a:p>
        </p:txBody>
      </p:sp>
      <p:sp>
        <p:nvSpPr>
          <p:cNvPr id="5" name="Text 2"/>
          <p:cNvSpPr/>
          <p:nvPr/>
        </p:nvSpPr>
        <p:spPr>
          <a:xfrm>
            <a:off x="1371600" y="749808"/>
            <a:ext cx="10241280" cy="603504"/>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How a Language Model Actually Works</a:t>
            </a:r>
            <a:endParaRPr lang="en-US" sz="3000" dirty="0"/>
          </a:p>
        </p:txBody>
      </p:sp>
      <p:sp>
        <p:nvSpPr>
          <p:cNvPr id="6" name="Text 3"/>
          <p:cNvSpPr/>
          <p:nvPr/>
        </p:nvSpPr>
        <p:spPr>
          <a:xfrm>
            <a:off x="548640" y="1600200"/>
            <a:ext cx="6492240" cy="4572000"/>
          </a:xfrm>
          <a:prstGeom prst="rect">
            <a:avLst/>
          </a:prstGeom>
          <a:noFill/>
          <a:ln/>
        </p:spPr>
        <p:txBody>
          <a:bodyPr wrap="square" lIns="0" tIns="0" rIns="0" bIns="0" rtlCol="0" anchor="t"/>
          <a:lstStyle/>
          <a:p>
            <a:pPr marL="228600" indent="-228600">
              <a:lnSpc>
                <a:spcPct val="125000"/>
              </a:lnSpc>
              <a:spcAft>
                <a:spcPts val="1400"/>
              </a:spcAft>
              <a:buSzPct val="100000"/>
              <a:buChar char="▪"/>
            </a:pPr>
            <a:r>
              <a:rPr lang="en-US" sz="1500" dirty="0">
                <a:solidFill>
                  <a:srgbClr val="1B1F2A"/>
                </a:solidFill>
                <a:latin typeface="Calibri" pitchFamily="34" charset="0"/>
                <a:ea typeface="Calibri" pitchFamily="34" charset="-122"/>
                <a:cs typeface="Calibri" pitchFamily="34" charset="-120"/>
              </a:rPr>
              <a:t>Tokenization: text is broken into tens of thousands of sub-word units before a model ever sees a "word"</a:t>
            </a:r>
            <a:endParaRPr lang="en-US" sz="1500" dirty="0"/>
          </a:p>
          <a:p>
            <a:pPr marL="228600" indent="-228600">
              <a:lnSpc>
                <a:spcPct val="125000"/>
              </a:lnSpc>
              <a:spcAft>
                <a:spcPts val="1400"/>
              </a:spcAft>
              <a:buSzPct val="100000"/>
              <a:buChar char="▪"/>
            </a:pPr>
            <a:r>
              <a:rPr lang="en-US" sz="1500" dirty="0">
                <a:solidFill>
                  <a:srgbClr val="1B1F2A"/>
                </a:solidFill>
                <a:latin typeface="Calibri" pitchFamily="34" charset="0"/>
                <a:ea typeface="Calibri" pitchFamily="34" charset="-122"/>
                <a:cs typeface="Calibri" pitchFamily="34" charset="-120"/>
              </a:rPr>
              <a:t>Self-attention: transformers weigh every token against every other token in parallel, not left-to-right like a human reader</a:t>
            </a:r>
            <a:endParaRPr lang="en-US" sz="1500" dirty="0"/>
          </a:p>
          <a:p>
            <a:pPr marL="228600" indent="-228600">
              <a:lnSpc>
                <a:spcPct val="125000"/>
              </a:lnSpc>
              <a:spcAft>
                <a:spcPts val="1400"/>
              </a:spcAft>
              <a:buSzPct val="100000"/>
              <a:buChar char="▪"/>
            </a:pPr>
            <a:r>
              <a:rPr lang="en-US" sz="1500" dirty="0">
                <a:solidFill>
                  <a:srgbClr val="1B1F2A"/>
                </a:solidFill>
                <a:latin typeface="Calibri" pitchFamily="34" charset="0"/>
                <a:ea typeface="Calibri" pitchFamily="34" charset="-122"/>
                <a:cs typeface="Calibri" pitchFamily="34" charset="-120"/>
              </a:rPr>
              <a:t>Emergent abilities: skills such as multi-step reasoning appear suddenly at scale, without being explicitly trained</a:t>
            </a:r>
            <a:endParaRPr lang="en-US" sz="1500" dirty="0"/>
          </a:p>
          <a:p>
            <a:pPr marL="228600" indent="-228600">
              <a:lnSpc>
                <a:spcPct val="125000"/>
              </a:lnSpc>
              <a:spcAft>
                <a:spcPts val="1400"/>
              </a:spcAft>
              <a:buSzPct val="100000"/>
              <a:buChar char="▪"/>
            </a:pPr>
            <a:r>
              <a:rPr lang="en-US" sz="1500" dirty="0">
                <a:solidFill>
                  <a:srgbClr val="1B1F2A"/>
                </a:solidFill>
                <a:latin typeface="Calibri" pitchFamily="34" charset="0"/>
                <a:ea typeface="Calibri" pitchFamily="34" charset="-122"/>
                <a:cs typeface="Calibri" pitchFamily="34" charset="-120"/>
              </a:rPr>
              <a:t>Fine-tuning &amp; alignment: raw next-token prediction is reshaped afterward toward human preferences and safety</a:t>
            </a:r>
            <a:endParaRPr lang="en-US" sz="1500" dirty="0"/>
          </a:p>
        </p:txBody>
      </p:sp>
      <p:sp>
        <p:nvSpPr>
          <p:cNvPr id="7" name="Shape 4"/>
          <p:cNvSpPr/>
          <p:nvPr/>
        </p:nvSpPr>
        <p:spPr>
          <a:xfrm>
            <a:off x="7498080" y="1737360"/>
            <a:ext cx="4114800" cy="3017520"/>
          </a:xfrm>
          <a:prstGeom prst="roundRect">
            <a:avLst>
              <a:gd name="adj" fmla="val 3636"/>
            </a:avLst>
          </a:prstGeom>
          <a:solidFill>
            <a:srgbClr val="CADCFC"/>
          </a:solidFill>
          <a:ln/>
          <a:effectLst>
            <a:outerShdw sx="100000" sy="100000" kx="0" ky="0" algn="bl" rotWithShape="0" blurRad="101600" dist="38100" dir="5400000">
              <a:srgbClr val="1E2761">
                <a:alpha val="18000"/>
              </a:srgbClr>
            </a:outerShdw>
          </a:effectLst>
        </p:spPr>
      </p:sp>
      <p:sp>
        <p:nvSpPr>
          <p:cNvPr id="8" name="Text 5"/>
          <p:cNvSpPr/>
          <p:nvPr/>
        </p:nvSpPr>
        <p:spPr>
          <a:xfrm>
            <a:off x="7772400" y="1993392"/>
            <a:ext cx="3566160" cy="274320"/>
          </a:xfrm>
          <a:prstGeom prst="rect">
            <a:avLst/>
          </a:prstGeom>
          <a:noFill/>
          <a:ln/>
        </p:spPr>
        <p:txBody>
          <a:bodyPr wrap="square" lIns="0" tIns="0" rIns="0" bIns="0" rtlCol="0" anchor="ctr"/>
          <a:lstStyle/>
          <a:p>
            <a:pPr indent="0" marL="0">
              <a:buNone/>
            </a:pPr>
            <a:r>
              <a:rPr lang="en-US" sz="1100" b="1" spc="150" kern="0" dirty="0">
                <a:solidFill>
                  <a:srgbClr val="1E2761"/>
                </a:solidFill>
                <a:latin typeface="Calibri" pitchFamily="34" charset="0"/>
                <a:ea typeface="Calibri" pitchFamily="34" charset="-122"/>
                <a:cs typeface="Calibri" pitchFamily="34" charset="-120"/>
              </a:rPr>
              <a:t>THE ALIGNMENT PROBLEM</a:t>
            </a:r>
            <a:endParaRPr lang="en-US" sz="1100" dirty="0"/>
          </a:p>
        </p:txBody>
      </p:sp>
      <p:sp>
        <p:nvSpPr>
          <p:cNvPr id="9" name="Text 6"/>
          <p:cNvSpPr/>
          <p:nvPr/>
        </p:nvSpPr>
        <p:spPr>
          <a:xfrm>
            <a:off x="7772400" y="2304288"/>
            <a:ext cx="3566160" cy="2194560"/>
          </a:xfrm>
          <a:prstGeom prst="rect">
            <a:avLst/>
          </a:prstGeom>
          <a:noFill/>
          <a:ln/>
        </p:spPr>
        <p:txBody>
          <a:bodyPr wrap="square" lIns="0" tIns="0" rIns="0" bIns="0" rtlCol="0" anchor="t"/>
          <a:lstStyle/>
          <a:p>
            <a:pPr indent="0" marL="0">
              <a:lnSpc>
                <a:spcPct val="120000"/>
              </a:lnSpc>
              <a:buNone/>
            </a:pPr>
            <a:r>
              <a:rPr lang="en-US" sz="1600" i="1" dirty="0">
                <a:solidFill>
                  <a:srgbClr val="1E2761"/>
                </a:solidFill>
                <a:latin typeface="Cambria" pitchFamily="34" charset="0"/>
                <a:ea typeface="Cambria" pitchFamily="34" charset="-122"/>
                <a:cs typeface="Cambria" pitchFamily="34" charset="-120"/>
              </a:rPr>
              <a:t>A model optimizes exactly what we specify — not necessarily what we meant. The gap between the two is the central challenge of modern AI safety.</a:t>
            </a:r>
            <a:endParaRPr lang="en-US" sz="1600" dirty="0"/>
          </a:p>
        </p:txBody>
      </p:sp>
      <p:sp>
        <p:nvSpPr>
          <p:cNvPr id="11" name="Text 7"/>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Interdisciplinary Insights  ·  6 / 10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E2761"/>
          </a:solidFill>
          <a:ln/>
          <a:effectLst>
            <a:outerShdw sx="100000" sy="100000" kx="0" ky="0" algn="bl" rotWithShape="0" blurRad="101600" dist="38100" dir="5400000">
              <a:srgbClr val="1E2761">
                <a:alpha val="18000"/>
              </a:srgbClr>
            </a:outerShdw>
          </a:effectLst>
        </p:spPr>
      </p:sp>
      <p:pic>
        <p:nvPicPr>
          <p:cNvPr id="3" name="Image 0" descr="/tmp/claude-0/-home-user-my-professional-documents/fde50819-489d-5f4b-b2af-3e5402494ffb/scratchpad/pptx_build/icons/atom.png">    </p:cNvPr>
          <p:cNvPicPr>
            <a:picLocks noChangeAspect="1"/>
          </p:cNvPicPr>
          <p:nvPr/>
        </p:nvPicPr>
        <p:blipFill>
          <a:blip r:embed="rId1"/>
          <a:stretch>
            <a:fillRect/>
          </a:stretch>
        </p:blipFill>
        <p:spPr>
          <a:xfrm>
            <a:off x="722376" y="630936"/>
            <a:ext cx="310896" cy="310896"/>
          </a:xfrm>
          <a:prstGeom prst="rect">
            <a:avLst/>
          </a:prstGeom>
        </p:spPr>
      </p:pic>
      <p:sp>
        <p:nvSpPr>
          <p:cNvPr id="4" name="Text 1"/>
          <p:cNvSpPr/>
          <p:nvPr/>
        </p:nvSpPr>
        <p:spPr>
          <a:xfrm>
            <a:off x="1371600" y="457200"/>
            <a:ext cx="7772400" cy="310896"/>
          </a:xfrm>
          <a:prstGeom prst="rect">
            <a:avLst/>
          </a:prstGeom>
          <a:noFill/>
          <a:ln/>
        </p:spPr>
        <p:txBody>
          <a:bodyPr wrap="square" lIns="0" tIns="0" rIns="0" bIns="0" rtlCol="0" anchor="b"/>
          <a:lstStyle/>
          <a:p>
            <a:pPr algn="l" indent="0" marL="0">
              <a:buNone/>
            </a:pPr>
            <a:r>
              <a:rPr lang="en-US" sz="1300" b="1" spc="200" kern="0" dirty="0">
                <a:solidFill>
                  <a:srgbClr val="F2B134"/>
                </a:solidFill>
                <a:latin typeface="Calibri" pitchFamily="34" charset="0"/>
                <a:ea typeface="Calibri" pitchFamily="34" charset="-122"/>
                <a:cs typeface="Calibri" pitchFamily="34" charset="-120"/>
              </a:rPr>
              <a:t>PHYSICS</a:t>
            </a:r>
            <a:endParaRPr lang="en-US" sz="1300" dirty="0"/>
          </a:p>
        </p:txBody>
      </p:sp>
      <p:sp>
        <p:nvSpPr>
          <p:cNvPr id="5" name="Text 2"/>
          <p:cNvSpPr/>
          <p:nvPr/>
        </p:nvSpPr>
        <p:spPr>
          <a:xfrm>
            <a:off x="1371600" y="749808"/>
            <a:ext cx="10241280" cy="603504"/>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Reality Is Stranger Than It Looks</a:t>
            </a:r>
            <a:endParaRPr lang="en-US" sz="3000" dirty="0"/>
          </a:p>
        </p:txBody>
      </p:sp>
      <p:sp>
        <p:nvSpPr>
          <p:cNvPr id="6" name="Text 3"/>
          <p:cNvSpPr/>
          <p:nvPr/>
        </p:nvSpPr>
        <p:spPr>
          <a:xfrm>
            <a:off x="548640" y="1600200"/>
            <a:ext cx="10241280" cy="3200400"/>
          </a:xfrm>
          <a:prstGeom prst="rect">
            <a:avLst/>
          </a:prstGeom>
          <a:noFill/>
          <a:ln/>
        </p:spPr>
        <p:txBody>
          <a:bodyPr wrap="square" lIns="0" tIns="0" rIns="0" bIns="0" rtlCol="0" anchor="t"/>
          <a:lstStyle/>
          <a:p>
            <a:pPr marL="228600" indent="-228600">
              <a:lnSpc>
                <a:spcPct val="125000"/>
              </a:lnSpc>
              <a:spcAft>
                <a:spcPts val="1400"/>
              </a:spcAft>
              <a:buSzPct val="100000"/>
              <a:buChar char="▪"/>
            </a:pPr>
            <a:r>
              <a:rPr lang="en-US" sz="1500" dirty="0">
                <a:solidFill>
                  <a:srgbClr val="1B1F2A"/>
                </a:solidFill>
                <a:latin typeface="Calibri" pitchFamily="34" charset="0"/>
                <a:ea typeface="Calibri" pitchFamily="34" charset="-122"/>
                <a:cs typeface="Calibri" pitchFamily="34" charset="-120"/>
              </a:rPr>
              <a:t>Superposition: a quantum particle holds multiple possible states at once, until it is measured</a:t>
            </a:r>
            <a:endParaRPr lang="en-US" sz="1500" dirty="0"/>
          </a:p>
          <a:p>
            <a:pPr marL="228600" indent="-228600">
              <a:lnSpc>
                <a:spcPct val="125000"/>
              </a:lnSpc>
              <a:spcAft>
                <a:spcPts val="1400"/>
              </a:spcAft>
              <a:buSzPct val="100000"/>
              <a:buChar char="▪"/>
            </a:pPr>
            <a:r>
              <a:rPr lang="en-US" sz="1500" dirty="0">
                <a:solidFill>
                  <a:srgbClr val="1B1F2A"/>
                </a:solidFill>
                <a:latin typeface="Calibri" pitchFamily="34" charset="0"/>
                <a:ea typeface="Calibri" pitchFamily="34" charset="-122"/>
                <a:cs typeface="Calibri" pitchFamily="34" charset="-120"/>
              </a:rPr>
              <a:t>The double-slit experiment: the very same particle behaves as a wave or as a particle, depending on whether it is observed</a:t>
            </a:r>
            <a:endParaRPr lang="en-US" sz="1500" dirty="0"/>
          </a:p>
          <a:p>
            <a:pPr marL="228600" indent="-228600">
              <a:lnSpc>
                <a:spcPct val="125000"/>
              </a:lnSpc>
              <a:spcAft>
                <a:spcPts val="1400"/>
              </a:spcAft>
              <a:buSzPct val="100000"/>
              <a:buChar char="▪"/>
            </a:pPr>
            <a:r>
              <a:rPr lang="en-US" sz="1500" dirty="0">
                <a:solidFill>
                  <a:srgbClr val="1B1F2A"/>
                </a:solidFill>
                <a:latin typeface="Calibri" pitchFamily="34" charset="0"/>
                <a:ea typeface="Calibri" pitchFamily="34" charset="-122"/>
                <a:cs typeface="Calibri" pitchFamily="34" charset="-120"/>
              </a:rPr>
              <a:t>Entanglement: linked particles influence each other’s measured state instantly, regardless of the distance between them</a:t>
            </a:r>
            <a:endParaRPr lang="en-US" sz="1500" dirty="0"/>
          </a:p>
          <a:p>
            <a:pPr marL="228600" indent="-228600">
              <a:lnSpc>
                <a:spcPct val="125000"/>
              </a:lnSpc>
              <a:spcAft>
                <a:spcPts val="1400"/>
              </a:spcAft>
              <a:buSzPct val="100000"/>
              <a:buChar char="▪"/>
            </a:pPr>
            <a:r>
              <a:rPr lang="en-US" sz="1500" dirty="0">
                <a:solidFill>
                  <a:srgbClr val="1B1F2A"/>
                </a:solidFill>
                <a:latin typeface="Calibri" pitchFamily="34" charset="0"/>
                <a:ea typeface="Calibri" pitchFamily="34" charset="-122"/>
                <a:cs typeface="Calibri" pitchFamily="34" charset="-120"/>
              </a:rPr>
              <a:t>Quantum tunneling: particles cross energy barriers that classical physics says they shouldn’t be able to — it is the reason the sun shines</a:t>
            </a:r>
            <a:endParaRPr lang="en-US" sz="1500" dirty="0"/>
          </a:p>
        </p:txBody>
      </p:sp>
      <p:sp>
        <p:nvSpPr>
          <p:cNvPr id="7" name="Shape 4"/>
          <p:cNvSpPr/>
          <p:nvPr/>
        </p:nvSpPr>
        <p:spPr>
          <a:xfrm>
            <a:off x="1005840" y="5029200"/>
            <a:ext cx="3230880" cy="1051560"/>
          </a:xfrm>
          <a:prstGeom prst="roundRect">
            <a:avLst>
              <a:gd name="adj" fmla="val 8696"/>
            </a:avLst>
          </a:prstGeom>
          <a:solidFill>
            <a:srgbClr val="1E2761"/>
          </a:solidFill>
          <a:ln/>
          <a:effectLst>
            <a:outerShdw sx="100000" sy="100000" kx="0" ky="0" algn="bl" rotWithShape="0" blurRad="101600" dist="38100" dir="5400000">
              <a:srgbClr val="1E2761">
                <a:alpha val="18000"/>
              </a:srgbClr>
            </a:outerShdw>
          </a:effectLst>
        </p:spPr>
      </p:sp>
      <p:sp>
        <p:nvSpPr>
          <p:cNvPr id="8" name="Text 5"/>
          <p:cNvSpPr/>
          <p:nvPr/>
        </p:nvSpPr>
        <p:spPr>
          <a:xfrm>
            <a:off x="1005840" y="5138928"/>
            <a:ext cx="3230880" cy="502920"/>
          </a:xfrm>
          <a:prstGeom prst="rect">
            <a:avLst/>
          </a:prstGeom>
          <a:noFill/>
          <a:ln/>
        </p:spPr>
        <p:txBody>
          <a:bodyPr wrap="square" lIns="0" tIns="0" rIns="0" bIns="0" rtlCol="0" anchor="ctr"/>
          <a:lstStyle/>
          <a:p>
            <a:pPr algn="ctr" indent="0" marL="0">
              <a:buNone/>
            </a:pPr>
            <a:r>
              <a:rPr lang="en-US" sz="2400" b="1" dirty="0">
                <a:solidFill>
                  <a:srgbClr val="F2B134"/>
                </a:solidFill>
                <a:latin typeface="Cambria" pitchFamily="34" charset="0"/>
                <a:ea typeface="Cambria" pitchFamily="34" charset="-122"/>
                <a:cs typeface="Cambria" pitchFamily="34" charset="-120"/>
              </a:rPr>
              <a:t>2</a:t>
            </a:r>
            <a:endParaRPr lang="en-US" sz="2400" dirty="0"/>
          </a:p>
        </p:txBody>
      </p:sp>
      <p:sp>
        <p:nvSpPr>
          <p:cNvPr id="9" name="Text 6"/>
          <p:cNvSpPr/>
          <p:nvPr/>
        </p:nvSpPr>
        <p:spPr>
          <a:xfrm>
            <a:off x="1097280" y="5650992"/>
            <a:ext cx="3048000" cy="384048"/>
          </a:xfrm>
          <a:prstGeom prst="rect">
            <a:avLst/>
          </a:prstGeom>
          <a:noFill/>
          <a:ln/>
        </p:spPr>
        <p:txBody>
          <a:bodyPr wrap="square" lIns="0" tIns="0" rIns="0" bIns="0" rtlCol="0" anchor="t"/>
          <a:lstStyle/>
          <a:p>
            <a:pPr algn="ctr" indent="0" marL="0">
              <a:buNone/>
            </a:pPr>
            <a:r>
              <a:rPr lang="en-US" sz="1050" dirty="0">
                <a:solidFill>
                  <a:srgbClr val="FFFFFF"/>
                </a:solidFill>
                <a:latin typeface="Calibri" pitchFamily="34" charset="0"/>
                <a:ea typeface="Calibri" pitchFamily="34" charset="-122"/>
                <a:cs typeface="Calibri" pitchFamily="34" charset="-120"/>
              </a:rPr>
              <a:t>States at once (superposition)</a:t>
            </a:r>
            <a:endParaRPr lang="en-US" sz="1050" dirty="0"/>
          </a:p>
        </p:txBody>
      </p:sp>
      <p:sp>
        <p:nvSpPr>
          <p:cNvPr id="10" name="Shape 7"/>
          <p:cNvSpPr/>
          <p:nvPr/>
        </p:nvSpPr>
        <p:spPr>
          <a:xfrm>
            <a:off x="4511040" y="5029200"/>
            <a:ext cx="3230880" cy="1051560"/>
          </a:xfrm>
          <a:prstGeom prst="roundRect">
            <a:avLst>
              <a:gd name="adj" fmla="val 8696"/>
            </a:avLst>
          </a:prstGeom>
          <a:solidFill>
            <a:srgbClr val="1E2761"/>
          </a:solidFill>
          <a:ln/>
          <a:effectLst>
            <a:outerShdw sx="100000" sy="100000" kx="0" ky="0" algn="bl" rotWithShape="0" blurRad="101600" dist="38100" dir="5400000">
              <a:srgbClr val="1E2761">
                <a:alpha val="18000"/>
              </a:srgbClr>
            </a:outerShdw>
          </a:effectLst>
        </p:spPr>
      </p:sp>
      <p:sp>
        <p:nvSpPr>
          <p:cNvPr id="11" name="Text 8"/>
          <p:cNvSpPr/>
          <p:nvPr/>
        </p:nvSpPr>
        <p:spPr>
          <a:xfrm>
            <a:off x="4511040" y="5138928"/>
            <a:ext cx="3230880" cy="502920"/>
          </a:xfrm>
          <a:prstGeom prst="rect">
            <a:avLst/>
          </a:prstGeom>
          <a:noFill/>
          <a:ln/>
        </p:spPr>
        <p:txBody>
          <a:bodyPr wrap="square" lIns="0" tIns="0" rIns="0" bIns="0" rtlCol="0" anchor="ctr"/>
          <a:lstStyle/>
          <a:p>
            <a:pPr algn="ctr" indent="0" marL="0">
              <a:buNone/>
            </a:pPr>
            <a:r>
              <a:rPr lang="en-US" sz="2400" b="1" dirty="0">
                <a:solidFill>
                  <a:srgbClr val="F2B134"/>
                </a:solidFill>
                <a:latin typeface="Cambria" pitchFamily="34" charset="0"/>
                <a:ea typeface="Cambria" pitchFamily="34" charset="-122"/>
                <a:cs typeface="Cambria" pitchFamily="34" charset="-120"/>
              </a:rPr>
              <a:t>∞</a:t>
            </a:r>
            <a:endParaRPr lang="en-US" sz="2400" dirty="0"/>
          </a:p>
        </p:txBody>
      </p:sp>
      <p:sp>
        <p:nvSpPr>
          <p:cNvPr id="12" name="Text 9"/>
          <p:cNvSpPr/>
          <p:nvPr/>
        </p:nvSpPr>
        <p:spPr>
          <a:xfrm>
            <a:off x="4602480" y="5650992"/>
            <a:ext cx="3048000" cy="384048"/>
          </a:xfrm>
          <a:prstGeom prst="rect">
            <a:avLst/>
          </a:prstGeom>
          <a:noFill/>
          <a:ln/>
        </p:spPr>
        <p:txBody>
          <a:bodyPr wrap="square" lIns="0" tIns="0" rIns="0" bIns="0" rtlCol="0" anchor="t"/>
          <a:lstStyle/>
          <a:p>
            <a:pPr algn="ctr" indent="0" marL="0">
              <a:buNone/>
            </a:pPr>
            <a:r>
              <a:rPr lang="en-US" sz="1050" dirty="0">
                <a:solidFill>
                  <a:srgbClr val="FFFFFF"/>
                </a:solidFill>
                <a:latin typeface="Calibri" pitchFamily="34" charset="0"/>
                <a:ea typeface="Calibri" pitchFamily="34" charset="-122"/>
                <a:cs typeface="Calibri" pitchFamily="34" charset="-120"/>
              </a:rPr>
              <a:t>Entangled correlation, any distance</a:t>
            </a:r>
            <a:endParaRPr lang="en-US" sz="1050" dirty="0"/>
          </a:p>
        </p:txBody>
      </p:sp>
      <p:sp>
        <p:nvSpPr>
          <p:cNvPr id="13" name="Shape 10"/>
          <p:cNvSpPr/>
          <p:nvPr/>
        </p:nvSpPr>
        <p:spPr>
          <a:xfrm>
            <a:off x="8016240" y="5029200"/>
            <a:ext cx="3230880" cy="1051560"/>
          </a:xfrm>
          <a:prstGeom prst="roundRect">
            <a:avLst>
              <a:gd name="adj" fmla="val 8696"/>
            </a:avLst>
          </a:prstGeom>
          <a:solidFill>
            <a:srgbClr val="1E2761"/>
          </a:solidFill>
          <a:ln/>
          <a:effectLst>
            <a:outerShdw sx="100000" sy="100000" kx="0" ky="0" algn="bl" rotWithShape="0" blurRad="101600" dist="38100" dir="5400000">
              <a:srgbClr val="1E2761">
                <a:alpha val="18000"/>
              </a:srgbClr>
            </a:outerShdw>
          </a:effectLst>
        </p:spPr>
      </p:sp>
      <p:sp>
        <p:nvSpPr>
          <p:cNvPr id="14" name="Text 11"/>
          <p:cNvSpPr/>
          <p:nvPr/>
        </p:nvSpPr>
        <p:spPr>
          <a:xfrm>
            <a:off x="8016240" y="5138928"/>
            <a:ext cx="3230880" cy="502920"/>
          </a:xfrm>
          <a:prstGeom prst="rect">
            <a:avLst/>
          </a:prstGeom>
          <a:noFill/>
          <a:ln/>
        </p:spPr>
        <p:txBody>
          <a:bodyPr wrap="square" lIns="0" tIns="0" rIns="0" bIns="0" rtlCol="0" anchor="ctr"/>
          <a:lstStyle/>
          <a:p>
            <a:pPr algn="ctr" indent="0" marL="0">
              <a:buNone/>
            </a:pPr>
            <a:r>
              <a:rPr lang="en-US" sz="2400" b="1" dirty="0">
                <a:solidFill>
                  <a:srgbClr val="F2B134"/>
                </a:solidFill>
                <a:latin typeface="Cambria" pitchFamily="34" charset="0"/>
                <a:ea typeface="Cambria" pitchFamily="34" charset="-122"/>
                <a:cs typeface="Cambria" pitchFamily="34" charset="-120"/>
              </a:rPr>
              <a:t>☀</a:t>
            </a:r>
            <a:endParaRPr lang="en-US" sz="2400" dirty="0"/>
          </a:p>
        </p:txBody>
      </p:sp>
      <p:sp>
        <p:nvSpPr>
          <p:cNvPr id="15" name="Text 12"/>
          <p:cNvSpPr/>
          <p:nvPr/>
        </p:nvSpPr>
        <p:spPr>
          <a:xfrm>
            <a:off x="8107680" y="5650992"/>
            <a:ext cx="3048000" cy="384048"/>
          </a:xfrm>
          <a:prstGeom prst="rect">
            <a:avLst/>
          </a:prstGeom>
          <a:noFill/>
          <a:ln/>
        </p:spPr>
        <p:txBody>
          <a:bodyPr wrap="square" lIns="0" tIns="0" rIns="0" bIns="0" rtlCol="0" anchor="t"/>
          <a:lstStyle/>
          <a:p>
            <a:pPr algn="ctr" indent="0" marL="0">
              <a:buNone/>
            </a:pPr>
            <a:r>
              <a:rPr lang="en-US" sz="1050" dirty="0">
                <a:solidFill>
                  <a:srgbClr val="FFFFFF"/>
                </a:solidFill>
                <a:latin typeface="Calibri" pitchFamily="34" charset="0"/>
                <a:ea typeface="Calibri" pitchFamily="34" charset="-122"/>
                <a:cs typeface="Calibri" pitchFamily="34" charset="-120"/>
              </a:rPr>
              <a:t>Powered by quantum tunneling</a:t>
            </a:r>
            <a:endParaRPr lang="en-US" sz="1050" dirty="0"/>
          </a:p>
        </p:txBody>
      </p:sp>
      <p:sp>
        <p:nvSpPr>
          <p:cNvPr id="17" name="Text 13"/>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Interdisciplinary Insights  ·  7 / 10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E2761"/>
          </a:solidFill>
          <a:ln/>
          <a:effectLst>
            <a:outerShdw sx="100000" sy="100000" kx="0" ky="0" algn="bl" rotWithShape="0" blurRad="101600" dist="38100" dir="5400000">
              <a:srgbClr val="1E2761">
                <a:alpha val="18000"/>
              </a:srgbClr>
            </a:outerShdw>
          </a:effectLst>
        </p:spPr>
      </p:sp>
      <p:pic>
        <p:nvPicPr>
          <p:cNvPr id="3" name="Image 0" descr="/tmp/claude-0/-home-user-my-professional-documents/fde50819-489d-5f4b-b2af-3e5402494ffb/scratchpad/pptx_build/icons/briefcase.png">    </p:cNvPr>
          <p:cNvPicPr>
            <a:picLocks noChangeAspect="1"/>
          </p:cNvPicPr>
          <p:nvPr/>
        </p:nvPicPr>
        <p:blipFill>
          <a:blip r:embed="rId1"/>
          <a:stretch>
            <a:fillRect/>
          </a:stretch>
        </p:blipFill>
        <p:spPr>
          <a:xfrm>
            <a:off x="722376" y="630936"/>
            <a:ext cx="310896" cy="310896"/>
          </a:xfrm>
          <a:prstGeom prst="rect">
            <a:avLst/>
          </a:prstGeom>
        </p:spPr>
      </p:pic>
      <p:sp>
        <p:nvSpPr>
          <p:cNvPr id="4" name="Text 1"/>
          <p:cNvSpPr/>
          <p:nvPr/>
        </p:nvSpPr>
        <p:spPr>
          <a:xfrm>
            <a:off x="1371600" y="457200"/>
            <a:ext cx="7772400" cy="310896"/>
          </a:xfrm>
          <a:prstGeom prst="rect">
            <a:avLst/>
          </a:prstGeom>
          <a:noFill/>
          <a:ln/>
        </p:spPr>
        <p:txBody>
          <a:bodyPr wrap="square" lIns="0" tIns="0" rIns="0" bIns="0" rtlCol="0" anchor="b"/>
          <a:lstStyle/>
          <a:p>
            <a:pPr algn="l" indent="0" marL="0">
              <a:buNone/>
            </a:pPr>
            <a:r>
              <a:rPr lang="en-US" sz="1300" b="1" spc="200" kern="0" dirty="0">
                <a:solidFill>
                  <a:srgbClr val="F2B134"/>
                </a:solidFill>
                <a:latin typeface="Calibri" pitchFamily="34" charset="0"/>
                <a:ea typeface="Calibri" pitchFamily="34" charset="-122"/>
                <a:cs typeface="Calibri" pitchFamily="34" charset="-120"/>
              </a:rPr>
              <a:t>CASE STUDY, PART 1</a:t>
            </a:r>
            <a:endParaRPr lang="en-US" sz="1300" dirty="0"/>
          </a:p>
        </p:txBody>
      </p:sp>
      <p:sp>
        <p:nvSpPr>
          <p:cNvPr id="5" name="Text 2"/>
          <p:cNvSpPr/>
          <p:nvPr/>
        </p:nvSpPr>
        <p:spPr>
          <a:xfrm>
            <a:off x="1371600" y="749808"/>
            <a:ext cx="10241280" cy="603504"/>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One Person, Three Institutions</a:t>
            </a:r>
            <a:endParaRPr lang="en-US" sz="3000" dirty="0"/>
          </a:p>
        </p:txBody>
      </p:sp>
      <p:sp>
        <p:nvSpPr>
          <p:cNvPr id="6" name="Text 3"/>
          <p:cNvSpPr/>
          <p:nvPr/>
        </p:nvSpPr>
        <p:spPr>
          <a:xfrm>
            <a:off x="548640" y="1600200"/>
            <a:ext cx="6675120" cy="4572000"/>
          </a:xfrm>
          <a:prstGeom prst="rect">
            <a:avLst/>
          </a:prstGeom>
          <a:noFill/>
          <a:ln/>
        </p:spPr>
        <p:txBody>
          <a:bodyPr wrap="square" lIns="0" tIns="0" rIns="0" bIns="0" rtlCol="0" anchor="t"/>
          <a:lstStyle/>
          <a:p>
            <a:pPr marL="228600" indent="-228600">
              <a:lnSpc>
                <a:spcPct val="125000"/>
              </a:lnSpc>
              <a:spcAft>
                <a:spcPts val="1400"/>
              </a:spcAft>
              <a:buSzPct val="100000"/>
              <a:buChar char="▪"/>
            </a:pPr>
            <a:r>
              <a:rPr lang="en-US" sz="1500" dirty="0">
                <a:solidFill>
                  <a:srgbClr val="1B1F2A"/>
                </a:solidFill>
                <a:latin typeface="Calibri" pitchFamily="34" charset="0"/>
                <a:ea typeface="Calibri" pitchFamily="34" charset="-122"/>
                <a:cs typeface="Calibri" pitchFamily="34" charset="-120"/>
              </a:rPr>
              <a:t>The boss: a workplace conflict that escalated until France’s médecin du travail (occupational physician) ruled him medically unfit for the role, ending in termination</a:t>
            </a:r>
            <a:endParaRPr lang="en-US" sz="1500" dirty="0"/>
          </a:p>
          <a:p>
            <a:pPr marL="228600" indent="-228600">
              <a:lnSpc>
                <a:spcPct val="125000"/>
              </a:lnSpc>
              <a:spcAft>
                <a:spcPts val="1400"/>
              </a:spcAft>
              <a:buSzPct val="100000"/>
              <a:buChar char="▪"/>
            </a:pPr>
            <a:r>
              <a:rPr lang="en-US" sz="1500" dirty="0">
                <a:solidFill>
                  <a:srgbClr val="1B1F2A"/>
                </a:solidFill>
                <a:latin typeface="Calibri" pitchFamily="34" charset="0"/>
                <a:ea typeface="Calibri" pitchFamily="34" charset="-122"/>
                <a:cs typeface="Calibri" pitchFamily="34" charset="-120"/>
              </a:rPr>
              <a:t>The classroom: training to become an English teacher (CELTA) while managing diagnosed ADHD and depression, without the accommodations the training centre itself was obligated to provide</a:t>
            </a:r>
            <a:endParaRPr lang="en-US" sz="1500" dirty="0"/>
          </a:p>
          <a:p>
            <a:pPr marL="228600" indent="-228600">
              <a:lnSpc>
                <a:spcPct val="125000"/>
              </a:lnSpc>
              <a:spcAft>
                <a:spcPts val="1400"/>
              </a:spcAft>
              <a:buSzPct val="100000"/>
              <a:buChar char="▪"/>
            </a:pPr>
            <a:r>
              <a:rPr lang="en-US" sz="1500" dirty="0">
                <a:solidFill>
                  <a:srgbClr val="1B1F2A"/>
                </a:solidFill>
                <a:latin typeface="Calibri" pitchFamily="34" charset="0"/>
                <a:ea typeface="Calibri" pitchFamily="34" charset="-122"/>
                <a:cs typeface="Calibri" pitchFamily="34" charset="-120"/>
              </a:rPr>
              <a:t>The paradox: a professional experienced enough to teach precision language to airline pilots and medical staff, held to inconsistent standards in his own assessment</a:t>
            </a:r>
            <a:endParaRPr lang="en-US" sz="1500" dirty="0"/>
          </a:p>
          <a:p>
            <a:pPr marL="228600" indent="-228600">
              <a:lnSpc>
                <a:spcPct val="125000"/>
              </a:lnSpc>
              <a:spcAft>
                <a:spcPts val="1400"/>
              </a:spcAft>
              <a:buSzPct val="100000"/>
              <a:buChar char="▪"/>
            </a:pPr>
            <a:r>
              <a:rPr lang="en-US" sz="1500" dirty="0">
                <a:solidFill>
                  <a:srgbClr val="1B1F2A"/>
                </a:solidFill>
                <a:latin typeface="Calibri" pitchFamily="34" charset="0"/>
                <a:ea typeface="Calibri" pitchFamily="34" charset="-122"/>
                <a:cs typeface="Calibri" pitchFamily="34" charset="-120"/>
              </a:rPr>
              <a:t>The pattern: each institution defaulted to exclusion rather than adaptation — the same evolutionary bias from Slide 4, now with a name and a face</a:t>
            </a:r>
            <a:endParaRPr lang="en-US" sz="1500" dirty="0"/>
          </a:p>
        </p:txBody>
      </p:sp>
      <p:sp>
        <p:nvSpPr>
          <p:cNvPr id="7" name="Shape 4"/>
          <p:cNvSpPr/>
          <p:nvPr/>
        </p:nvSpPr>
        <p:spPr>
          <a:xfrm>
            <a:off x="7635240" y="1737360"/>
            <a:ext cx="3977640" cy="3017520"/>
          </a:xfrm>
          <a:prstGeom prst="roundRect">
            <a:avLst>
              <a:gd name="adj" fmla="val 3636"/>
            </a:avLst>
          </a:prstGeom>
          <a:solidFill>
            <a:srgbClr val="CADCFC"/>
          </a:solidFill>
          <a:ln/>
          <a:effectLst>
            <a:outerShdw sx="100000" sy="100000" kx="0" ky="0" algn="bl" rotWithShape="0" blurRad="101600" dist="38100" dir="5400000">
              <a:srgbClr val="1E2761">
                <a:alpha val="18000"/>
              </a:srgbClr>
            </a:outerShdw>
          </a:effectLst>
        </p:spPr>
      </p:sp>
      <p:sp>
        <p:nvSpPr>
          <p:cNvPr id="8" name="Text 5"/>
          <p:cNvSpPr/>
          <p:nvPr/>
        </p:nvSpPr>
        <p:spPr>
          <a:xfrm>
            <a:off x="7909560" y="1993392"/>
            <a:ext cx="3429000" cy="274320"/>
          </a:xfrm>
          <a:prstGeom prst="rect">
            <a:avLst/>
          </a:prstGeom>
          <a:noFill/>
          <a:ln/>
        </p:spPr>
        <p:txBody>
          <a:bodyPr wrap="square" lIns="0" tIns="0" rIns="0" bIns="0" rtlCol="0" anchor="ctr"/>
          <a:lstStyle/>
          <a:p>
            <a:pPr indent="0" marL="0">
              <a:buNone/>
            </a:pPr>
            <a:r>
              <a:rPr lang="en-US" sz="1100" b="1" spc="150" kern="0" dirty="0">
                <a:solidFill>
                  <a:srgbClr val="1E2761"/>
                </a:solidFill>
                <a:latin typeface="Calibri" pitchFamily="34" charset="0"/>
                <a:ea typeface="Calibri" pitchFamily="34" charset="-122"/>
                <a:cs typeface="Calibri" pitchFamily="34" charset="-120"/>
              </a:rPr>
              <a:t>THE THROUGHLINE</a:t>
            </a:r>
            <a:endParaRPr lang="en-US" sz="1100" dirty="0"/>
          </a:p>
        </p:txBody>
      </p:sp>
      <p:sp>
        <p:nvSpPr>
          <p:cNvPr id="9" name="Text 6"/>
          <p:cNvSpPr/>
          <p:nvPr/>
        </p:nvSpPr>
        <p:spPr>
          <a:xfrm>
            <a:off x="7909560" y="2304288"/>
            <a:ext cx="3429000" cy="2194560"/>
          </a:xfrm>
          <a:prstGeom prst="rect">
            <a:avLst/>
          </a:prstGeom>
          <a:noFill/>
          <a:ln/>
        </p:spPr>
        <p:txBody>
          <a:bodyPr wrap="square" lIns="0" tIns="0" rIns="0" bIns="0" rtlCol="0" anchor="t"/>
          <a:lstStyle/>
          <a:p>
            <a:pPr indent="0" marL="0">
              <a:lnSpc>
                <a:spcPct val="120000"/>
              </a:lnSpc>
              <a:buNone/>
            </a:pPr>
            <a:r>
              <a:rPr lang="en-US" sz="1600" i="1" dirty="0">
                <a:solidFill>
                  <a:srgbClr val="1E2761"/>
                </a:solidFill>
                <a:latin typeface="Cambria" pitchFamily="34" charset="0"/>
                <a:ea typeface="Cambria" pitchFamily="34" charset="-122"/>
                <a:cs typeface="Cambria" pitchFamily="34" charset="-120"/>
              </a:rPr>
              <a:t>Three institutions, three separate decisions. One repeating pattern: when accommodation requires effort, exclusion wins.</a:t>
            </a:r>
            <a:endParaRPr lang="en-US" sz="1600" dirty="0"/>
          </a:p>
        </p:txBody>
      </p:sp>
      <p:sp>
        <p:nvSpPr>
          <p:cNvPr id="11" name="Text 7"/>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Interdisciplinary Insights  ·  8 / 10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E2761"/>
          </a:solidFill>
          <a:ln/>
          <a:effectLst>
            <a:outerShdw sx="100000" sy="100000" kx="0" ky="0" algn="bl" rotWithShape="0" blurRad="101600" dist="38100" dir="5400000">
              <a:srgbClr val="1E2761">
                <a:alpha val="18000"/>
              </a:srgbClr>
            </a:outerShdw>
          </a:effectLst>
        </p:spPr>
      </p:sp>
      <p:pic>
        <p:nvPicPr>
          <p:cNvPr id="3" name="Image 0" descr="/tmp/claude-0/-home-user-my-professional-documents/fde50819-489d-5f4b-b2af-3e5402494ffb/scratchpad/pptx_build/icons/plane.png">    </p:cNvPr>
          <p:cNvPicPr>
            <a:picLocks noChangeAspect="1"/>
          </p:cNvPicPr>
          <p:nvPr/>
        </p:nvPicPr>
        <p:blipFill>
          <a:blip r:embed="rId1"/>
          <a:stretch>
            <a:fillRect/>
          </a:stretch>
        </p:blipFill>
        <p:spPr>
          <a:xfrm>
            <a:off x="722376" y="630936"/>
            <a:ext cx="310896" cy="310896"/>
          </a:xfrm>
          <a:prstGeom prst="rect">
            <a:avLst/>
          </a:prstGeom>
        </p:spPr>
      </p:pic>
      <p:sp>
        <p:nvSpPr>
          <p:cNvPr id="4" name="Text 1"/>
          <p:cNvSpPr/>
          <p:nvPr/>
        </p:nvSpPr>
        <p:spPr>
          <a:xfrm>
            <a:off x="1371600" y="457200"/>
            <a:ext cx="7772400" cy="310896"/>
          </a:xfrm>
          <a:prstGeom prst="rect">
            <a:avLst/>
          </a:prstGeom>
          <a:noFill/>
          <a:ln/>
        </p:spPr>
        <p:txBody>
          <a:bodyPr wrap="square" lIns="0" tIns="0" rIns="0" bIns="0" rtlCol="0" anchor="b"/>
          <a:lstStyle/>
          <a:p>
            <a:pPr algn="l" indent="0" marL="0">
              <a:buNone/>
            </a:pPr>
            <a:r>
              <a:rPr lang="en-US" sz="1300" b="1" spc="200" kern="0" dirty="0">
                <a:solidFill>
                  <a:srgbClr val="F2B134"/>
                </a:solidFill>
                <a:latin typeface="Calibri" pitchFamily="34" charset="0"/>
                <a:ea typeface="Calibri" pitchFamily="34" charset="-122"/>
                <a:cs typeface="Calibri" pitchFamily="34" charset="-120"/>
              </a:rPr>
              <a:t>CASE STUDY, PART 2</a:t>
            </a:r>
            <a:endParaRPr lang="en-US" sz="1300" dirty="0"/>
          </a:p>
        </p:txBody>
      </p:sp>
      <p:sp>
        <p:nvSpPr>
          <p:cNvPr id="5" name="Text 2"/>
          <p:cNvSpPr/>
          <p:nvPr/>
        </p:nvSpPr>
        <p:spPr>
          <a:xfrm>
            <a:off x="1371600" y="749808"/>
            <a:ext cx="10241280" cy="603504"/>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Three Countries, One Family</a:t>
            </a:r>
            <a:endParaRPr lang="en-US" sz="3000" dirty="0"/>
          </a:p>
        </p:txBody>
      </p:sp>
      <p:sp>
        <p:nvSpPr>
          <p:cNvPr id="6" name="Text 3"/>
          <p:cNvSpPr/>
          <p:nvPr/>
        </p:nvSpPr>
        <p:spPr>
          <a:xfrm>
            <a:off x="548640" y="1600200"/>
            <a:ext cx="10241280" cy="3200400"/>
          </a:xfrm>
          <a:prstGeom prst="rect">
            <a:avLst/>
          </a:prstGeom>
          <a:noFill/>
          <a:ln/>
        </p:spPr>
        <p:txBody>
          <a:bodyPr wrap="square" lIns="0" tIns="0" rIns="0" bIns="0" rtlCol="0" anchor="t"/>
          <a:lstStyle/>
          <a:p>
            <a:pPr marL="228600" indent="-228600">
              <a:lnSpc>
                <a:spcPct val="125000"/>
              </a:lnSpc>
              <a:spcAft>
                <a:spcPts val="1400"/>
              </a:spcAft>
              <a:buSzPct val="100000"/>
              <a:buChar char="▪"/>
            </a:pPr>
            <a:r>
              <a:rPr lang="en-US" sz="1500" dirty="0">
                <a:solidFill>
                  <a:srgbClr val="1B1F2A"/>
                </a:solidFill>
                <a:latin typeface="Calibri" pitchFamily="34" charset="0"/>
                <a:ea typeface="Calibri" pitchFamily="34" charset="-122"/>
                <a:cs typeface="Calibri" pitchFamily="34" charset="-120"/>
              </a:rPr>
              <a:t>Australia: over a decade in luxury hospitality management, building fluency across languages, cultures, and high-pressure teams</a:t>
            </a:r>
            <a:endParaRPr lang="en-US" sz="1500" dirty="0"/>
          </a:p>
          <a:p>
            <a:pPr marL="228600" indent="-228600">
              <a:lnSpc>
                <a:spcPct val="125000"/>
              </a:lnSpc>
              <a:spcAft>
                <a:spcPts val="1400"/>
              </a:spcAft>
              <a:buSzPct val="100000"/>
              <a:buChar char="▪"/>
            </a:pPr>
            <a:r>
              <a:rPr lang="en-US" sz="1500" dirty="0">
                <a:solidFill>
                  <a:srgbClr val="1B1F2A"/>
                </a:solidFill>
                <a:latin typeface="Calibri" pitchFamily="34" charset="0"/>
                <a:ea typeface="Calibri" pitchFamily="34" charset="-122"/>
                <a:cs typeface="Calibri" pitchFamily="34" charset="-120"/>
              </a:rPr>
              <a:t>Bangladesh: family roots, and a mother’s humbling visa experience at a French embassy overseas — the "Case in Point" from Slide 4, made personal</a:t>
            </a:r>
            <a:endParaRPr lang="en-US" sz="1500" dirty="0"/>
          </a:p>
          <a:p>
            <a:pPr marL="228600" indent="-228600">
              <a:lnSpc>
                <a:spcPct val="125000"/>
              </a:lnSpc>
              <a:spcAft>
                <a:spcPts val="1400"/>
              </a:spcAft>
              <a:buSzPct val="100000"/>
              <a:buChar char="▪"/>
            </a:pPr>
            <a:r>
              <a:rPr lang="en-US" sz="1500" dirty="0">
                <a:solidFill>
                  <a:srgbClr val="1B1F2A"/>
                </a:solidFill>
                <a:latin typeface="Calibri" pitchFamily="34" charset="0"/>
                <a:ea typeface="Calibri" pitchFamily="34" charset="-122"/>
                <a:cs typeface="Calibri" pitchFamily="34" charset="-120"/>
              </a:rPr>
              <a:t>France: marriage — by his own account the best decision of his life — and a new home built while fighting for medical and educational recognition</a:t>
            </a:r>
            <a:endParaRPr lang="en-US" sz="1500" dirty="0"/>
          </a:p>
          <a:p>
            <a:pPr marL="228600" indent="-228600">
              <a:lnSpc>
                <a:spcPct val="125000"/>
              </a:lnSpc>
              <a:spcAft>
                <a:spcPts val="1400"/>
              </a:spcAft>
              <a:buSzPct val="100000"/>
              <a:buChar char="▪"/>
            </a:pPr>
            <a:r>
              <a:rPr lang="en-US" sz="1500" dirty="0">
                <a:solidFill>
                  <a:srgbClr val="1B1F2A"/>
                </a:solidFill>
                <a:latin typeface="Calibri" pitchFamily="34" charset="0"/>
                <a:ea typeface="Calibri" pitchFamily="34" charset="-122"/>
                <a:cs typeface="Calibri" pitchFamily="34" charset="-120"/>
              </a:rPr>
              <a:t>Health as the throughline: diagnoses of depression and ADHD, formally recognized as long-term conditions, managed alongside every other battle at once</a:t>
            </a:r>
            <a:endParaRPr lang="en-US" sz="1500" dirty="0"/>
          </a:p>
        </p:txBody>
      </p:sp>
      <p:sp>
        <p:nvSpPr>
          <p:cNvPr id="7" name="Shape 4"/>
          <p:cNvSpPr/>
          <p:nvPr/>
        </p:nvSpPr>
        <p:spPr>
          <a:xfrm>
            <a:off x="1005840" y="5029200"/>
            <a:ext cx="3230880" cy="1051560"/>
          </a:xfrm>
          <a:prstGeom prst="roundRect">
            <a:avLst>
              <a:gd name="adj" fmla="val 8696"/>
            </a:avLst>
          </a:prstGeom>
          <a:solidFill>
            <a:srgbClr val="1E2761"/>
          </a:solidFill>
          <a:ln/>
          <a:effectLst>
            <a:outerShdw sx="100000" sy="100000" kx="0" ky="0" algn="bl" rotWithShape="0" blurRad="101600" dist="38100" dir="5400000">
              <a:srgbClr val="1E2761">
                <a:alpha val="18000"/>
              </a:srgbClr>
            </a:outerShdw>
          </a:effectLst>
        </p:spPr>
      </p:sp>
      <p:sp>
        <p:nvSpPr>
          <p:cNvPr id="8" name="Text 5"/>
          <p:cNvSpPr/>
          <p:nvPr/>
        </p:nvSpPr>
        <p:spPr>
          <a:xfrm>
            <a:off x="1005840" y="5138928"/>
            <a:ext cx="3230880" cy="502920"/>
          </a:xfrm>
          <a:prstGeom prst="rect">
            <a:avLst/>
          </a:prstGeom>
          <a:noFill/>
          <a:ln/>
        </p:spPr>
        <p:txBody>
          <a:bodyPr wrap="square" lIns="0" tIns="0" rIns="0" bIns="0" rtlCol="0" anchor="ctr"/>
          <a:lstStyle/>
          <a:p>
            <a:pPr algn="ctr" indent="0" marL="0">
              <a:buNone/>
            </a:pPr>
            <a:r>
              <a:rPr lang="en-US" sz="2400" b="1" dirty="0">
                <a:solidFill>
                  <a:srgbClr val="F2B134"/>
                </a:solidFill>
                <a:latin typeface="Cambria" pitchFamily="34" charset="0"/>
                <a:ea typeface="Cambria" pitchFamily="34" charset="-122"/>
                <a:cs typeface="Cambria" pitchFamily="34" charset="-120"/>
              </a:rPr>
              <a:t>3</a:t>
            </a:r>
            <a:endParaRPr lang="en-US" sz="2400" dirty="0"/>
          </a:p>
        </p:txBody>
      </p:sp>
      <p:sp>
        <p:nvSpPr>
          <p:cNvPr id="9" name="Text 6"/>
          <p:cNvSpPr/>
          <p:nvPr/>
        </p:nvSpPr>
        <p:spPr>
          <a:xfrm>
            <a:off x="1097280" y="5650992"/>
            <a:ext cx="3048000" cy="384048"/>
          </a:xfrm>
          <a:prstGeom prst="rect">
            <a:avLst/>
          </a:prstGeom>
          <a:noFill/>
          <a:ln/>
        </p:spPr>
        <p:txBody>
          <a:bodyPr wrap="square" lIns="0" tIns="0" rIns="0" bIns="0" rtlCol="0" anchor="t"/>
          <a:lstStyle/>
          <a:p>
            <a:pPr algn="ctr" indent="0" marL="0">
              <a:buNone/>
            </a:pPr>
            <a:r>
              <a:rPr lang="en-US" sz="1050" dirty="0">
                <a:solidFill>
                  <a:srgbClr val="FFFFFF"/>
                </a:solidFill>
                <a:latin typeface="Calibri" pitchFamily="34" charset="0"/>
                <a:ea typeface="Calibri" pitchFamily="34" charset="-122"/>
                <a:cs typeface="Calibri" pitchFamily="34" charset="-120"/>
              </a:rPr>
              <a:t>Countries called home</a:t>
            </a:r>
            <a:endParaRPr lang="en-US" sz="1050" dirty="0"/>
          </a:p>
        </p:txBody>
      </p:sp>
      <p:sp>
        <p:nvSpPr>
          <p:cNvPr id="10" name="Shape 7"/>
          <p:cNvSpPr/>
          <p:nvPr/>
        </p:nvSpPr>
        <p:spPr>
          <a:xfrm>
            <a:off x="4511040" y="5029200"/>
            <a:ext cx="3230880" cy="1051560"/>
          </a:xfrm>
          <a:prstGeom prst="roundRect">
            <a:avLst>
              <a:gd name="adj" fmla="val 8696"/>
            </a:avLst>
          </a:prstGeom>
          <a:solidFill>
            <a:srgbClr val="1E2761"/>
          </a:solidFill>
          <a:ln/>
          <a:effectLst>
            <a:outerShdw sx="100000" sy="100000" kx="0" ky="0" algn="bl" rotWithShape="0" blurRad="101600" dist="38100" dir="5400000">
              <a:srgbClr val="1E2761">
                <a:alpha val="18000"/>
              </a:srgbClr>
            </a:outerShdw>
          </a:effectLst>
        </p:spPr>
      </p:sp>
      <p:sp>
        <p:nvSpPr>
          <p:cNvPr id="11" name="Text 8"/>
          <p:cNvSpPr/>
          <p:nvPr/>
        </p:nvSpPr>
        <p:spPr>
          <a:xfrm>
            <a:off x="4511040" y="5138928"/>
            <a:ext cx="3230880" cy="502920"/>
          </a:xfrm>
          <a:prstGeom prst="rect">
            <a:avLst/>
          </a:prstGeom>
          <a:noFill/>
          <a:ln/>
        </p:spPr>
        <p:txBody>
          <a:bodyPr wrap="square" lIns="0" tIns="0" rIns="0" bIns="0" rtlCol="0" anchor="ctr"/>
          <a:lstStyle/>
          <a:p>
            <a:pPr algn="ctr" indent="0" marL="0">
              <a:buNone/>
            </a:pPr>
            <a:r>
              <a:rPr lang="en-US" sz="2400" b="1" dirty="0">
                <a:solidFill>
                  <a:srgbClr val="F2B134"/>
                </a:solidFill>
                <a:latin typeface="Cambria" pitchFamily="34" charset="0"/>
                <a:ea typeface="Cambria" pitchFamily="34" charset="-122"/>
                <a:cs typeface="Cambria" pitchFamily="34" charset="-120"/>
              </a:rPr>
              <a:t>11+</a:t>
            </a:r>
            <a:endParaRPr lang="en-US" sz="2400" dirty="0"/>
          </a:p>
        </p:txBody>
      </p:sp>
      <p:sp>
        <p:nvSpPr>
          <p:cNvPr id="12" name="Text 9"/>
          <p:cNvSpPr/>
          <p:nvPr/>
        </p:nvSpPr>
        <p:spPr>
          <a:xfrm>
            <a:off x="4602480" y="5650992"/>
            <a:ext cx="3048000" cy="384048"/>
          </a:xfrm>
          <a:prstGeom prst="rect">
            <a:avLst/>
          </a:prstGeom>
          <a:noFill/>
          <a:ln/>
        </p:spPr>
        <p:txBody>
          <a:bodyPr wrap="square" lIns="0" tIns="0" rIns="0" bIns="0" rtlCol="0" anchor="t"/>
          <a:lstStyle/>
          <a:p>
            <a:pPr algn="ctr" indent="0" marL="0">
              <a:buNone/>
            </a:pPr>
            <a:r>
              <a:rPr lang="en-US" sz="1050" dirty="0">
                <a:solidFill>
                  <a:srgbClr val="FFFFFF"/>
                </a:solidFill>
                <a:latin typeface="Calibri" pitchFamily="34" charset="0"/>
                <a:ea typeface="Calibri" pitchFamily="34" charset="-122"/>
                <a:cs typeface="Calibri" pitchFamily="34" charset="-120"/>
              </a:rPr>
              <a:t>Years in hospitality management</a:t>
            </a:r>
            <a:endParaRPr lang="en-US" sz="1050" dirty="0"/>
          </a:p>
        </p:txBody>
      </p:sp>
      <p:sp>
        <p:nvSpPr>
          <p:cNvPr id="13" name="Shape 10"/>
          <p:cNvSpPr/>
          <p:nvPr/>
        </p:nvSpPr>
        <p:spPr>
          <a:xfrm>
            <a:off x="8016240" y="5029200"/>
            <a:ext cx="3230880" cy="1051560"/>
          </a:xfrm>
          <a:prstGeom prst="roundRect">
            <a:avLst>
              <a:gd name="adj" fmla="val 8696"/>
            </a:avLst>
          </a:prstGeom>
          <a:solidFill>
            <a:srgbClr val="1E2761"/>
          </a:solidFill>
          <a:ln/>
          <a:effectLst>
            <a:outerShdw sx="100000" sy="100000" kx="0" ky="0" algn="bl" rotWithShape="0" blurRad="101600" dist="38100" dir="5400000">
              <a:srgbClr val="1E2761">
                <a:alpha val="18000"/>
              </a:srgbClr>
            </a:outerShdw>
          </a:effectLst>
        </p:spPr>
      </p:sp>
      <p:sp>
        <p:nvSpPr>
          <p:cNvPr id="14" name="Text 11"/>
          <p:cNvSpPr/>
          <p:nvPr/>
        </p:nvSpPr>
        <p:spPr>
          <a:xfrm>
            <a:off x="8016240" y="5138928"/>
            <a:ext cx="3230880" cy="502920"/>
          </a:xfrm>
          <a:prstGeom prst="rect">
            <a:avLst/>
          </a:prstGeom>
          <a:noFill/>
          <a:ln/>
        </p:spPr>
        <p:txBody>
          <a:bodyPr wrap="square" lIns="0" tIns="0" rIns="0" bIns="0" rtlCol="0" anchor="ctr"/>
          <a:lstStyle/>
          <a:p>
            <a:pPr algn="ctr" indent="0" marL="0">
              <a:buNone/>
            </a:pPr>
            <a:r>
              <a:rPr lang="en-US" sz="2400" b="1" dirty="0">
                <a:solidFill>
                  <a:srgbClr val="F2B134"/>
                </a:solidFill>
                <a:latin typeface="Cambria" pitchFamily="34" charset="0"/>
                <a:ea typeface="Cambria" pitchFamily="34" charset="-122"/>
                <a:cs typeface="Cambria" pitchFamily="34" charset="-120"/>
              </a:rPr>
              <a:t>2</a:t>
            </a:r>
            <a:endParaRPr lang="en-US" sz="2400" dirty="0"/>
          </a:p>
        </p:txBody>
      </p:sp>
      <p:sp>
        <p:nvSpPr>
          <p:cNvPr id="15" name="Text 12"/>
          <p:cNvSpPr/>
          <p:nvPr/>
        </p:nvSpPr>
        <p:spPr>
          <a:xfrm>
            <a:off x="8107680" y="5650992"/>
            <a:ext cx="3048000" cy="384048"/>
          </a:xfrm>
          <a:prstGeom prst="rect">
            <a:avLst/>
          </a:prstGeom>
          <a:noFill/>
          <a:ln/>
        </p:spPr>
        <p:txBody>
          <a:bodyPr wrap="square" lIns="0" tIns="0" rIns="0" bIns="0" rtlCol="0" anchor="t"/>
          <a:lstStyle/>
          <a:p>
            <a:pPr algn="ctr" indent="0" marL="0">
              <a:buNone/>
            </a:pPr>
            <a:r>
              <a:rPr lang="en-US" sz="1050" dirty="0">
                <a:solidFill>
                  <a:srgbClr val="FFFFFF"/>
                </a:solidFill>
                <a:latin typeface="Calibri" pitchFamily="34" charset="0"/>
                <a:ea typeface="Calibri" pitchFamily="34" charset="-122"/>
                <a:cs typeface="Calibri" pitchFamily="34" charset="-120"/>
              </a:rPr>
              <a:t>Diagnoses managed in parallel</a:t>
            </a:r>
            <a:endParaRPr lang="en-US" sz="1050" dirty="0"/>
          </a:p>
        </p:txBody>
      </p:sp>
      <p:sp>
        <p:nvSpPr>
          <p:cNvPr id="17" name="Text 13"/>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Interdisciplinary Insights  ·  9 / 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463040" y="-1463040"/>
            <a:ext cx="4114800" cy="4114800"/>
          </a:xfrm>
          <a:prstGeom prst="ellipse">
            <a:avLst/>
          </a:prstGeom>
          <a:solidFill>
            <a:srgbClr val="2A3570"/>
          </a:solidFill>
          <a:ln/>
        </p:spPr>
      </p:sp>
      <p:sp>
        <p:nvSpPr>
          <p:cNvPr id="3" name="Shape 1"/>
          <p:cNvSpPr/>
          <p:nvPr/>
        </p:nvSpPr>
        <p:spPr>
          <a:xfrm>
            <a:off x="10241280" y="5029200"/>
            <a:ext cx="3657600" cy="3657600"/>
          </a:xfrm>
          <a:prstGeom prst="ellipse">
            <a:avLst/>
          </a:prstGeom>
          <a:solidFill>
            <a:srgbClr val="2A3570"/>
          </a:solidFill>
          <a:ln/>
        </p:spPr>
      </p:sp>
      <p:sp>
        <p:nvSpPr>
          <p:cNvPr id="4" name="Shape 2"/>
          <p:cNvSpPr/>
          <p:nvPr/>
        </p:nvSpPr>
        <p:spPr>
          <a:xfrm>
            <a:off x="548640" y="457200"/>
            <a:ext cx="658368" cy="658368"/>
          </a:xfrm>
          <a:prstGeom prst="ellipse">
            <a:avLst/>
          </a:prstGeom>
          <a:solidFill>
            <a:srgbClr val="F2B134"/>
          </a:solidFill>
          <a:ln/>
          <a:effectLst>
            <a:outerShdw sx="100000" sy="100000" kx="0" ky="0" algn="bl" rotWithShape="0" blurRad="101600" dist="38100" dir="5400000">
              <a:srgbClr val="1E2761">
                <a:alpha val="18000"/>
              </a:srgbClr>
            </a:outerShdw>
          </a:effectLst>
        </p:spPr>
      </p:sp>
      <p:pic>
        <p:nvPicPr>
          <p:cNvPr id="5" name="Image 0" descr="/tmp/claude-0/-home-user-my-professional-documents/fde50819-489d-5f4b-b2af-3e5402494ffb/scratchpad/pptx_build/icons/puzzle.png">    </p:cNvPr>
          <p:cNvPicPr>
            <a:picLocks noChangeAspect="1"/>
          </p:cNvPicPr>
          <p:nvPr/>
        </p:nvPicPr>
        <p:blipFill>
          <a:blip r:embed="rId1"/>
          <a:stretch>
            <a:fillRect/>
          </a:stretch>
        </p:blipFill>
        <p:spPr>
          <a:xfrm>
            <a:off x="722376" y="630936"/>
            <a:ext cx="310896" cy="310896"/>
          </a:xfrm>
          <a:prstGeom prst="rect">
            <a:avLst/>
          </a:prstGeom>
        </p:spPr>
      </p:pic>
      <p:sp>
        <p:nvSpPr>
          <p:cNvPr id="6" name="Text 3"/>
          <p:cNvSpPr/>
          <p:nvPr/>
        </p:nvSpPr>
        <p:spPr>
          <a:xfrm>
            <a:off x="1371600" y="457200"/>
            <a:ext cx="7772400" cy="310896"/>
          </a:xfrm>
          <a:prstGeom prst="rect">
            <a:avLst/>
          </a:prstGeom>
          <a:noFill/>
          <a:ln/>
        </p:spPr>
        <p:txBody>
          <a:bodyPr wrap="square" lIns="0" tIns="0" rIns="0" bIns="0" rtlCol="0" anchor="b"/>
          <a:lstStyle/>
          <a:p>
            <a:pPr algn="l" indent="0" marL="0">
              <a:buNone/>
            </a:pPr>
            <a:r>
              <a:rPr lang="en-US" sz="1300" b="1" spc="200" kern="0" dirty="0">
                <a:solidFill>
                  <a:srgbClr val="F2B134"/>
                </a:solidFill>
                <a:latin typeface="Calibri" pitchFamily="34" charset="0"/>
                <a:ea typeface="Calibri" pitchFamily="34" charset="-122"/>
                <a:cs typeface="Calibri" pitchFamily="34" charset="-120"/>
              </a:rPr>
              <a:t>SYNTHESIS</a:t>
            </a:r>
            <a:endParaRPr lang="en-US" sz="1300" dirty="0"/>
          </a:p>
        </p:txBody>
      </p:sp>
      <p:sp>
        <p:nvSpPr>
          <p:cNvPr id="7" name="Text 4"/>
          <p:cNvSpPr/>
          <p:nvPr/>
        </p:nvSpPr>
        <p:spPr>
          <a:xfrm>
            <a:off x="1371600" y="749808"/>
            <a:ext cx="10241280" cy="603504"/>
          </a:xfrm>
          <a:prstGeom prst="rect">
            <a:avLst/>
          </a:prstGeom>
          <a:noFill/>
          <a:ln/>
        </p:spPr>
        <p:txBody>
          <a:bodyPr wrap="square" lIns="0" tIns="0" rIns="0" bIns="0" rtlCol="0" anchor="t"/>
          <a:lstStyle/>
          <a:p>
            <a:pPr algn="l" indent="0" marL="0">
              <a:buNone/>
            </a:pPr>
            <a:r>
              <a:rPr lang="en-US" sz="3000" b="1" dirty="0">
                <a:solidFill>
                  <a:srgbClr val="FFFFFF"/>
                </a:solidFill>
                <a:latin typeface="Cambria" pitchFamily="34" charset="0"/>
                <a:ea typeface="Cambria" pitchFamily="34" charset="-122"/>
                <a:cs typeface="Cambria" pitchFamily="34" charset="-120"/>
              </a:rPr>
              <a:t>What Connects a Neuron, a Vowel, a Photon &amp; a Visa Stamp</a:t>
            </a:r>
            <a:endParaRPr lang="en-US" sz="3000" dirty="0"/>
          </a:p>
        </p:txBody>
      </p:sp>
      <p:sp>
        <p:nvSpPr>
          <p:cNvPr id="8" name="Text 5"/>
          <p:cNvSpPr/>
          <p:nvPr/>
        </p:nvSpPr>
        <p:spPr>
          <a:xfrm>
            <a:off x="548640" y="1691640"/>
            <a:ext cx="10241280" cy="3931920"/>
          </a:xfrm>
          <a:prstGeom prst="rect">
            <a:avLst/>
          </a:prstGeom>
          <a:noFill/>
          <a:ln/>
        </p:spPr>
        <p:txBody>
          <a:bodyPr wrap="square" lIns="0" tIns="0" rIns="0" bIns="0" rtlCol="0" anchor="t"/>
          <a:lstStyle/>
          <a:p>
            <a:pPr marL="228600" indent="-228600">
              <a:lnSpc>
                <a:spcPct val="125000"/>
              </a:lnSpc>
              <a:spcAft>
                <a:spcPts val="1400"/>
              </a:spcAft>
              <a:buSzPct val="100000"/>
              <a:buChar char="▪"/>
            </a:pPr>
            <a:r>
              <a:rPr lang="en-US" sz="1500" dirty="0">
                <a:solidFill>
                  <a:srgbClr val="FFFFFF"/>
                </a:solidFill>
                <a:latin typeface="Calibri" pitchFamily="34" charset="0"/>
                <a:ea typeface="Calibri" pitchFamily="34" charset="-122"/>
                <a:cs typeface="Calibri" pitchFamily="34" charset="-120"/>
              </a:rPr>
              <a:t>Psychology: attention and bias are filters, not flaws — they shape what we notice, and who gets excluded</a:t>
            </a:r>
            <a:endParaRPr lang="en-US" sz="1500" dirty="0"/>
          </a:p>
          <a:p>
            <a:pPr marL="228600" indent="-228600">
              <a:lnSpc>
                <a:spcPct val="125000"/>
              </a:lnSpc>
              <a:spcAft>
                <a:spcPts val="1400"/>
              </a:spcAft>
              <a:buSzPct val="100000"/>
              <a:buChar char="▪"/>
            </a:pPr>
            <a:r>
              <a:rPr lang="en-US" sz="1500" dirty="0">
                <a:solidFill>
                  <a:srgbClr val="FFFFFF"/>
                </a:solidFill>
                <a:latin typeface="Calibri" pitchFamily="34" charset="0"/>
                <a:ea typeface="Calibri" pitchFamily="34" charset="-122"/>
                <a:cs typeface="Calibri" pitchFamily="34" charset="-120"/>
              </a:rPr>
              <a:t>Linguistics: sound and structure carry meaning long before we consciously parse a sentence</a:t>
            </a:r>
            <a:endParaRPr lang="en-US" sz="1500" dirty="0"/>
          </a:p>
          <a:p>
            <a:pPr marL="228600" indent="-228600">
              <a:lnSpc>
                <a:spcPct val="125000"/>
              </a:lnSpc>
              <a:spcAft>
                <a:spcPts val="1400"/>
              </a:spcAft>
              <a:buSzPct val="100000"/>
              <a:buChar char="▪"/>
            </a:pPr>
            <a:r>
              <a:rPr lang="en-US" sz="1500" dirty="0">
                <a:solidFill>
                  <a:srgbClr val="FFFFFF"/>
                </a:solidFill>
                <a:latin typeface="Calibri" pitchFamily="34" charset="0"/>
                <a:ea typeface="Calibri" pitchFamily="34" charset="-122"/>
                <a:cs typeface="Calibri" pitchFamily="34" charset="-120"/>
              </a:rPr>
              <a:t>Physics: at the smallest scales, reality itself is not fixed until it is observed</a:t>
            </a:r>
            <a:endParaRPr lang="en-US" sz="1500" dirty="0"/>
          </a:p>
          <a:p>
            <a:pPr marL="228600" indent="-228600">
              <a:lnSpc>
                <a:spcPct val="125000"/>
              </a:lnSpc>
              <a:spcAft>
                <a:spcPts val="1400"/>
              </a:spcAft>
              <a:buSzPct val="100000"/>
              <a:buChar char="▪"/>
            </a:pPr>
            <a:r>
              <a:rPr lang="en-US" sz="1500" dirty="0">
                <a:solidFill>
                  <a:srgbClr val="FFFFFF"/>
                </a:solidFill>
                <a:latin typeface="Calibri" pitchFamily="34" charset="0"/>
                <a:ea typeface="Calibri" pitchFamily="34" charset="-122"/>
                <a:cs typeface="Calibri" pitchFamily="34" charset="-120"/>
              </a:rPr>
              <a:t>AI: today’s models mirror both our patterns and our blind spots straight back at us</a:t>
            </a:r>
            <a:endParaRPr lang="en-US" sz="1500" dirty="0"/>
          </a:p>
          <a:p>
            <a:pPr marL="228600" indent="-228600">
              <a:lnSpc>
                <a:spcPct val="125000"/>
              </a:lnSpc>
              <a:spcAft>
                <a:spcPts val="1400"/>
              </a:spcAft>
              <a:buSzPct val="100000"/>
              <a:buChar char="▪"/>
            </a:pPr>
            <a:r>
              <a:rPr lang="en-US" sz="1500" dirty="0">
                <a:solidFill>
                  <a:srgbClr val="FFFFFF"/>
                </a:solidFill>
                <a:latin typeface="Calibri" pitchFamily="34" charset="0"/>
                <a:ea typeface="Calibri" pitchFamily="34" charset="-122"/>
                <a:cs typeface="Calibri" pitchFamily="34" charset="-120"/>
              </a:rPr>
              <a:t>The case study: one life, moved across three countries and as many institutions, makes every one of these ideas concrete</a:t>
            </a:r>
            <a:endParaRPr lang="en-US" sz="1500" dirty="0"/>
          </a:p>
        </p:txBody>
      </p:sp>
      <p:sp>
        <p:nvSpPr>
          <p:cNvPr id="9" name="Text 6"/>
          <p:cNvSpPr/>
          <p:nvPr/>
        </p:nvSpPr>
        <p:spPr>
          <a:xfrm>
            <a:off x="548640" y="5806440"/>
            <a:ext cx="10241280" cy="548640"/>
          </a:xfrm>
          <a:prstGeom prst="rect">
            <a:avLst/>
          </a:prstGeom>
          <a:noFill/>
          <a:ln/>
        </p:spPr>
        <p:txBody>
          <a:bodyPr wrap="square" lIns="0" tIns="0" rIns="0" bIns="0" rtlCol="0" anchor="ctr"/>
          <a:lstStyle/>
          <a:p>
            <a:pPr algn="l" indent="0" marL="0">
              <a:buNone/>
            </a:pPr>
            <a:r>
              <a:rPr lang="en-US" sz="1500" i="1" dirty="0">
                <a:solidFill>
                  <a:srgbClr val="F2B134"/>
                </a:solidFill>
                <a:latin typeface="Cambria" pitchFamily="34" charset="0"/>
                <a:ea typeface="Cambria" pitchFamily="34" charset="-122"/>
                <a:cs typeface="Cambria" pitchFamily="34" charset="-120"/>
              </a:rPr>
              <a:t>The most interesting insights rarely live inside one discipline — they live at the boundary between them.</a:t>
            </a:r>
            <a:endParaRPr lang="en-US" sz="1500" dirty="0"/>
          </a:p>
        </p:txBody>
      </p:sp>
      <p:sp>
        <p:nvSpPr>
          <p:cNvPr id="11" name="Text 7"/>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8891B5"/>
                </a:solidFill>
                <a:latin typeface="Calibri" pitchFamily="34" charset="0"/>
                <a:ea typeface="Calibri" pitchFamily="34" charset="-122"/>
                <a:cs typeface="Calibri" pitchFamily="34" charset="-120"/>
              </a:rPr>
              <a:t>Interdisciplinary Insights  ·  10 / 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2026-07-18T15:13:50Z</dcterms:created>
  <dcterms:modified xsi:type="dcterms:W3CDTF">2026-07-18T15:13:50Z</dcterms:modified>
</cp:coreProperties>
</file>