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frame the deck as a tour across five fields that all study some version of the same question: how a system — a brain, a language, a species, a neural network, or the universe itself — deals with uncertainty and makes predictions. Mention that every slide is chosen for being genuinely useful or surprising, not textbook trivia, and that the last slide ties all four fields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surprising claim that willpower is a much smaller factor in productivity than structure and timing. Walk through ultradian rhythms and the Zeigarnik effect as evidence that the brain has built-in cycles and unfinished-business alarms that better protocols work with instead of against. Close by connecting implementation intentions and attention residue to a practical rule: batch similar work, close loops explicitly, and match hard tasks to your natural peak, not your calendar.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mini case study in the replication crisis — a theory nearly everyone has heard of turned out to be much weaker than believed. Explain the difference between an original single-lab finding and a large pre-registered multi-lab replication, and why the latter is far more trustworthy. The practical point for the audience is to be skeptical of tidy metaphors like 'willpower is a muscle' and to look at what actually replicates: motivation and belief matter more than a depleting resource.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why English spelling seems so irrational, then reveal it's not irrational — it's historical. Explain the Great Vowel Shift as the moment pronunciation raced ahead of spelling, which had just been locked in by the printing press, leaving today's mismatches as a kind of linguistic fossil. Then pivot to phonology itself: coarticulation shows speech has no natural letter boundaries, and the infant phoneme-narrowing finding is a striking, lesser-known result showing how early the brain specializes for its native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linguistic relativity debate carefully: the strong version (language imprisons thought) is discredited, but a well-evidenced weak version survives. The Guugu Yimithirr and Kuuk Thaayorre examples are vivid, well-replicated findings that are rarely taught outside linguistics courses — invite the audience to imagine always knowing compass direction the way they know left and right. Close with the Russian blues study as a clean, measurable example of the same effect showing up in a simple reaction-time task, not just anecdote.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cognitive biases not as design flaws but as an evolutionary trade-off: mechanisms optimized for reproductive success in small ancestral groups, not for accuracy in a modern world. The smoke-detector principle is the key unifying idea — explain the logic of asymmetric error costs, where a system that cries wolf occasionally still wins if it never misses a real wolf. End by noting this reframes self-improvement: you can't delete these instincts, but understanding their old job helps you catch when they're misapplied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audience in the mechanics before the philosophy: tokenization, attention, and next-token prediction are the three ideas that explain almost everything an LLM does. Emphasize how strange it is that something as simple as 'predict the next token' produces translation, coding, and reasoning behavior once scaled far enough — that gap between the simple objective and the complex behavior is the central mystery of the field. Mention scaling laws as one of deep learning's few genuinely predictable, almost physics-like regularities, which is part of why labs kept investing in ever-larger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 is widely discussed but usually explained badly — clarify that it's a natural consequence of a model trained purely to produce plausible next tokens, not evidence of the model 'lying' or malfunctioning in a special way. Grokking is a genuinely obscure and delightful research finding worth spending real time on: a model can appear stuck memorizing for thousands of training steps and then abruptly generalize, which challenges the assumption that a flat loss curve means nothing is happening. In-context learning closes the slide by pointing out that this capability was an unplanned emergent behavior, discovered after the fact, not a designed feature.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that quantum mechanics isn't just small and hard to see, it behaves in ways that violate everyday intuition about objects having definite properties before you look at them. Walk through the double-slit result as the clearest demonstration of superposition, then use entanglement to show correlations that have no classical explanation, stressing this has been tested and confirmed, not merely theorized. The quantum Zeno effect is the rarely-known crowd-pleaser here — spend a moment on it since 'a watched pot never boils' being literally true in a lab is a memorable, discussion-sparking 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the whole talk together by naming the shared thread explicitly: prediction under uncertainty shows up as the brain's core algorithm, as the reason language and biases exist, as the entire training objective of an LLM, and as the mathematical structure of quantum mechanics itself. Encourage the audience to notice this pattern the next time they meet a new field — asking 'what is this system predicting, and what does it do when the prediction is wrong?' is a surprisingly portable lens. Close by inviting questions and pointing out that each of the nine ideas covered has a rich, well-documented literature if anyone wants to go deeper on a specific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2A"/>
        </a:solidFill>
        <a:effectLst/>
      </p:bgPr>
    </p:bg>
    <p:spTree>
      <p:nvGrpSpPr>
        <p:cNvPr id="1" name=""/>
        <p:cNvGrpSpPr/>
        <p:nvPr/>
      </p:nvGrpSpPr>
      <p:grpSpPr/>
      <p:sp>
        <p:nvSpPr>
          <p:cNvPr id="2" name="Rectangle 1"/>
          <p:cNvSpPr/>
          <p:nvPr/>
        </p:nvSpPr>
        <p:spPr>
          <a:xfrm>
            <a:off x="822960" y="2148840"/>
            <a:ext cx="1280160" cy="50800"/>
          </a:xfrm>
          <a:prstGeom prst="rect">
            <a:avLst/>
          </a:prstGeom>
          <a:solidFill>
            <a:srgbClr val="C25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00200"/>
            <a:ext cx="10515600" cy="457200"/>
          </a:xfrm>
          <a:prstGeom prst="rect">
            <a:avLst/>
          </a:prstGeom>
          <a:noFill/>
        </p:spPr>
        <p:txBody>
          <a:bodyPr wrap="square">
            <a:spAutoFit/>
          </a:bodyPr>
          <a:lstStyle/>
          <a:p>
            <a:pPr algn="l"/>
            <a:r>
              <a:rPr sz="1600" b="1" i="0">
                <a:solidFill>
                  <a:srgbClr val="C9CED8"/>
                </a:solidFill>
                <a:latin typeface="Calibri"/>
              </a:rPr>
              <a:t>A TEN-SLIDE FIELD GUIDE</a:t>
            </a:r>
          </a:p>
        </p:txBody>
      </p:sp>
      <p:sp>
        <p:nvSpPr>
          <p:cNvPr id="4" name="TextBox 3"/>
          <p:cNvSpPr txBox="1"/>
          <p:nvPr/>
        </p:nvSpPr>
        <p:spPr>
          <a:xfrm>
            <a:off x="777240" y="2331720"/>
            <a:ext cx="10607040" cy="1828800"/>
          </a:xfrm>
          <a:prstGeom prst="rect">
            <a:avLst/>
          </a:prstGeom>
          <a:noFill/>
        </p:spPr>
        <p:txBody>
          <a:bodyPr wrap="square">
            <a:spAutoFit/>
          </a:bodyPr>
          <a:lstStyle/>
          <a:p>
            <a:pPr algn="l"/>
            <a:r>
              <a:rPr sz="4800" b="1" i="0">
                <a:solidFill>
                  <a:srgbClr val="FAF9F6"/>
                </a:solidFill>
                <a:latin typeface="Calibri"/>
              </a:rPr>
              <a:t>Minds, Words, Particles, Machines</a:t>
            </a:r>
          </a:p>
        </p:txBody>
      </p:sp>
      <p:sp>
        <p:nvSpPr>
          <p:cNvPr id="5" name="TextBox 4"/>
          <p:cNvSpPr txBox="1"/>
          <p:nvPr/>
        </p:nvSpPr>
        <p:spPr>
          <a:xfrm>
            <a:off x="822960" y="3794760"/>
            <a:ext cx="9875520" cy="1188720"/>
          </a:xfrm>
          <a:prstGeom prst="rect">
            <a:avLst/>
          </a:prstGeom>
          <a:noFill/>
        </p:spPr>
        <p:txBody>
          <a:bodyPr wrap="square">
            <a:spAutoFit/>
          </a:bodyPr>
          <a:lstStyle/>
          <a:p>
            <a:pPr algn="l"/>
            <a:r>
              <a:rPr sz="2000" b="0" i="0">
                <a:solidFill>
                  <a:srgbClr val="B8BFCC"/>
                </a:solidFill>
                <a:latin typeface="Calibri"/>
              </a:rPr>
              <a:t>Rarely-taught ideas from psychology, linguistics, evolutionary biology, AI, and quantum physics</a:t>
            </a:r>
          </a:p>
        </p:txBody>
      </p:sp>
      <p:sp>
        <p:nvSpPr>
          <p:cNvPr id="6" name="TextBox 5"/>
          <p:cNvSpPr txBox="1"/>
          <p:nvPr/>
        </p:nvSpPr>
        <p:spPr>
          <a:xfrm>
            <a:off x="822960" y="6263640"/>
            <a:ext cx="9875520" cy="365760"/>
          </a:xfrm>
          <a:prstGeom prst="rect">
            <a:avLst/>
          </a:prstGeom>
          <a:noFill/>
        </p:spPr>
        <p:txBody>
          <a:bodyPr wrap="square">
            <a:spAutoFit/>
          </a:bodyPr>
          <a:lstStyle/>
          <a:p>
            <a:pPr algn="l"/>
            <a:r>
              <a:rPr sz="1300" b="0" i="1">
                <a:solidFill>
                  <a:srgbClr val="6B7180"/>
                </a:solidFill>
                <a:latin typeface="Calibri"/>
              </a:rPr>
              <a:t>Psychology  ·  Linguistics  ·  Evolutionary Biology  ·  Artificial Intelligence  ·  Quantum Physics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2E5EAA"/>
                </a:solidFill>
                <a:latin typeface="Calibri"/>
              </a:rPr>
              <a:t>PSYCHOLOGY</a:t>
            </a:r>
            <a:r>
              <a:rPr sz="1400" b="0" i="0">
                <a:solidFill>
                  <a:srgbClr val="6B7180"/>
                </a:solidFill>
                <a:latin typeface="Calibri"/>
              </a:rPr>
              <a:t>   ·   1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Why Willpower Isn't the Real Lever</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2E5EAA"/>
                </a:solidFill>
                <a:latin typeface="Calibri"/>
              </a:rPr>
              <a:t>―  </a:t>
            </a:r>
            <a:r>
              <a:rPr sz="1700" b="0" i="0">
                <a:solidFill>
                  <a:srgbClr val="1B1F2A"/>
                </a:solidFill>
                <a:latin typeface="Calibri"/>
              </a:rPr>
              <a:t>Ultradian rhythm: focus naturally cycles in ~90-minute waves (Kleitman); working against the trough, not the peak, is what makes tasks feel impossible.</a:t>
            </a:r>
          </a:p>
          <a:p>
            <a:pPr>
              <a:lnSpc>
                <a:spcPct val="115000"/>
              </a:lnSpc>
              <a:spcAft>
                <a:spcPts val="1600"/>
              </a:spcAft>
            </a:pPr>
            <a:r>
              <a:rPr sz="1700" b="1" i="0">
                <a:solidFill>
                  <a:srgbClr val="2E5EAA"/>
                </a:solidFill>
                <a:latin typeface="Calibri"/>
              </a:rPr>
              <a:t>―  </a:t>
            </a:r>
            <a:r>
              <a:rPr sz="1700" b="0" i="0">
                <a:solidFill>
                  <a:srgbClr val="1B1F2A"/>
                </a:solidFill>
                <a:latin typeface="Calibri"/>
              </a:rPr>
              <a:t>The Zeigarnik effect: unfinished tasks intrude on memory far more than finished ones — it's why an open loop nags you at 2 a.m.</a:t>
            </a:r>
          </a:p>
          <a:p>
            <a:pPr>
              <a:lnSpc>
                <a:spcPct val="115000"/>
              </a:lnSpc>
              <a:spcAft>
                <a:spcPts val="1600"/>
              </a:spcAft>
            </a:pPr>
            <a:r>
              <a:rPr sz="1700" b="1" i="0">
                <a:solidFill>
                  <a:srgbClr val="2E5EAA"/>
                </a:solidFill>
                <a:latin typeface="Calibri"/>
              </a:rPr>
              <a:t>―  </a:t>
            </a:r>
            <a:r>
              <a:rPr sz="1700" b="0" i="0">
                <a:solidFill>
                  <a:srgbClr val="1B1F2A"/>
                </a:solidFill>
                <a:latin typeface="Calibri"/>
              </a:rPr>
              <a:t>Implementation intentions (Gollwitzer): a concrete "if X, then I will Y" plan roughly doubles follow-through versus a vague goal.</a:t>
            </a:r>
          </a:p>
          <a:p>
            <a:pPr>
              <a:lnSpc>
                <a:spcPct val="115000"/>
              </a:lnSpc>
              <a:spcAft>
                <a:spcPts val="1600"/>
              </a:spcAft>
            </a:pPr>
            <a:r>
              <a:rPr sz="1700" b="1" i="0">
                <a:solidFill>
                  <a:srgbClr val="2E5EAA"/>
                </a:solidFill>
                <a:latin typeface="Calibri"/>
              </a:rPr>
              <a:t>―  </a:t>
            </a:r>
            <a:r>
              <a:rPr sz="1700" b="0" i="0">
                <a:solidFill>
                  <a:srgbClr val="1B1F2A"/>
                </a:solidFill>
                <a:latin typeface="Calibri"/>
              </a:rPr>
              <a:t>Attention residue (Sophie Leroy): switching tasks before finishing leaves a cognitive trace of the old task, quietly taxing performance on the new one.</a:t>
            </a:r>
          </a:p>
          <a:p>
            <a:pPr>
              <a:lnSpc>
                <a:spcPct val="115000"/>
              </a:lnSpc>
              <a:spcAft>
                <a:spcPts val="1600"/>
              </a:spcAft>
            </a:pPr>
            <a:r>
              <a:rPr sz="1700" b="1" i="0">
                <a:solidFill>
                  <a:srgbClr val="2E5EAA"/>
                </a:solidFill>
                <a:latin typeface="Calibri"/>
              </a:rPr>
              <a:t>―  </a:t>
            </a:r>
            <a:r>
              <a:rPr sz="1700" b="0" i="0">
                <a:solidFill>
                  <a:srgbClr val="1B1F2A"/>
                </a:solidFill>
                <a:latin typeface="Calibri"/>
              </a:rPr>
              <a:t>Takeaway: productivity systems that ignore biological rhythm and unclosed loops are fighting the wrong battle.</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2E5EAA"/>
                </a:solidFill>
                <a:latin typeface="Calibri"/>
              </a:rPr>
              <a:t>PSYCHOLOGY</a:t>
            </a:r>
            <a:r>
              <a:rPr sz="1400" b="0" i="0">
                <a:solidFill>
                  <a:srgbClr val="6B7180"/>
                </a:solidFill>
                <a:latin typeface="Calibri"/>
              </a:rPr>
              <a:t>   ·   2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Ego Depletion: A Famous Theory That Mostly Broke</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2E5EAA"/>
                </a:solidFill>
                <a:latin typeface="Calibri"/>
              </a:rPr>
              <a:t>―  </a:t>
            </a:r>
            <a:r>
              <a:rPr sz="1700" b="0" i="0">
                <a:solidFill>
                  <a:srgbClr val="1B1F2A"/>
                </a:solidFill>
                <a:latin typeface="Calibri"/>
              </a:rPr>
              <a:t>Baumeister's 1998 "ego depletion" claimed willpower is a finite muscle that tires with use — it became one of psychology's most cited ideas.</a:t>
            </a:r>
          </a:p>
          <a:p>
            <a:pPr>
              <a:lnSpc>
                <a:spcPct val="115000"/>
              </a:lnSpc>
              <a:spcAft>
                <a:spcPts val="1600"/>
              </a:spcAft>
            </a:pPr>
            <a:r>
              <a:rPr sz="1700" b="1" i="0">
                <a:solidFill>
                  <a:srgbClr val="2E5EAA"/>
                </a:solidFill>
                <a:latin typeface="Calibri"/>
              </a:rPr>
              <a:t>―  </a:t>
            </a:r>
            <a:r>
              <a:rPr sz="1700" b="0" i="0">
                <a:solidFill>
                  <a:srgbClr val="1B1F2A"/>
                </a:solidFill>
                <a:latin typeface="Calibri"/>
              </a:rPr>
              <a:t>A 2016 multi-lab Registered Replication Report (23 labs, 2,000+ participants) found the effect near zero.</a:t>
            </a:r>
          </a:p>
          <a:p>
            <a:pPr>
              <a:lnSpc>
                <a:spcPct val="115000"/>
              </a:lnSpc>
              <a:spcAft>
                <a:spcPts val="1600"/>
              </a:spcAft>
            </a:pPr>
            <a:r>
              <a:rPr sz="1700" b="1" i="0">
                <a:solidFill>
                  <a:srgbClr val="2E5EAA"/>
                </a:solidFill>
                <a:latin typeface="Calibri"/>
              </a:rPr>
              <a:t>―  </a:t>
            </a:r>
            <a:r>
              <a:rPr sz="1700" b="0" i="0">
                <a:solidFill>
                  <a:srgbClr val="1B1F2A"/>
                </a:solidFill>
                <a:latin typeface="Calibri"/>
              </a:rPr>
              <a:t>The "glucose restores willpower" claim also failed to replicate rigorously — the brain doesn't run low on fuel that fast.</a:t>
            </a:r>
          </a:p>
          <a:p>
            <a:pPr>
              <a:lnSpc>
                <a:spcPct val="115000"/>
              </a:lnSpc>
              <a:spcAft>
                <a:spcPts val="1600"/>
              </a:spcAft>
            </a:pPr>
            <a:r>
              <a:rPr sz="1700" b="1" i="0">
                <a:solidFill>
                  <a:srgbClr val="2E5EAA"/>
                </a:solidFill>
                <a:latin typeface="Calibri"/>
              </a:rPr>
              <a:t>―  </a:t>
            </a:r>
            <a:r>
              <a:rPr sz="1700" b="0" i="0">
                <a:solidFill>
                  <a:srgbClr val="1B1F2A"/>
                </a:solidFill>
                <a:latin typeface="Calibri"/>
              </a:rPr>
              <a:t>What does hold up: motivation, belief about willpower, and switching costs (attention residue) explain most of what looked like "depletion."</a:t>
            </a:r>
          </a:p>
          <a:p>
            <a:pPr>
              <a:lnSpc>
                <a:spcPct val="115000"/>
              </a:lnSpc>
              <a:spcAft>
                <a:spcPts val="1600"/>
              </a:spcAft>
            </a:pPr>
            <a:r>
              <a:rPr sz="1700" b="1" i="0">
                <a:solidFill>
                  <a:srgbClr val="2E5EAA"/>
                </a:solidFill>
                <a:latin typeface="Calibri"/>
              </a:rPr>
              <a:t>―  </a:t>
            </a:r>
            <a:r>
              <a:rPr sz="1700" b="0" i="0">
                <a:solidFill>
                  <a:srgbClr val="1B1F2A"/>
                </a:solidFill>
                <a:latin typeface="Calibri"/>
              </a:rPr>
              <a:t>Lesson for the audience: a famous, intuitive finding can dominate pop psychology for two decades before failing replication.</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C25B2E"/>
                </a:solidFill>
                <a:latin typeface="Calibri"/>
              </a:rPr>
              <a:t>LINGUISTICS</a:t>
            </a:r>
            <a:r>
              <a:rPr sz="1400" b="0" i="0">
                <a:solidFill>
                  <a:srgbClr val="6B7180"/>
                </a:solidFill>
                <a:latin typeface="Calibri"/>
              </a:rPr>
              <a:t>   ·   3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Why English Spelling Feels Broken</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C25B2E"/>
                </a:solidFill>
                <a:latin typeface="Calibri"/>
              </a:rPr>
              <a:t>―  </a:t>
            </a:r>
            <a:r>
              <a:rPr sz="1700" b="0" i="0">
                <a:solidFill>
                  <a:srgbClr val="1B1F2A"/>
                </a:solidFill>
                <a:latin typeface="Calibri"/>
              </a:rPr>
              <a:t>Coarticulation: neighboring sounds physically bleed into each other, so speech is really a continuous smear, not discrete letter-sounds.</a:t>
            </a:r>
          </a:p>
          <a:p>
            <a:pPr>
              <a:lnSpc>
                <a:spcPct val="115000"/>
              </a:lnSpc>
              <a:spcAft>
                <a:spcPts val="1600"/>
              </a:spcAft>
            </a:pPr>
            <a:r>
              <a:rPr sz="1700" b="1" i="0">
                <a:solidFill>
                  <a:srgbClr val="C25B2E"/>
                </a:solidFill>
                <a:latin typeface="Calibri"/>
              </a:rPr>
              <a:t>―  </a:t>
            </a:r>
            <a:r>
              <a:rPr sz="1700" b="0" i="0">
                <a:solidFill>
                  <a:srgbClr val="1B1F2A"/>
                </a:solidFill>
                <a:latin typeface="Calibri"/>
              </a:rPr>
              <a:t>The Great Vowel Shift (c. 1400–1700): English vowel pronunciation changed dramatically after spelling had already been fixed by early printing.</a:t>
            </a:r>
          </a:p>
          <a:p>
            <a:pPr>
              <a:lnSpc>
                <a:spcPct val="115000"/>
              </a:lnSpc>
              <a:spcAft>
                <a:spcPts val="1600"/>
              </a:spcAft>
            </a:pPr>
            <a:r>
              <a:rPr sz="1700" b="1" i="0">
                <a:solidFill>
                  <a:srgbClr val="C25B2E"/>
                </a:solidFill>
                <a:latin typeface="Calibri"/>
              </a:rPr>
              <a:t>―  </a:t>
            </a:r>
            <a:r>
              <a:rPr sz="1700" b="0" i="0">
                <a:solidFill>
                  <a:srgbClr val="1B1F2A"/>
                </a:solidFill>
                <a:latin typeface="Calibri"/>
              </a:rPr>
              <a:t>Result: "knight," "through," and "though" preserve pronunciations from centuries ago — the spelling is a fossil record, not a bad design.</a:t>
            </a:r>
          </a:p>
          <a:p>
            <a:pPr>
              <a:lnSpc>
                <a:spcPct val="115000"/>
              </a:lnSpc>
              <a:spcAft>
                <a:spcPts val="1600"/>
              </a:spcAft>
            </a:pPr>
            <a:r>
              <a:rPr sz="1700" b="1" i="0">
                <a:solidFill>
                  <a:srgbClr val="C25B2E"/>
                </a:solidFill>
                <a:latin typeface="Calibri"/>
              </a:rPr>
              <a:t>―  </a:t>
            </a:r>
            <a:r>
              <a:rPr sz="1700" b="0" i="0">
                <a:solidFill>
                  <a:srgbClr val="1B1F2A"/>
                </a:solidFill>
                <a:latin typeface="Calibri"/>
              </a:rPr>
              <a:t>Infants are universal phoneme listeners at 6 months and can hear contrasts from any language; by ~12 months that ability narrows to their native language's sound categories.</a:t>
            </a:r>
          </a:p>
          <a:p>
            <a:pPr>
              <a:lnSpc>
                <a:spcPct val="115000"/>
              </a:lnSpc>
              <a:spcAft>
                <a:spcPts val="1600"/>
              </a:spcAft>
            </a:pPr>
            <a:r>
              <a:rPr sz="1700" b="1" i="0">
                <a:solidFill>
                  <a:srgbClr val="C25B2E"/>
                </a:solidFill>
                <a:latin typeface="Calibri"/>
              </a:rPr>
              <a:t>―  </a:t>
            </a:r>
            <a:r>
              <a:rPr sz="1700" b="0" i="0">
                <a:solidFill>
                  <a:srgbClr val="1B1F2A"/>
                </a:solidFill>
                <a:latin typeface="Calibri"/>
              </a:rPr>
              <a:t>Voice onset time (the tiny delay between a consonant and voicing) is what your brain uses to sort "b" from "p" — a difference of milliseconds.</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5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C25B2E"/>
                </a:solidFill>
                <a:latin typeface="Calibri"/>
              </a:rPr>
              <a:t>LINGUISTICS</a:t>
            </a:r>
            <a:r>
              <a:rPr sz="1400" b="0" i="0">
                <a:solidFill>
                  <a:srgbClr val="6B7180"/>
                </a:solidFill>
                <a:latin typeface="Calibri"/>
              </a:rPr>
              <a:t>   ·   4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Does Your Language Bend How You Think?</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C25B2E"/>
                </a:solidFill>
                <a:latin typeface="Calibri"/>
              </a:rPr>
              <a:t>―  </a:t>
            </a:r>
            <a:r>
              <a:rPr sz="1700" b="0" i="0">
                <a:solidFill>
                  <a:srgbClr val="1B1F2A"/>
                </a:solidFill>
                <a:latin typeface="Calibri"/>
              </a:rPr>
              <a:t>Guugu Yimithirr (Australia) has no words for "left" or "right" — speakers use absolute directions (north/south/east/west) even for a crumb on a shirt.</a:t>
            </a:r>
          </a:p>
          <a:p>
            <a:pPr>
              <a:lnSpc>
                <a:spcPct val="115000"/>
              </a:lnSpc>
              <a:spcAft>
                <a:spcPts val="1600"/>
              </a:spcAft>
            </a:pPr>
            <a:r>
              <a:rPr sz="1700" b="1" i="0">
                <a:solidFill>
                  <a:srgbClr val="C25B2E"/>
                </a:solidFill>
                <a:latin typeface="Calibri"/>
              </a:rPr>
              <a:t>―  </a:t>
            </a:r>
            <a:r>
              <a:rPr sz="1700" b="0" i="0">
                <a:solidFill>
                  <a:srgbClr val="1B1F2A"/>
                </a:solidFill>
                <a:latin typeface="Calibri"/>
              </a:rPr>
              <a:t>Speakers of such languages maintain an accurate sense of cardinal direction at all times, a skill most "left/right" language speakers never develop.</a:t>
            </a:r>
          </a:p>
          <a:p>
            <a:pPr>
              <a:lnSpc>
                <a:spcPct val="115000"/>
              </a:lnSpc>
              <a:spcAft>
                <a:spcPts val="1600"/>
              </a:spcAft>
            </a:pPr>
            <a:r>
              <a:rPr sz="1700" b="1" i="0">
                <a:solidFill>
                  <a:srgbClr val="C25B2E"/>
                </a:solidFill>
                <a:latin typeface="Calibri"/>
              </a:rPr>
              <a:t>―  </a:t>
            </a:r>
            <a:r>
              <a:rPr sz="1700" b="0" i="0">
                <a:solidFill>
                  <a:srgbClr val="1B1F2A"/>
                </a:solidFill>
                <a:latin typeface="Calibri"/>
              </a:rPr>
              <a:t>Kuuk Thaayorre speakers, when asked to arrange time-sequence cards, order them east-to-west — literally by compass bearing, not by dominant hand.</a:t>
            </a:r>
          </a:p>
          <a:p>
            <a:pPr>
              <a:lnSpc>
                <a:spcPct val="115000"/>
              </a:lnSpc>
              <a:spcAft>
                <a:spcPts val="1600"/>
              </a:spcAft>
            </a:pPr>
            <a:r>
              <a:rPr sz="1700" b="1" i="0">
                <a:solidFill>
                  <a:srgbClr val="C25B2E"/>
                </a:solidFill>
                <a:latin typeface="Calibri"/>
              </a:rPr>
              <a:t>―  </a:t>
            </a:r>
            <a:r>
              <a:rPr sz="1700" b="0" i="0">
                <a:solidFill>
                  <a:srgbClr val="1B1F2A"/>
                </a:solidFill>
                <a:latin typeface="Calibri"/>
              </a:rPr>
              <a:t>Russian has separate basic words for light blue (goluboy) and dark blue (siniy); Russian speakers distinguish the two shades faster than English speakers in lab tests.</a:t>
            </a:r>
          </a:p>
          <a:p>
            <a:pPr>
              <a:lnSpc>
                <a:spcPct val="115000"/>
              </a:lnSpc>
              <a:spcAft>
                <a:spcPts val="1600"/>
              </a:spcAft>
            </a:pPr>
            <a:r>
              <a:rPr sz="1700" b="1" i="0">
                <a:solidFill>
                  <a:srgbClr val="C25B2E"/>
                </a:solidFill>
                <a:latin typeface="Calibri"/>
              </a:rPr>
              <a:t>―  </a:t>
            </a:r>
            <a:r>
              <a:rPr sz="1700" b="0" i="0">
                <a:solidFill>
                  <a:srgbClr val="1B1F2A"/>
                </a:solidFill>
                <a:latin typeface="Calibri"/>
              </a:rPr>
              <a:t>This is weak Sapir-Whorf: language doesn't cage thought, but it does quietly tune default attention and habitual judgment.</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E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3E7C59"/>
                </a:solidFill>
                <a:latin typeface="Calibri"/>
              </a:rPr>
              <a:t>EVOLUTIONARY BIOLOGY</a:t>
            </a:r>
            <a:r>
              <a:rPr sz="1400" b="0" i="0">
                <a:solidFill>
                  <a:srgbClr val="6B7180"/>
                </a:solidFill>
                <a:latin typeface="Calibri"/>
              </a:rPr>
              <a:t>   ·   5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Your Biases Are Bugs That Used to Be Features</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3E7C59"/>
                </a:solidFill>
                <a:latin typeface="Calibri"/>
              </a:rPr>
              <a:t>―  </a:t>
            </a:r>
            <a:r>
              <a:rPr sz="1700" b="0" i="0">
                <a:solidFill>
                  <a:srgbClr val="1B1F2A"/>
                </a:solidFill>
                <a:latin typeface="Calibri"/>
              </a:rPr>
              <a:t>Loss aversion (Kahneman &amp; Tversky): losing $100 hurts roughly twice as much as gaining $100 feels good — an asymmetry that once kept our ancestors from risking scarce resources.</a:t>
            </a:r>
          </a:p>
          <a:p>
            <a:pPr>
              <a:lnSpc>
                <a:spcPct val="115000"/>
              </a:lnSpc>
              <a:spcAft>
                <a:spcPts val="1600"/>
              </a:spcAft>
            </a:pPr>
            <a:r>
              <a:rPr sz="1700" b="1" i="0">
                <a:solidFill>
                  <a:srgbClr val="3E7C59"/>
                </a:solidFill>
                <a:latin typeface="Calibri"/>
              </a:rPr>
              <a:t>―  </a:t>
            </a:r>
            <a:r>
              <a:rPr sz="1700" b="0" i="0">
                <a:solidFill>
                  <a:srgbClr val="1B1F2A"/>
                </a:solidFill>
                <a:latin typeface="Calibri"/>
              </a:rPr>
              <a:t>Negativity bias: threats and criticism register faster and stronger in the brain than praise or good news — one angry face pops out of a crowd of happy ones almost instantly.</a:t>
            </a:r>
          </a:p>
          <a:p>
            <a:pPr>
              <a:lnSpc>
                <a:spcPct val="115000"/>
              </a:lnSpc>
              <a:spcAft>
                <a:spcPts val="1600"/>
              </a:spcAft>
            </a:pPr>
            <a:r>
              <a:rPr sz="1700" b="1" i="0">
                <a:solidFill>
                  <a:srgbClr val="3E7C59"/>
                </a:solidFill>
                <a:latin typeface="Calibri"/>
              </a:rPr>
              <a:t>―  </a:t>
            </a:r>
            <a:r>
              <a:rPr sz="1700" b="0" i="0">
                <a:solidFill>
                  <a:srgbClr val="1B1F2A"/>
                </a:solidFill>
                <a:latin typeface="Calibri"/>
              </a:rPr>
              <a:t>The smoke-detector principle (Randolph Nesse): evolution tunes alarm systems (fear, nausea, jealousy) to over-fire, because a false alarm is cheap but a missed real threat can be fatal.</a:t>
            </a:r>
          </a:p>
          <a:p>
            <a:pPr>
              <a:lnSpc>
                <a:spcPct val="115000"/>
              </a:lnSpc>
              <a:spcAft>
                <a:spcPts val="1600"/>
              </a:spcAft>
            </a:pPr>
            <a:r>
              <a:rPr sz="1700" b="1" i="0">
                <a:solidFill>
                  <a:srgbClr val="3E7C59"/>
                </a:solidFill>
                <a:latin typeface="Calibri"/>
              </a:rPr>
              <a:t>―  </a:t>
            </a:r>
            <a:r>
              <a:rPr sz="1700" b="0" i="0">
                <a:solidFill>
                  <a:srgbClr val="1B1F2A"/>
                </a:solidFill>
                <a:latin typeface="Calibri"/>
              </a:rPr>
              <a:t>In-group bias formed in small bands where trusting strangers was genuinely risky — the same wiring now misfires at the scale of nations and social media.</a:t>
            </a:r>
          </a:p>
          <a:p>
            <a:pPr>
              <a:lnSpc>
                <a:spcPct val="115000"/>
              </a:lnSpc>
              <a:spcAft>
                <a:spcPts val="1600"/>
              </a:spcAft>
            </a:pPr>
            <a:r>
              <a:rPr sz="1700" b="1" i="0">
                <a:solidFill>
                  <a:srgbClr val="3E7C59"/>
                </a:solidFill>
                <a:latin typeface="Calibri"/>
              </a:rPr>
              <a:t>―  </a:t>
            </a:r>
            <a:r>
              <a:rPr sz="1700" b="0" i="0">
                <a:solidFill>
                  <a:srgbClr val="1B1F2A"/>
                </a:solidFill>
                <a:latin typeface="Calibri"/>
              </a:rPr>
              <a:t>None of these are irrational in their original context — they're mismatches between ancestral environments and modern ones.</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A4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7A4C9E"/>
                </a:solidFill>
                <a:latin typeface="Calibri"/>
              </a:rPr>
              <a:t>ARTIFICIAL INTELLIGENCE</a:t>
            </a:r>
            <a:r>
              <a:rPr sz="1400" b="0" i="0">
                <a:solidFill>
                  <a:srgbClr val="6B7180"/>
                </a:solidFill>
                <a:latin typeface="Calibri"/>
              </a:rPr>
              <a:t>   ·   6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What an LLM Actually Does, Step by Step</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7A4C9E"/>
                </a:solidFill>
                <a:latin typeface="Calibri"/>
              </a:rPr>
              <a:t>―  </a:t>
            </a:r>
            <a:r>
              <a:rPr sz="1700" b="0" i="0">
                <a:solidFill>
                  <a:srgbClr val="1B1F2A"/>
                </a:solidFill>
                <a:latin typeface="Calibri"/>
              </a:rPr>
              <a:t>Tokenization: text is chopped into sub-word pieces (byte-pair encoding) — "unbelievable" might become "un" + "believ" + "able," not whole words.</a:t>
            </a:r>
          </a:p>
          <a:p>
            <a:pPr>
              <a:lnSpc>
                <a:spcPct val="115000"/>
              </a:lnSpc>
              <a:spcAft>
                <a:spcPts val="1600"/>
              </a:spcAft>
            </a:pPr>
            <a:r>
              <a:rPr sz="1700" b="1" i="0">
                <a:solidFill>
                  <a:srgbClr val="7A4C9E"/>
                </a:solidFill>
                <a:latin typeface="Calibri"/>
              </a:rPr>
              <a:t>―  </a:t>
            </a:r>
            <a:r>
              <a:rPr sz="1700" b="0" i="0">
                <a:solidFill>
                  <a:srgbClr val="1B1F2A"/>
                </a:solidFill>
                <a:latin typeface="Calibri"/>
              </a:rPr>
              <a:t>Self-attention: for every token, the model computes how much every other token in the context should influence it — this is what lets it track "it" back to the right noun across a paragraph.</a:t>
            </a:r>
          </a:p>
          <a:p>
            <a:pPr>
              <a:lnSpc>
                <a:spcPct val="115000"/>
              </a:lnSpc>
              <a:spcAft>
                <a:spcPts val="1600"/>
              </a:spcAft>
            </a:pPr>
            <a:r>
              <a:rPr sz="1700" b="1" i="0">
                <a:solidFill>
                  <a:srgbClr val="7A4C9E"/>
                </a:solidFill>
                <a:latin typeface="Calibri"/>
              </a:rPr>
              <a:t>―  </a:t>
            </a:r>
            <a:r>
              <a:rPr sz="1700" b="0" i="0">
                <a:solidFill>
                  <a:srgbClr val="1B1F2A"/>
                </a:solidFill>
                <a:latin typeface="Calibri"/>
              </a:rPr>
              <a:t>Training objective is deceptively simple: predict the next token, over and over, across trillions of tokens of text.</a:t>
            </a:r>
          </a:p>
          <a:p>
            <a:pPr>
              <a:lnSpc>
                <a:spcPct val="115000"/>
              </a:lnSpc>
              <a:spcAft>
                <a:spcPts val="1600"/>
              </a:spcAft>
            </a:pPr>
            <a:r>
              <a:rPr sz="1700" b="1" i="0">
                <a:solidFill>
                  <a:srgbClr val="7A4C9E"/>
                </a:solidFill>
                <a:latin typeface="Calibri"/>
              </a:rPr>
              <a:t>―  </a:t>
            </a:r>
            <a:r>
              <a:rPr sz="1700" b="0" i="0">
                <a:solidFill>
                  <a:srgbClr val="1B1F2A"/>
                </a:solidFill>
                <a:latin typeface="Calibri"/>
              </a:rPr>
              <a:t>Scaling laws: loss (prediction error) falls in a smooth, predictable curve as you add data, parameters, and compute — one of the few genuinely lawlike patterns in deep learning.</a:t>
            </a:r>
          </a:p>
          <a:p>
            <a:pPr>
              <a:lnSpc>
                <a:spcPct val="115000"/>
              </a:lnSpc>
              <a:spcAft>
                <a:spcPts val="1600"/>
              </a:spcAft>
            </a:pPr>
            <a:r>
              <a:rPr sz="1700" b="1" i="0">
                <a:solidFill>
                  <a:srgbClr val="7A4C9E"/>
                </a:solidFill>
                <a:latin typeface="Calibri"/>
              </a:rPr>
              <a:t>―  </a:t>
            </a:r>
            <a:r>
              <a:rPr sz="1700" b="0" i="0">
                <a:solidFill>
                  <a:srgbClr val="1B1F2A"/>
                </a:solidFill>
                <a:latin typeface="Calibri"/>
              </a:rPr>
              <a:t>Emergent abilities: skills like multi-step arithmetic or chain-of-thought reasoning appear suddenly at certain scale thresholds rather than growing gradually.</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A4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7A4C9E"/>
                </a:solidFill>
                <a:latin typeface="Calibri"/>
              </a:rPr>
              <a:t>ARTIFICIAL INTELLIGENCE</a:t>
            </a:r>
            <a:r>
              <a:rPr sz="1400" b="0" i="0">
                <a:solidFill>
                  <a:srgbClr val="6B7180"/>
                </a:solidFill>
                <a:latin typeface="Calibri"/>
              </a:rPr>
              <a:t>   ·   7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Hallucination and Grokking: Two Under-Taught LLM Quirks</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7A4C9E"/>
                </a:solidFill>
                <a:latin typeface="Calibri"/>
              </a:rPr>
              <a:t>―  </a:t>
            </a:r>
            <a:r>
              <a:rPr sz="1700" b="0" i="0">
                <a:solidFill>
                  <a:srgbClr val="1B1F2A"/>
                </a:solidFill>
                <a:latin typeface="Calibri"/>
              </a:rPr>
              <a:t>Hallucination isn't a random glitch — it's the same next-token-prediction machinery producing fluent text with no built-in "I don't know" signal.</a:t>
            </a:r>
          </a:p>
          <a:p>
            <a:pPr>
              <a:lnSpc>
                <a:spcPct val="115000"/>
              </a:lnSpc>
              <a:spcAft>
                <a:spcPts val="1600"/>
              </a:spcAft>
            </a:pPr>
            <a:r>
              <a:rPr sz="1700" b="1" i="0">
                <a:solidFill>
                  <a:srgbClr val="7A4C9E"/>
                </a:solidFill>
                <a:latin typeface="Calibri"/>
              </a:rPr>
              <a:t>―  </a:t>
            </a:r>
            <a:r>
              <a:rPr sz="1700" b="0" i="0">
                <a:solidFill>
                  <a:srgbClr val="1B1F2A"/>
                </a:solidFill>
                <a:latin typeface="Calibri"/>
              </a:rPr>
              <a:t>RLHF (human feedback tuning) often rewards confident-sounding answers over honest uncertainty, which can make hallucination worse, not better.</a:t>
            </a:r>
          </a:p>
          <a:p>
            <a:pPr>
              <a:lnSpc>
                <a:spcPct val="115000"/>
              </a:lnSpc>
              <a:spcAft>
                <a:spcPts val="1600"/>
              </a:spcAft>
            </a:pPr>
            <a:r>
              <a:rPr sz="1700" b="1" i="0">
                <a:solidFill>
                  <a:srgbClr val="7A4C9E"/>
                </a:solidFill>
                <a:latin typeface="Calibri"/>
              </a:rPr>
              <a:t>―  </a:t>
            </a:r>
            <a:r>
              <a:rPr sz="1700" b="0" i="0">
                <a:solidFill>
                  <a:srgbClr val="1B1F2A"/>
                </a:solidFill>
                <a:latin typeface="Calibri"/>
              </a:rPr>
              <a:t>Grokking: some small models trained on simple tasks memorize the training data first, plateau for a long time, then suddenly "get it" and generalize perfectly — long after training loss looked flat.</a:t>
            </a:r>
          </a:p>
          <a:p>
            <a:pPr>
              <a:lnSpc>
                <a:spcPct val="115000"/>
              </a:lnSpc>
              <a:spcAft>
                <a:spcPts val="1600"/>
              </a:spcAft>
            </a:pPr>
            <a:r>
              <a:rPr sz="1700" b="1" i="0">
                <a:solidFill>
                  <a:srgbClr val="7A4C9E"/>
                </a:solidFill>
                <a:latin typeface="Calibri"/>
              </a:rPr>
              <a:t>―  </a:t>
            </a:r>
            <a:r>
              <a:rPr sz="1700" b="0" i="0">
                <a:solidFill>
                  <a:srgbClr val="1B1F2A"/>
                </a:solidFill>
                <a:latin typeface="Calibri"/>
              </a:rPr>
              <a:t>Grokking suggests models can be quietly reorganizing their internal representations during what looks like a boring plateau, not just idling.</a:t>
            </a:r>
          </a:p>
          <a:p>
            <a:pPr>
              <a:lnSpc>
                <a:spcPct val="115000"/>
              </a:lnSpc>
              <a:spcAft>
                <a:spcPts val="1600"/>
              </a:spcAft>
            </a:pPr>
            <a:r>
              <a:rPr sz="1700" b="1" i="0">
                <a:solidFill>
                  <a:srgbClr val="7A4C9E"/>
                </a:solidFill>
                <a:latin typeface="Calibri"/>
              </a:rPr>
              <a:t>―  </a:t>
            </a:r>
            <a:r>
              <a:rPr sz="1700" b="0" i="0">
                <a:solidFill>
                  <a:srgbClr val="1B1F2A"/>
                </a:solidFill>
                <a:latin typeface="Calibri"/>
              </a:rPr>
              <a:t>In-context learning: a model can learn a brand-new pattern from a few examples in the prompt alone, with no weight updates at all — a capability nobody explicitly trained into it.</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E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1E7A8C"/>
                </a:solidFill>
                <a:latin typeface="Calibri"/>
              </a:rPr>
              <a:t>QUANTUM PHYSICS</a:t>
            </a:r>
            <a:r>
              <a:rPr sz="1400" b="0" i="0">
                <a:solidFill>
                  <a:srgbClr val="6B7180"/>
                </a:solidFill>
                <a:latin typeface="Calibri"/>
              </a:rPr>
              <a:t>   ·   8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The Weirdness Is the Rule, Not the Exception</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1E7A8C"/>
                </a:solidFill>
                <a:latin typeface="Calibri"/>
              </a:rPr>
              <a:t>―  </a:t>
            </a:r>
            <a:r>
              <a:rPr sz="1700" b="0" i="0">
                <a:solidFill>
                  <a:srgbClr val="1B1F2A"/>
                </a:solidFill>
                <a:latin typeface="Calibri"/>
              </a:rPr>
              <a:t>Superposition: a quantum particle's state is a combination of possibilities until measured — not "unknown to us" but genuinely undetermined.</a:t>
            </a:r>
          </a:p>
          <a:p>
            <a:pPr>
              <a:lnSpc>
                <a:spcPct val="115000"/>
              </a:lnSpc>
              <a:spcAft>
                <a:spcPts val="1600"/>
              </a:spcAft>
            </a:pPr>
            <a:r>
              <a:rPr sz="1700" b="1" i="0">
                <a:solidFill>
                  <a:srgbClr val="1E7A8C"/>
                </a:solidFill>
                <a:latin typeface="Calibri"/>
              </a:rPr>
              <a:t>―  </a:t>
            </a:r>
            <a:r>
              <a:rPr sz="1700" b="0" i="0">
                <a:solidFill>
                  <a:srgbClr val="1B1F2A"/>
                </a:solidFill>
                <a:latin typeface="Calibri"/>
              </a:rPr>
              <a:t>The double-slit experiment: individual electrons fired one at a time still build up an interference pattern, as though each one passes through both slits and interferes with itself.</a:t>
            </a:r>
          </a:p>
          <a:p>
            <a:pPr>
              <a:lnSpc>
                <a:spcPct val="115000"/>
              </a:lnSpc>
              <a:spcAft>
                <a:spcPts val="1600"/>
              </a:spcAft>
            </a:pPr>
            <a:r>
              <a:rPr sz="1700" b="1" i="0">
                <a:solidFill>
                  <a:srgbClr val="1E7A8C"/>
                </a:solidFill>
                <a:latin typeface="Calibri"/>
              </a:rPr>
              <a:t>―  </a:t>
            </a:r>
            <a:r>
              <a:rPr sz="1700" b="0" i="0">
                <a:solidFill>
                  <a:srgbClr val="1B1F2A"/>
                </a:solidFill>
                <a:latin typeface="Calibri"/>
              </a:rPr>
              <a:t>Entanglement: two particles can share a linked state such that measuring one instantly determines the other's outcome, regardless of distance — Einstein's "spooky action at a distance," now experimentally confirmed.</a:t>
            </a:r>
          </a:p>
          <a:p>
            <a:pPr>
              <a:lnSpc>
                <a:spcPct val="115000"/>
              </a:lnSpc>
              <a:spcAft>
                <a:spcPts val="1600"/>
              </a:spcAft>
            </a:pPr>
            <a:r>
              <a:rPr sz="1700" b="1" i="0">
                <a:solidFill>
                  <a:srgbClr val="1E7A8C"/>
                </a:solidFill>
                <a:latin typeface="Calibri"/>
              </a:rPr>
              <a:t>―  </a:t>
            </a:r>
            <a:r>
              <a:rPr sz="1700" b="0" i="0">
                <a:solidFill>
                  <a:srgbClr val="1B1F2A"/>
                </a:solidFill>
                <a:latin typeface="Calibri"/>
              </a:rPr>
              <a:t>Quantum tunneling: particles can pass through energy barriers that classical physics says are impossible to cross — it's the reason the sun can fuse hydrogen at its actual core temperature.</a:t>
            </a:r>
          </a:p>
          <a:p>
            <a:pPr>
              <a:lnSpc>
                <a:spcPct val="115000"/>
              </a:lnSpc>
              <a:spcAft>
                <a:spcPts val="1600"/>
              </a:spcAft>
            </a:pPr>
            <a:r>
              <a:rPr sz="1700" b="1" i="0">
                <a:solidFill>
                  <a:srgbClr val="1E7A8C"/>
                </a:solidFill>
                <a:latin typeface="Calibri"/>
              </a:rPr>
              <a:t>―  </a:t>
            </a:r>
            <a:r>
              <a:rPr sz="1700" b="0" i="0">
                <a:solidFill>
                  <a:srgbClr val="1B1F2A"/>
                </a:solidFill>
                <a:latin typeface="Calibri"/>
              </a:rPr>
              <a:t>The quantum Zeno effect: frequent enough measurement can literally freeze a quantum system's evolution — a real, lab-verified version of "a watched pot never boils."</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8C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9601200" cy="365760"/>
          </a:xfrm>
          <a:prstGeom prst="rect">
            <a:avLst/>
          </a:prstGeom>
          <a:noFill/>
        </p:spPr>
        <p:txBody>
          <a:bodyPr wrap="square">
            <a:spAutoFit/>
          </a:bodyPr>
          <a:lstStyle/>
          <a:p>
            <a:r>
              <a:rPr sz="1400" b="1" i="0">
                <a:solidFill>
                  <a:srgbClr val="8C3A5B"/>
                </a:solidFill>
                <a:latin typeface="Calibri"/>
              </a:rPr>
              <a:t>SYNTHESIS</a:t>
            </a:r>
            <a:r>
              <a:rPr sz="1400" b="0" i="0">
                <a:solidFill>
                  <a:srgbClr val="6B7180"/>
                </a:solidFill>
                <a:latin typeface="Calibri"/>
              </a:rPr>
              <a:t>   ·   9 / 9</a:t>
            </a:r>
          </a:p>
        </p:txBody>
      </p:sp>
      <p:sp>
        <p:nvSpPr>
          <p:cNvPr id="4" name="TextBox 3"/>
          <p:cNvSpPr txBox="1"/>
          <p:nvPr/>
        </p:nvSpPr>
        <p:spPr>
          <a:xfrm>
            <a:off x="548640" y="685800"/>
            <a:ext cx="10789920" cy="1005840"/>
          </a:xfrm>
          <a:prstGeom prst="rect">
            <a:avLst/>
          </a:prstGeom>
          <a:noFill/>
        </p:spPr>
        <p:txBody>
          <a:bodyPr wrap="square">
            <a:spAutoFit/>
          </a:bodyPr>
          <a:lstStyle/>
          <a:p>
            <a:r>
              <a:rPr sz="3000" b="1" i="0">
                <a:solidFill>
                  <a:srgbClr val="1B1F2A"/>
                </a:solidFill>
                <a:latin typeface="Calibri"/>
              </a:rPr>
              <a:t>One Thread Through All Four Fields</a:t>
            </a:r>
          </a:p>
        </p:txBody>
      </p:sp>
      <p:sp>
        <p:nvSpPr>
          <p:cNvPr id="5" name="Rectangle 4"/>
          <p:cNvSpPr/>
          <p:nvPr/>
        </p:nvSpPr>
        <p:spPr>
          <a:xfrm>
            <a:off x="594360" y="1600200"/>
            <a:ext cx="10424160" cy="19050"/>
          </a:xfrm>
          <a:prstGeom prst="rect">
            <a:avLst/>
          </a:prstGeom>
          <a:solidFill>
            <a:srgbClr val="DDD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698480" cy="4572000"/>
          </a:xfrm>
          <a:prstGeom prst="rect">
            <a:avLst/>
          </a:prstGeom>
          <a:noFill/>
        </p:spPr>
        <p:txBody>
          <a:bodyPr wrap="square">
            <a:spAutoFit/>
          </a:bodyPr>
          <a:lstStyle/>
          <a:p>
            <a:pPr>
              <a:lnSpc>
                <a:spcPct val="115000"/>
              </a:lnSpc>
              <a:spcAft>
                <a:spcPts val="1600"/>
              </a:spcAft>
            </a:pPr>
            <a:r>
              <a:rPr sz="1700" b="1" i="0">
                <a:solidFill>
                  <a:srgbClr val="8C3A5B"/>
                </a:solidFill>
                <a:latin typeface="Calibri"/>
              </a:rPr>
              <a:t>―  </a:t>
            </a:r>
            <a:r>
              <a:rPr sz="1700" b="0" i="0">
                <a:solidFill>
                  <a:srgbClr val="1B1F2A"/>
                </a:solidFill>
                <a:latin typeface="Calibri"/>
              </a:rPr>
              <a:t>The predictive brain: neuroscience increasingly models the brain as a prediction engine, constantly guessing sensory input and updating on error — not a passive recorder of reality.</a:t>
            </a:r>
          </a:p>
          <a:p>
            <a:pPr>
              <a:lnSpc>
                <a:spcPct val="115000"/>
              </a:lnSpc>
              <a:spcAft>
                <a:spcPts val="1600"/>
              </a:spcAft>
            </a:pPr>
            <a:r>
              <a:rPr sz="1700" b="1" i="0">
                <a:solidFill>
                  <a:srgbClr val="8C3A5B"/>
                </a:solidFill>
                <a:latin typeface="Calibri"/>
              </a:rPr>
              <a:t>―  </a:t>
            </a:r>
            <a:r>
              <a:rPr sz="1700" b="0" i="0">
                <a:solidFill>
                  <a:srgbClr val="1B1F2A"/>
                </a:solidFill>
                <a:latin typeface="Calibri"/>
              </a:rPr>
              <a:t>Language evolved as a low-bandwidth code for compressing and transmitting those predictions between brains, which is why ambiguity, idiom, and metaphor are features, not bugs.</a:t>
            </a:r>
          </a:p>
          <a:p>
            <a:pPr>
              <a:lnSpc>
                <a:spcPct val="115000"/>
              </a:lnSpc>
              <a:spcAft>
                <a:spcPts val="1600"/>
              </a:spcAft>
            </a:pPr>
            <a:r>
              <a:rPr sz="1700" b="1" i="0">
                <a:solidFill>
                  <a:srgbClr val="8C3A5B"/>
                </a:solidFill>
                <a:latin typeface="Calibri"/>
              </a:rPr>
              <a:t>―  </a:t>
            </a:r>
            <a:r>
              <a:rPr sz="1700" b="0" i="0">
                <a:solidFill>
                  <a:srgbClr val="1B1F2A"/>
                </a:solidFill>
                <a:latin typeface="Calibri"/>
              </a:rPr>
              <a:t>Evolutionary biases are simply predictions that got hard-coded because they paid off often enough, even though they're miscalibrated for modern life.</a:t>
            </a:r>
          </a:p>
          <a:p>
            <a:pPr>
              <a:lnSpc>
                <a:spcPct val="115000"/>
              </a:lnSpc>
              <a:spcAft>
                <a:spcPts val="1600"/>
              </a:spcAft>
            </a:pPr>
            <a:r>
              <a:rPr sz="1700" b="1" i="0">
                <a:solidFill>
                  <a:srgbClr val="8C3A5B"/>
                </a:solidFill>
                <a:latin typeface="Calibri"/>
              </a:rPr>
              <a:t>―  </a:t>
            </a:r>
            <a:r>
              <a:rPr sz="1700" b="0" i="0">
                <a:solidFill>
                  <a:srgbClr val="1B1F2A"/>
                </a:solidFill>
                <a:latin typeface="Calibri"/>
              </a:rPr>
              <a:t>LLMs formalize the same principle in silicon: a system trained on nothing but "predict what comes next" turns out to approximate reasoning, dialogue, and knowledge retrieval.</a:t>
            </a:r>
          </a:p>
          <a:p>
            <a:pPr>
              <a:lnSpc>
                <a:spcPct val="115000"/>
              </a:lnSpc>
              <a:spcAft>
                <a:spcPts val="1600"/>
              </a:spcAft>
            </a:pPr>
            <a:r>
              <a:rPr sz="1700" b="1" i="0">
                <a:solidFill>
                  <a:srgbClr val="8C3A5B"/>
                </a:solidFill>
                <a:latin typeface="Calibri"/>
              </a:rPr>
              <a:t>―  </a:t>
            </a:r>
            <a:r>
              <a:rPr sz="1700" b="0" i="0">
                <a:solidFill>
                  <a:srgbClr val="1B1F2A"/>
                </a:solidFill>
                <a:latin typeface="Calibri"/>
              </a:rPr>
              <a:t>Even physics bends toward this frame — quantum mechanics is fundamentally about probabilities and measurement, not certainties, all the way down.</a:t>
            </a:r>
          </a:p>
        </p:txBody>
      </p:sp>
      <p:sp>
        <p:nvSpPr>
          <p:cNvPr id="7" name="TextBox 6"/>
          <p:cNvSpPr txBox="1"/>
          <p:nvPr/>
        </p:nvSpPr>
        <p:spPr>
          <a:xfrm>
            <a:off x="594360" y="6446520"/>
            <a:ext cx="10698480" cy="320040"/>
          </a:xfrm>
          <a:prstGeom prst="rect">
            <a:avLst/>
          </a:prstGeom>
          <a:noFill/>
        </p:spPr>
        <p:txBody>
          <a:bodyPr wrap="square">
            <a:spAutoFit/>
          </a:bodyPr>
          <a:lstStyle/>
          <a:p>
            <a:r>
              <a:rPr sz="1000" b="0" i="1">
                <a:solidFill>
                  <a:srgbClr val="6B7180"/>
                </a:solidFill>
                <a:latin typeface="Calibri"/>
              </a:rPr>
              <a:t>Minds, Words, Particles, Machines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