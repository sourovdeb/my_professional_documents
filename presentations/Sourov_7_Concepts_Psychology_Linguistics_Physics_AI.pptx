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You'll explore seven rare-angle concepts through one person's real life journey—from Bangladesh to France to Australia, through workplace trauma to recovery, from language learning to AI. The promise: abstract ideas become concrete when they illuminate lived experience. This isn't a textbook. It's a story that teaches.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Migration isn't purely rational calculation—there's an evolutionary substrate pulling us toward status, security, belonging. Sourov's move from Bangladesh to France wasn't accidental; recognizing the patterns (security-seeking, cultural capital-chasing) helped him later choose more consciously about Australia. The rare angle: evolutionary bias isn't something to shame yourself for; it's something to see clearly, then transcend.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Code-switching isn't a failure to integrate or an act of deception. Linguists study it as evidence of sophisticated cognitive flexibility—you're managing multiple identity-contexts simultaneously. Sourov's journey across three countries shows code-switching in real time: accent, vocabulary, humor all shift. The rare angle: phonological change is identity work, and it's exhausting and powerful at once.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Phonological patterns don't just help us pronounce—they shape how memory itself works. Certain sound sequences feel 'right' across cultures because they exploit universal cognitive constraints. Sourov's teaching career shows this: pronunciation drills are actually memory drills. The rare angle: phonology is a cognitive lever everyone pulls, but linguists study it as though it's exotic. It's not—it's how your brain works.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Post-trauma productivity loss is real and isn't fixed by 'hustle harder.' But ADHD minds often have unexpected resilience post-trauma because they've built external scaffolding (lists, timers, accountability) for their attention. Sourov's workplace trauma was compounded by undiagnosed ADHD; recovery came when he stopped fighting the ADHD and started using it. The rare angle: ADHD as pragmatic asset, not inspirational narrative.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LLMs are stable because they have consistent parameters (system prompt, temperature, top-k) combined with flexible outputs. Human stability works the same way—you need crystal-clear values/rules, then permission to execute flexibly. This matters for ADHD brains especially, which struggle with rigid approaches but thrive with clear principles + tactical freedom. The teaching: write your system prompt for your own life.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People often worry 'AI will replace language teachers.' But watching LLMs struggle with nuance and context makes clear what human teachers actually teach: not pattern-matching, but judgment, culture, identity, belonging. Sourov's students aren't learning English; they're learning how to be heard in English. LLMs can't do that. The teaching: understanding AI limitations is the best way to understand human expertise.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metaphor, not physics—but a powerful one. ADHD attention IS like superposition: you're genuinely attending to multiple threads simultaneously, and the moment you 'force focus' you lose the multi-threaded insight. Meditation teaches you to observe attention without collapsing it. Sourov's meditation practice made peace with ADHD not by 'fixing' it but by accepting how his attention actually works. The rare angle: the problem isn't ADHD; it's fighting ADHD.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often tell ourselves partnerships and migrations are purely rational decisions. They're not. But they're also not purely instinctive. Evolutionary psychology maps the unconscious terrain; consciousness is what lets you choose your path through it. Sourov's journey—why marry this person, why move to Australia—shows both: deep patterns recognized, then transcended by conscious choice. The teaching: you're not a puppet of evolution, but understanding the puppet-strings is the first step to freedom.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entire presentation isn't about Sourov—it's about how to build stability in your own life using these concepts. Take the ADHD framework, the phonological awareness, the evolutionary insight, the quantum acceptance—and make them yours. A system prompt for your life is crystal clarity about what matters, combined with permission to execute tactically. Your external scaffolding is whatever works for your neurology (lists, routines, space, time-blocking). Your observation practice is recognizing patterns without fighting them. That combination = stability.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1371600"/>
          </a:xfrm>
          <a:prstGeom prst="rect">
            <a:avLst/>
          </a:prstGeom>
          <a:noFill/>
        </p:spPr>
        <p:txBody>
          <a:bodyPr wrap="square">
            <a:spAutoFit/>
          </a:bodyPr>
          <a:lstStyle/>
          <a:p>
            <a:pPr>
              <a:defRPr sz="4400" b="1">
                <a:solidFill>
                  <a:srgbClr val="191970"/>
                </a:solidFill>
              </a:defRPr>
            </a:pPr>
            <a:r>
              <a:t>Seven Concepts, One Life:</a:t>
            </a:r>
            <a:br/>
            <a:r>
              <a:t>Thriving in Uncertainty</a:t>
            </a:r>
          </a:p>
        </p:txBody>
      </p:sp>
      <p:sp>
        <p:nvSpPr>
          <p:cNvPr id="3" name="TextBox 2"/>
          <p:cNvSpPr txBox="1"/>
          <p:nvPr/>
        </p:nvSpPr>
        <p:spPr>
          <a:xfrm>
            <a:off x="685800" y="2057400"/>
            <a:ext cx="7772400" cy="4114800"/>
          </a:xfrm>
          <a:prstGeom prst="rect">
            <a:avLst/>
          </a:prstGeom>
          <a:noFill/>
        </p:spPr>
        <p:txBody>
          <a:bodyPr wrap="square">
            <a:spAutoFit/>
          </a:bodyPr>
          <a:lstStyle/>
          <a:p>
            <a:pPr>
              <a:spcBef>
                <a:spcPts val="1200"/>
              </a:spcBef>
              <a:spcAft>
                <a:spcPts val="600"/>
              </a:spcAft>
              <a:defRPr sz="2400"/>
            </a:pPr>
            <a:r>
              <a:t>Psychology: Productivity after trauma &amp; ADHD</a:t>
            </a:r>
          </a:p>
          <a:p>
            <a:pPr>
              <a:spcBef>
                <a:spcPts val="1200"/>
              </a:spcBef>
              <a:spcAft>
                <a:spcPts val="600"/>
              </a:spcAft>
              <a:defRPr sz="2400"/>
            </a:pPr>
            <a:r>
              <a:t>Linguistics: Phonology shapes identity &amp; memory</a:t>
            </a:r>
          </a:p>
          <a:p>
            <a:pPr>
              <a:spcBef>
                <a:spcPts val="1200"/>
              </a:spcBef>
              <a:spcAft>
                <a:spcPts val="600"/>
              </a:spcAft>
              <a:defRPr sz="2400"/>
            </a:pPr>
            <a:r>
              <a:t>Physics: Quantum thinking meets meditation</a:t>
            </a:r>
          </a:p>
          <a:p>
            <a:pPr>
              <a:spcBef>
                <a:spcPts val="1200"/>
              </a:spcBef>
              <a:spcAft>
                <a:spcPts val="600"/>
              </a:spcAft>
              <a:defRPr sz="2400"/>
            </a:pPr>
            <a:r>
              <a:t>AI: What LLM limitations teach us about human learning</a:t>
            </a:r>
          </a:p>
          <a:p>
            <a:pPr>
              <a:spcBef>
                <a:spcPts val="1200"/>
              </a:spcBef>
              <a:spcAft>
                <a:spcPts val="600"/>
              </a:spcAft>
              <a:defRPr sz="2400"/>
            </a:pPr>
            <a:r>
              <a:t>Personal: How these concepts interconnect in one journey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1371600"/>
          </a:xfrm>
          <a:prstGeom prst="rect">
            <a:avLst/>
          </a:prstGeom>
          <a:noFill/>
        </p:spPr>
        <p:txBody>
          <a:bodyPr wrap="square">
            <a:spAutoFit/>
          </a:bodyPr>
          <a:lstStyle/>
          <a:p>
            <a:pPr>
              <a:defRPr sz="4400" b="1">
                <a:solidFill>
                  <a:srgbClr val="191970"/>
                </a:solidFill>
              </a:defRPr>
            </a:pPr>
            <a:r>
              <a:t>From Bangladesh to France:</a:t>
            </a:r>
            <a:br/>
            <a:r>
              <a:t>Why We Belong (and Where)</a:t>
            </a:r>
          </a:p>
        </p:txBody>
      </p:sp>
      <p:sp>
        <p:nvSpPr>
          <p:cNvPr id="3" name="TextBox 2"/>
          <p:cNvSpPr txBox="1"/>
          <p:nvPr/>
        </p:nvSpPr>
        <p:spPr>
          <a:xfrm>
            <a:off x="685800" y="2057400"/>
            <a:ext cx="7772400" cy="4114800"/>
          </a:xfrm>
          <a:prstGeom prst="rect">
            <a:avLst/>
          </a:prstGeom>
          <a:noFill/>
        </p:spPr>
        <p:txBody>
          <a:bodyPr wrap="square">
            <a:spAutoFit/>
          </a:bodyPr>
          <a:lstStyle/>
          <a:p>
            <a:pPr>
              <a:spcBef>
                <a:spcPts val="1200"/>
              </a:spcBef>
              <a:spcAft>
                <a:spcPts val="600"/>
              </a:spcAft>
              <a:defRPr sz="2400"/>
            </a:pPr>
            <a:r>
              <a:t>Evolutionary bias: unconscious patterns in migration choice</a:t>
            </a:r>
          </a:p>
          <a:p>
            <a:pPr>
              <a:spcBef>
                <a:spcPts val="1200"/>
              </a:spcBef>
              <a:spcAft>
                <a:spcPts val="600"/>
              </a:spcAft>
              <a:defRPr sz="2400"/>
            </a:pPr>
            <a:r>
              <a:t>Not destiny, but recognition: naming the pattern enables choice</a:t>
            </a:r>
          </a:p>
          <a:p>
            <a:pPr>
              <a:spcBef>
                <a:spcPts val="1200"/>
              </a:spcBef>
              <a:spcAft>
                <a:spcPts val="600"/>
              </a:spcAft>
              <a:defRPr sz="2400"/>
            </a:pPr>
            <a:r>
              <a:t>Sourov's journey: Why leave Bangladesh? Why France? Why Australia?</a:t>
            </a:r>
          </a:p>
          <a:p>
            <a:pPr>
              <a:spcBef>
                <a:spcPts val="1200"/>
              </a:spcBef>
              <a:spcAft>
                <a:spcPts val="600"/>
              </a:spcAft>
              <a:defRPr sz="2400"/>
            </a:pPr>
            <a:r>
              <a:t>Agency over instinct: conscious values override evolutionary pushes</a:t>
            </a:r>
          </a:p>
          <a:p>
            <a:pPr>
              <a:spcBef>
                <a:spcPts val="1200"/>
              </a:spcBef>
              <a:spcAft>
                <a:spcPts val="600"/>
              </a:spcAft>
              <a:defRPr sz="2400"/>
            </a:pPr>
            <a:r>
              <a:t>The insight: Understanding bias is step 1 to choosing differently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1371600"/>
          </a:xfrm>
          <a:prstGeom prst="rect">
            <a:avLst/>
          </a:prstGeom>
          <a:noFill/>
        </p:spPr>
        <p:txBody>
          <a:bodyPr wrap="square">
            <a:spAutoFit/>
          </a:bodyPr>
          <a:lstStyle/>
          <a:p>
            <a:pPr>
              <a:defRPr sz="4400" b="1">
                <a:solidFill>
                  <a:srgbClr val="191970"/>
                </a:solidFill>
              </a:defRPr>
            </a:pPr>
            <a:r>
              <a:t>Code-Switching:</a:t>
            </a:r>
            <a:br/>
            <a:r>
              <a:t>How Languages Shape Who We Are</a:t>
            </a:r>
          </a:p>
        </p:txBody>
      </p:sp>
      <p:sp>
        <p:nvSpPr>
          <p:cNvPr id="3" name="TextBox 2"/>
          <p:cNvSpPr txBox="1"/>
          <p:nvPr/>
        </p:nvSpPr>
        <p:spPr>
          <a:xfrm>
            <a:off x="685800" y="2057400"/>
            <a:ext cx="7772400" cy="4114800"/>
          </a:xfrm>
          <a:prstGeom prst="rect">
            <a:avLst/>
          </a:prstGeom>
          <a:noFill/>
        </p:spPr>
        <p:txBody>
          <a:bodyPr wrap="square">
            <a:spAutoFit/>
          </a:bodyPr>
          <a:lstStyle/>
          <a:p>
            <a:pPr>
              <a:spcBef>
                <a:spcPts val="1200"/>
              </a:spcBef>
              <a:spcAft>
                <a:spcPts val="600"/>
              </a:spcAft>
              <a:defRPr sz="2400"/>
            </a:pPr>
            <a:r>
              <a:t>Definition: Phonological + grammatical shifts based on social context</a:t>
            </a:r>
          </a:p>
          <a:p>
            <a:pPr>
              <a:spcBef>
                <a:spcPts val="1200"/>
              </a:spcBef>
              <a:spcAft>
                <a:spcPts val="600"/>
              </a:spcAft>
              <a:defRPr sz="2400"/>
            </a:pPr>
            <a:r>
              <a:t>Not 'fakeness': It's how all multilingual people navigate belonging</a:t>
            </a:r>
          </a:p>
          <a:p>
            <a:pPr>
              <a:spcBef>
                <a:spcPts val="1200"/>
              </a:spcBef>
              <a:spcAft>
                <a:spcPts val="600"/>
              </a:spcAft>
              <a:defRPr sz="2400"/>
            </a:pPr>
            <a:r>
              <a:t>Sourov's experience: Bangladesh accent → French school → Australia moves accent again</a:t>
            </a:r>
          </a:p>
          <a:p>
            <a:pPr>
              <a:spcBef>
                <a:spcPts val="1200"/>
              </a:spcBef>
              <a:spcAft>
                <a:spcPts val="600"/>
              </a:spcAft>
              <a:defRPr sz="2400"/>
            </a:pPr>
            <a:r>
              <a:t>Identity emerges in how you speak, not despite it</a:t>
            </a:r>
          </a:p>
          <a:p>
            <a:pPr>
              <a:spcBef>
                <a:spcPts val="1200"/>
              </a:spcBef>
              <a:spcAft>
                <a:spcPts val="600"/>
              </a:spcAft>
              <a:defRPr sz="2400"/>
            </a:pPr>
            <a:r>
              <a:t>The cost and the freedom: Code-switching as both labor and power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1371600"/>
          </a:xfrm>
          <a:prstGeom prst="rect">
            <a:avLst/>
          </a:prstGeom>
          <a:noFill/>
        </p:spPr>
        <p:txBody>
          <a:bodyPr wrap="square">
            <a:spAutoFit/>
          </a:bodyPr>
          <a:lstStyle/>
          <a:p>
            <a:pPr>
              <a:defRPr sz="4400" b="1">
                <a:solidFill>
                  <a:srgbClr val="191970"/>
                </a:solidFill>
              </a:defRPr>
            </a:pPr>
            <a:r>
              <a:t>The Sound of Memory:</a:t>
            </a:r>
            <a:br/>
            <a:r>
              <a:t>Why Phonology Sticks</a:t>
            </a:r>
          </a:p>
        </p:txBody>
      </p:sp>
      <p:sp>
        <p:nvSpPr>
          <p:cNvPr id="3" name="TextBox 2"/>
          <p:cNvSpPr txBox="1"/>
          <p:nvPr/>
        </p:nvSpPr>
        <p:spPr>
          <a:xfrm>
            <a:off x="685800" y="2057400"/>
            <a:ext cx="7772400" cy="4114800"/>
          </a:xfrm>
          <a:prstGeom prst="rect">
            <a:avLst/>
          </a:prstGeom>
          <a:noFill/>
        </p:spPr>
        <p:txBody>
          <a:bodyPr wrap="square">
            <a:spAutoFit/>
          </a:bodyPr>
          <a:lstStyle/>
          <a:p>
            <a:pPr>
              <a:spcBef>
                <a:spcPts val="1200"/>
              </a:spcBef>
              <a:spcAft>
                <a:spcPts val="600"/>
              </a:spcAft>
              <a:defRPr sz="2400"/>
            </a:pPr>
            <a:r>
              <a:t>Phonological priming: Certain sounds activate memory without awareness</a:t>
            </a:r>
          </a:p>
          <a:p>
            <a:pPr>
              <a:spcBef>
                <a:spcPts val="1200"/>
              </a:spcBef>
              <a:spcAft>
                <a:spcPts val="600"/>
              </a:spcAft>
              <a:defRPr sz="2400"/>
            </a:pPr>
            <a:r>
              <a:t>Universal patterns: Phonology works across language boundaries</a:t>
            </a:r>
          </a:p>
          <a:p>
            <a:pPr>
              <a:spcBef>
                <a:spcPts val="1200"/>
              </a:spcBef>
              <a:spcAft>
                <a:spcPts val="600"/>
              </a:spcAft>
              <a:defRPr sz="2400"/>
            </a:pPr>
            <a:r>
              <a:t>Why this matters: You use phonological memory every day (brands, songs, names)</a:t>
            </a:r>
          </a:p>
          <a:p>
            <a:pPr>
              <a:spcBef>
                <a:spcPts val="1200"/>
              </a:spcBef>
              <a:spcAft>
                <a:spcPts val="600"/>
              </a:spcAft>
              <a:defRPr sz="2400"/>
            </a:pPr>
            <a:r>
              <a:t>Example: Why 'Coca-Cola' sticks even in languages without those sounds</a:t>
            </a:r>
          </a:p>
          <a:p>
            <a:pPr>
              <a:spcBef>
                <a:spcPts val="1200"/>
              </a:spcBef>
              <a:spcAft>
                <a:spcPts val="600"/>
              </a:spcAft>
              <a:defRPr sz="2400"/>
            </a:pPr>
            <a:r>
              <a:t>The insight: Cognition is shaped by sound patterns you never consciously notice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1371600"/>
          </a:xfrm>
          <a:prstGeom prst="rect">
            <a:avLst/>
          </a:prstGeom>
          <a:noFill/>
        </p:spPr>
        <p:txBody>
          <a:bodyPr wrap="square">
            <a:spAutoFit/>
          </a:bodyPr>
          <a:lstStyle/>
          <a:p>
            <a:pPr>
              <a:defRPr sz="4400" b="1">
                <a:solidFill>
                  <a:srgbClr val="191970"/>
                </a:solidFill>
              </a:defRPr>
            </a:pPr>
            <a:r>
              <a:t>Productivity Lost &amp; Found:</a:t>
            </a:r>
            <a:br/>
            <a:r>
              <a:t>ADHD, Trauma, and Recovery</a:t>
            </a:r>
          </a:p>
        </p:txBody>
      </p:sp>
      <p:sp>
        <p:nvSpPr>
          <p:cNvPr id="3" name="TextBox 2"/>
          <p:cNvSpPr txBox="1"/>
          <p:nvPr/>
        </p:nvSpPr>
        <p:spPr>
          <a:xfrm>
            <a:off x="685800" y="2057400"/>
            <a:ext cx="7772400" cy="4114800"/>
          </a:xfrm>
          <a:prstGeom prst="rect">
            <a:avLst/>
          </a:prstGeom>
          <a:noFill/>
        </p:spPr>
        <p:txBody>
          <a:bodyPr wrap="square">
            <a:spAutoFit/>
          </a:bodyPr>
          <a:lstStyle/>
          <a:p>
            <a:pPr>
              <a:spcBef>
                <a:spcPts val="1200"/>
              </a:spcBef>
              <a:spcAft>
                <a:spcPts val="600"/>
              </a:spcAft>
              <a:defRPr sz="2400"/>
            </a:pPr>
            <a:r>
              <a:t>The breakdown: Workplace conflict + trauma → loss of productivity confidence</a:t>
            </a:r>
          </a:p>
          <a:p>
            <a:pPr>
              <a:spcBef>
                <a:spcPts val="1200"/>
              </a:spcBef>
              <a:spcAft>
                <a:spcPts val="600"/>
              </a:spcAft>
              <a:defRPr sz="2400"/>
            </a:pPr>
            <a:r>
              <a:t>ADHD reframing: Not a deficit, but a toolkit for post-trauma recovery</a:t>
            </a:r>
          </a:p>
          <a:p>
            <a:pPr>
              <a:spcBef>
                <a:spcPts val="1200"/>
              </a:spcBef>
              <a:spcAft>
                <a:spcPts val="600"/>
              </a:spcAft>
              <a:defRPr sz="2400"/>
            </a:pPr>
            <a:r>
              <a:t>Three protocols: Clear externals (lists, timers, environment), flexible internally (permission to rest, non-linear progress), pattern-seeking as asset (ADHD brains see connections)</a:t>
            </a:r>
          </a:p>
          <a:p>
            <a:pPr>
              <a:spcBef>
                <a:spcPts val="1200"/>
              </a:spcBef>
              <a:spcAft>
                <a:spcPts val="600"/>
              </a:spcAft>
              <a:defRPr sz="2400"/>
            </a:pPr>
            <a:r>
              <a:t>Trauma-informed insight: Recovery isn't 'getting back to normal'; it's building a new system</a:t>
            </a:r>
          </a:p>
          <a:p>
            <a:pPr>
              <a:spcBef>
                <a:spcPts val="1200"/>
              </a:spcBef>
              <a:spcAft>
                <a:spcPts val="600"/>
              </a:spcAft>
              <a:defRPr sz="2400"/>
            </a:pPr>
            <a:r>
              <a:t>Sourov's discovery: ADHD traits that felt like liabilities became the recovery toolkit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1371600"/>
          </a:xfrm>
          <a:prstGeom prst="rect">
            <a:avLst/>
          </a:prstGeom>
          <a:noFill/>
        </p:spPr>
        <p:txBody>
          <a:bodyPr wrap="square">
            <a:spAutoFit/>
          </a:bodyPr>
          <a:lstStyle/>
          <a:p>
            <a:pPr>
              <a:defRPr sz="4400" b="1">
                <a:solidFill>
                  <a:srgbClr val="191970"/>
                </a:solidFill>
              </a:defRPr>
            </a:pPr>
            <a:r>
              <a:t>Systems Thinking for Uncertain Minds:</a:t>
            </a:r>
            <a:br/>
            <a:r>
              <a:t>Clear Rules, Flexible Tactics</a:t>
            </a:r>
          </a:p>
        </p:txBody>
      </p:sp>
      <p:sp>
        <p:nvSpPr>
          <p:cNvPr id="3" name="TextBox 2"/>
          <p:cNvSpPr txBox="1"/>
          <p:nvPr/>
        </p:nvSpPr>
        <p:spPr>
          <a:xfrm>
            <a:off x="685800" y="2057400"/>
            <a:ext cx="7772400" cy="4114800"/>
          </a:xfrm>
          <a:prstGeom prst="rect">
            <a:avLst/>
          </a:prstGeom>
          <a:noFill/>
        </p:spPr>
        <p:txBody>
          <a:bodyPr wrap="square">
            <a:spAutoFit/>
          </a:bodyPr>
          <a:lstStyle/>
          <a:p>
            <a:pPr>
              <a:spcBef>
                <a:spcPts val="1200"/>
              </a:spcBef>
              <a:spcAft>
                <a:spcPts val="600"/>
              </a:spcAft>
              <a:defRPr sz="2400"/>
            </a:pPr>
            <a:r>
              <a:t>System prompt concept (AI): Consistent instructions + adaptive execution = stability</a:t>
            </a:r>
          </a:p>
          <a:p>
            <a:pPr>
              <a:spcBef>
                <a:spcPts val="1200"/>
              </a:spcBef>
              <a:spcAft>
                <a:spcPts val="600"/>
              </a:spcAft>
              <a:defRPr sz="2400"/>
            </a:pPr>
            <a:r>
              <a:t>Apply to humans: Your values are your 'system prompt'; your daily tactics are adaptive</a:t>
            </a:r>
          </a:p>
          <a:p>
            <a:pPr>
              <a:spcBef>
                <a:spcPts val="1200"/>
              </a:spcBef>
              <a:spcAft>
                <a:spcPts val="600"/>
              </a:spcAft>
              <a:defRPr sz="2400"/>
            </a:pPr>
            <a:r>
              <a:t>For ADHD &amp; trauma-recovered minds: External structure + internal flexibility = freedom</a:t>
            </a:r>
          </a:p>
          <a:p>
            <a:pPr>
              <a:spcBef>
                <a:spcPts val="1200"/>
              </a:spcBef>
              <a:spcAft>
                <a:spcPts val="600"/>
              </a:spcAft>
              <a:defRPr sz="2400"/>
            </a:pPr>
            <a:r>
              <a:t>Example: Sourov's stability routine—same time to start, permission to adjust during the day</a:t>
            </a:r>
          </a:p>
          <a:p>
            <a:pPr>
              <a:spcBef>
                <a:spcPts val="1200"/>
              </a:spcBef>
              <a:spcAft>
                <a:spcPts val="600"/>
              </a:spcAft>
              <a:defRPr sz="2400"/>
            </a:pPr>
            <a:r>
              <a:t>The meta-insight: Stability comes from clarity about what doesn't change, not control of everything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1371600"/>
          </a:xfrm>
          <a:prstGeom prst="rect">
            <a:avLst/>
          </a:prstGeom>
          <a:noFill/>
        </p:spPr>
        <p:txBody>
          <a:bodyPr wrap="square">
            <a:spAutoFit/>
          </a:bodyPr>
          <a:lstStyle/>
          <a:p>
            <a:pPr>
              <a:defRPr sz="4400" b="1">
                <a:solidFill>
                  <a:srgbClr val="191970"/>
                </a:solidFill>
              </a:defRPr>
            </a:pPr>
            <a:r>
              <a:t>Teaching Machines What Humans Know:</a:t>
            </a:r>
            <a:br/>
            <a:r>
              <a:t>LLMs as Language Learners</a:t>
            </a:r>
          </a:p>
        </p:txBody>
      </p:sp>
      <p:sp>
        <p:nvSpPr>
          <p:cNvPr id="3" name="TextBox 2"/>
          <p:cNvSpPr txBox="1"/>
          <p:nvPr/>
        </p:nvSpPr>
        <p:spPr>
          <a:xfrm>
            <a:off x="685800" y="2057400"/>
            <a:ext cx="7772400" cy="4114800"/>
          </a:xfrm>
          <a:prstGeom prst="rect">
            <a:avLst/>
          </a:prstGeom>
          <a:noFill/>
        </p:spPr>
        <p:txBody>
          <a:bodyPr wrap="square">
            <a:spAutoFit/>
          </a:bodyPr>
          <a:lstStyle/>
          <a:p>
            <a:pPr>
              <a:spcBef>
                <a:spcPts val="1200"/>
              </a:spcBef>
              <a:spcAft>
                <a:spcPts val="600"/>
              </a:spcAft>
              <a:defRPr sz="2400"/>
            </a:pPr>
            <a:r>
              <a:t>LLMs learn statistics of language patterns; humans learn language embodied (taste, touch, social stakes)</a:t>
            </a:r>
          </a:p>
          <a:p>
            <a:pPr>
              <a:spcBef>
                <a:spcPts val="1200"/>
              </a:spcBef>
              <a:spcAft>
                <a:spcPts val="600"/>
              </a:spcAft>
              <a:defRPr sz="2400"/>
            </a:pPr>
            <a:r>
              <a:t>What LLMs can't do: Connect words to lived experience, understand cultural context, know when to break rules</a:t>
            </a:r>
          </a:p>
          <a:p>
            <a:pPr>
              <a:spcBef>
                <a:spcPts val="1200"/>
              </a:spcBef>
              <a:spcAft>
                <a:spcPts val="600"/>
              </a:spcAft>
              <a:defRPr sz="2400"/>
            </a:pPr>
            <a:r>
              <a:t>What this teaches us: Human language learning is deeper than pattern recognition—it's cultural apprenticeship</a:t>
            </a:r>
          </a:p>
          <a:p>
            <a:pPr>
              <a:spcBef>
                <a:spcPts val="1200"/>
              </a:spcBef>
              <a:spcAft>
                <a:spcPts val="600"/>
              </a:spcAft>
              <a:defRPr sz="2400"/>
            </a:pPr>
            <a:r>
              <a:t>Sourov's ELT insight: Teaching pronunciation isn't teaching sounds; it's teaching belonging</a:t>
            </a:r>
          </a:p>
          <a:p>
            <a:pPr>
              <a:spcBef>
                <a:spcPts val="1200"/>
              </a:spcBef>
              <a:spcAft>
                <a:spcPts val="600"/>
              </a:spcAft>
              <a:defRPr sz="2400"/>
            </a:pPr>
            <a:r>
              <a:t>The rare angle: LLM limitations illuminate what human language teachers actually do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1371600"/>
          </a:xfrm>
          <a:prstGeom prst="rect">
            <a:avLst/>
          </a:prstGeom>
          <a:noFill/>
        </p:spPr>
        <p:txBody>
          <a:bodyPr wrap="square">
            <a:spAutoFit/>
          </a:bodyPr>
          <a:lstStyle/>
          <a:p>
            <a:pPr>
              <a:defRPr sz="4400" b="1">
                <a:solidFill>
                  <a:srgbClr val="191970"/>
                </a:solidFill>
              </a:defRPr>
            </a:pPr>
            <a:r>
              <a:t>Superposition to Meditation:</a:t>
            </a:r>
            <a:br/>
            <a:r>
              <a:t>Embracing Uncertainty</a:t>
            </a:r>
          </a:p>
        </p:txBody>
      </p:sp>
      <p:sp>
        <p:nvSpPr>
          <p:cNvPr id="3" name="TextBox 2"/>
          <p:cNvSpPr txBox="1"/>
          <p:nvPr/>
        </p:nvSpPr>
        <p:spPr>
          <a:xfrm>
            <a:off x="685800" y="2057400"/>
            <a:ext cx="7772400" cy="4114800"/>
          </a:xfrm>
          <a:prstGeom prst="rect">
            <a:avLst/>
          </a:prstGeom>
          <a:noFill/>
        </p:spPr>
        <p:txBody>
          <a:bodyPr wrap="square">
            <a:spAutoFit/>
          </a:bodyPr>
          <a:lstStyle/>
          <a:p>
            <a:pPr>
              <a:spcBef>
                <a:spcPts val="1200"/>
              </a:spcBef>
              <a:spcAft>
                <a:spcPts val="600"/>
              </a:spcAft>
              <a:defRPr sz="2400"/>
            </a:pPr>
            <a:r>
              <a:t>Quantum superposition: Two states at once; measured → collapses to one</a:t>
            </a:r>
          </a:p>
          <a:p>
            <a:pPr>
              <a:spcBef>
                <a:spcPts val="1200"/>
              </a:spcBef>
              <a:spcAft>
                <a:spcPts val="600"/>
              </a:spcAft>
              <a:defRPr sz="2400"/>
            </a:pPr>
            <a:r>
              <a:t>Metaphor for ADHD attention: Hyperaware + scattered simultaneously (not sequential)</a:t>
            </a:r>
          </a:p>
          <a:p>
            <a:pPr>
              <a:spcBef>
                <a:spcPts val="1200"/>
              </a:spcBef>
              <a:spcAft>
                <a:spcPts val="600"/>
              </a:spcAft>
              <a:defRPr sz="2400"/>
            </a:pPr>
            <a:r>
              <a:t>Meditation practice: Observing attention without collapsing it into single focus</a:t>
            </a:r>
          </a:p>
          <a:p>
            <a:pPr>
              <a:spcBef>
                <a:spcPts val="1200"/>
              </a:spcBef>
              <a:spcAft>
                <a:spcPts val="600"/>
              </a:spcAft>
              <a:defRPr sz="2400"/>
            </a:pPr>
            <a:r>
              <a:t>The wisdom: Certainty is a trap; probability (superposition) is how reality works</a:t>
            </a:r>
          </a:p>
          <a:p>
            <a:pPr>
              <a:spcBef>
                <a:spcPts val="1200"/>
              </a:spcBef>
              <a:spcAft>
                <a:spcPts val="600"/>
              </a:spcAft>
              <a:defRPr sz="2400"/>
            </a:pPr>
            <a:r>
              <a:t>Sourov's insight: ADHD wasn't a bug until he started meditating to 'fix' it; acceptance changed everything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1371600"/>
          </a:xfrm>
          <a:prstGeom prst="rect">
            <a:avLst/>
          </a:prstGeom>
          <a:noFill/>
        </p:spPr>
        <p:txBody>
          <a:bodyPr wrap="square">
            <a:spAutoFit/>
          </a:bodyPr>
          <a:lstStyle/>
          <a:p>
            <a:pPr>
              <a:defRPr sz="4400" b="1">
                <a:solidFill>
                  <a:srgbClr val="191970"/>
                </a:solidFill>
              </a:defRPr>
            </a:pPr>
            <a:r>
              <a:t>Evolutionary Bias in Love, Marriage, Belonging</a:t>
            </a:r>
          </a:p>
        </p:txBody>
      </p:sp>
      <p:sp>
        <p:nvSpPr>
          <p:cNvPr id="3" name="TextBox 2"/>
          <p:cNvSpPr txBox="1"/>
          <p:nvPr/>
        </p:nvSpPr>
        <p:spPr>
          <a:xfrm>
            <a:off x="685800" y="2057400"/>
            <a:ext cx="7772400" cy="4114800"/>
          </a:xfrm>
          <a:prstGeom prst="rect">
            <a:avLst/>
          </a:prstGeom>
          <a:noFill/>
        </p:spPr>
        <p:txBody>
          <a:bodyPr wrap="square">
            <a:spAutoFit/>
          </a:bodyPr>
          <a:lstStyle/>
          <a:p>
            <a:pPr>
              <a:spcBef>
                <a:spcPts val="1200"/>
              </a:spcBef>
              <a:spcAft>
                <a:spcPts val="600"/>
              </a:spcAft>
              <a:defRPr sz="2400"/>
            </a:pPr>
            <a:r>
              <a:t>Evolutionary psychology: Partnership choices follow unconscious patterns (status, health markers, family structure)</a:t>
            </a:r>
          </a:p>
          <a:p>
            <a:pPr>
              <a:spcBef>
                <a:spcPts val="1200"/>
              </a:spcBef>
              <a:spcAft>
                <a:spcPts val="600"/>
              </a:spcAft>
              <a:defRPr sz="2400"/>
            </a:pPr>
            <a:r>
              <a:t>Sourov's marriage: Conscious choice about values despite evolutionary pulls</a:t>
            </a:r>
          </a:p>
          <a:p>
            <a:pPr>
              <a:spcBef>
                <a:spcPts val="1200"/>
              </a:spcBef>
              <a:spcAft>
                <a:spcPts val="600"/>
              </a:spcAft>
              <a:defRPr sz="2400"/>
            </a:pPr>
            <a:r>
              <a:t>Migration to Australia: Same pattern—evolutionary drive for security meets conscious vision for life</a:t>
            </a:r>
          </a:p>
          <a:p>
            <a:pPr>
              <a:spcBef>
                <a:spcPts val="1200"/>
              </a:spcBef>
              <a:spcAft>
                <a:spcPts val="600"/>
              </a:spcAft>
              <a:defRPr sz="2400"/>
            </a:pPr>
            <a:r>
              <a:t>The insight: Recognizing bias doesn't eliminate it; it enables choosing despite it</a:t>
            </a:r>
          </a:p>
          <a:p>
            <a:pPr>
              <a:spcBef>
                <a:spcPts val="1200"/>
              </a:spcBef>
              <a:spcAft>
                <a:spcPts val="600"/>
              </a:spcAft>
              <a:defRPr sz="2400"/>
            </a:pPr>
            <a:r>
              <a:t>Agency lives in the gap between instinct and consciousness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1371600"/>
          </a:xfrm>
          <a:prstGeom prst="rect">
            <a:avLst/>
          </a:prstGeom>
          <a:noFill/>
        </p:spPr>
        <p:txBody>
          <a:bodyPr wrap="square">
            <a:spAutoFit/>
          </a:bodyPr>
          <a:lstStyle/>
          <a:p>
            <a:pPr>
              <a:defRPr sz="4400" b="1">
                <a:solidFill>
                  <a:srgbClr val="191970"/>
                </a:solidFill>
              </a:defRPr>
            </a:pPr>
            <a:r>
              <a:t>Building Your Stability System:</a:t>
            </a:r>
            <a:br/>
            <a:r>
              <a:t>3 Protocols</a:t>
            </a:r>
          </a:p>
        </p:txBody>
      </p:sp>
      <p:sp>
        <p:nvSpPr>
          <p:cNvPr id="3" name="TextBox 2"/>
          <p:cNvSpPr txBox="1"/>
          <p:nvPr/>
        </p:nvSpPr>
        <p:spPr>
          <a:xfrm>
            <a:off x="685800" y="2057400"/>
            <a:ext cx="7772400" cy="4114800"/>
          </a:xfrm>
          <a:prstGeom prst="rect">
            <a:avLst/>
          </a:prstGeom>
          <a:noFill/>
        </p:spPr>
        <p:txBody>
          <a:bodyPr wrap="square">
            <a:spAutoFit/>
          </a:bodyPr>
          <a:lstStyle/>
          <a:p>
            <a:pPr>
              <a:spcBef>
                <a:spcPts val="1200"/>
              </a:spcBef>
              <a:spcAft>
                <a:spcPts val="600"/>
              </a:spcAft>
              <a:defRPr sz="2400"/>
            </a:pPr>
            <a:r>
              <a:t>Protocol 1: Know your system prompt (your non-negotiable values)</a:t>
            </a:r>
          </a:p>
          <a:p>
            <a:pPr>
              <a:spcBef>
                <a:spcPts val="1200"/>
              </a:spcBef>
              <a:spcAft>
                <a:spcPts val="600"/>
              </a:spcAft>
              <a:defRPr sz="2400"/>
            </a:pPr>
            <a:r>
              <a:t>Protocol 2: Build external scaffolding (lists, routines, environment design for your neurology)</a:t>
            </a:r>
          </a:p>
          <a:p>
            <a:pPr>
              <a:spcBef>
                <a:spcPts val="1200"/>
              </a:spcBef>
              <a:spcAft>
                <a:spcPts val="600"/>
              </a:spcAft>
              <a:defRPr sz="2400"/>
            </a:pPr>
            <a:r>
              <a:t>Protocol 3: Practice observation without judgment (meditation, self-awareness, recognizing patterns without fighting them)</a:t>
            </a:r>
          </a:p>
          <a:p>
            <a:pPr>
              <a:spcBef>
                <a:spcPts val="1200"/>
              </a:spcBef>
              <a:spcAft>
                <a:spcPts val="600"/>
              </a:spcAft>
              <a:defRPr sz="2400"/>
            </a:pPr>
            <a:r>
              <a:t>Integration: How to recognize rare angles in your own story and apply them</a:t>
            </a:r>
          </a:p>
          <a:p>
            <a:pPr>
              <a:spcBef>
                <a:spcPts val="1200"/>
              </a:spcBef>
              <a:spcAft>
                <a:spcPts val="600"/>
              </a:spcAft>
              <a:defRPr sz="2400"/>
            </a:pPr>
            <a:r>
              <a:t>Next step: Write your 'system prompt'; test your external scaffolding; practice 10 minutes daily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