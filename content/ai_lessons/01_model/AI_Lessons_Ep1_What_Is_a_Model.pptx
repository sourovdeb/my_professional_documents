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open: 'You already do this every day and don't call it AI. Let's fix that.' Today's term is MODEL -- the most foundational AI concept, and the right place to start the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term in something everyone already does: choosing a search engine in browser settings. That muscle memory is the whole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doodle: a browser's search-engine dropdown next to Mistral Studio's model dropdown. Picking a search engine picks HOW your browser answers; picking a model picks HOW the AI app thinks.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sentence to remember: a model is the trained brain an AI app runs on. Everything else in the series builds on top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memorable hook: small model = fast intern, large model = head chef. Same input, different depth of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reinforcement of the kitchen analogy: one recipe card, two arrows, two chefs, two different dishes.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moment -- if presenting in person, actually click the model dropdown in Mistral Studio on screen here. Seeing the label change is more convincing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brain-in-a-box sizes under a dropdown -- reinforces 'bigger = smarter but slower/pricier, smaller = fast and cheap.'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practical takeaway (match model size to task) before the recap line, which is the one sentence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slide for the series format the user asked for: state what's covered and what's next, so each episode can stand alone or be watched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1E28"/>
                </a:solidFill>
                <a:latin typeface="Calibri"/>
              </a:defRPr>
            </a:pPr>
            <a:r>
              <a:t>AI Lessons, Episode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C83C3C"/>
                </a:solidFill>
              </a:defRPr>
            </a:pPr>
            <a:r>
              <a:t>What Is a “Model”?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28"/>
                </a:solidFill>
              </a:defRPr>
            </a:pPr>
            <a:r>
              <a:t>Series: Core AI Terms in Plain English — by Sourov Deb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1E28"/>
                </a:solidFill>
                <a:latin typeface="Calibri"/>
              </a:defRPr>
            </a:pPr>
            <a:r>
              <a:t>The everyday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Think about your web browser: in Settings you can pick a default search engine — Google, Bing, DuckDuckGo.</a:t>
            </a:r>
          </a:p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Same question, same browser — but each search engine gives slightly different answers.</a:t>
            </a:r>
          </a:p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An AI “model” is that same idea, one layer down: it's the engine doing the thinking behind an AI app.</a:t>
            </a:r>
          </a:p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Swap the model and the same question can come back faster, slower, cheaper, or smarter.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1E28"/>
                </a:solidFill>
                <a:latin typeface="Calibri"/>
              </a:defRPr>
            </a:pPr>
            <a:r>
              <a:t>Same idea, different window</a:t>
            </a:r>
          </a:p>
        </p:txBody>
      </p:sp>
      <p:pic>
        <p:nvPicPr>
          <p:cNvPr id="3" name="Picture 2" descr="doodle1_browser_vs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59" y="1280160"/>
            <a:ext cx="830797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1E28"/>
                </a:solidFill>
                <a:latin typeface="Calibri"/>
              </a:defRPr>
            </a:pPr>
            <a:r>
              <a:t>The plain-English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83C3C"/>
                </a:solidFill>
              </a:defRPr>
            </a:pPr>
            <a:r>
              <a:t>A MODEL is the trained “brain” an AI app runs on.</a:t>
            </a:r>
          </a:p>
          <a:p>
            <a:pPr>
              <a:spcBef>
                <a:spcPts val="2000"/>
              </a:spcBef>
              <a:defRPr sz="2400">
                <a:solidFill>
                  <a:srgbClr val="1E1E28"/>
                </a:solidFill>
              </a:defRPr>
            </a:pPr>
            <a:r>
              <a:t>One app can offer several models — small and fast, or large and smart — the way one browser can offer several search engines.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1E28"/>
                </a:solidFill>
                <a:latin typeface="Calibri"/>
              </a:defRPr>
            </a:pPr>
            <a:r>
              <a:t>•  No extra jargon needed beyond that.</a:t>
            </a:r>
          </a:p>
          <a:p>
            <a:pPr>
              <a:spcAft>
                <a:spcPts val="1400"/>
              </a:spcAft>
              <a:defRPr sz="2000">
                <a:solidFill>
                  <a:srgbClr val="1E1E28"/>
                </a:solidFill>
                <a:latin typeface="Calibri"/>
              </a:defRPr>
            </a:pPr>
            <a:r>
              <a:t>•  Everything else in this series (skill, agent, memory, hook) gets ADDED ON TOP of a model — which is why the series starts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1E28"/>
                </a:solidFill>
                <a:latin typeface="Calibri"/>
              </a:defRPr>
            </a:pPr>
            <a:r>
              <a:t>The kitchen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Picture a recipe card — that's your question, or “prompt.”</a:t>
            </a:r>
          </a:p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Hand that recipe to the intern (small model): fast, cheap, great for a quick sandwich.</a:t>
            </a:r>
          </a:p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Hand the same recipe to the head chef (large model): slower and pricier, but nails the complicated dish.</a:t>
            </a:r>
          </a:p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Same recipe, same kitchen, different chef — different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1E28"/>
                </a:solidFill>
                <a:latin typeface="Calibri"/>
              </a:defRPr>
            </a:pPr>
            <a:r>
              <a:t>Same recipe, two different chefs</a:t>
            </a:r>
          </a:p>
        </p:txBody>
      </p:sp>
      <p:pic>
        <p:nvPicPr>
          <p:cNvPr id="3" name="Picture 2" descr="doodle2_kitchen_ch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481" y="1188720"/>
            <a:ext cx="846473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1E28"/>
                </a:solidFill>
                <a:latin typeface="Calibri"/>
              </a:defRPr>
            </a:pPr>
            <a:r>
              <a:t>See it live in Mistral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E1E28"/>
                </a:solidFill>
                <a:latin typeface="Calibri"/>
              </a:defRPr>
            </a:pPr>
            <a:r>
              <a:t>•  Open Mistral Studio and start a new chat or playground session.</a:t>
            </a:r>
          </a:p>
          <a:p>
            <a:pPr>
              <a:spcAft>
                <a:spcPts val="1400"/>
              </a:spcAft>
              <a:defRPr sz="2100">
                <a:solidFill>
                  <a:srgbClr val="1E1E28"/>
                </a:solidFill>
                <a:latin typeface="Calibri"/>
              </a:defRPr>
            </a:pPr>
            <a:r>
              <a:t>•  Find the model picker — a dropdown near the top of the screen (e.g. Mistral Small, Mistral Large, Codestral).</a:t>
            </a:r>
          </a:p>
          <a:p>
            <a:pPr>
              <a:spcAft>
                <a:spcPts val="1400"/>
              </a:spcAft>
              <a:defRPr sz="2100">
                <a:solidFill>
                  <a:srgbClr val="1E1E28"/>
                </a:solidFill>
                <a:latin typeface="Calibri"/>
              </a:defRPr>
            </a:pPr>
            <a:r>
              <a:t>•  Ask a simple question using Mistral Small — notice the near-instant reply.</a:t>
            </a:r>
          </a:p>
          <a:p>
            <a:pPr>
              <a:spcAft>
                <a:spcPts val="1400"/>
              </a:spcAft>
              <a:defRPr sz="2100">
                <a:solidFill>
                  <a:srgbClr val="1E1E28"/>
                </a:solidFill>
                <a:latin typeface="Calibri"/>
              </a:defRPr>
            </a:pPr>
            <a:r>
              <a:t>•  Switch to Mistral Large, ask the SAME question — notice the extra nuance (and the extra beat of wait time).</a:t>
            </a:r>
          </a:p>
          <a:p>
            <a:pPr>
              <a:spcAft>
                <a:spcPts val="1400"/>
              </a:spcAft>
              <a:defRPr sz="2100">
                <a:solidFill>
                  <a:srgbClr val="1E1E28"/>
                </a:solidFill>
                <a:latin typeface="Calibri"/>
              </a:defRPr>
            </a:pPr>
            <a:r>
              <a:t>•  That dropdown IS the lesson: you're not changing the app, you're changing the “chef” doing the thinking.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1E28"/>
                </a:solidFill>
                <a:latin typeface="Calibri"/>
              </a:defRPr>
            </a:pPr>
            <a:r>
              <a:t>Pick the brain that fits the job</a:t>
            </a:r>
          </a:p>
        </p:txBody>
      </p:sp>
      <p:pic>
        <p:nvPicPr>
          <p:cNvPr id="3" name="Picture 2" descr="doodle3_pick_the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481" y="1188720"/>
            <a:ext cx="846473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1E28"/>
                </a:solidFill>
                <a:latin typeface="Calibri"/>
              </a:defRPr>
            </a:pPr>
            <a:r>
              <a:t>Why this matters — and the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You wouldn't use a sledgehammer to hang a picture frame.</a:t>
            </a:r>
          </a:p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Match the model size to the job: small models for quick drafts and lookups, large models for complex analysis or nuanced writing.</a:t>
            </a:r>
          </a:p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RECAP: a model = the engine/chef behind the AI. Same app, different model, different speed and skill.</a:t>
            </a:r>
          </a:p>
          <a:p>
            <a:pPr>
              <a:spcAft>
                <a:spcPts val="1400"/>
              </a:spcAft>
              <a:defRPr sz="2300">
                <a:solidFill>
                  <a:srgbClr val="1E1E28"/>
                </a:solidFill>
                <a:latin typeface="Calibri"/>
              </a:defRPr>
            </a:pPr>
            <a:r>
              <a:t>•  Pick the one that fits the job — exactly like picking a search engine in your browser.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28"/>
                </a:solidFill>
                <a:latin typeface="Calibri"/>
              </a:defRPr>
            </a:pPr>
            <a:r>
              <a:t>Series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✅ Covered so far: Model (Episode 1)</a:t>
            </a:r>
          </a:p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▶ Suggested next topic: Skill — “a recipe you hand the chef”, building directly on today's analogy.</a:t>
            </a:r>
          </a:p>
          <a:p>
            <a:pPr>
              <a:spcAft>
                <a:spcPts val="1400"/>
              </a:spcAft>
              <a:defRPr sz="2400">
                <a:solidFill>
                  <a:srgbClr val="1E1E28"/>
                </a:solidFill>
                <a:latin typeface="Calibri"/>
              </a:defRPr>
            </a:pPr>
            <a:r>
              <a:t>•  ⏭ Planned pool remaining after that: Agent → Memory → Hook → JSON →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55555"/>
                </a:solidFill>
              </a:defRPr>
            </a:pPr>
            <a:r>
              <a:t>Common mix-up to head off next time: a MODEL is not the same as an APP. Mistral Studio is the app (the kitchen); Mistral Large/Small are the models (the chefs) inside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AI Lessons — Episode 1: What Is a Model?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