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The Two-Track Labour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14600"/>
            <a:ext cx="6766560" cy="146304"/>
          </a:xfrm>
          <a:prstGeom prst="rect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The AI-skills story just split in two.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8A867E"/>
                </a:solidFill>
                <a:latin typeface="Comic Sans MS"/>
              </a:rPr>
              <a:t>2026 trend brief #2  ·  5-minute read  ·  24 July 2026  ·  follow-up to 19 Jul</a:t>
            </a:r>
          </a:p>
        </p:txBody>
      </p:sp>
      <p:sp>
        <p:nvSpPr>
          <p:cNvPr id="7" name="Up Ribbon 6"/>
          <p:cNvSpPr/>
          <p:nvPr/>
        </p:nvSpPr>
        <p:spPr>
          <a:xfrm>
            <a:off x="9692640" y="1005840"/>
            <a:ext cx="1737360" cy="1188720"/>
          </a:xfrm>
          <a:prstGeom prst="ribbon2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258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F6FB0"/>
                </a:solidFill>
                <a:latin typeface="Comic Sans MS"/>
              </a:rPr>
              <a:t>+118%</a:t>
            </a:r>
          </a:p>
        </p:txBody>
      </p:sp>
      <p:sp>
        <p:nvSpPr>
          <p:cNvPr id="9" name="Down Ribbon 8"/>
          <p:cNvSpPr/>
          <p:nvPr/>
        </p:nvSpPr>
        <p:spPr>
          <a:xfrm>
            <a:off x="9692640" y="4480560"/>
            <a:ext cx="1737360" cy="1188720"/>
          </a:xfrm>
          <a:prstGeom prst="ribbon">
            <a:avLst/>
          </a:prstGeom>
          <a:solidFill>
            <a:srgbClr val="FFD9D0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480060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+16%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329184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Last brief's story was REPRICING.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Five days of fresh data sharpen it into something colder: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BIFURCATION.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The same forces are splitting the workforce into TWO TRACKS —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and the line is who gets to do the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553A"/>
                </a:solidFill>
                <a:latin typeface="Comic Sans MS"/>
              </a:rPr>
              <a:t>The rung it's quietly kicking away is entry-level.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What changed since 19 July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1051560"/>
          </a:xfrm>
          <a:prstGeom prst="roundRect">
            <a:avLst/>
          </a:prstGeom>
          <a:solidFill>
            <a:srgbClr val="FBF7EF"/>
          </a:solidFill>
          <a:ln w="317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F6FB0"/>
                </a:solidFill>
                <a:latin typeface="Comic Sans MS"/>
              </a:rPr>
              <a:t>PwC wage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72768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was: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62%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72768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222B"/>
                </a:solidFill>
                <a:latin typeface="Comic Sans MS"/>
              </a:rPr>
              <a:t>now:  62% avg — but 118% consumer / 16% public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70048"/>
            <a:ext cx="10515600" cy="1051560"/>
          </a:xfrm>
          <a:prstGeom prst="roundRect">
            <a:avLst/>
          </a:prstGeom>
          <a:solidFill>
            <a:srgbClr val="FBF7EF"/>
          </a:solidFill>
          <a:ln w="3175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79776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3B8C5A"/>
                </a:solidFill>
                <a:latin typeface="Comic Sans MS"/>
              </a:rPr>
              <a:t>AI-job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79776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was: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“growing fast”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79776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222B"/>
                </a:solidFill>
                <a:latin typeface="Comic Sans MS"/>
              </a:rPr>
              <a:t>now:  +69% vs +9% overall  (~8x faster)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77056"/>
            <a:ext cx="10515600" cy="1051560"/>
          </a:xfrm>
          <a:prstGeom prst="roundRect">
            <a:avLst/>
          </a:prstGeom>
          <a:solidFill>
            <a:srgbClr val="FBF7EF"/>
          </a:solidFill>
          <a:ln w="3175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86784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E8553A"/>
                </a:solidFill>
                <a:latin typeface="Comic Sans MS"/>
              </a:rPr>
              <a:t>Durable-skill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86784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was: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73% of leaders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86784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222B"/>
                </a:solidFill>
                <a:latin typeface="Comic Sans MS"/>
              </a:rPr>
              <a:t>now:  76% of ALL postings want &gt;=1 durable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84064"/>
            <a:ext cx="10515600" cy="1051560"/>
          </a:xfrm>
          <a:prstGeom prst="roundRect">
            <a:avLst/>
          </a:prstGeom>
          <a:solidFill>
            <a:srgbClr val="FBF7EF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93792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2222B"/>
                </a:solidFill>
                <a:latin typeface="Comic Sans MS"/>
              </a:rPr>
              <a:t>Entry-level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93792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was: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not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93792"/>
            <a:ext cx="4937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222B"/>
                </a:solidFill>
                <a:latin typeface="Comic Sans MS"/>
              </a:rPr>
              <a:t>now:  seniorised +35% / ordinary entry -10%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553A"/>
                </a:solidFill>
                <a:latin typeface="Comic Sans MS"/>
              </a:rPr>
              <a:t>The headline numbers held. What's new is the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Force 1: the premium is a fan, not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8A867E"/>
                </a:solidFill>
                <a:latin typeface="Comic Sans MS"/>
              </a:rPr>
              <a:t>AI-skills wage premium by sector (PwC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737360"/>
            <a:ext cx="1371600" cy="3657600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118%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consumer /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customer-facing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474720"/>
            <a:ext cx="1371600" cy="1920240"/>
          </a:xfrm>
          <a:prstGeom prst="roundRect">
            <a:avLst/>
          </a:prstGeom>
          <a:solidFill>
            <a:srgbClr val="8A867E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2971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53949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the “average”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everyone quotes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892040"/>
            <a:ext cx="1371600" cy="50292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3891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39496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government /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public 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0"/>
            <a:ext cx="2834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Where the AI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meets a paying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customer, the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premium explodes.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It pays for the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JUDGMENT you wrap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around the tool —</a:t>
            </a:r>
          </a:p>
          <a:p>
            <a:pPr algn="l">
              <a:lnSpc>
                <a:spcPct val="105000"/>
              </a:lnSpc>
            </a:pPr>
            <a:r>
              <a:rPr sz="1600" b="1">
                <a:solidFill>
                  <a:srgbClr val="22222B"/>
                </a:solidFill>
                <a:latin typeface="Comic Sans MS"/>
              </a:rPr>
              <a:t>not the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E8553A"/>
                </a:solidFill>
                <a:latin typeface="Comic Sans MS"/>
              </a:rPr>
              <a:t>Force 2: professionalising AND democratising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4023360"/>
          </a:xfrm>
          <a:prstGeom prst="roundRect">
            <a:avLst/>
          </a:prstGeom>
          <a:solidFill>
            <a:srgbClr val="E6EFF7"/>
          </a:solidFill>
          <a:ln w="444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PROFESSIONALISED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8A867E"/>
                </a:solidFill>
                <a:latin typeface="Comic Sans MS"/>
              </a:rPr>
              <a:t>“force multiplier for experts”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389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2× the job growth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salaries rising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  42% FASTER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needs MORE human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  skill, not 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937760" cy="4023360"/>
          </a:xfrm>
          <a:prstGeom prst="roundRect">
            <a:avLst/>
          </a:prstGeom>
          <a:solidFill>
            <a:srgbClr val="FFE7DF"/>
          </a:solidFill>
          <a:ln w="3175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DEMOCRATISED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8A867E"/>
                </a:solidFill>
                <a:latin typeface="Comic Sans MS"/>
              </a:rPr>
              <a:t>“anyone can now do the task”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389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slower expansion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wage pressure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the task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  commoditises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Which track your role lands on is being decided NOW — by how much judgment it carries.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Force 3: the new casualty is the bottom 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4937760" cy="1828800"/>
          </a:xfrm>
          <a:prstGeom prst="roundRect">
            <a:avLst/>
          </a:prstGeom>
          <a:solidFill>
            <a:srgbClr val="E7F0E7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>“Seniorised” entry roles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>(AI-exposed fields)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3B8C5A"/>
                </a:solidFill>
                <a:latin typeface="Comic Sans MS"/>
              </a:rPr>
              <a:t>+35%  since 2019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4937760" cy="1828800"/>
          </a:xfrm>
          <a:prstGeom prst="roundRect">
            <a:avLst/>
          </a:prstGeom>
          <a:solidFill>
            <a:srgbClr val="FFD9D0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00200"/>
            <a:ext cx="4572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Ordinary entry roles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−10%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Entry roles in AI-exposed fields are 7× more likely to demand SENIOR-level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9418320" cy="1463040"/>
          </a:xfrm>
          <a:prstGeom prst="roundRect">
            <a:avLst/>
          </a:prstGeom>
          <a:solidFill>
            <a:srgbClr val="FFF3D9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709160"/>
            <a:ext cx="88696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AI now does the easy tasks — so the market deleted the “learn on the job slowly” phase.</a:t>
            </a:r>
          </a:p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Arrive already carrying a durable skill and a validated judgment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B8C5A"/>
                </a:solidFill>
                <a:latin typeface="Comic Sans MS"/>
              </a:rPr>
              <a:t>Force 4: durable skills, now with hard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8A867E"/>
                </a:solidFill>
                <a:latin typeface="Comic Sans MS"/>
              </a:rPr>
              <a:t>Lightcast — 75M+ job postings analysed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01168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of ALL postings request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≥ 1 durable skill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201168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606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38328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request 3+ durable skills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(up 13 pts since 2021)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01168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8328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of the top-10 skills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are durable, not technical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201168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38328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critical thinking =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highest-value AI complement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(McKinsey)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Durable skills aren't the soft nice-to-have layer anymore.</a:t>
            </a:r>
          </a:p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22222B"/>
                </a:solidFill>
                <a:latin typeface="Comic Sans MS"/>
              </a:rPr>
              <a:t>On the actual postings, they're the MAJORITY of what employers ask for by 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E8553A"/>
                </a:solidFill>
                <a:latin typeface="Comic Sans MS"/>
              </a:rPr>
              <a:t>Force 5: even the workers are splitting in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8A867E"/>
                </a:solidFill>
                <a:latin typeface="Comic Sans MS"/>
              </a:rPr>
              <a:t>2026 tech-workforce survey — anxiety tracks the same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Designers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48840"/>
            <a:ext cx="6583680" cy="54864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2130552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BF7EF"/>
                </a:solidFill>
                <a:latin typeface="Comic Sans MS"/>
              </a:rPr>
              <a:t>63% overwhelmed · 61% tired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Researchers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154680"/>
            <a:ext cx="5266944" cy="54864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136392"/>
            <a:ext cx="499262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BF7EF"/>
                </a:solidFill>
                <a:latin typeface="Comic Sans MS"/>
              </a:rPr>
              <a:t>36% fear job loss · 51% anxious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Founders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160520"/>
            <a:ext cx="1755648" cy="548640"/>
          </a:xfrm>
          <a:prstGeom prst="roundRect">
            <a:avLst/>
          </a:prstGeom>
          <a:solidFill>
            <a:srgbClr val="3B8C5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142232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2222B"/>
                </a:solidFill>
                <a:latin typeface="Comic Sans MS"/>
              </a:rPr>
              <a:t>only 15% anxious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8553A"/>
                </a:solidFill>
                <a:latin typeface="Comic Sans MS"/>
              </a:rPr>
              <a:t>The person who owns more judgment feels SAFER.</a:t>
            </a:r>
          </a:p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8553A"/>
                </a:solidFill>
                <a:latin typeface="Comic Sans MS"/>
              </a:rPr>
              <a:t>Fear is now a position indicator — it tells you which track you're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🛠 A tool to try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The Two-Track Sorter (10 minutes, one page)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6654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1.  Name your role's core task in one verb-phrase (“write proposals”, “check forms”).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437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2.  Ask the fork question: is AI PROFESSIONALISING my task, or DEMOCRATISING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6616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2102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3.  If democratising → find the judgment call next to it a customer pays a human for.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9826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4.  If professionalising → double down; the 42%-faster raises are on this track.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7550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5.  Entry-level check: what senior judgment can you DEMONSTRATE to skip the deleted rung?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8553A"/>
                </a:solidFill>
                <a:latin typeface="Comic Sans MS"/>
              </a:rPr>
              <a:t>Ask your AI: “which parts of my task are you already better at, and which still need my judgment?”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8553A"/>
                </a:solidFill>
                <a:latin typeface="Comic Sans MS"/>
              </a:rPr>
              <a:t>The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228600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The AI-skills premium isn't a rising tide — it's a WEDGE.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It lifts the judgment-heavy, customer-facing side and presses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down on the commoditised, entry-level side.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Know which side of every fork your work is on — and walk toward the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Sources: PwC 2026 Global AI Jobs Barometer · SUCCESS · Lightcast × America Succeeds (Durable by Design)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McKinsey · Lenny's Newsletter tech-workforce survey · ADP Research · Resume-Now · WEF · Forbes.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(Full links in the accompanying README.)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