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22222B"/>
                </a:solidFill>
                <a:latin typeface="Comic Sans MS"/>
              </a:rPr>
              <a:t>The Human-Skills Premium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97480"/>
            <a:ext cx="6035040" cy="146304"/>
          </a:xfrm>
          <a:prstGeom prst="rect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E8553A"/>
                </a:solidFill>
                <a:latin typeface="Comic Sans MS"/>
              </a:rPr>
              <a:t>What to learn when AI learns everything.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8A867E"/>
                </a:solidFill>
                <a:latin typeface="Comic Sans MS"/>
              </a:rPr>
              <a:t>2026 mid-year trend brief  ·  5-minute read  ·  19 July 2026</a:t>
            </a:r>
          </a:p>
        </p:txBody>
      </p:sp>
      <p:sp>
        <p:nvSpPr>
          <p:cNvPr id="7" name="Lightning Bolt 6"/>
          <p:cNvSpPr/>
          <p:nvPr/>
        </p:nvSpPr>
        <p:spPr>
          <a:xfrm>
            <a:off x="9784080" y="1097280"/>
            <a:ext cx="1280160" cy="1828800"/>
          </a:xfrm>
          <a:prstGeom prst="lightningBolt">
            <a:avLst/>
          </a:prstGeom>
          <a:solidFill>
            <a:srgbClr val="FFE79C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un 7"/>
          <p:cNvSpPr/>
          <p:nvPr/>
        </p:nvSpPr>
        <p:spPr>
          <a:xfrm>
            <a:off x="8686800" y="4206240"/>
            <a:ext cx="1554480" cy="1554480"/>
          </a:xfrm>
          <a:prstGeom prst="sun">
            <a:avLst/>
          </a:prstGeom>
          <a:noFill/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4709160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F6FB0"/>
                </a:solidFill>
                <a:latin typeface="Comic Sans MS"/>
              </a:rPr>
              <a:t>AI ×</a:t>
            </a:r>
          </a:p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2F6FB0"/>
                </a:solidFill>
                <a:latin typeface="Comic Sans MS"/>
              </a:rPr>
              <a:t>HUMAN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8553A"/>
                </a:solidFill>
                <a:latin typeface="Comic Sans MS"/>
              </a:rPr>
              <a:t>The one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332720" cy="310896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2651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AI is not erasing the value of human skills —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it is REPRICING them.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The tasks it automates get cheaper.</a:t>
            </a:r>
          </a:p>
          <a:p>
            <a:pPr algn="l">
              <a:lnSpc>
                <a:spcPct val="105000"/>
              </a:lnSpc>
            </a:pPr>
            <a:r>
              <a:rPr sz="3000" b="1">
                <a:solidFill>
                  <a:srgbClr val="22222B"/>
                </a:solidFill>
                <a:latin typeface="Comic Sans MS"/>
              </a:rPr>
              <a:t>The judgment, taste &amp; trust it can't fake get more expensive.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E8553A"/>
                </a:solidFill>
                <a:latin typeface="Comic Sans MS"/>
              </a:rPr>
              <a:t>The 2026 move isn't “AI vs. human.”  It's  AI × human.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Three forces on your career right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3246120" cy="3566160"/>
          </a:xfrm>
          <a:prstGeom prst="roundRect">
            <a:avLst/>
          </a:prstGeom>
          <a:solidFill>
            <a:srgbClr val="FBF7EF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1481328"/>
            <a:ext cx="777240" cy="777240"/>
          </a:xfrm>
          <a:prstGeom prst="ellipse">
            <a:avLst/>
          </a:prstGeom>
          <a:solidFill>
            <a:srgbClr val="2F6FB0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4630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BF7EF"/>
                </a:solidFill>
                <a:latin typeface="Comic Sans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2F6FB0"/>
                </a:solidFill>
                <a:latin typeface="Comic Sans MS"/>
              </a:rPr>
              <a:t>DURABLE HUMAN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880360"/>
            <a:ext cx="2788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Critical thinking is the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#1 skill leaders want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(73%).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Judgment · leadership ·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EQ · human-in-the-loop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1737360"/>
            <a:ext cx="3246120" cy="3566160"/>
          </a:xfrm>
          <a:prstGeom prst="roundRect">
            <a:avLst/>
          </a:prstGeom>
          <a:solidFill>
            <a:srgbClr val="FBF7EF"/>
          </a:solidFill>
          <a:ln w="381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61688" y="1481328"/>
            <a:ext cx="777240" cy="777240"/>
          </a:xfrm>
          <a:prstGeom prst="ellipse">
            <a:avLst/>
          </a:prstGeom>
          <a:solidFill>
            <a:srgbClr val="E8553A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4630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BF7EF"/>
                </a:solidFill>
                <a:latin typeface="Comic Sans M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205740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E8553A"/>
                </a:solidFill>
                <a:latin typeface="Comic Sans MS"/>
              </a:rPr>
              <a:t>AI JOB-MARKET SHIFTS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880360"/>
            <a:ext cx="2788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+62% wage premium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(PwC, up from 57%).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But skills now expire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in 2.5–5 years.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737360"/>
            <a:ext cx="3246120" cy="3566160"/>
          </a:xfrm>
          <a:prstGeom prst="roundRect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156448" y="1481328"/>
            <a:ext cx="777240" cy="777240"/>
          </a:xfrm>
          <a:prstGeom prst="ellipse">
            <a:avLst/>
          </a:prstGeom>
          <a:solidFill>
            <a:srgbClr val="3B8C5A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463040"/>
            <a:ext cx="7772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FBF7EF"/>
                </a:solidFill>
                <a:latin typeface="Comic Sans M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2057400"/>
            <a:ext cx="2880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700" b="1">
                <a:solidFill>
                  <a:srgbClr val="3B8C5A"/>
                </a:solidFill>
                <a:latin typeface="Comic Sans MS"/>
              </a:rPr>
              <a:t>NICHE / LIVED LEARNING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2880360"/>
            <a:ext cx="278892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The “skilliday” boom.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Languages, crafts,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wellness — half of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22222B"/>
                </a:solidFill>
                <a:latin typeface="Comic Sans MS"/>
              </a:rPr>
              <a:t>Europe, led by Gen Z.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669280"/>
            <a:ext cx="6675120" cy="822960"/>
          </a:xfrm>
          <a:prstGeom prst="roundRect">
            <a:avLst/>
          </a:prstGeom>
          <a:solidFill>
            <a:srgbClr val="E7F0E7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5715000"/>
            <a:ext cx="66751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3B8C5A"/>
                </a:solidFill>
                <a:latin typeface="Comic Sans MS"/>
              </a:rPr>
              <a:t>META-SKILL underneath all three: learning how to 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Two price tags: the carrot &amp; the stick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2F6FB0"/>
                </a:solidFill>
                <a:latin typeface="Comic Sans MS"/>
              </a:rPr>
              <a:t>THE CARROT — AI wage premium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3108960"/>
            <a:ext cx="1005840" cy="1097280"/>
          </a:xfrm>
          <a:prstGeom prst="roundRect">
            <a:avLst/>
          </a:prstGeom>
          <a:solidFill>
            <a:srgbClr val="2F6FB0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65176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+28%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420624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8A867E"/>
                </a:solidFill>
                <a:latin typeface="Comic Sans MS"/>
              </a:rPr>
              <a:t>Lightcast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005840" cy="2377440"/>
          </a:xfrm>
          <a:prstGeom prst="roundRect">
            <a:avLst/>
          </a:prstGeom>
          <a:solidFill>
            <a:srgbClr val="E8553A"/>
          </a:solidFill>
          <a:ln w="254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137160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>
                <a:solidFill>
                  <a:srgbClr val="22222B"/>
                </a:solidFill>
                <a:latin typeface="Comic Sans MS"/>
              </a:rPr>
              <a:t>+62%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4206240"/>
            <a:ext cx="1280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8A867E"/>
                </a:solidFill>
                <a:latin typeface="Comic Sans MS"/>
              </a:rPr>
              <a:t>PwC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37760"/>
            <a:ext cx="51206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…and it's WIDENING: 57% → 62% in one year.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51% of AI-skill jobs are now OUTSIDE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7432" cy="4754880"/>
          </a:xfrm>
          <a:prstGeom prst="rect">
            <a:avLst/>
          </a:prstGeom>
          <a:solidFill>
            <a:srgbClr val="8A867E"/>
          </a:solidFill>
          <a:ln w="1270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371600"/>
            <a:ext cx="5120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8553A"/>
                </a:solidFill>
                <a:latin typeface="Comic Sans MS"/>
              </a:rPr>
              <a:t>THE STICK — skills expire</a:t>
            </a:r>
          </a:p>
        </p:txBody>
      </p:sp>
      <p:sp>
        <p:nvSpPr>
          <p:cNvPr id="14" name="Pie 13"/>
          <p:cNvSpPr/>
          <p:nvPr/>
        </p:nvSpPr>
        <p:spPr>
          <a:xfrm>
            <a:off x="6766560" y="2103120"/>
            <a:ext cx="1828800" cy="1828800"/>
          </a:xfrm>
          <a:prstGeom prst="pie">
            <a:avLst/>
          </a:prstGeom>
          <a:solidFill>
            <a:srgbClr val="FFD9D0"/>
          </a:solidFill>
          <a:ln w="3175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3977639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half-life</a:t>
            </a:r>
          </a:p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22222B"/>
                </a:solidFill>
                <a:latin typeface="Comic Sans MS"/>
              </a:rPr>
              <a:t>2.5–5 yrs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94560"/>
            <a:ext cx="29260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• 70% of niche tech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  knowledge stale in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  18 months.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• 39% of core skills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  obsolete by 2030</a:t>
            </a:r>
          </a:p>
          <a:p>
            <a:pPr algn="l">
              <a:lnSpc>
                <a:spcPct val="105000"/>
              </a:lnSpc>
            </a:pPr>
            <a:r>
              <a:rPr sz="1600" b="0">
                <a:solidFill>
                  <a:srgbClr val="22222B"/>
                </a:solidFill>
                <a:latin typeface="Comic Sans MS"/>
              </a:rPr>
              <a:t>  (WEF).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What the work actually looks like now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554480"/>
            <a:ext cx="4937760" cy="4023360"/>
          </a:xfrm>
          <a:prstGeom prst="roundRect">
            <a:avLst/>
          </a:prstGeom>
          <a:solidFill>
            <a:srgbClr val="EFECE4"/>
          </a:solidFill>
          <a:ln w="31750">
            <a:solidFill>
              <a:srgbClr val="8A8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8A867E"/>
                </a:solidFill>
                <a:latin typeface="Comic Sans MS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438912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Analyst spends Monday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building the dashboard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by hand.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Value = producing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the output.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97880" y="3108960"/>
            <a:ext cx="822960" cy="822960"/>
          </a:xfrm>
          <a:prstGeom prst="rightArrow">
            <a:avLst/>
          </a:prstGeom>
          <a:solidFill>
            <a:srgbClr val="E8553A"/>
          </a:solidFill>
          <a:ln w="127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0" y="1554480"/>
            <a:ext cx="4572000" cy="4023360"/>
          </a:xfrm>
          <a:prstGeom prst="roundRect">
            <a:avLst/>
          </a:prstGeom>
          <a:solidFill>
            <a:srgbClr val="E6EFF7"/>
          </a:solidFill>
          <a:ln w="381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1">
                <a:solidFill>
                  <a:srgbClr val="2F6FB0"/>
                </a:solidFill>
                <a:latin typeface="Comic Sans MS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77440"/>
            <a:ext cx="402336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AI drafts it in 4 min.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She spots the tracking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bug, reframes it for the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exec, decides what NOT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to recommend.</a:t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2000" b="0">
                <a:solidFill>
                  <a:srgbClr val="22222B"/>
                </a:solidFill>
                <a:latin typeface="Comic Sans MS"/>
              </a:rPr>
              <a:t>Value = the judgment.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064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E8553A"/>
                </a:solidFill>
                <a:latin typeface="Comic Sans MS"/>
              </a:rPr>
              <a:t>Same salary line. Completely different skill doing the earning.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B8C5A"/>
                </a:solidFill>
                <a:latin typeface="Comic Sans MS"/>
              </a:rPr>
              <a:t>People are voting with their holidays: the “skilliday”</a:t>
            </a:r>
          </a:p>
        </p:txBody>
      </p:sp>
      <p:sp>
        <p:nvSpPr>
          <p:cNvPr id="4" name="Sun 3"/>
          <p:cNvSpPr/>
          <p:nvPr/>
        </p:nvSpPr>
        <p:spPr>
          <a:xfrm>
            <a:off x="9692640" y="365760"/>
            <a:ext cx="1737360" cy="1737360"/>
          </a:xfrm>
          <a:prstGeom prst="sun">
            <a:avLst/>
          </a:prstGeom>
          <a:solidFill>
            <a:srgbClr val="FFE79C"/>
          </a:solidFill>
          <a:ln w="38100">
            <a:solidFill>
              <a:srgbClr val="E0A5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" y="192024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~50%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of Europeans plan to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learn a skill on holiday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(Mastercard, 27k people)</a:t>
            </a:r>
          </a:p>
        </p:txBody>
      </p:sp>
      <p:sp>
        <p:nvSpPr>
          <p:cNvPr id="8" name="Oval 7"/>
          <p:cNvSpPr/>
          <p:nvPr/>
        </p:nvSpPr>
        <p:spPr>
          <a:xfrm>
            <a:off x="3566160" y="192024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57%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24612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of 18–24s are planning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a skill-based trip</a:t>
            </a:r>
          </a:p>
        </p:txBody>
      </p:sp>
      <p:sp>
        <p:nvSpPr>
          <p:cNvPr id="11" name="Oval 10"/>
          <p:cNvSpPr/>
          <p:nvPr/>
        </p:nvSpPr>
        <p:spPr>
          <a:xfrm>
            <a:off x="6309360" y="192024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468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1 in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24612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of Gen Z prefer a skill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over a souvenir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1920240"/>
            <a:ext cx="2468880" cy="2468880"/>
          </a:xfrm>
          <a:prstGeom prst="ellipse">
            <a:avLst/>
          </a:prstGeom>
          <a:solidFill>
            <a:srgbClr val="FBF7EF"/>
          </a:solidFill>
          <a:ln w="381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468880"/>
            <a:ext cx="24688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B8C5A"/>
                </a:solidFill>
                <a:latin typeface="Comic Sans MS"/>
              </a:rPr>
              <a:t>76%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46120"/>
            <a:ext cx="24688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say a skill outlasts</a:t>
            </a:r>
          </a:p>
          <a:p>
            <a:pPr algn="ctr">
              <a:lnSpc>
                <a:spcPct val="105000"/>
              </a:lnSpc>
            </a:pPr>
            <a:r>
              <a:rPr sz="1300" b="0">
                <a:solidFill>
                  <a:srgbClr val="22222B"/>
                </a:solidFill>
                <a:latin typeface="Comic Sans MS"/>
              </a:rPr>
              <a:t>any souvenir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93776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Top categories: languages · wellness &amp; movement (25%) · crafts (24%) · creative arts (23%).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/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Why it matters for work: pottery and negotiation are cousins — tactile, feedback-driven,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and impossible to fully outsource to a model.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The actionable 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>
                <a:solidFill>
                  <a:srgbClr val="8A867E"/>
                </a:solidFill>
                <a:latin typeface="Comic Sans MS"/>
              </a:rPr>
              <a:t>Isolated topics are out. Combinations are 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377440"/>
            <a:ext cx="2743200" cy="2011680"/>
          </a:xfrm>
          <a:prstGeom prst="roundRect">
            <a:avLst/>
          </a:prstGeom>
          <a:solidFill>
            <a:srgbClr val="FBF7EF"/>
          </a:solidFill>
          <a:ln w="508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83464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F6FB0"/>
                </a:solidFill>
                <a:latin typeface="Comic Sans MS"/>
              </a:rPr>
              <a:t>AI</a:t>
            </a:r>
          </a:p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2F6FB0"/>
                </a:solidFill>
                <a:latin typeface="Comic Sans MS"/>
              </a:rPr>
              <a:t>leverage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40" y="2651760"/>
            <a:ext cx="822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22222B"/>
                </a:solidFill>
                <a:latin typeface="Comic Sans MS"/>
              </a:rPr>
              <a:t>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377440"/>
            <a:ext cx="2743200" cy="2011680"/>
          </a:xfrm>
          <a:prstGeom prst="roundRect">
            <a:avLst/>
          </a:prstGeom>
          <a:solidFill>
            <a:srgbClr val="FBF7EF"/>
          </a:solidFill>
          <a:ln w="50800">
            <a:solidFill>
              <a:srgbClr val="E855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83464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E8553A"/>
                </a:solidFill>
                <a:latin typeface="Comic Sans MS"/>
              </a:rPr>
              <a:t>CRITICAL</a:t>
            </a:r>
          </a:p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E8553A"/>
                </a:solidFill>
                <a:latin typeface="Comic Sans MS"/>
              </a:rPr>
              <a:t>THINKING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651760"/>
            <a:ext cx="82296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>
                <a:solidFill>
                  <a:srgbClr val="22222B"/>
                </a:solidFill>
                <a:latin typeface="Comic Sans MS"/>
              </a:rPr>
              <a:t>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77440"/>
            <a:ext cx="2743200" cy="2011680"/>
          </a:xfrm>
          <a:prstGeom prst="roundRect">
            <a:avLst/>
          </a:prstGeom>
          <a:solidFill>
            <a:srgbClr val="FBF7EF"/>
          </a:solidFill>
          <a:ln w="50800">
            <a:solidFill>
              <a:srgbClr val="3B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834640"/>
            <a:ext cx="27432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B8C5A"/>
                </a:solidFill>
                <a:latin typeface="Comic Sans MS"/>
              </a:rPr>
              <a:t>DOMAIN</a:t>
            </a:r>
          </a:p>
          <a:p>
            <a:pPr algn="ctr">
              <a:lnSpc>
                <a:spcPct val="105000"/>
              </a:lnSpc>
            </a:pPr>
            <a:r>
              <a:rPr sz="2400" b="1">
                <a:solidFill>
                  <a:srgbClr val="3B8C5A"/>
                </a:solidFill>
                <a:latin typeface="Comic Sans MS"/>
              </a:rPr>
              <a:t>EXPERTISE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= a 2026-proof role.</a:t>
            </a: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Master the meta-skill (learning how to learn) and you don't have to</a:t>
            </a:r>
          </a:p>
          <a:p>
            <a:pPr algn="ctr">
              <a:lnSpc>
                <a:spcPct val="105000"/>
              </a:lnSpc>
            </a:pPr>
            <a:r>
              <a:rPr sz="2000" b="1">
                <a:solidFill>
                  <a:srgbClr val="22222B"/>
                </a:solidFill>
                <a:latin typeface="Comic Sans MS"/>
              </a:rPr>
              <a:t>predict which tool wins — you just re-tool faster than the person next to you.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>
                <a:solidFill>
                  <a:srgbClr val="E8553A"/>
                </a:solidFill>
                <a:latin typeface="Comic Sans MS"/>
              </a:rPr>
              <a:t>🛠 A tool to try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1">
                <a:solidFill>
                  <a:srgbClr val="22222B"/>
                </a:solidFill>
                <a:latin typeface="Comic Sans MS"/>
              </a:rPr>
              <a:t>The 15-Minute Skill-Portfolio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6654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1.  List the 5 tasks that fill most of your week.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8437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2.  Tag each:  🤖 AI can do it  ·  🧠 needs my judgment  ·  🎨 needs a human touch.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56616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2102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3.  Count your 🤖 tags — that's your automation exposure.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34340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9826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4.  For each 🤖, write the downstream judgment it frees you for (validate, decide, persuade).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120640"/>
            <a:ext cx="10515600" cy="658368"/>
          </a:xfrm>
          <a:prstGeom prst="roundRect">
            <a:avLst/>
          </a:prstGeom>
          <a:solidFill>
            <a:srgbClr val="F0F5FB"/>
          </a:solidFill>
          <a:ln w="25400">
            <a:solidFill>
              <a:srgbClr val="2F6F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17550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>
                <a:solidFill>
                  <a:srgbClr val="22222B"/>
                </a:solidFill>
                <a:latin typeface="Comic Sans MS"/>
              </a:rPr>
              <a:t>5.  Grow ONE durable + ONE refreshable skill this quarter. Review in 90 days — beat the half-life.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E8553A"/>
                </a:solidFill>
                <a:latin typeface="Comic Sans MS"/>
              </a:rPr>
              <a:t>Bonus habit: ask an AI to argue the OPPOSITE of your conclusion. Autopilot → critical-thinking gym.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E8553A"/>
                </a:solidFill>
                <a:latin typeface="Comic Sans MS"/>
              </a:rPr>
              <a:t>The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737360"/>
            <a:ext cx="10332720" cy="2103120"/>
          </a:xfrm>
          <a:prstGeom prst="roundRect">
            <a:avLst/>
          </a:prstGeom>
          <a:solidFill>
            <a:srgbClr val="FFF3D9"/>
          </a:solidFill>
          <a:ln w="38100">
            <a:solidFill>
              <a:srgbClr val="222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920240"/>
            <a:ext cx="960120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People are learning to stay relevant in an AI-augmented world —</a:t>
            </a:r>
          </a:p>
          <a:p>
            <a:pPr algn="ctr">
              <a:lnSpc>
                <a:spcPct val="105000"/>
              </a:lnSpc>
            </a:pPr>
            <a:r>
              <a:rPr sz="2600" b="1">
                <a:solidFill>
                  <a:srgbClr val="22222B"/>
                </a:solidFill>
                <a:latin typeface="Comic Sans MS"/>
              </a:rPr>
              <a:t>and the meta-skill is learning how to learn,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Sources: Korn Ferry TA Trends 2026 · Lightcast · PwC 2026 Global AI Jobs Barometer ·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ADP Research · Mastercard/Euronews skilliday survey · IBM skill half-life · WEF Future of Jobs ·</a:t>
            </a:r>
          </a:p>
          <a:p>
            <a:pPr algn="ctr">
              <a:lnSpc>
                <a:spcPct val="105000"/>
              </a:lnSpc>
            </a:pPr>
            <a:r>
              <a:rPr sz="1500" b="0">
                <a:solidFill>
                  <a:srgbClr val="8A867E"/>
                </a:solidFill>
                <a:latin typeface="Comic Sans MS"/>
              </a:rPr>
              <a:t>Stanford HAI AI Index 2026 · Toggl meta-skills.  (Full links in the accompanying README.)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