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Keep the title on screen 3-5 seconds only. Don't over-explain the series here -- go straight into the hook on the next slide.
USER NOTE: This deck pairs with Lesson_01_AI_Agent_Script.md, which has the full word-for-word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Pause half a beat after "click a single button" -- let the contrast land before moving on.
USER NOTE: If recording live, a 3-second screen capture of recording a real Excel/Word macro works great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This is the screenshot slide -- keep Think / Plan / Do large and uncluttered.
USER NOTE: Contrast against a plain chatbot, which only answers one question at a time and does not plan or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Emphasize the word "decisions" -- that's the whole difference between plain automation and an agent. Slow down on panel 3, it's the payoff.
USER NOTE: If turning into a real video, animate the robot hopping between panels 1-2-3.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Good spot for a hand-drawn "hop, hop, hop" arrow animation across the tabs if this becomes a real video.
USER NOTE: Keep this analogy short -- it's a reinforcement of slide 4's idea, not new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If recording live, a 4-5 second real screen-recording of the Mistral Studio agent-builder screen slots in perfectly here -- swap the doodle for the real screenshot if you have one.
USER NOTE: Double-check Mistral Studio's current UI labels before recording, in case the product has renamed a panel since this script was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This is the "if they remember one thing" slide -- say it a little slower than the rest.
USER NOTE: Consider pausing on this slide 2 extra seconds in the edit -- it's the natural rewatch/screenshot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End on the robot walking toward the sign -- gives a natural loop point back into the series intro for episode 2.
USER NOTE: Full topic backlog and sequencing lives in AI_Lessons/README.md -- update it after recording each episode.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CONCEPTS MADE SIMPLE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 Agent?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1 — plain-English AI, explained with Office Suite and browser analogies, plus a real example in Mistral Studio.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607040" y="3163824"/>
            <a:ext cx="0" cy="402336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60736" y="2944368"/>
            <a:ext cx="292608" cy="292608"/>
          </a:xfrm>
          <a:prstGeom prst="ellipse">
            <a:avLst/>
          </a:prstGeom>
          <a:solidFill>
            <a:srgbClr val="F9E79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3474720"/>
            <a:ext cx="1463040" cy="100584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3822192"/>
            <a:ext cx="256032" cy="256032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16768" y="3822192"/>
            <a:ext cx="256032" cy="256032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4572000"/>
            <a:ext cx="1828800" cy="137160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87584" y="4882896"/>
            <a:ext cx="438912" cy="438912"/>
          </a:xfrm>
          <a:prstGeom prst="ellipse">
            <a:avLst/>
          </a:prstGeom>
          <a:solidFill>
            <a:srgbClr val="F9E79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56064" y="4754880"/>
            <a:ext cx="-402336" cy="329184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58016" y="4754880"/>
            <a:ext cx="402336" cy="329184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04704" y="5943600"/>
            <a:ext cx="0" cy="402336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09376" y="5943600"/>
            <a:ext cx="0" cy="402336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minute lesson  ·  video script + slide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  ·  0:00–0:15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macro that finishes itself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how in Excel or Word you can record a macro that repeats a boring task for you?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imagine that macro could look at the situation, decide what to do next, and finish the whole job -- without you clicking a single button.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people mean by an “AI agent.”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1828800"/>
            <a:ext cx="4480560" cy="3291840"/>
          </a:xfrm>
          <a:prstGeom prst="roundRect">
            <a:avLst>
              <a:gd name="adj" fmla="val 3333"/>
            </a:avLst>
          </a:prstGeom>
          <a:solidFill>
            <a:srgbClr val="FFF7EC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286000"/>
            <a:ext cx="457200" cy="457200"/>
          </a:xfrm>
          <a:prstGeom prst="ellipse">
            <a:avLst/>
          </a:prstGeom>
          <a:noFill/>
          <a:ln w="254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2743200"/>
            <a:ext cx="0" cy="731520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3017520"/>
            <a:ext cx="-320040" cy="320040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228600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60604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292608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324612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click… click… click…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0" y="3291840"/>
            <a:ext cx="502920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447020" y="2511857"/>
            <a:ext cx="0" cy="231343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62895" y="2385670"/>
            <a:ext cx="168250" cy="168250"/>
          </a:xfrm>
          <a:prstGeom prst="ellipse">
            <a:avLst/>
          </a:prstGeom>
          <a:solidFill>
            <a:srgbClr val="F96167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26396" y="2690622"/>
            <a:ext cx="841248" cy="578358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36708" y="2890418"/>
            <a:ext cx="147218" cy="147218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0114" y="2890418"/>
            <a:ext cx="147218" cy="147218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3321558"/>
            <a:ext cx="1051560" cy="78867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20833" y="3500323"/>
            <a:ext cx="252374" cy="252374"/>
          </a:xfrm>
          <a:prstGeom prst="ellipse">
            <a:avLst/>
          </a:prstGeom>
          <a:solidFill>
            <a:srgbClr val="F96167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0209" y="3426714"/>
            <a:ext cx="-231343" cy="189281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93831" y="3426714"/>
            <a:ext cx="231343" cy="189281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15677" y="4110228"/>
            <a:ext cx="0" cy="231343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78363" y="4110228"/>
            <a:ext cx="0" cy="231343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4343400"/>
            <a:ext cx="274320" cy="320040"/>
          </a:xfrm>
          <a:prstGeom prst="roundRect">
            <a:avLst>
              <a:gd name="adj" fmla="val 16667"/>
            </a:avLst>
          </a:prstGeom>
          <a:solidFill>
            <a:srgbClr val="2F3C7E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4617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one sweep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5257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[DOODLE] tired clicking -&gt; robot finishes it in one sweep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DEFINITION  ·  0:15–0:40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DOES, not just AI that answers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is a program that pairs an AI model with a goal and a set of tools, then lets it figure out the steps to reach that goal -- mostly on its own.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4023360"/>
            <a:ext cx="77724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206240"/>
            <a:ext cx="182880" cy="9144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4160520"/>
            <a:ext cx="182880" cy="13716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4389120"/>
            <a:ext cx="274320" cy="-4572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800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/ model reasons about the goal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9464" y="4663440"/>
            <a:ext cx="393192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17520" y="374904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9E795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3977640"/>
            <a:ext cx="960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4114800"/>
            <a:ext cx="128016" cy="9144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4114800"/>
            <a:ext cx="502920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39312" y="4334256"/>
            <a:ext cx="128016" cy="9144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4334256"/>
            <a:ext cx="502920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9312" y="4553712"/>
            <a:ext cx="128016" cy="9144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4553712"/>
            <a:ext cx="502920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4800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08960" y="51206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it into steps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38344" y="4663440"/>
            <a:ext cx="393192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0" y="374904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402336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251960"/>
            <a:ext cx="228600" cy="22860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931920"/>
            <a:ext cx="0" cy="164592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600000">
            <a:off x="6400800" y="3931920"/>
            <a:ext cx="0" cy="164592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7200000">
            <a:off x="6400800" y="3931920"/>
            <a:ext cx="0" cy="164592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4800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577840" y="51206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acts, using tools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5623560"/>
            <a:ext cx="6903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[DOODLE] brain -&gt; checklist -&gt; gear, connected by arrows, labeled Think / Plan / Do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 #1  ·  OFFICE SUITE  ·  0:40–1:15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Autocorrect vs. Mail Merge vs. an agent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4F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65176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 -&gt; the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tiny decision.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 single word.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4F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Merge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260604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2926080"/>
            <a:ext cx="41148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260604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B2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255117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9944" y="2496312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B2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fixed steps,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time.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182880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DEAEA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Agent-like macro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0" y="260604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61120" y="2880360"/>
            <a:ext cx="32004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72600" y="2560320"/>
            <a:ext cx="64008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2600" y="2542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104120" y="2880360"/>
            <a:ext cx="32004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515600" y="2560320"/>
            <a:ext cx="640080" cy="822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52760" y="2743200"/>
            <a:ext cx="3657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52760" y="2926080"/>
            <a:ext cx="3657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52760" y="3108960"/>
            <a:ext cx="3657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inbox, decides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matters, drafts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-- checking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only when unsure.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669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[DOODLE] 3-panel comic: one-word fix -&gt; template+list merge -&gt; inbox -&gt; thought bubble -&gt; summary doc, robot running between panels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 #2  ·  WEB BROWSER  ·  1:15–1:40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Highlighting a word vs. booking the trip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tool might just highlight a word you select -- one job, done.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agent-like extension could notice you're comparing flights across five open tabs, pull all the prices together, and even fill out the booking form for the cheapest one -- making its own calls along the way.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20640" y="1828800"/>
            <a:ext cx="6400800" cy="1554480"/>
          </a:xfrm>
          <a:prstGeom prst="roundRect">
            <a:avLst>
              <a:gd name="adj" fmla="val 5882"/>
            </a:avLst>
          </a:prstGeom>
          <a:solidFill>
            <a:srgbClr val="F4F4F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1828800"/>
            <a:ext cx="640080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0" y="188366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C6BAE"/>
          </a:solidFill>
          <a:ln w="635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64808" y="188366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C6BAE"/>
          </a:solidFill>
          <a:ln w="63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1816" y="188366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9E795"/>
          </a:solidFill>
          <a:ln w="635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78824" y="188366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C6BAE"/>
          </a:solidFill>
          <a:ln w="635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85832" y="188366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C6BAE"/>
          </a:solidFill>
          <a:ln w="6350">
            <a:solidFill>
              <a:srgbClr val="2F3C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3317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tabs open: comparing flights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2743200"/>
            <a:ext cx="320040" cy="320040"/>
          </a:xfrm>
          <a:prstGeom prst="ellipse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25312" y="2999232"/>
            <a:ext cx="137160" cy="13716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2743200"/>
            <a:ext cx="320040" cy="320040"/>
          </a:xfrm>
          <a:prstGeom prst="ellipse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05472" y="2999232"/>
            <a:ext cx="137160" cy="13716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743200"/>
            <a:ext cx="320040" cy="320040"/>
          </a:xfrm>
          <a:prstGeom prst="ellipse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2999232"/>
            <a:ext cx="137160" cy="13716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2743200"/>
            <a:ext cx="320040" cy="320040"/>
          </a:xfrm>
          <a:prstGeom prst="ellipse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65792" y="2999232"/>
            <a:ext cx="137160" cy="13716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3429000"/>
            <a:ext cx="0" cy="32004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388620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FDEAEA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40690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43484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480060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4800600"/>
            <a:ext cx="365760" cy="365760"/>
          </a:xfrm>
          <a:prstGeom prst="ellipse">
            <a:avLst/>
          </a:prstGeom>
          <a:solidFill>
            <a:srgbClr val="3FA34D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7152" y="4754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5358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flight booked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5669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[DOODLE] browser window, 5 tabs, magnifying glass hopping tab to tab, lands on filled checkout form with green check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  ·  MISTRAL STUDIO  ·  1:40–2:20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idea, in a real builder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Mistral Studio, Mistral AI's builder platform, you set three things to build an agent: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5146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9928" y="276148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done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72384" y="3200400"/>
            <a:ext cx="347472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9E795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560320"/>
            <a:ext cx="640080" cy="457200"/>
          </a:xfrm>
          <a:prstGeom prst="line">
            <a:avLst/>
          </a:prstGeom>
          <a:noFill/>
          <a:ln w="50800">
            <a:solidFill>
              <a:srgbClr val="2B2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2487168"/>
            <a:ext cx="201168" cy="201168"/>
          </a:xfrm>
          <a:prstGeom prst="ellipse">
            <a:avLst/>
          </a:prstGeom>
          <a:solidFill>
            <a:srgbClr val="F9E795"/>
          </a:solidFill>
          <a:ln w="31750">
            <a:solidFill>
              <a:srgbClr val="2B2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2907792"/>
            <a:ext cx="201168" cy="201168"/>
          </a:xfrm>
          <a:prstGeom prst="ellipse">
            <a:avLst/>
          </a:prstGeom>
          <a:solidFill>
            <a:srgbClr val="F9E795"/>
          </a:solidFill>
          <a:ln w="3175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3566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code exec,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data connectors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98464" y="3200400"/>
            <a:ext cx="347472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E7EAF7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25146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679192"/>
            <a:ext cx="182880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2679192"/>
            <a:ext cx="182880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2834640"/>
            <a:ext cx="182880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2834640"/>
            <a:ext cx="182880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2990088"/>
            <a:ext cx="182880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2990088"/>
            <a:ext cx="182880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3566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“brain” doing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4160520"/>
            <a:ext cx="0" cy="32004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46320" y="4310482"/>
            <a:ext cx="0" cy="261518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1222" y="4167835"/>
            <a:ext cx="190195" cy="190195"/>
          </a:xfrm>
          <a:prstGeom prst="ellipse">
            <a:avLst/>
          </a:prstGeom>
          <a:solidFill>
            <a:srgbClr val="F96167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4512564"/>
            <a:ext cx="950976" cy="653796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8576" y="4738421"/>
            <a:ext cx="166421" cy="166421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7643" y="4738421"/>
            <a:ext cx="166421" cy="166421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5225796"/>
            <a:ext cx="1188720" cy="8915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3674" y="5427878"/>
            <a:ext cx="285293" cy="285293"/>
          </a:xfrm>
          <a:prstGeom prst="ellipse">
            <a:avLst/>
          </a:prstGeom>
          <a:solidFill>
            <a:srgbClr val="F96167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28186" y="5344668"/>
            <a:ext cx="-261518" cy="21397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64454" y="5344668"/>
            <a:ext cx="261518" cy="21397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84802" y="6117336"/>
            <a:ext cx="0" cy="261518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07838" y="6117336"/>
            <a:ext cx="0" cy="261518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0" y="4800600"/>
            <a:ext cx="502920" cy="6400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94960" y="4937760"/>
            <a:ext cx="32004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0" y="5093208"/>
            <a:ext cx="32004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94960" y="5248656"/>
            <a:ext cx="32004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57200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it: “summarize this week's sales emails and draft a report” -&gt; the agent reads, decides, drafts, and hands you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2:20–2:35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answers. An agent does.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201168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DEAEA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743200"/>
            <a:ext cx="329184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920240" y="3840480"/>
            <a:ext cx="365760" cy="32004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7432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“Here's an answer.”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AI chat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0920" y="2207362"/>
            <a:ext cx="0" cy="261518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5822" y="2064715"/>
            <a:ext cx="190195" cy="190195"/>
          </a:xfrm>
          <a:prstGeom prst="ellipse">
            <a:avLst/>
          </a:prstGeom>
          <a:solidFill>
            <a:srgbClr val="F96167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85432" y="2409444"/>
            <a:ext cx="950976" cy="653796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23176" y="2635301"/>
            <a:ext cx="166421" cy="166421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2243" y="2635301"/>
            <a:ext cx="166421" cy="166421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3122676"/>
            <a:ext cx="1188720" cy="8915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8274" y="3324758"/>
            <a:ext cx="285293" cy="285293"/>
          </a:xfrm>
          <a:prstGeom prst="ellipse">
            <a:avLst/>
          </a:prstGeom>
          <a:solidFill>
            <a:srgbClr val="F96167"/>
          </a:solidFill>
          <a:ln w="28575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42786" y="3241548"/>
            <a:ext cx="-261518" cy="21397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79054" y="3241548"/>
            <a:ext cx="261518" cy="21397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99402" y="4014216"/>
            <a:ext cx="0" cy="261518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2438" y="4014216"/>
            <a:ext cx="0" cy="261518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256032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27889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FA34D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2889504"/>
            <a:ext cx="1371600" cy="0"/>
          </a:xfrm>
          <a:prstGeom prst="line">
            <a:avLst/>
          </a:prstGeom>
          <a:noFill/>
          <a:ln w="15240">
            <a:solidFill>
              <a:srgbClr val="8A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FA34D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3255264"/>
            <a:ext cx="1371600" cy="0"/>
          </a:xfrm>
          <a:prstGeom prst="line">
            <a:avLst/>
          </a:prstGeom>
          <a:noFill/>
          <a:ln w="15240">
            <a:solidFill>
              <a:srgbClr val="8A8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35204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FA34D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0" y="3621024"/>
            <a:ext cx="1371600" cy="0"/>
          </a:xfrm>
          <a:prstGeom prst="line">
            <a:avLst/>
          </a:prstGeom>
          <a:noFill/>
          <a:ln w="1524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3886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0" y="3986784"/>
            <a:ext cx="1371600" cy="0"/>
          </a:xfrm>
          <a:prstGeom prst="line">
            <a:avLst/>
          </a:prstGeom>
          <a:noFill/>
          <a:ln w="15240">
            <a:solidFill>
              <a:srgbClr val="8A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5120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EPISODE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 “model”?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unpack what actually powers the “brain” inside the agent -- using the same everyday analogies.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6880" y="3657600"/>
            <a:ext cx="0" cy="210312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27432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9E795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STOP: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3873398"/>
            <a:ext cx="0" cy="24140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10298" y="3741725"/>
            <a:ext cx="175565" cy="175565"/>
          </a:xfrm>
          <a:prstGeom prst="ellipse">
            <a:avLst/>
          </a:prstGeom>
          <a:solidFill>
            <a:srgbClr val="F9E79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4059936"/>
            <a:ext cx="877824" cy="603504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8624" y="4268419"/>
            <a:ext cx="153619" cy="153619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63917" y="4268419"/>
            <a:ext cx="153619" cy="153619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4718304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6406" y="4904842"/>
            <a:ext cx="263347" cy="263347"/>
          </a:xfrm>
          <a:prstGeom prst="ellipse">
            <a:avLst/>
          </a:prstGeom>
          <a:solidFill>
            <a:srgbClr val="F9E79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27494" y="4828032"/>
            <a:ext cx="-241402" cy="19751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8666" y="4828032"/>
            <a:ext cx="241402" cy="19751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56678" y="5541264"/>
            <a:ext cx="0" cy="24140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9482" y="5541264"/>
            <a:ext cx="0" cy="24140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so far: Agent  ·  Up next: Model, Prompt, Token, Memory, Skill/Tool, System Prompt, Context Window, RAG, Fine-tuning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2026-07-18T02:20:54Z</dcterms:created>
  <dcterms:modified xsi:type="dcterms:W3CDTF">2026-07-18T02:20:54Z</dcterms:modified>
</cp:coreProperties>
</file>