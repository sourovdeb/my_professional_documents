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This talk moves through four scientific domains and one true story. The promise is simple: by the end, you'll see that brains, languages, quantum systems and large language models all share one deep habit — they predict what comes next and update when they're wrong. To keep it concrete, we'll follow a real case study: a teacher who was born in Bangladesh, spent 18 years in Sydney's luxury hospitality world, and rebuilt his life on a French island — using exactly the ideas in these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productivity advice fails because it fights biology. These findings are rarely taught together: your brain cycles through high-focus and low-focus phases roughly every 90 minutes, so the trick is surfing the wave, not forcing it. Peter Gollwitzer's implementation intentions research shows that pre-deciding 'when situation X arises, I will respond with Y' roughly triples the odds of actually doing it — a protocol, not a wish. And the Zeigarnik effect explains why writing a to-do list feels like relief: the brain stops rehearsing open loops once they're safely stored outside the 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an idea rarely explained well: many biases aren't flaws, they're insurance policies. The smoke detector principle, from error management theory, says evolution tunes us to over-react — a hundred false alarms are cheaper than one missed predator. That's why a curt email from a boss can feel like a survival threat: to the ancient brain, losing standing in the tribe once meant death. Keep this slide in mind — in our case study we'll watch a real workplace conflict where recognizing this circuitry made the difference between panic and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Phonology is the physics of speech: invisible rules governing what your mouth does. Two rare gems here. First, French is one of the few major languages with no lexical stress — every syllable is roughly equal — which is why French speakers 'sound French' in English: they flatten the stress mountains. Second, the schwa, that lazy 'uh' sound, makes up over 10% of all spoken English vowels, yet textbooks barely mention it. Our case-study subject teaches English for a living and lives in French, with Bangla as his mother tongue — he is a walking experiment in three colliding sound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Strip away the hype and a large language model does one thing: given text so far, predict the next fragment. The astonishing part is what emerged from that humble task — translation, reasoning, code. Explain embeddings with the famous arithmetic: the direction from 'man' to 'king' is the same as from 'woman' to 'queen' — meaning became geometry. And here's the bridge to earlier slides: predictive processing theory says human brains minimize surprise the same way. When you finish someone's sentence, you're doing next-token prediction with neurons.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gentle: quantum mechanics says the world at bottom is probabilistic, not clockwork. The crowd-pleaser here is the Quantum Zeno effect — genuinely rare in intro talks: if you measure a quantum system rapidly enough, it never evolves; the watched pot literally never boils. There's a life metaphor hiding in it — constantly checking on a process can prevent it from changing — but be honest with the audience that the metaphor is poetic, not physics. Tunneling is the other wow: without particles sneaking through energy barriers, hydrogen fusion in the sun wouldn't happen and we wouldn't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do people pay double for a logo? Not stupidity — compression. A brand converts an unknowable question ('is this coffee safe, good, consistent?') into a single cached feeling. The rare idea here is costly signaling, borrowed from evolutionary biology: like a peacock's tail, a lavish ad campaign is credible precisely because a fly-by-night company couldn't afford it. Connect it to careers: a Cambridge CELTA certificate works exactly like a brand — it lets a stranger trust 18 years of unverifiable experience in a single line on a CV.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the theory gets a face. In 2025 our subject, working at a café boutique, fell ill; the occupational physician declared him unfit to return, which under French law triggers a protected dismissal process. When the employer dragged its feet on the legally required documents, the ancestral brain screamed 'tribe exile!' — but instead of reacting, he executed protocol: a courteous formal-notice email citing the exact legal obligations, copied to the labour inspectorate, and a personal archive of every exchange. That is Slide 2's lesson — pre-decided rules beat in-the-moment emotion — deployed against a real Goliath.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arc that makes the science human. Three sound systems (Slide 4), three cultures, one strategy. The remarkable detail: he signed his CELTA training contract in October 2025 — in the middle of the legal battle, not after it. That's the Zeigarnik effect managed deliberately: open one meaningful loop to shrink the others. By February 2026 he walked out of the préfecture a French citizen, and by summer he was applying to language schools from Madrid to Bangkok. The certificate did what brands do — compressed 18 unverifiable years into one trusted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Bring it home in one breath: every intelligent system we met today survives by predicting, being wrong, and updating — neurons, language learners, transformers, even particles described by probability waves. The case study proves the ideas aren't decorative: understanding your alarm circuitry keeps you calm in a fight; understanding signaling tells you which certificate to buy; understanding phonology turns three accents into an asset. End by asking the audience: which of your open loops deserves a protocol this week? Thank them, and offer the speaker notes as a study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7A2F"/>
                </a:solidFill>
                <a:latin typeface="Calibri"/>
              </a:defRPr>
            </a:pPr>
            <a:r>
              <a:t>SLIDE 1 · WELCOME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7F4EE"/>
                </a:solidFill>
                <a:latin typeface="Calibri"/>
              </a:defRPr>
            </a:pPr>
            <a:r>
              <a:t>The Hidden Architecture:</a:t>
            </a:r>
          </a:p>
          <a:p>
            <a:pPr>
              <a:defRPr sz="3000" b="1">
                <a:solidFill>
                  <a:srgbClr val="F7F4EE"/>
                </a:solidFill>
                <a:latin typeface="Calibri"/>
              </a:defRPr>
            </a:pPr>
            <a:r>
              <a:t>Mind, Language, Matter, Machines — and One Life That Crossed Them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10642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07A2F"/>
                </a:solidFill>
              </a:defRPr>
            </a:pPr>
            <a:r>
              <a:t>――――――――――――――――――――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7F4EE"/>
                </a:solidFill>
                <a:latin typeface="Calibri"/>
              </a:defRPr>
            </a:pPr>
            <a:r>
              <a:t>•  Five lenses on reality: psychology, linguistics, physics, AI — and a lived case study</a:t>
            </a:r>
          </a:p>
          <a:p>
            <a:pPr>
              <a:spcAft>
                <a:spcPts val="1200"/>
              </a:spcAft>
              <a:defRPr sz="1700">
                <a:solidFill>
                  <a:srgbClr val="F7F4EE"/>
                </a:solidFill>
                <a:latin typeface="Calibri"/>
              </a:defRPr>
            </a:pPr>
            <a:r>
              <a:t>•  One connecting thread: everything intelligent is a prediction machine</a:t>
            </a:r>
          </a:p>
          <a:p>
            <a:pPr>
              <a:spcAft>
                <a:spcPts val="1200"/>
              </a:spcAft>
              <a:defRPr sz="1700">
                <a:solidFill>
                  <a:srgbClr val="F7F4EE"/>
                </a:solidFill>
                <a:latin typeface="Calibri"/>
              </a:defRPr>
            </a:pPr>
            <a:r>
              <a:t>•  Case study: a journey from Bangladesh → 18 years in Australia → Réunion Island, France</a:t>
            </a:r>
          </a:p>
          <a:p>
            <a:pPr>
              <a:spcAft>
                <a:spcPts val="1200"/>
              </a:spcAft>
              <a:defRPr sz="1700">
                <a:solidFill>
                  <a:srgbClr val="F7F4EE"/>
                </a:solidFill>
                <a:latin typeface="Calibri"/>
              </a:defRPr>
            </a:pPr>
            <a:r>
              <a:t>•  Designed for first-time learners — no prior knowledge assumed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7A2F"/>
                </a:solidFill>
                <a:latin typeface="Calibri"/>
              </a:defRPr>
            </a:pPr>
            <a:r>
              <a:t>SLIDE 2 · PSYCHOLOGY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63B"/>
                </a:solidFill>
                <a:latin typeface="Calibri"/>
              </a:defRPr>
            </a:pPr>
            <a:r>
              <a:t>Productivity Protocols: Working With the Brain, Not Against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07A2F"/>
                </a:solidFill>
              </a:defRPr>
            </a:pPr>
            <a:r>
              <a:t>――――――――――――――――――――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Ultradian rhythms: the brain focuses in ~90-minute waves — schedule sprints, not marathons</a:t>
            </a:r>
          </a:p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Implementation intentions: "When X happens, I will do Y" triples follow-through (Gollwitzer)</a:t>
            </a:r>
          </a:p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The Zeigarnik effect: unfinished tasks haunt working memory — write them down to silence them</a:t>
            </a:r>
          </a:p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Attention residue: every task-switch leaves a cognitive 'stain' that lasts up to 20 minutes</a:t>
            </a:r>
          </a:p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Protocol beats willpower: pre-decided rules outperform in-the-moment motivation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7A2F"/>
                </a:solidFill>
                <a:latin typeface="Calibri"/>
              </a:defRPr>
            </a:pPr>
            <a:r>
              <a:t>SLIDE 3 · PSYCHOLOGY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63B"/>
                </a:solidFill>
                <a:latin typeface="Calibri"/>
              </a:defRPr>
            </a:pPr>
            <a:r>
              <a:t>Evolutionary Bias: The Smoke Detector in Your Skull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07A2F"/>
                </a:solidFill>
              </a:defRPr>
            </a:pPr>
            <a:r>
              <a:t>――――――――――――――――――――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Mismatch theory: brains built for the savannah now run modern offices — errors are the default</a:t>
            </a:r>
          </a:p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Error management (the 'smoke detector principle'): evolution prefers cheap false alarms over one fatal miss</a:t>
            </a:r>
          </a:p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Loss aversion: losses hurt ~2× more than equal gains feel good (Kahneman &amp; Tversky)</a:t>
            </a:r>
          </a:p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Status and tribe: workplace conflict triggers the same circuitry as ancestral exile</a:t>
            </a:r>
          </a:p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You can't delete a bias — but you can design around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7A2F"/>
                </a:solidFill>
                <a:latin typeface="Calibri"/>
              </a:defRPr>
            </a:pPr>
            <a:r>
              <a:t>SLIDE 4 · LINGUISTICS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63B"/>
                </a:solidFill>
                <a:latin typeface="Calibri"/>
              </a:defRPr>
            </a:pPr>
            <a:r>
              <a:t>Pronunciation &amp; Phonology: The Secret Physics of Speech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07A2F"/>
                </a:solidFill>
              </a:defRPr>
            </a:pPr>
            <a:r>
              <a:t>――――――――――――――――――――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Phonemes are categories, not sounds: /r/ vs /l/ exists in English but not in Japanese ears</a:t>
            </a:r>
          </a:p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The schwa /ə/ — English's most common vowel — is the one learners are never taught</a:t>
            </a:r>
          </a:p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Connected speech: native speakers say "gonna", "wanna", "nex(t) day" — deletion is the rule, not laziness</a:t>
            </a:r>
          </a:p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Prosody carries meaning: the melody of a sentence can reverse its words</a:t>
            </a:r>
          </a:p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A trilingual life = three sound systems: Bangla (no /v/–/bh/ split like English), French (no stress accent!), English (stress-timed)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7A2F"/>
                </a:solidFill>
                <a:latin typeface="Calibri"/>
              </a:defRPr>
            </a:pPr>
            <a:r>
              <a:t>SLIDE 5 · ARTIFICIAL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63B"/>
                </a:solidFill>
                <a:latin typeface="Calibri"/>
              </a:defRPr>
            </a:pPr>
            <a:r>
              <a:t>LLM Fundamentals: A Machine That Learned Language by Predicting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07A2F"/>
                </a:solidFill>
              </a:defRPr>
            </a:pPr>
            <a:r>
              <a:t>――――――――――――――――――――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One training objective: guess the next token (word-piece) — everything else is emergent</a:t>
            </a:r>
          </a:p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Embeddings: words become points in space, where 'king − man + woman ≈ queen'</a:t>
            </a:r>
          </a:p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Attention: every word looks at every other word and asks 'how relevant are you to me?'</a:t>
            </a:r>
          </a:p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Temperature: a dial between boring-but-safe and creative-but-risky output</a:t>
            </a:r>
          </a:p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Echo of Slide 2: your brain is also a next-moment prediction engine — LLMs industrialized the trick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7A2F"/>
                </a:solidFill>
                <a:latin typeface="Calibri"/>
              </a:defRPr>
            </a:pPr>
            <a:r>
              <a:t>SLIDE 6 · PHYSICS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63B"/>
                </a:solidFill>
                <a:latin typeface="Calibri"/>
              </a:defRPr>
            </a:pPr>
            <a:r>
              <a:t>Quantum Basics: Reality Is a Probability Until You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07A2F"/>
                </a:solidFill>
              </a:defRPr>
            </a:pPr>
            <a:r>
              <a:t>――――――――――――――――――――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Superposition: a quantum system holds many possibilities at once — until measured</a:t>
            </a:r>
          </a:p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Entanglement: two particles share one fate, even light-years apart ('spooky action')</a:t>
            </a:r>
          </a:p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The measurement problem: asking the question changes the answer</a:t>
            </a:r>
          </a:p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Rare gem — the Quantum Zeno effect: observe a system constantly and it freezes, unable to change</a:t>
            </a:r>
          </a:p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Quantum tunneling powers the sun — particles pass through walls they 'shouldn't'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7A2F"/>
                </a:solidFill>
                <a:latin typeface="Calibri"/>
              </a:defRPr>
            </a:pPr>
            <a:r>
              <a:t>SLIDE 7 · PSYCHOLOGY ×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63B"/>
                </a:solidFill>
                <a:latin typeface="Calibri"/>
              </a:defRPr>
            </a:pPr>
            <a:r>
              <a:t>Why Brands Win: The Science of Being Chosen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07A2F"/>
                </a:solidFill>
              </a:defRPr>
            </a:pPr>
            <a:r>
              <a:t>――――――――――――――――――――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Processing fluency: the brain mistakes 'easy to recognize' for 'good and true'</a:t>
            </a:r>
          </a:p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Costly signaling: expensive ads work because they're expensive — a flag that says 'we'll still be here tomorrow'</a:t>
            </a:r>
          </a:p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The availability heuristic: what comes to mind first feels like the best option</a:t>
            </a:r>
          </a:p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Brands are risk insurance: a known logo compresses a thousand unknowns into one feeling</a:t>
            </a:r>
          </a:p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Same law everywhere: a brand, an accent, a certification (like Cambridge CELTA) — all are trust shortcuts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7A2F"/>
                </a:solidFill>
                <a:latin typeface="Calibri"/>
              </a:defRPr>
            </a:pPr>
            <a:r>
              <a:t>SLIDE 8 · CASE STUDY, PART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63B"/>
                </a:solidFill>
                <a:latin typeface="Calibri"/>
              </a:defRPr>
            </a:pPr>
            <a:r>
              <a:t>The Fight: Illness, a Hostile Boss, and Protocol Over Panic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07A2F"/>
                </a:solidFill>
              </a:defRPr>
            </a:pPr>
            <a:r>
              <a:t>――――――――――――――――――――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The setting: a specialty-coffee boutique on Réunion Island; illness leads to sick leave, then a work-medicine (médecin du travail) verdict of inaptitude</a:t>
            </a:r>
          </a:p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The conflict: the employer withholds end-of-contract documents — a David-vs-Goliath moment</a:t>
            </a:r>
          </a:p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The response: no shouting — a formal mise en demeure email, CC'ed to the labour authority (DEETS)</a:t>
            </a:r>
          </a:p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Every exchange archived and labelled 'POUR ARCHIVE ET LEGAL' — evidence as a habit</a:t>
            </a:r>
          </a:p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Slides 2 &amp; 3 in action: smoke-detector panic converted into implementation intentions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7A2F"/>
                </a:solidFill>
                <a:latin typeface="Calibri"/>
              </a:defRPr>
            </a:pPr>
            <a:r>
              <a:t>SLIDE 9 · CASE STUDY, PART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63B"/>
                </a:solidFill>
                <a:latin typeface="Calibri"/>
              </a:defRPr>
            </a:pPr>
            <a:r>
              <a:t>The Reinvention: Three Countries, One Certificate, a New Nationality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07A2F"/>
                </a:solidFill>
              </a:defRPr>
            </a:pPr>
            <a:r>
              <a:t>――――――――――――――――――――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Bangladesh → Sydney: 18 years in Australian luxury hospitality — English absorbed by full immersion</a:t>
            </a:r>
          </a:p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Sydney → Réunion: marriage, and a naturalization file navigated line by line with the préfecture</a:t>
            </a:r>
          </a:p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During the legal fight, not after it: enrolled in Cambridge CELTA — turning experience into a 'brand' (Slide 7)</a:t>
            </a:r>
          </a:p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February 2026: French nationality acquired; 2026: CELTA in hand, applications from Madrid to Bangkok</a:t>
            </a:r>
          </a:p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The pattern: when one door closes, credential + language = portable capital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7A2F"/>
                </a:solidFill>
                <a:latin typeface="Calibri"/>
              </a:defRPr>
            </a:pPr>
            <a:r>
              <a:t>SLIDE 10 ·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63B"/>
                </a:solidFill>
                <a:latin typeface="Calibri"/>
              </a:defRPr>
            </a:pPr>
            <a:r>
              <a:t>One Law, Five Domains: Predict, Update, Persist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07A2F"/>
                </a:solidFill>
              </a:defRPr>
            </a:pPr>
            <a:r>
              <a:t>――――――――――――――――――――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Brains predict the next moment; LLMs predict the next token; phonology predicts the next sound</a:t>
            </a:r>
          </a:p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Quantum physics: uncertainty isn't failure — it's the raw material of every outcome</a:t>
            </a:r>
          </a:p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Biases and brands are both shortcuts — audit the ones that steer you</a:t>
            </a:r>
          </a:p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The case study's formula: protocol over panic · evidence over emotion · credential over claim</a:t>
            </a:r>
          </a:p>
          <a:p>
            <a:pPr>
              <a:spcAft>
                <a:spcPts val="1200"/>
              </a:spcAft>
              <a:defRPr sz="1700">
                <a:solidFill>
                  <a:srgbClr val="1B263B"/>
                </a:solidFill>
                <a:latin typeface="Calibri"/>
              </a:defRPr>
            </a:pPr>
            <a:r>
              <a:t>•  Your move: pick one domain tonight and go one level deeper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