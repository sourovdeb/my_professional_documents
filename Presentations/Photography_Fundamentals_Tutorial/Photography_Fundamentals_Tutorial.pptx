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notes: This deck is designed to be taught or self-studied one concept per slide. Each slide follows the same rhythm — definition, visual, then a practical tip — so it can be presented in any order. DxO PhotoLab is used as the running example tool alongside Lightroom and Photoshop because its Smart Lighting / ClearView Plus / DeepPRIME features map directly onto these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Gamma — speaker / user notes:
• Definition: Gamma is the curve that translates the light your camera's sensor records into the brightness values you actually see on screen. Because sensors capture light in a straight line but our eyes don't perceive brightness that way, gamma correction bends that line so midtones look natural instead of murky or washed out. You'll rarely set a “gamma number” yourself — it's baked into how every camera and screen renders an image.
• Practical tip: DxO PhotoLab: gamma is part of each camera's built-in color rendering — fine-tune how midtones feel with the Selective Tone sliders instead. Lightroom / Photoshop (Camera Raw): nudge the Midtones region of the Tone Curve panel if photos look flat or too harsh straight out of camera.
• Reminder: demo this live in DxO PhotoLab (or Lightroom/Photoshop) before moving on — let learners drag the slider themselves.
• Common beginner mistake: adjusting this in isolation without checking the histogram/zoomed view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 speaker / user notes:
• Definition: Contrast is the gap between the darkest and lightest tones in a photo. Push it up and shadows go deeper while highlights get brighter, giving a punchy, graphic look; pull it down and everything sits closer to the middle for a soft, hazy look.
• Practical tip: DxO PhotoLab: the Contrast slider (under Smart Lighting) adjusts this globally, while ClearView Plus removes haze-related low contrast in landscapes. Lightroom / Photoshop: drag the Contrast slider, or for finer control, bend the Tone Curve into a gentle “S” shape.
• Reminder: demo this live in DxO PhotoLab (or Lightroom/Photoshop) before moving on — let learners drag the slider themselves.
• Common beginner mistake: adjusting this in isolation without checking the histogram/zoomed view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Brightness — speaker / user notes:
• Definition: Brightness is how light or dark the whole photo looks, top to bottom. Raising it lifts every tone together — shadows, midtones and highlights all move up at once, like turning up a dimmer switch on a room. It's the simplest adjustment, but pushing too far washes out highlights and flattens detail.
• Practical tip: DxO PhotoLab: the Smart Lighting slider lifts brightness while protecting highlights automatically. Lightroom / Photoshop: start with Exposure for an overall lift, then use Brightness in small steps (about 0.1–0.3) since it moves the whole image at once.
• Reminder: demo this live in DxO PhotoLab (or Lightroom/Photoshop) before moving on — let learners drag the slider themselves.
• Common beginner mistake: adjusting this in isolation without checking the histogram/zoomed view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Sharpness — speaker / user notes:
• Definition: Sharpness is how crisply fine details and edges appear — hair strands, text, leaf veins. Too little looks soft and out of focus; too much creates harsh outlines with a bright/dark fringe around edges, an effect called “haloing.”
• Practical tip: DxO PhotoLab: DeepPRIME (or the Lens Sharpness module) corrects lens softness automatically per lens profile — add Unsharp Mask on top only if needed. Lightroom / Photoshop: use the Detail panel or Smart Sharpen with a small radius (~1px), and always check at 100% zoom before judging it.
• Reminder: demo this live in DxO PhotoLab (or Lightroom/Photoshop) before moving on — let learners drag the slider themselves.
• Common beginner mistake: adjusting this in isolation without checking the histogram/zoomed view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Tone Curve — speaker / user notes:
• Definition: The tone curve is a graph that lets you reshape brightness at every level individually — shadows, midtones, and highlights each get their own adjustment point, instead of one slider moving everything equally. Pulling the shadow end down and pushing the highlight end up (an “S” shape) is the classic way to add rich, natural contrast.
• Practical tip: DxO PhotoLab: the Tone Curve palette works exactly like this — click and drag points directly on the graph. Lightroom's Tone Curve panel and Photoshop's Curves adjustment layer work the same way; try a gentle S-curve as your very first move on any photo.
• Reminder: demo this live in DxO PhotoLab (or Lightroom/Photoshop) before moving on — let learners drag the slider themselves.
• Common beginner mistake: adjusting this in isolation without checking the histogram/zoomed view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Exposure — speaker / user notes:
• Definition: Exposure is the total amount of light that reaches your camera's sensor, controlled by three settings working together: aperture (how wide the lens opens), shutter speed (how long light hits the sensor), and ISO (how sensitive the sensor is). Balance them well and detail survives in both shadows and highlights; get it wrong and detail is lost to solid black or pure white.
• Practical tip: DxO PhotoLab: Smart Lighting (HSP technology) recovers shadow and highlight detail from RAW files after the fact. Lightroom / Photoshop (Camera Raw): use Exposure for overall level, then Highlights/Shadows to rescue clipped detail — trust the histogram over your screen, which can mislead in a bright room.
• Reminder: demo this live in DxO PhotoLab (or Lightroom/Photoshop) before moving on — let learners drag the slider themselves.
• Common beginner mistake: adjusting this in isolation without checking the histogram/zoomed view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Automation — speaker / user notes:
• Definition: Automation means letting editing software analyze a photo and automatically set gamma, contrast, brightness, sharpness and exposure for you, using built-in algorithms instead of moving every slider by hand. It's a fast, one-click starting point — you can always fine-tune the result afterward.
• Practical tip: DxO PhotoLab: Smart Lighting and ClearView Plus auto-analyze each photo's histogram to balance light and haze in a single click. Lightroom's “Auto” button and Photoshop's Auto Tone/Contrast/Color do the same job — a great first pass, not necessarily the final word.
• Reminder: demo this live in DxO PhotoLab (or Lightroom/Photoshop) before moving on — let learners drag the slider themselves.
• Common beginner mistake: adjusting this in isolation without checking the histogram/zoomed view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notes: use this slide to wrap up the tutorial — run each tool's auto feature live if possible. Emphasize that automation (Smart Lighting, Auto Tone, etc.) is judged against everything taught in this deck: it is quietly setting gamma-aware tone mapping, contrast, brightness, sharpening and exposure recovery all at once. Reminder: auto results vary by scene — a backlit portrait or a high-contrast sunset often needs manual correction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C1E"/>
        </a:solidFill>
      </p:bgPr>
    </p:bg>
    <p:spTree>
      <p:nvGrpSpPr>
        <p:cNvPr id="1" name=""/>
        <p:cNvGrpSpPr/>
        <p:nvPr/>
      </p:nvGrpSpPr>
      <p:grpSpPr>
        <a:xfrm>
          <a:off x="0" y="0"/>
          <a:ext cx="0" cy="0"/>
          <a:chOff x="0" y="0"/>
          <a:chExt cx="0" cy="0"/>
        </a:xfrm>
      </p:grpSpPr>
      <p:pic>
        <p:nvPicPr>
          <p:cNvPr id="2" name="Image 0" descr="/tmp/claude-0/-home-user-my-professional-documents/761a0e51-6ede-5ab3-921e-f28404666753/scratchpad/photo_deck/assets/aperture_doodle.png">    </p:cNvPr>
          <p:cNvPicPr>
            <a:picLocks noChangeAspect="1"/>
          </p:cNvPicPr>
          <p:nvPr/>
        </p:nvPicPr>
        <p:blipFill>
          <a:blip r:embed="rId1">
            <a:alphaModFix amt="45000"/>
          </a:blip>
          <a:stretch>
            <a:fillRect/>
          </a:stretch>
        </p:blipFill>
        <p:spPr>
          <a:xfrm>
            <a:off x="7406640" y="1417320"/>
            <a:ext cx="4206240" cy="4206240"/>
          </a:xfrm>
          <a:prstGeom prst="rect">
            <a:avLst/>
          </a:prstGeom>
        </p:spPr>
      </p:pic>
      <p:sp>
        <p:nvSpPr>
          <p:cNvPr id="3" name="Text 0"/>
          <p:cNvSpPr/>
          <p:nvPr/>
        </p:nvSpPr>
        <p:spPr>
          <a:xfrm>
            <a:off x="822960" y="1417320"/>
            <a:ext cx="7315200" cy="365760"/>
          </a:xfrm>
          <a:prstGeom prst="rect">
            <a:avLst/>
          </a:prstGeom>
          <a:noFill/>
          <a:ln/>
        </p:spPr>
        <p:txBody>
          <a:bodyPr wrap="square" lIns="0" tIns="0" rIns="0" bIns="0" rtlCol="0" anchor="ctr"/>
          <a:lstStyle/>
          <a:p>
            <a:pPr indent="0" marL="0">
              <a:buNone/>
            </a:pPr>
            <a:r>
              <a:rPr lang="en-US" sz="1400" b="1" spc="300" kern="0" dirty="0">
                <a:solidFill>
                  <a:srgbClr val="E8A33D"/>
                </a:solidFill>
                <a:latin typeface="Calibri" pitchFamily="34" charset="0"/>
                <a:ea typeface="Calibri" pitchFamily="34" charset="-122"/>
                <a:cs typeface="Calibri" pitchFamily="34" charset="-120"/>
              </a:rPr>
              <a:t>BITE-SIZED PHOTOGRAPHY TUTORIALS</a:t>
            </a:r>
            <a:endParaRPr lang="en-US" sz="1400" dirty="0"/>
          </a:p>
        </p:txBody>
      </p:sp>
      <p:sp>
        <p:nvSpPr>
          <p:cNvPr id="4" name="Text 1"/>
          <p:cNvSpPr/>
          <p:nvPr/>
        </p:nvSpPr>
        <p:spPr>
          <a:xfrm>
            <a:off x="777240" y="1874520"/>
            <a:ext cx="86868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Photography Fundamentals</a:t>
            </a:r>
            <a:endParaRPr lang="en-US" sz="4600" dirty="0"/>
          </a:p>
        </p:txBody>
      </p:sp>
      <p:sp>
        <p:nvSpPr>
          <p:cNvPr id="5" name="Text 2"/>
          <p:cNvSpPr/>
          <p:nvPr/>
        </p:nvSpPr>
        <p:spPr>
          <a:xfrm>
            <a:off x="822960" y="3063240"/>
            <a:ext cx="7863840" cy="822960"/>
          </a:xfrm>
          <a:prstGeom prst="rect">
            <a:avLst/>
          </a:prstGeom>
          <a:noFill/>
          <a:ln/>
        </p:spPr>
        <p:txBody>
          <a:bodyPr wrap="square" lIns="0" tIns="0" rIns="0" bIns="0" rtlCol="0" anchor="ctr"/>
          <a:lstStyle/>
          <a:p>
            <a:pPr indent="0" marL="0">
              <a:lnSpc>
                <a:spcPct val="130000"/>
              </a:lnSpc>
              <a:buNone/>
            </a:pPr>
            <a:r>
              <a:rPr lang="en-US" sz="1600" dirty="0">
                <a:solidFill>
                  <a:srgbClr val="F2F2F2"/>
                </a:solidFill>
                <a:latin typeface="Calibri" pitchFamily="34" charset="0"/>
                <a:ea typeface="Calibri" pitchFamily="34" charset="-122"/>
                <a:cs typeface="Calibri" pitchFamily="34" charset="-120"/>
              </a:rPr>
              <a:t>Seven core ideas — gamma, contrast, brightness, sharpness, the tone curve,</a:t>
            </a:r>
            <a:endParaRPr lang="en-US" sz="1600" dirty="0"/>
          </a:p>
          <a:p>
            <a:pPr indent="0" marL="0">
              <a:lnSpc>
                <a:spcPct val="130000"/>
              </a:lnSpc>
              <a:buNone/>
            </a:pPr>
            <a:r>
              <a:rPr lang="en-US" sz="1600" dirty="0">
                <a:solidFill>
                  <a:srgbClr val="F2F2F2"/>
                </a:solidFill>
                <a:latin typeface="Calibri" pitchFamily="34" charset="0"/>
                <a:ea typeface="Calibri" pitchFamily="34" charset="-122"/>
                <a:cs typeface="Calibri" pitchFamily="34" charset="-120"/>
              </a:rPr>
              <a:t>exposure, and automation — explained in plain language.</a:t>
            </a:r>
            <a:endParaRPr lang="en-US" sz="1600" dirty="0"/>
          </a:p>
        </p:txBody>
      </p:sp>
      <p:sp>
        <p:nvSpPr>
          <p:cNvPr id="6" name="Shape 3"/>
          <p:cNvSpPr/>
          <p:nvPr/>
        </p:nvSpPr>
        <p:spPr>
          <a:xfrm>
            <a:off x="822960" y="4160520"/>
            <a:ext cx="6949440" cy="566928"/>
          </a:xfrm>
          <a:prstGeom prst="roundRect">
            <a:avLst>
              <a:gd name="adj" fmla="val 50000"/>
            </a:avLst>
          </a:prstGeom>
          <a:solidFill>
            <a:srgbClr val="2A2A2D"/>
          </a:solidFill>
          <a:ln/>
        </p:spPr>
      </p:sp>
      <p:sp>
        <p:nvSpPr>
          <p:cNvPr id="7" name="Text 4"/>
          <p:cNvSpPr/>
          <p:nvPr/>
        </p:nvSpPr>
        <p:spPr>
          <a:xfrm>
            <a:off x="822960" y="4160520"/>
            <a:ext cx="6949440" cy="566928"/>
          </a:xfrm>
          <a:prstGeom prst="rect">
            <a:avLst/>
          </a:prstGeom>
          <a:noFill/>
          <a:ln/>
        </p:spPr>
        <p:txBody>
          <a:bodyPr wrap="square" lIns="0" tIns="0" rIns="0" bIns="0" rtlCol="0" anchor="ctr"/>
          <a:lstStyle/>
          <a:p>
            <a:pPr algn="ctr" indent="0" marL="0">
              <a:buNone/>
            </a:pPr>
            <a:r>
              <a:rPr lang="en-US" sz="1300" dirty="0">
                <a:solidFill>
                  <a:srgbClr val="E8A33D"/>
                </a:solidFill>
                <a:latin typeface="Calibri" pitchFamily="34" charset="0"/>
                <a:ea typeface="Calibri" pitchFamily="34" charset="-122"/>
                <a:cs typeface="Calibri" pitchFamily="34" charset="-120"/>
              </a:rPr>
              <a:t>Hands-on examples in DxO PhotoLab • Adobe Lightroom • Adobe Photoshop</a:t>
            </a:r>
            <a:endParaRPr lang="en-US" sz="1300" dirty="0"/>
          </a:p>
        </p:txBody>
      </p:sp>
      <p:sp>
        <p:nvSpPr>
          <p:cNvPr id="8" name="Text 5"/>
          <p:cNvSpPr/>
          <p:nvPr/>
        </p:nvSpPr>
        <p:spPr>
          <a:xfrm>
            <a:off x="822960" y="6126480"/>
            <a:ext cx="8229600" cy="365760"/>
          </a:xfrm>
          <a:prstGeom prst="rect">
            <a:avLst/>
          </a:prstGeom>
          <a:noFill/>
          <a:ln/>
        </p:spPr>
        <p:txBody>
          <a:bodyPr wrap="square" lIns="0" tIns="0" rIns="0" bIns="0" rtlCol="0" anchor="ctr"/>
          <a:lstStyle/>
          <a:p>
            <a:pPr indent="0" marL="0">
              <a:buNone/>
            </a:pPr>
            <a:r>
              <a:rPr lang="en-US" sz="1150" i="1" dirty="0">
                <a:solidFill>
                  <a:srgbClr val="6B6B6B"/>
                </a:solidFill>
                <a:latin typeface="Calibri" pitchFamily="34" charset="0"/>
                <a:ea typeface="Calibri" pitchFamily="34" charset="-122"/>
                <a:cs typeface="Calibri" pitchFamily="34" charset="-120"/>
              </a:rPr>
              <a:t>Includes hand-drawn doodled diagrams and speaker notes for self-study or teaching.</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tmp/claude-0/-home-user-my-professional-documents/761a0e51-6ede-5ab3-921e-f28404666753/scratchpad/photo_deck/assets/aperture_doodle.png">    </p:cNvPr>
          <p:cNvPicPr>
            <a:picLocks noChangeAspect="1"/>
          </p:cNvPicPr>
          <p:nvPr/>
        </p:nvPicPr>
        <p:blipFill>
          <a:blip r:embed="rId1">
            <a:alphaModFix amt="12000"/>
          </a:blip>
          <a:stretch>
            <a:fillRect/>
          </a:stretch>
        </p:blipFill>
        <p:spPr>
          <a:xfrm>
            <a:off x="-822960" y="4206240"/>
            <a:ext cx="3108960" cy="3108960"/>
          </a:xfrm>
          <a:prstGeom prst="rect">
            <a:avLst/>
          </a:prstGeom>
        </p:spPr>
      </p:pic>
      <p:sp>
        <p:nvSpPr>
          <p:cNvPr id="3" name="Shape 0"/>
          <p:cNvSpPr/>
          <p:nvPr/>
        </p:nvSpPr>
        <p:spPr>
          <a:xfrm>
            <a:off x="548640" y="502920"/>
            <a:ext cx="566928" cy="566928"/>
          </a:xfrm>
          <a:prstGeom prst="ellipse">
            <a:avLst/>
          </a:prstGeom>
          <a:solidFill>
            <a:srgbClr val="E8A33D"/>
          </a:solidFill>
          <a:ln/>
        </p:spPr>
      </p:sp>
      <p:sp>
        <p:nvSpPr>
          <p:cNvPr id="4"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5" name="Text 2"/>
          <p:cNvSpPr/>
          <p:nvPr/>
        </p:nvSpPr>
        <p:spPr>
          <a:xfrm>
            <a:off x="1261872" y="502920"/>
            <a:ext cx="3657600" cy="274320"/>
          </a:xfrm>
          <a:prstGeom prst="rect">
            <a:avLst/>
          </a:prstGeom>
          <a:noFill/>
          <a:ln/>
        </p:spPr>
        <p:txBody>
          <a:bodyPr wrap="square" lIns="0" tIns="0" rIns="0" bIns="0" rtlCol="0" anchor="ctr"/>
          <a:lstStyle/>
          <a:p>
            <a:pPr indent="0" marL="0">
              <a:buNone/>
            </a:pPr>
            <a:r>
              <a:rPr lang="en-US" sz="1200" b="1" spc="200" kern="0" dirty="0">
                <a:solidFill>
                  <a:srgbClr val="B8722A"/>
                </a:solidFill>
                <a:latin typeface="Calibri" pitchFamily="34" charset="0"/>
                <a:ea typeface="Calibri" pitchFamily="34" charset="-122"/>
                <a:cs typeface="Calibri" pitchFamily="34" charset="-120"/>
              </a:rPr>
              <a:t>CONCEPT 1 OF 7</a:t>
            </a:r>
            <a:endParaRPr lang="en-US" sz="1200" dirty="0"/>
          </a:p>
        </p:txBody>
      </p:sp>
      <p:sp>
        <p:nvSpPr>
          <p:cNvPr id="6" name="Text 3"/>
          <p:cNvSpPr/>
          <p:nvPr/>
        </p:nvSpPr>
        <p:spPr>
          <a:xfrm>
            <a:off x="1234440" y="731520"/>
            <a:ext cx="5486400" cy="548640"/>
          </a:xfrm>
          <a:prstGeom prst="rect">
            <a:avLst/>
          </a:prstGeom>
          <a:noFill/>
          <a:ln/>
        </p:spPr>
        <p:txBody>
          <a:bodyPr wrap="square" lIns="0" tIns="0" rIns="0" bIns="0" rtlCol="0" anchor="ctr"/>
          <a:lstStyle/>
          <a:p>
            <a:pPr indent="0" marL="0">
              <a:buNone/>
            </a:pPr>
            <a:r>
              <a:rPr lang="en-US" sz="3600" b="1" dirty="0">
                <a:solidFill>
                  <a:srgbClr val="1C1C1E"/>
                </a:solidFill>
                <a:latin typeface="Cambria" pitchFamily="34" charset="0"/>
                <a:ea typeface="Cambria" pitchFamily="34" charset="-122"/>
                <a:cs typeface="Cambria" pitchFamily="34" charset="-120"/>
              </a:rPr>
              <a:t>Gamma</a:t>
            </a:r>
            <a:endParaRPr lang="en-US" sz="3600" dirty="0"/>
          </a:p>
        </p:txBody>
      </p:sp>
      <p:sp>
        <p:nvSpPr>
          <p:cNvPr id="7" name="Text 4"/>
          <p:cNvSpPr/>
          <p:nvPr/>
        </p:nvSpPr>
        <p:spPr>
          <a:xfrm>
            <a:off x="548640" y="1508760"/>
            <a:ext cx="5120640" cy="274320"/>
          </a:xfrm>
          <a:prstGeom prst="rect">
            <a:avLst/>
          </a:prstGeom>
          <a:noFill/>
          <a:ln/>
        </p:spPr>
        <p:txBody>
          <a:bodyPr wrap="square" lIns="0" tIns="0" rIns="0" bIns="0" rtlCol="0" anchor="ctr"/>
          <a:lstStyle/>
          <a:p>
            <a:pPr indent="0" marL="0">
              <a:buNone/>
            </a:pPr>
            <a:r>
              <a:rPr lang="en-US" sz="1200" b="1" spc="150" kern="0" dirty="0">
                <a:solidFill>
                  <a:srgbClr val="6B6B6B"/>
                </a:solidFill>
                <a:latin typeface="Calibri" pitchFamily="34" charset="0"/>
                <a:ea typeface="Calibri" pitchFamily="34" charset="-122"/>
                <a:cs typeface="Calibri" pitchFamily="34" charset="-120"/>
              </a:rPr>
              <a:t>WHAT IT MEANS</a:t>
            </a:r>
            <a:endParaRPr lang="en-US" sz="1200" dirty="0"/>
          </a:p>
        </p:txBody>
      </p:sp>
      <p:sp>
        <p:nvSpPr>
          <p:cNvPr id="8" name="Text 5"/>
          <p:cNvSpPr/>
          <p:nvPr/>
        </p:nvSpPr>
        <p:spPr>
          <a:xfrm>
            <a:off x="548640" y="1810512"/>
            <a:ext cx="5120640" cy="2880360"/>
          </a:xfrm>
          <a:prstGeom prst="rect">
            <a:avLst/>
          </a:prstGeom>
          <a:noFill/>
          <a:ln/>
        </p:spPr>
        <p:txBody>
          <a:bodyPr wrap="square" lIns="0" tIns="0" rIns="0" bIns="0" rtlCol="0" anchor="t"/>
          <a:lstStyle/>
          <a:p>
            <a:pPr indent="0" marL="0">
              <a:lnSpc>
                <a:spcPct val="128000"/>
              </a:lnSpc>
              <a:buNone/>
            </a:pPr>
            <a:r>
              <a:rPr lang="en-US" sz="1450" dirty="0">
                <a:solidFill>
                  <a:srgbClr val="2B2B2B"/>
                </a:solidFill>
                <a:latin typeface="Calibri" pitchFamily="34" charset="0"/>
                <a:ea typeface="Calibri" pitchFamily="34" charset="-122"/>
                <a:cs typeface="Calibri" pitchFamily="34" charset="-120"/>
              </a:rPr>
              <a:t>Gamma is the curve that translates the light your camera's sensor records into the brightness values you actually see on screen. Because sensors capture light in a straight line but our eyes don't perceive brightness that way, gamma correction bends that line so midtones look natural instead of murky or washed out. You'll rarely set a “gamma number” yourself — it's baked into how every camera and screen renders an image.</a:t>
            </a:r>
            <a:endParaRPr lang="en-US" sz="1450" dirty="0"/>
          </a:p>
        </p:txBody>
      </p:sp>
      <p:pic>
        <p:nvPicPr>
          <p:cNvPr id="9" name="Image 1" descr="/tmp/claude-0/-home-user-my-professional-documents/761a0e51-6ede-5ab3-921e-f28404666753/scratchpad/photo_deck/assets/gamma.png">    </p:cNvPr>
          <p:cNvPicPr>
            <a:picLocks noChangeAspect="1"/>
          </p:cNvPicPr>
          <p:nvPr/>
        </p:nvPicPr>
        <p:blipFill>
          <a:blip r:embed="rId2"/>
          <a:stretch>
            <a:fillRect/>
          </a:stretch>
        </p:blipFill>
        <p:spPr>
          <a:xfrm>
            <a:off x="5989320" y="1051560"/>
            <a:ext cx="5623560" cy="3611880"/>
          </a:xfrm>
          <a:prstGeom prst="rect">
            <a:avLst/>
          </a:prstGeom>
        </p:spPr>
      </p:pic>
      <p:sp>
        <p:nvSpPr>
          <p:cNvPr id="10" name="Shape 6"/>
          <p:cNvSpPr/>
          <p:nvPr/>
        </p:nvSpPr>
        <p:spPr>
          <a:xfrm>
            <a:off x="548640" y="5074920"/>
            <a:ext cx="11064240" cy="1234440"/>
          </a:xfrm>
          <a:prstGeom prst="roundRect">
            <a:avLst>
              <a:gd name="adj" fmla="val 5926"/>
            </a:avLst>
          </a:prstGeom>
          <a:solidFill>
            <a:srgbClr val="F2F2F2"/>
          </a:solidFill>
          <a:ln/>
        </p:spPr>
      </p:sp>
      <p:sp>
        <p:nvSpPr>
          <p:cNvPr id="11" name="Shape 7"/>
          <p:cNvSpPr/>
          <p:nvPr/>
        </p:nvSpPr>
        <p:spPr>
          <a:xfrm>
            <a:off x="822960" y="5367528"/>
            <a:ext cx="640080" cy="640080"/>
          </a:xfrm>
          <a:prstGeom prst="ellipse">
            <a:avLst/>
          </a:prstGeom>
          <a:solidFill>
            <a:srgbClr val="1C1C1E"/>
          </a:solidFill>
          <a:ln/>
        </p:spPr>
      </p:sp>
      <p:sp>
        <p:nvSpPr>
          <p:cNvPr id="12" name="Text 8"/>
          <p:cNvSpPr/>
          <p:nvPr/>
        </p:nvSpPr>
        <p:spPr>
          <a:xfrm>
            <a:off x="822960" y="5367528"/>
            <a:ext cx="640080" cy="640080"/>
          </a:xfrm>
          <a:prstGeom prst="rect">
            <a:avLst/>
          </a:prstGeom>
          <a:noFill/>
          <a:ln/>
        </p:spPr>
        <p:txBody>
          <a:bodyPr wrap="square" lIns="0" tIns="0" rIns="0" bIns="0" rtlCol="0" anchor="ctr"/>
          <a:lstStyle/>
          <a:p>
            <a:pPr algn="ctr" indent="0" marL="0">
              <a:buNone/>
            </a:pPr>
            <a:r>
              <a:rPr lang="en-US" sz="1100" b="1" dirty="0">
                <a:solidFill>
                  <a:srgbClr val="E8A33D"/>
                </a:solidFill>
                <a:latin typeface="Calibri" pitchFamily="34" charset="0"/>
                <a:ea typeface="Calibri" pitchFamily="34" charset="-122"/>
                <a:cs typeface="Calibri" pitchFamily="34" charset="-120"/>
              </a:rPr>
              <a:t>TIP</a:t>
            </a:r>
            <a:endParaRPr lang="en-US" sz="1100" dirty="0"/>
          </a:p>
        </p:txBody>
      </p:sp>
      <p:sp>
        <p:nvSpPr>
          <p:cNvPr id="13" name="Text 9"/>
          <p:cNvSpPr/>
          <p:nvPr/>
        </p:nvSpPr>
        <p:spPr>
          <a:xfrm>
            <a:off x="1691640" y="5193792"/>
            <a:ext cx="3657600" cy="274320"/>
          </a:xfrm>
          <a:prstGeom prst="rect">
            <a:avLst/>
          </a:prstGeom>
          <a:noFill/>
          <a:ln/>
        </p:spPr>
        <p:txBody>
          <a:bodyPr wrap="square" lIns="0" tIns="0" rIns="0" bIns="0" rtlCol="0" anchor="ctr"/>
          <a:lstStyle/>
          <a:p>
            <a:pPr indent="0" marL="0">
              <a:buNone/>
            </a:pPr>
            <a:r>
              <a:rPr lang="en-US" sz="1200" b="1" dirty="0">
                <a:solidFill>
                  <a:srgbClr val="B8722A"/>
                </a:solidFill>
                <a:latin typeface="Calibri" pitchFamily="34" charset="0"/>
                <a:ea typeface="Calibri" pitchFamily="34" charset="-122"/>
                <a:cs typeface="Calibri" pitchFamily="34" charset="-120"/>
              </a:rPr>
              <a:t>Try it now</a:t>
            </a:r>
            <a:endParaRPr lang="en-US" sz="1200" dirty="0"/>
          </a:p>
        </p:txBody>
      </p:sp>
      <p:sp>
        <p:nvSpPr>
          <p:cNvPr id="14" name="Text 10"/>
          <p:cNvSpPr/>
          <p:nvPr/>
        </p:nvSpPr>
        <p:spPr>
          <a:xfrm>
            <a:off x="1691640" y="5440680"/>
            <a:ext cx="9646920" cy="822960"/>
          </a:xfrm>
          <a:prstGeom prst="rect">
            <a:avLst/>
          </a:prstGeom>
          <a:noFill/>
          <a:ln/>
        </p:spPr>
        <p:txBody>
          <a:bodyPr wrap="square" lIns="0" tIns="0" rIns="0" bIns="0" rtlCol="0" anchor="t"/>
          <a:lstStyle/>
          <a:p>
            <a:pPr indent="0" marL="0">
              <a:lnSpc>
                <a:spcPct val="118000"/>
              </a:lnSpc>
              <a:buNone/>
            </a:pPr>
            <a:r>
              <a:rPr lang="en-US" sz="1250" dirty="0">
                <a:solidFill>
                  <a:srgbClr val="2B2B2B"/>
                </a:solidFill>
                <a:latin typeface="Calibri" pitchFamily="34" charset="0"/>
                <a:ea typeface="Calibri" pitchFamily="34" charset="-122"/>
                <a:cs typeface="Calibri" pitchFamily="34" charset="-120"/>
              </a:rPr>
              <a:t>DxO PhotoLab: gamma is part of each camera's built-in color rendering — fine-tune how midtones feel with the Selective Tone sliders instead. Lightroom / Photoshop (Camera Raw): nudge the Midtones region of the Tone Curve panel if photos look flat or too harsh straight out of camera.</a:t>
            </a:r>
            <a:endParaRPr lang="en-US" sz="1250" dirty="0"/>
          </a:p>
        </p:txBody>
      </p:sp>
      <p:sp>
        <p:nvSpPr>
          <p:cNvPr id="15" name="Text 11"/>
          <p:cNvSpPr/>
          <p:nvPr/>
        </p:nvSpPr>
        <p:spPr>
          <a:xfrm>
            <a:off x="11247120" y="6537960"/>
            <a:ext cx="64008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 / 7</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tmp/claude-0/-home-user-my-professional-documents/761a0e51-6ede-5ab3-921e-f28404666753/scratchpad/photo_deck/assets/aperture_doodle.png">    </p:cNvPr>
          <p:cNvPicPr>
            <a:picLocks noChangeAspect="1"/>
          </p:cNvPicPr>
          <p:nvPr/>
        </p:nvPicPr>
        <p:blipFill>
          <a:blip r:embed="rId1">
            <a:alphaModFix amt="12000"/>
          </a:blip>
          <a:stretch>
            <a:fillRect/>
          </a:stretch>
        </p:blipFill>
        <p:spPr>
          <a:xfrm>
            <a:off x="-822960" y="4206240"/>
            <a:ext cx="3108960" cy="3108960"/>
          </a:xfrm>
          <a:prstGeom prst="rect">
            <a:avLst/>
          </a:prstGeom>
        </p:spPr>
      </p:pic>
      <p:sp>
        <p:nvSpPr>
          <p:cNvPr id="3" name="Shape 0"/>
          <p:cNvSpPr/>
          <p:nvPr/>
        </p:nvSpPr>
        <p:spPr>
          <a:xfrm>
            <a:off x="548640" y="502920"/>
            <a:ext cx="566928" cy="566928"/>
          </a:xfrm>
          <a:prstGeom prst="ellipse">
            <a:avLst/>
          </a:prstGeom>
          <a:solidFill>
            <a:srgbClr val="E8A33D"/>
          </a:solidFill>
          <a:ln/>
        </p:spPr>
      </p:sp>
      <p:sp>
        <p:nvSpPr>
          <p:cNvPr id="4"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5" name="Text 2"/>
          <p:cNvSpPr/>
          <p:nvPr/>
        </p:nvSpPr>
        <p:spPr>
          <a:xfrm>
            <a:off x="1261872" y="502920"/>
            <a:ext cx="3657600" cy="274320"/>
          </a:xfrm>
          <a:prstGeom prst="rect">
            <a:avLst/>
          </a:prstGeom>
          <a:noFill/>
          <a:ln/>
        </p:spPr>
        <p:txBody>
          <a:bodyPr wrap="square" lIns="0" tIns="0" rIns="0" bIns="0" rtlCol="0" anchor="ctr"/>
          <a:lstStyle/>
          <a:p>
            <a:pPr indent="0" marL="0">
              <a:buNone/>
            </a:pPr>
            <a:r>
              <a:rPr lang="en-US" sz="1200" b="1" spc="200" kern="0" dirty="0">
                <a:solidFill>
                  <a:srgbClr val="B8722A"/>
                </a:solidFill>
                <a:latin typeface="Calibri" pitchFamily="34" charset="0"/>
                <a:ea typeface="Calibri" pitchFamily="34" charset="-122"/>
                <a:cs typeface="Calibri" pitchFamily="34" charset="-120"/>
              </a:rPr>
              <a:t>CONCEPT 2 OF 7</a:t>
            </a:r>
            <a:endParaRPr lang="en-US" sz="1200" dirty="0"/>
          </a:p>
        </p:txBody>
      </p:sp>
      <p:sp>
        <p:nvSpPr>
          <p:cNvPr id="6" name="Text 3"/>
          <p:cNvSpPr/>
          <p:nvPr/>
        </p:nvSpPr>
        <p:spPr>
          <a:xfrm>
            <a:off x="1234440" y="731520"/>
            <a:ext cx="5486400" cy="548640"/>
          </a:xfrm>
          <a:prstGeom prst="rect">
            <a:avLst/>
          </a:prstGeom>
          <a:noFill/>
          <a:ln/>
        </p:spPr>
        <p:txBody>
          <a:bodyPr wrap="square" lIns="0" tIns="0" rIns="0" bIns="0" rtlCol="0" anchor="ctr"/>
          <a:lstStyle/>
          <a:p>
            <a:pPr indent="0" marL="0">
              <a:buNone/>
            </a:pPr>
            <a:r>
              <a:rPr lang="en-US" sz="3600" b="1" dirty="0">
                <a:solidFill>
                  <a:srgbClr val="1C1C1E"/>
                </a:solidFill>
                <a:latin typeface="Cambria" pitchFamily="34" charset="0"/>
                <a:ea typeface="Cambria" pitchFamily="34" charset="-122"/>
                <a:cs typeface="Cambria" pitchFamily="34" charset="-120"/>
              </a:rPr>
              <a:t>Contrast</a:t>
            </a:r>
            <a:endParaRPr lang="en-US" sz="3600" dirty="0"/>
          </a:p>
        </p:txBody>
      </p:sp>
      <p:sp>
        <p:nvSpPr>
          <p:cNvPr id="7" name="Text 4"/>
          <p:cNvSpPr/>
          <p:nvPr/>
        </p:nvSpPr>
        <p:spPr>
          <a:xfrm>
            <a:off x="548640" y="1508760"/>
            <a:ext cx="5120640" cy="274320"/>
          </a:xfrm>
          <a:prstGeom prst="rect">
            <a:avLst/>
          </a:prstGeom>
          <a:noFill/>
          <a:ln/>
        </p:spPr>
        <p:txBody>
          <a:bodyPr wrap="square" lIns="0" tIns="0" rIns="0" bIns="0" rtlCol="0" anchor="ctr"/>
          <a:lstStyle/>
          <a:p>
            <a:pPr indent="0" marL="0">
              <a:buNone/>
            </a:pPr>
            <a:r>
              <a:rPr lang="en-US" sz="1200" b="1" spc="150" kern="0" dirty="0">
                <a:solidFill>
                  <a:srgbClr val="6B6B6B"/>
                </a:solidFill>
                <a:latin typeface="Calibri" pitchFamily="34" charset="0"/>
                <a:ea typeface="Calibri" pitchFamily="34" charset="-122"/>
                <a:cs typeface="Calibri" pitchFamily="34" charset="-120"/>
              </a:rPr>
              <a:t>WHAT IT MEANS</a:t>
            </a:r>
            <a:endParaRPr lang="en-US" sz="1200" dirty="0"/>
          </a:p>
        </p:txBody>
      </p:sp>
      <p:sp>
        <p:nvSpPr>
          <p:cNvPr id="8" name="Text 5"/>
          <p:cNvSpPr/>
          <p:nvPr/>
        </p:nvSpPr>
        <p:spPr>
          <a:xfrm>
            <a:off x="548640" y="1810512"/>
            <a:ext cx="5120640" cy="2880360"/>
          </a:xfrm>
          <a:prstGeom prst="rect">
            <a:avLst/>
          </a:prstGeom>
          <a:noFill/>
          <a:ln/>
        </p:spPr>
        <p:txBody>
          <a:bodyPr wrap="square" lIns="0" tIns="0" rIns="0" bIns="0" rtlCol="0" anchor="t"/>
          <a:lstStyle/>
          <a:p>
            <a:pPr indent="0" marL="0">
              <a:lnSpc>
                <a:spcPct val="128000"/>
              </a:lnSpc>
              <a:buNone/>
            </a:pPr>
            <a:r>
              <a:rPr lang="en-US" sz="1450" dirty="0">
                <a:solidFill>
                  <a:srgbClr val="2B2B2B"/>
                </a:solidFill>
                <a:latin typeface="Calibri" pitchFamily="34" charset="0"/>
                <a:ea typeface="Calibri" pitchFamily="34" charset="-122"/>
                <a:cs typeface="Calibri" pitchFamily="34" charset="-120"/>
              </a:rPr>
              <a:t>Contrast is the gap between the darkest and lightest tones in a photo. Push it up and shadows go deeper while highlights get brighter, giving a punchy, graphic look; pull it down and everything sits closer to the middle for a soft, hazy look.</a:t>
            </a:r>
            <a:endParaRPr lang="en-US" sz="1450" dirty="0"/>
          </a:p>
        </p:txBody>
      </p:sp>
      <p:pic>
        <p:nvPicPr>
          <p:cNvPr id="9" name="Image 1" descr="/tmp/claude-0/-home-user-my-professional-documents/761a0e51-6ede-5ab3-921e-f28404666753/scratchpad/photo_deck/assets/contrast.png">    </p:cNvPr>
          <p:cNvPicPr>
            <a:picLocks noChangeAspect="1"/>
          </p:cNvPicPr>
          <p:nvPr/>
        </p:nvPicPr>
        <p:blipFill>
          <a:blip r:embed="rId2"/>
          <a:stretch>
            <a:fillRect/>
          </a:stretch>
        </p:blipFill>
        <p:spPr>
          <a:xfrm>
            <a:off x="5989320" y="1051560"/>
            <a:ext cx="5623560" cy="3611880"/>
          </a:xfrm>
          <a:prstGeom prst="rect">
            <a:avLst/>
          </a:prstGeom>
        </p:spPr>
      </p:pic>
      <p:sp>
        <p:nvSpPr>
          <p:cNvPr id="10" name="Shape 6"/>
          <p:cNvSpPr/>
          <p:nvPr/>
        </p:nvSpPr>
        <p:spPr>
          <a:xfrm>
            <a:off x="548640" y="5074920"/>
            <a:ext cx="11064240" cy="1234440"/>
          </a:xfrm>
          <a:prstGeom prst="roundRect">
            <a:avLst>
              <a:gd name="adj" fmla="val 5926"/>
            </a:avLst>
          </a:prstGeom>
          <a:solidFill>
            <a:srgbClr val="F2F2F2"/>
          </a:solidFill>
          <a:ln/>
        </p:spPr>
      </p:sp>
      <p:sp>
        <p:nvSpPr>
          <p:cNvPr id="11" name="Shape 7"/>
          <p:cNvSpPr/>
          <p:nvPr/>
        </p:nvSpPr>
        <p:spPr>
          <a:xfrm>
            <a:off x="822960" y="5367528"/>
            <a:ext cx="640080" cy="640080"/>
          </a:xfrm>
          <a:prstGeom prst="ellipse">
            <a:avLst/>
          </a:prstGeom>
          <a:solidFill>
            <a:srgbClr val="1C1C1E"/>
          </a:solidFill>
          <a:ln/>
        </p:spPr>
      </p:sp>
      <p:sp>
        <p:nvSpPr>
          <p:cNvPr id="12" name="Text 8"/>
          <p:cNvSpPr/>
          <p:nvPr/>
        </p:nvSpPr>
        <p:spPr>
          <a:xfrm>
            <a:off x="822960" y="5367528"/>
            <a:ext cx="640080" cy="640080"/>
          </a:xfrm>
          <a:prstGeom prst="rect">
            <a:avLst/>
          </a:prstGeom>
          <a:noFill/>
          <a:ln/>
        </p:spPr>
        <p:txBody>
          <a:bodyPr wrap="square" lIns="0" tIns="0" rIns="0" bIns="0" rtlCol="0" anchor="ctr"/>
          <a:lstStyle/>
          <a:p>
            <a:pPr algn="ctr" indent="0" marL="0">
              <a:buNone/>
            </a:pPr>
            <a:r>
              <a:rPr lang="en-US" sz="1100" b="1" dirty="0">
                <a:solidFill>
                  <a:srgbClr val="E8A33D"/>
                </a:solidFill>
                <a:latin typeface="Calibri" pitchFamily="34" charset="0"/>
                <a:ea typeface="Calibri" pitchFamily="34" charset="-122"/>
                <a:cs typeface="Calibri" pitchFamily="34" charset="-120"/>
              </a:rPr>
              <a:t>TIP</a:t>
            </a:r>
            <a:endParaRPr lang="en-US" sz="1100" dirty="0"/>
          </a:p>
        </p:txBody>
      </p:sp>
      <p:sp>
        <p:nvSpPr>
          <p:cNvPr id="13" name="Text 9"/>
          <p:cNvSpPr/>
          <p:nvPr/>
        </p:nvSpPr>
        <p:spPr>
          <a:xfrm>
            <a:off x="1691640" y="5193792"/>
            <a:ext cx="3657600" cy="274320"/>
          </a:xfrm>
          <a:prstGeom prst="rect">
            <a:avLst/>
          </a:prstGeom>
          <a:noFill/>
          <a:ln/>
        </p:spPr>
        <p:txBody>
          <a:bodyPr wrap="square" lIns="0" tIns="0" rIns="0" bIns="0" rtlCol="0" anchor="ctr"/>
          <a:lstStyle/>
          <a:p>
            <a:pPr indent="0" marL="0">
              <a:buNone/>
            </a:pPr>
            <a:r>
              <a:rPr lang="en-US" sz="1200" b="1" dirty="0">
                <a:solidFill>
                  <a:srgbClr val="B8722A"/>
                </a:solidFill>
                <a:latin typeface="Calibri" pitchFamily="34" charset="0"/>
                <a:ea typeface="Calibri" pitchFamily="34" charset="-122"/>
                <a:cs typeface="Calibri" pitchFamily="34" charset="-120"/>
              </a:rPr>
              <a:t>Try it now</a:t>
            </a:r>
            <a:endParaRPr lang="en-US" sz="1200" dirty="0"/>
          </a:p>
        </p:txBody>
      </p:sp>
      <p:sp>
        <p:nvSpPr>
          <p:cNvPr id="14" name="Text 10"/>
          <p:cNvSpPr/>
          <p:nvPr/>
        </p:nvSpPr>
        <p:spPr>
          <a:xfrm>
            <a:off x="1691640" y="5440680"/>
            <a:ext cx="9646920" cy="822960"/>
          </a:xfrm>
          <a:prstGeom prst="rect">
            <a:avLst/>
          </a:prstGeom>
          <a:noFill/>
          <a:ln/>
        </p:spPr>
        <p:txBody>
          <a:bodyPr wrap="square" lIns="0" tIns="0" rIns="0" bIns="0" rtlCol="0" anchor="t"/>
          <a:lstStyle/>
          <a:p>
            <a:pPr indent="0" marL="0">
              <a:lnSpc>
                <a:spcPct val="118000"/>
              </a:lnSpc>
              <a:buNone/>
            </a:pPr>
            <a:r>
              <a:rPr lang="en-US" sz="1250" dirty="0">
                <a:solidFill>
                  <a:srgbClr val="2B2B2B"/>
                </a:solidFill>
                <a:latin typeface="Calibri" pitchFamily="34" charset="0"/>
                <a:ea typeface="Calibri" pitchFamily="34" charset="-122"/>
                <a:cs typeface="Calibri" pitchFamily="34" charset="-120"/>
              </a:rPr>
              <a:t>DxO PhotoLab: the Contrast slider (under Smart Lighting) adjusts this globally, while ClearView Plus removes haze-related low contrast in landscapes. Lightroom / Photoshop: drag the Contrast slider, or for finer control, bend the Tone Curve into a gentle “S” shape.</a:t>
            </a:r>
            <a:endParaRPr lang="en-US" sz="1250" dirty="0"/>
          </a:p>
        </p:txBody>
      </p:sp>
      <p:sp>
        <p:nvSpPr>
          <p:cNvPr id="15" name="Text 11"/>
          <p:cNvSpPr/>
          <p:nvPr/>
        </p:nvSpPr>
        <p:spPr>
          <a:xfrm>
            <a:off x="11247120" y="6537960"/>
            <a:ext cx="64008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 / 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tmp/claude-0/-home-user-my-professional-documents/761a0e51-6ede-5ab3-921e-f28404666753/scratchpad/photo_deck/assets/aperture_doodle.png">    </p:cNvPr>
          <p:cNvPicPr>
            <a:picLocks noChangeAspect="1"/>
          </p:cNvPicPr>
          <p:nvPr/>
        </p:nvPicPr>
        <p:blipFill>
          <a:blip r:embed="rId1">
            <a:alphaModFix amt="12000"/>
          </a:blip>
          <a:stretch>
            <a:fillRect/>
          </a:stretch>
        </p:blipFill>
        <p:spPr>
          <a:xfrm>
            <a:off x="-822960" y="4206240"/>
            <a:ext cx="3108960" cy="3108960"/>
          </a:xfrm>
          <a:prstGeom prst="rect">
            <a:avLst/>
          </a:prstGeom>
        </p:spPr>
      </p:pic>
      <p:sp>
        <p:nvSpPr>
          <p:cNvPr id="3" name="Shape 0"/>
          <p:cNvSpPr/>
          <p:nvPr/>
        </p:nvSpPr>
        <p:spPr>
          <a:xfrm>
            <a:off x="548640" y="502920"/>
            <a:ext cx="566928" cy="566928"/>
          </a:xfrm>
          <a:prstGeom prst="ellipse">
            <a:avLst/>
          </a:prstGeom>
          <a:solidFill>
            <a:srgbClr val="E8A33D"/>
          </a:solidFill>
          <a:ln/>
        </p:spPr>
      </p:sp>
      <p:sp>
        <p:nvSpPr>
          <p:cNvPr id="4"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5" name="Text 2"/>
          <p:cNvSpPr/>
          <p:nvPr/>
        </p:nvSpPr>
        <p:spPr>
          <a:xfrm>
            <a:off x="1261872" y="502920"/>
            <a:ext cx="3657600" cy="274320"/>
          </a:xfrm>
          <a:prstGeom prst="rect">
            <a:avLst/>
          </a:prstGeom>
          <a:noFill/>
          <a:ln/>
        </p:spPr>
        <p:txBody>
          <a:bodyPr wrap="square" lIns="0" tIns="0" rIns="0" bIns="0" rtlCol="0" anchor="ctr"/>
          <a:lstStyle/>
          <a:p>
            <a:pPr indent="0" marL="0">
              <a:buNone/>
            </a:pPr>
            <a:r>
              <a:rPr lang="en-US" sz="1200" b="1" spc="200" kern="0" dirty="0">
                <a:solidFill>
                  <a:srgbClr val="B8722A"/>
                </a:solidFill>
                <a:latin typeface="Calibri" pitchFamily="34" charset="0"/>
                <a:ea typeface="Calibri" pitchFamily="34" charset="-122"/>
                <a:cs typeface="Calibri" pitchFamily="34" charset="-120"/>
              </a:rPr>
              <a:t>CONCEPT 3 OF 7</a:t>
            </a:r>
            <a:endParaRPr lang="en-US" sz="1200" dirty="0"/>
          </a:p>
        </p:txBody>
      </p:sp>
      <p:sp>
        <p:nvSpPr>
          <p:cNvPr id="6" name="Text 3"/>
          <p:cNvSpPr/>
          <p:nvPr/>
        </p:nvSpPr>
        <p:spPr>
          <a:xfrm>
            <a:off x="1234440" y="731520"/>
            <a:ext cx="5486400" cy="548640"/>
          </a:xfrm>
          <a:prstGeom prst="rect">
            <a:avLst/>
          </a:prstGeom>
          <a:noFill/>
          <a:ln/>
        </p:spPr>
        <p:txBody>
          <a:bodyPr wrap="square" lIns="0" tIns="0" rIns="0" bIns="0" rtlCol="0" anchor="ctr"/>
          <a:lstStyle/>
          <a:p>
            <a:pPr indent="0" marL="0">
              <a:buNone/>
            </a:pPr>
            <a:r>
              <a:rPr lang="en-US" sz="3600" b="1" dirty="0">
                <a:solidFill>
                  <a:srgbClr val="1C1C1E"/>
                </a:solidFill>
                <a:latin typeface="Cambria" pitchFamily="34" charset="0"/>
                <a:ea typeface="Cambria" pitchFamily="34" charset="-122"/>
                <a:cs typeface="Cambria" pitchFamily="34" charset="-120"/>
              </a:rPr>
              <a:t>Brightness</a:t>
            </a:r>
            <a:endParaRPr lang="en-US" sz="3600" dirty="0"/>
          </a:p>
        </p:txBody>
      </p:sp>
      <p:sp>
        <p:nvSpPr>
          <p:cNvPr id="7" name="Text 4"/>
          <p:cNvSpPr/>
          <p:nvPr/>
        </p:nvSpPr>
        <p:spPr>
          <a:xfrm>
            <a:off x="548640" y="1508760"/>
            <a:ext cx="5120640" cy="274320"/>
          </a:xfrm>
          <a:prstGeom prst="rect">
            <a:avLst/>
          </a:prstGeom>
          <a:noFill/>
          <a:ln/>
        </p:spPr>
        <p:txBody>
          <a:bodyPr wrap="square" lIns="0" tIns="0" rIns="0" bIns="0" rtlCol="0" anchor="ctr"/>
          <a:lstStyle/>
          <a:p>
            <a:pPr indent="0" marL="0">
              <a:buNone/>
            </a:pPr>
            <a:r>
              <a:rPr lang="en-US" sz="1200" b="1" spc="150" kern="0" dirty="0">
                <a:solidFill>
                  <a:srgbClr val="6B6B6B"/>
                </a:solidFill>
                <a:latin typeface="Calibri" pitchFamily="34" charset="0"/>
                <a:ea typeface="Calibri" pitchFamily="34" charset="-122"/>
                <a:cs typeface="Calibri" pitchFamily="34" charset="-120"/>
              </a:rPr>
              <a:t>WHAT IT MEANS</a:t>
            </a:r>
            <a:endParaRPr lang="en-US" sz="1200" dirty="0"/>
          </a:p>
        </p:txBody>
      </p:sp>
      <p:sp>
        <p:nvSpPr>
          <p:cNvPr id="8" name="Text 5"/>
          <p:cNvSpPr/>
          <p:nvPr/>
        </p:nvSpPr>
        <p:spPr>
          <a:xfrm>
            <a:off x="548640" y="1810512"/>
            <a:ext cx="5120640" cy="2880360"/>
          </a:xfrm>
          <a:prstGeom prst="rect">
            <a:avLst/>
          </a:prstGeom>
          <a:noFill/>
          <a:ln/>
        </p:spPr>
        <p:txBody>
          <a:bodyPr wrap="square" lIns="0" tIns="0" rIns="0" bIns="0" rtlCol="0" anchor="t"/>
          <a:lstStyle/>
          <a:p>
            <a:pPr indent="0" marL="0">
              <a:lnSpc>
                <a:spcPct val="128000"/>
              </a:lnSpc>
              <a:buNone/>
            </a:pPr>
            <a:r>
              <a:rPr lang="en-US" sz="1450" dirty="0">
                <a:solidFill>
                  <a:srgbClr val="2B2B2B"/>
                </a:solidFill>
                <a:latin typeface="Calibri" pitchFamily="34" charset="0"/>
                <a:ea typeface="Calibri" pitchFamily="34" charset="-122"/>
                <a:cs typeface="Calibri" pitchFamily="34" charset="-120"/>
              </a:rPr>
              <a:t>Brightness is how light or dark the whole photo looks, top to bottom. Raising it lifts every tone together — shadows, midtones and highlights all move up at once, like turning up a dimmer switch on a room. It's the simplest adjustment, but pushing too far washes out highlights and flattens detail.</a:t>
            </a:r>
            <a:endParaRPr lang="en-US" sz="1450" dirty="0"/>
          </a:p>
        </p:txBody>
      </p:sp>
      <p:pic>
        <p:nvPicPr>
          <p:cNvPr id="9" name="Image 1" descr="/tmp/claude-0/-home-user-my-professional-documents/761a0e51-6ede-5ab3-921e-f28404666753/scratchpad/photo_deck/assets/brightness.png">    </p:cNvPr>
          <p:cNvPicPr>
            <a:picLocks noChangeAspect="1"/>
          </p:cNvPicPr>
          <p:nvPr/>
        </p:nvPicPr>
        <p:blipFill>
          <a:blip r:embed="rId2"/>
          <a:stretch>
            <a:fillRect/>
          </a:stretch>
        </p:blipFill>
        <p:spPr>
          <a:xfrm>
            <a:off x="5989320" y="1051560"/>
            <a:ext cx="5623560" cy="3611880"/>
          </a:xfrm>
          <a:prstGeom prst="rect">
            <a:avLst/>
          </a:prstGeom>
        </p:spPr>
      </p:pic>
      <p:sp>
        <p:nvSpPr>
          <p:cNvPr id="10" name="Shape 6"/>
          <p:cNvSpPr/>
          <p:nvPr/>
        </p:nvSpPr>
        <p:spPr>
          <a:xfrm>
            <a:off x="548640" y="5074920"/>
            <a:ext cx="11064240" cy="1234440"/>
          </a:xfrm>
          <a:prstGeom prst="roundRect">
            <a:avLst>
              <a:gd name="adj" fmla="val 5926"/>
            </a:avLst>
          </a:prstGeom>
          <a:solidFill>
            <a:srgbClr val="F2F2F2"/>
          </a:solidFill>
          <a:ln/>
        </p:spPr>
      </p:sp>
      <p:sp>
        <p:nvSpPr>
          <p:cNvPr id="11" name="Shape 7"/>
          <p:cNvSpPr/>
          <p:nvPr/>
        </p:nvSpPr>
        <p:spPr>
          <a:xfrm>
            <a:off x="822960" y="5367528"/>
            <a:ext cx="640080" cy="640080"/>
          </a:xfrm>
          <a:prstGeom prst="ellipse">
            <a:avLst/>
          </a:prstGeom>
          <a:solidFill>
            <a:srgbClr val="1C1C1E"/>
          </a:solidFill>
          <a:ln/>
        </p:spPr>
      </p:sp>
      <p:sp>
        <p:nvSpPr>
          <p:cNvPr id="12" name="Text 8"/>
          <p:cNvSpPr/>
          <p:nvPr/>
        </p:nvSpPr>
        <p:spPr>
          <a:xfrm>
            <a:off x="822960" y="5367528"/>
            <a:ext cx="640080" cy="640080"/>
          </a:xfrm>
          <a:prstGeom prst="rect">
            <a:avLst/>
          </a:prstGeom>
          <a:noFill/>
          <a:ln/>
        </p:spPr>
        <p:txBody>
          <a:bodyPr wrap="square" lIns="0" tIns="0" rIns="0" bIns="0" rtlCol="0" anchor="ctr"/>
          <a:lstStyle/>
          <a:p>
            <a:pPr algn="ctr" indent="0" marL="0">
              <a:buNone/>
            </a:pPr>
            <a:r>
              <a:rPr lang="en-US" sz="1100" b="1" dirty="0">
                <a:solidFill>
                  <a:srgbClr val="E8A33D"/>
                </a:solidFill>
                <a:latin typeface="Calibri" pitchFamily="34" charset="0"/>
                <a:ea typeface="Calibri" pitchFamily="34" charset="-122"/>
                <a:cs typeface="Calibri" pitchFamily="34" charset="-120"/>
              </a:rPr>
              <a:t>TIP</a:t>
            </a:r>
            <a:endParaRPr lang="en-US" sz="1100" dirty="0"/>
          </a:p>
        </p:txBody>
      </p:sp>
      <p:sp>
        <p:nvSpPr>
          <p:cNvPr id="13" name="Text 9"/>
          <p:cNvSpPr/>
          <p:nvPr/>
        </p:nvSpPr>
        <p:spPr>
          <a:xfrm>
            <a:off x="1691640" y="5193792"/>
            <a:ext cx="3657600" cy="274320"/>
          </a:xfrm>
          <a:prstGeom prst="rect">
            <a:avLst/>
          </a:prstGeom>
          <a:noFill/>
          <a:ln/>
        </p:spPr>
        <p:txBody>
          <a:bodyPr wrap="square" lIns="0" tIns="0" rIns="0" bIns="0" rtlCol="0" anchor="ctr"/>
          <a:lstStyle/>
          <a:p>
            <a:pPr indent="0" marL="0">
              <a:buNone/>
            </a:pPr>
            <a:r>
              <a:rPr lang="en-US" sz="1200" b="1" dirty="0">
                <a:solidFill>
                  <a:srgbClr val="B8722A"/>
                </a:solidFill>
                <a:latin typeface="Calibri" pitchFamily="34" charset="0"/>
                <a:ea typeface="Calibri" pitchFamily="34" charset="-122"/>
                <a:cs typeface="Calibri" pitchFamily="34" charset="-120"/>
              </a:rPr>
              <a:t>Try it now</a:t>
            </a:r>
            <a:endParaRPr lang="en-US" sz="1200" dirty="0"/>
          </a:p>
        </p:txBody>
      </p:sp>
      <p:sp>
        <p:nvSpPr>
          <p:cNvPr id="14" name="Text 10"/>
          <p:cNvSpPr/>
          <p:nvPr/>
        </p:nvSpPr>
        <p:spPr>
          <a:xfrm>
            <a:off x="1691640" y="5440680"/>
            <a:ext cx="9646920" cy="822960"/>
          </a:xfrm>
          <a:prstGeom prst="rect">
            <a:avLst/>
          </a:prstGeom>
          <a:noFill/>
          <a:ln/>
        </p:spPr>
        <p:txBody>
          <a:bodyPr wrap="square" lIns="0" tIns="0" rIns="0" bIns="0" rtlCol="0" anchor="t"/>
          <a:lstStyle/>
          <a:p>
            <a:pPr indent="0" marL="0">
              <a:lnSpc>
                <a:spcPct val="118000"/>
              </a:lnSpc>
              <a:buNone/>
            </a:pPr>
            <a:r>
              <a:rPr lang="en-US" sz="1250" dirty="0">
                <a:solidFill>
                  <a:srgbClr val="2B2B2B"/>
                </a:solidFill>
                <a:latin typeface="Calibri" pitchFamily="34" charset="0"/>
                <a:ea typeface="Calibri" pitchFamily="34" charset="-122"/>
                <a:cs typeface="Calibri" pitchFamily="34" charset="-120"/>
              </a:rPr>
              <a:t>DxO PhotoLab: the Smart Lighting slider lifts brightness while protecting highlights automatically. Lightroom / Photoshop: start with Exposure for an overall lift, then use Brightness in small steps (about 0.1–0.3) since it moves the whole image at once.</a:t>
            </a:r>
            <a:endParaRPr lang="en-US" sz="1250" dirty="0"/>
          </a:p>
        </p:txBody>
      </p:sp>
      <p:sp>
        <p:nvSpPr>
          <p:cNvPr id="15" name="Text 11"/>
          <p:cNvSpPr/>
          <p:nvPr/>
        </p:nvSpPr>
        <p:spPr>
          <a:xfrm>
            <a:off x="11247120" y="6537960"/>
            <a:ext cx="64008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3 / 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tmp/claude-0/-home-user-my-professional-documents/761a0e51-6ede-5ab3-921e-f28404666753/scratchpad/photo_deck/assets/aperture_doodle.png">    </p:cNvPr>
          <p:cNvPicPr>
            <a:picLocks noChangeAspect="1"/>
          </p:cNvPicPr>
          <p:nvPr/>
        </p:nvPicPr>
        <p:blipFill>
          <a:blip r:embed="rId1">
            <a:alphaModFix amt="12000"/>
          </a:blip>
          <a:stretch>
            <a:fillRect/>
          </a:stretch>
        </p:blipFill>
        <p:spPr>
          <a:xfrm>
            <a:off x="-822960" y="4206240"/>
            <a:ext cx="3108960" cy="3108960"/>
          </a:xfrm>
          <a:prstGeom prst="rect">
            <a:avLst/>
          </a:prstGeom>
        </p:spPr>
      </p:pic>
      <p:sp>
        <p:nvSpPr>
          <p:cNvPr id="3" name="Shape 0"/>
          <p:cNvSpPr/>
          <p:nvPr/>
        </p:nvSpPr>
        <p:spPr>
          <a:xfrm>
            <a:off x="548640" y="502920"/>
            <a:ext cx="566928" cy="566928"/>
          </a:xfrm>
          <a:prstGeom prst="ellipse">
            <a:avLst/>
          </a:prstGeom>
          <a:solidFill>
            <a:srgbClr val="E8A33D"/>
          </a:solidFill>
          <a:ln/>
        </p:spPr>
      </p:sp>
      <p:sp>
        <p:nvSpPr>
          <p:cNvPr id="4"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5" name="Text 2"/>
          <p:cNvSpPr/>
          <p:nvPr/>
        </p:nvSpPr>
        <p:spPr>
          <a:xfrm>
            <a:off x="1261872" y="502920"/>
            <a:ext cx="3657600" cy="274320"/>
          </a:xfrm>
          <a:prstGeom prst="rect">
            <a:avLst/>
          </a:prstGeom>
          <a:noFill/>
          <a:ln/>
        </p:spPr>
        <p:txBody>
          <a:bodyPr wrap="square" lIns="0" tIns="0" rIns="0" bIns="0" rtlCol="0" anchor="ctr"/>
          <a:lstStyle/>
          <a:p>
            <a:pPr indent="0" marL="0">
              <a:buNone/>
            </a:pPr>
            <a:r>
              <a:rPr lang="en-US" sz="1200" b="1" spc="200" kern="0" dirty="0">
                <a:solidFill>
                  <a:srgbClr val="B8722A"/>
                </a:solidFill>
                <a:latin typeface="Calibri" pitchFamily="34" charset="0"/>
                <a:ea typeface="Calibri" pitchFamily="34" charset="-122"/>
                <a:cs typeface="Calibri" pitchFamily="34" charset="-120"/>
              </a:rPr>
              <a:t>CONCEPT 4 OF 7</a:t>
            </a:r>
            <a:endParaRPr lang="en-US" sz="1200" dirty="0"/>
          </a:p>
        </p:txBody>
      </p:sp>
      <p:sp>
        <p:nvSpPr>
          <p:cNvPr id="6" name="Text 3"/>
          <p:cNvSpPr/>
          <p:nvPr/>
        </p:nvSpPr>
        <p:spPr>
          <a:xfrm>
            <a:off x="1234440" y="731520"/>
            <a:ext cx="5486400" cy="548640"/>
          </a:xfrm>
          <a:prstGeom prst="rect">
            <a:avLst/>
          </a:prstGeom>
          <a:noFill/>
          <a:ln/>
        </p:spPr>
        <p:txBody>
          <a:bodyPr wrap="square" lIns="0" tIns="0" rIns="0" bIns="0" rtlCol="0" anchor="ctr"/>
          <a:lstStyle/>
          <a:p>
            <a:pPr indent="0" marL="0">
              <a:buNone/>
            </a:pPr>
            <a:r>
              <a:rPr lang="en-US" sz="3600" b="1" dirty="0">
                <a:solidFill>
                  <a:srgbClr val="1C1C1E"/>
                </a:solidFill>
                <a:latin typeface="Cambria" pitchFamily="34" charset="0"/>
                <a:ea typeface="Cambria" pitchFamily="34" charset="-122"/>
                <a:cs typeface="Cambria" pitchFamily="34" charset="-120"/>
              </a:rPr>
              <a:t>Sharpness</a:t>
            </a:r>
            <a:endParaRPr lang="en-US" sz="3600" dirty="0"/>
          </a:p>
        </p:txBody>
      </p:sp>
      <p:sp>
        <p:nvSpPr>
          <p:cNvPr id="7" name="Text 4"/>
          <p:cNvSpPr/>
          <p:nvPr/>
        </p:nvSpPr>
        <p:spPr>
          <a:xfrm>
            <a:off x="548640" y="1508760"/>
            <a:ext cx="5120640" cy="274320"/>
          </a:xfrm>
          <a:prstGeom prst="rect">
            <a:avLst/>
          </a:prstGeom>
          <a:noFill/>
          <a:ln/>
        </p:spPr>
        <p:txBody>
          <a:bodyPr wrap="square" lIns="0" tIns="0" rIns="0" bIns="0" rtlCol="0" anchor="ctr"/>
          <a:lstStyle/>
          <a:p>
            <a:pPr indent="0" marL="0">
              <a:buNone/>
            </a:pPr>
            <a:r>
              <a:rPr lang="en-US" sz="1200" b="1" spc="150" kern="0" dirty="0">
                <a:solidFill>
                  <a:srgbClr val="6B6B6B"/>
                </a:solidFill>
                <a:latin typeface="Calibri" pitchFamily="34" charset="0"/>
                <a:ea typeface="Calibri" pitchFamily="34" charset="-122"/>
                <a:cs typeface="Calibri" pitchFamily="34" charset="-120"/>
              </a:rPr>
              <a:t>WHAT IT MEANS</a:t>
            </a:r>
            <a:endParaRPr lang="en-US" sz="1200" dirty="0"/>
          </a:p>
        </p:txBody>
      </p:sp>
      <p:sp>
        <p:nvSpPr>
          <p:cNvPr id="8" name="Text 5"/>
          <p:cNvSpPr/>
          <p:nvPr/>
        </p:nvSpPr>
        <p:spPr>
          <a:xfrm>
            <a:off x="548640" y="1810512"/>
            <a:ext cx="5120640" cy="2880360"/>
          </a:xfrm>
          <a:prstGeom prst="rect">
            <a:avLst/>
          </a:prstGeom>
          <a:noFill/>
          <a:ln/>
        </p:spPr>
        <p:txBody>
          <a:bodyPr wrap="square" lIns="0" tIns="0" rIns="0" bIns="0" rtlCol="0" anchor="t"/>
          <a:lstStyle/>
          <a:p>
            <a:pPr indent="0" marL="0">
              <a:lnSpc>
                <a:spcPct val="128000"/>
              </a:lnSpc>
              <a:buNone/>
            </a:pPr>
            <a:r>
              <a:rPr lang="en-US" sz="1450" dirty="0">
                <a:solidFill>
                  <a:srgbClr val="2B2B2B"/>
                </a:solidFill>
                <a:latin typeface="Calibri" pitchFamily="34" charset="0"/>
                <a:ea typeface="Calibri" pitchFamily="34" charset="-122"/>
                <a:cs typeface="Calibri" pitchFamily="34" charset="-120"/>
              </a:rPr>
              <a:t>Sharpness is how crisply fine details and edges appear — hair strands, text, leaf veins. Too little looks soft and out of focus; too much creates harsh outlines with a bright/dark fringe around edges, an effect called “haloing.”</a:t>
            </a:r>
            <a:endParaRPr lang="en-US" sz="1450" dirty="0"/>
          </a:p>
        </p:txBody>
      </p:sp>
      <p:pic>
        <p:nvPicPr>
          <p:cNvPr id="9" name="Image 1" descr="/tmp/claude-0/-home-user-my-professional-documents/761a0e51-6ede-5ab3-921e-f28404666753/scratchpad/photo_deck/assets/sharpness.png">    </p:cNvPr>
          <p:cNvPicPr>
            <a:picLocks noChangeAspect="1"/>
          </p:cNvPicPr>
          <p:nvPr/>
        </p:nvPicPr>
        <p:blipFill>
          <a:blip r:embed="rId2"/>
          <a:stretch>
            <a:fillRect/>
          </a:stretch>
        </p:blipFill>
        <p:spPr>
          <a:xfrm>
            <a:off x="5989320" y="1051560"/>
            <a:ext cx="5623560" cy="3611880"/>
          </a:xfrm>
          <a:prstGeom prst="rect">
            <a:avLst/>
          </a:prstGeom>
        </p:spPr>
      </p:pic>
      <p:sp>
        <p:nvSpPr>
          <p:cNvPr id="10" name="Shape 6"/>
          <p:cNvSpPr/>
          <p:nvPr/>
        </p:nvSpPr>
        <p:spPr>
          <a:xfrm>
            <a:off x="548640" y="5074920"/>
            <a:ext cx="11064240" cy="1234440"/>
          </a:xfrm>
          <a:prstGeom prst="roundRect">
            <a:avLst>
              <a:gd name="adj" fmla="val 5926"/>
            </a:avLst>
          </a:prstGeom>
          <a:solidFill>
            <a:srgbClr val="F2F2F2"/>
          </a:solidFill>
          <a:ln/>
        </p:spPr>
      </p:sp>
      <p:sp>
        <p:nvSpPr>
          <p:cNvPr id="11" name="Shape 7"/>
          <p:cNvSpPr/>
          <p:nvPr/>
        </p:nvSpPr>
        <p:spPr>
          <a:xfrm>
            <a:off x="822960" y="5367528"/>
            <a:ext cx="640080" cy="640080"/>
          </a:xfrm>
          <a:prstGeom prst="ellipse">
            <a:avLst/>
          </a:prstGeom>
          <a:solidFill>
            <a:srgbClr val="1C1C1E"/>
          </a:solidFill>
          <a:ln/>
        </p:spPr>
      </p:sp>
      <p:sp>
        <p:nvSpPr>
          <p:cNvPr id="12" name="Text 8"/>
          <p:cNvSpPr/>
          <p:nvPr/>
        </p:nvSpPr>
        <p:spPr>
          <a:xfrm>
            <a:off x="822960" y="5367528"/>
            <a:ext cx="640080" cy="640080"/>
          </a:xfrm>
          <a:prstGeom prst="rect">
            <a:avLst/>
          </a:prstGeom>
          <a:noFill/>
          <a:ln/>
        </p:spPr>
        <p:txBody>
          <a:bodyPr wrap="square" lIns="0" tIns="0" rIns="0" bIns="0" rtlCol="0" anchor="ctr"/>
          <a:lstStyle/>
          <a:p>
            <a:pPr algn="ctr" indent="0" marL="0">
              <a:buNone/>
            </a:pPr>
            <a:r>
              <a:rPr lang="en-US" sz="1100" b="1" dirty="0">
                <a:solidFill>
                  <a:srgbClr val="E8A33D"/>
                </a:solidFill>
                <a:latin typeface="Calibri" pitchFamily="34" charset="0"/>
                <a:ea typeface="Calibri" pitchFamily="34" charset="-122"/>
                <a:cs typeface="Calibri" pitchFamily="34" charset="-120"/>
              </a:rPr>
              <a:t>TIP</a:t>
            </a:r>
            <a:endParaRPr lang="en-US" sz="1100" dirty="0"/>
          </a:p>
        </p:txBody>
      </p:sp>
      <p:sp>
        <p:nvSpPr>
          <p:cNvPr id="13" name="Text 9"/>
          <p:cNvSpPr/>
          <p:nvPr/>
        </p:nvSpPr>
        <p:spPr>
          <a:xfrm>
            <a:off x="1691640" y="5193792"/>
            <a:ext cx="3657600" cy="274320"/>
          </a:xfrm>
          <a:prstGeom prst="rect">
            <a:avLst/>
          </a:prstGeom>
          <a:noFill/>
          <a:ln/>
        </p:spPr>
        <p:txBody>
          <a:bodyPr wrap="square" lIns="0" tIns="0" rIns="0" bIns="0" rtlCol="0" anchor="ctr"/>
          <a:lstStyle/>
          <a:p>
            <a:pPr indent="0" marL="0">
              <a:buNone/>
            </a:pPr>
            <a:r>
              <a:rPr lang="en-US" sz="1200" b="1" dirty="0">
                <a:solidFill>
                  <a:srgbClr val="B8722A"/>
                </a:solidFill>
                <a:latin typeface="Calibri" pitchFamily="34" charset="0"/>
                <a:ea typeface="Calibri" pitchFamily="34" charset="-122"/>
                <a:cs typeface="Calibri" pitchFamily="34" charset="-120"/>
              </a:rPr>
              <a:t>Try it now</a:t>
            </a:r>
            <a:endParaRPr lang="en-US" sz="1200" dirty="0"/>
          </a:p>
        </p:txBody>
      </p:sp>
      <p:sp>
        <p:nvSpPr>
          <p:cNvPr id="14" name="Text 10"/>
          <p:cNvSpPr/>
          <p:nvPr/>
        </p:nvSpPr>
        <p:spPr>
          <a:xfrm>
            <a:off x="1691640" y="5440680"/>
            <a:ext cx="9646920" cy="822960"/>
          </a:xfrm>
          <a:prstGeom prst="rect">
            <a:avLst/>
          </a:prstGeom>
          <a:noFill/>
          <a:ln/>
        </p:spPr>
        <p:txBody>
          <a:bodyPr wrap="square" lIns="0" tIns="0" rIns="0" bIns="0" rtlCol="0" anchor="t"/>
          <a:lstStyle/>
          <a:p>
            <a:pPr indent="0" marL="0">
              <a:lnSpc>
                <a:spcPct val="118000"/>
              </a:lnSpc>
              <a:buNone/>
            </a:pPr>
            <a:r>
              <a:rPr lang="en-US" sz="1250" dirty="0">
                <a:solidFill>
                  <a:srgbClr val="2B2B2B"/>
                </a:solidFill>
                <a:latin typeface="Calibri" pitchFamily="34" charset="0"/>
                <a:ea typeface="Calibri" pitchFamily="34" charset="-122"/>
                <a:cs typeface="Calibri" pitchFamily="34" charset="-120"/>
              </a:rPr>
              <a:t>DxO PhotoLab: DeepPRIME (or the Lens Sharpness module) corrects lens softness automatically per lens profile — add Unsharp Mask on top only if needed. Lightroom / Photoshop: use the Detail panel or Smart Sharpen with a small radius (~1px), and always check at 100% zoom before judging it.</a:t>
            </a:r>
            <a:endParaRPr lang="en-US" sz="1250" dirty="0"/>
          </a:p>
        </p:txBody>
      </p:sp>
      <p:sp>
        <p:nvSpPr>
          <p:cNvPr id="15" name="Text 11"/>
          <p:cNvSpPr/>
          <p:nvPr/>
        </p:nvSpPr>
        <p:spPr>
          <a:xfrm>
            <a:off x="11247120" y="6537960"/>
            <a:ext cx="64008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4 / 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tmp/claude-0/-home-user-my-professional-documents/761a0e51-6ede-5ab3-921e-f28404666753/scratchpad/photo_deck/assets/aperture_doodle.png">    </p:cNvPr>
          <p:cNvPicPr>
            <a:picLocks noChangeAspect="1"/>
          </p:cNvPicPr>
          <p:nvPr/>
        </p:nvPicPr>
        <p:blipFill>
          <a:blip r:embed="rId1">
            <a:alphaModFix amt="12000"/>
          </a:blip>
          <a:stretch>
            <a:fillRect/>
          </a:stretch>
        </p:blipFill>
        <p:spPr>
          <a:xfrm>
            <a:off x="-822960" y="4206240"/>
            <a:ext cx="3108960" cy="3108960"/>
          </a:xfrm>
          <a:prstGeom prst="rect">
            <a:avLst/>
          </a:prstGeom>
        </p:spPr>
      </p:pic>
      <p:sp>
        <p:nvSpPr>
          <p:cNvPr id="3" name="Shape 0"/>
          <p:cNvSpPr/>
          <p:nvPr/>
        </p:nvSpPr>
        <p:spPr>
          <a:xfrm>
            <a:off x="548640" y="502920"/>
            <a:ext cx="566928" cy="566928"/>
          </a:xfrm>
          <a:prstGeom prst="ellipse">
            <a:avLst/>
          </a:prstGeom>
          <a:solidFill>
            <a:srgbClr val="E8A33D"/>
          </a:solidFill>
          <a:ln/>
        </p:spPr>
      </p:sp>
      <p:sp>
        <p:nvSpPr>
          <p:cNvPr id="4"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5" name="Text 2"/>
          <p:cNvSpPr/>
          <p:nvPr/>
        </p:nvSpPr>
        <p:spPr>
          <a:xfrm>
            <a:off x="1261872" y="502920"/>
            <a:ext cx="3657600" cy="274320"/>
          </a:xfrm>
          <a:prstGeom prst="rect">
            <a:avLst/>
          </a:prstGeom>
          <a:noFill/>
          <a:ln/>
        </p:spPr>
        <p:txBody>
          <a:bodyPr wrap="square" lIns="0" tIns="0" rIns="0" bIns="0" rtlCol="0" anchor="ctr"/>
          <a:lstStyle/>
          <a:p>
            <a:pPr indent="0" marL="0">
              <a:buNone/>
            </a:pPr>
            <a:r>
              <a:rPr lang="en-US" sz="1200" b="1" spc="200" kern="0" dirty="0">
                <a:solidFill>
                  <a:srgbClr val="B8722A"/>
                </a:solidFill>
                <a:latin typeface="Calibri" pitchFamily="34" charset="0"/>
                <a:ea typeface="Calibri" pitchFamily="34" charset="-122"/>
                <a:cs typeface="Calibri" pitchFamily="34" charset="-120"/>
              </a:rPr>
              <a:t>CONCEPT 5 OF 7</a:t>
            </a:r>
            <a:endParaRPr lang="en-US" sz="1200" dirty="0"/>
          </a:p>
        </p:txBody>
      </p:sp>
      <p:sp>
        <p:nvSpPr>
          <p:cNvPr id="6" name="Text 3"/>
          <p:cNvSpPr/>
          <p:nvPr/>
        </p:nvSpPr>
        <p:spPr>
          <a:xfrm>
            <a:off x="1234440" y="731520"/>
            <a:ext cx="5486400" cy="548640"/>
          </a:xfrm>
          <a:prstGeom prst="rect">
            <a:avLst/>
          </a:prstGeom>
          <a:noFill/>
          <a:ln/>
        </p:spPr>
        <p:txBody>
          <a:bodyPr wrap="square" lIns="0" tIns="0" rIns="0" bIns="0" rtlCol="0" anchor="ctr"/>
          <a:lstStyle/>
          <a:p>
            <a:pPr indent="0" marL="0">
              <a:buNone/>
            </a:pPr>
            <a:r>
              <a:rPr lang="en-US" sz="3600" b="1" dirty="0">
                <a:solidFill>
                  <a:srgbClr val="1C1C1E"/>
                </a:solidFill>
                <a:latin typeface="Cambria" pitchFamily="34" charset="0"/>
                <a:ea typeface="Cambria" pitchFamily="34" charset="-122"/>
                <a:cs typeface="Cambria" pitchFamily="34" charset="-120"/>
              </a:rPr>
              <a:t>The Tone Curve</a:t>
            </a:r>
            <a:endParaRPr lang="en-US" sz="3600" dirty="0"/>
          </a:p>
        </p:txBody>
      </p:sp>
      <p:sp>
        <p:nvSpPr>
          <p:cNvPr id="7" name="Text 4"/>
          <p:cNvSpPr/>
          <p:nvPr/>
        </p:nvSpPr>
        <p:spPr>
          <a:xfrm>
            <a:off x="548640" y="1508760"/>
            <a:ext cx="5120640" cy="274320"/>
          </a:xfrm>
          <a:prstGeom prst="rect">
            <a:avLst/>
          </a:prstGeom>
          <a:noFill/>
          <a:ln/>
        </p:spPr>
        <p:txBody>
          <a:bodyPr wrap="square" lIns="0" tIns="0" rIns="0" bIns="0" rtlCol="0" anchor="ctr"/>
          <a:lstStyle/>
          <a:p>
            <a:pPr indent="0" marL="0">
              <a:buNone/>
            </a:pPr>
            <a:r>
              <a:rPr lang="en-US" sz="1200" b="1" spc="150" kern="0" dirty="0">
                <a:solidFill>
                  <a:srgbClr val="6B6B6B"/>
                </a:solidFill>
                <a:latin typeface="Calibri" pitchFamily="34" charset="0"/>
                <a:ea typeface="Calibri" pitchFamily="34" charset="-122"/>
                <a:cs typeface="Calibri" pitchFamily="34" charset="-120"/>
              </a:rPr>
              <a:t>WHAT IT MEANS</a:t>
            </a:r>
            <a:endParaRPr lang="en-US" sz="1200" dirty="0"/>
          </a:p>
        </p:txBody>
      </p:sp>
      <p:sp>
        <p:nvSpPr>
          <p:cNvPr id="8" name="Text 5"/>
          <p:cNvSpPr/>
          <p:nvPr/>
        </p:nvSpPr>
        <p:spPr>
          <a:xfrm>
            <a:off x="548640" y="1810512"/>
            <a:ext cx="5120640" cy="2880360"/>
          </a:xfrm>
          <a:prstGeom prst="rect">
            <a:avLst/>
          </a:prstGeom>
          <a:noFill/>
          <a:ln/>
        </p:spPr>
        <p:txBody>
          <a:bodyPr wrap="square" lIns="0" tIns="0" rIns="0" bIns="0" rtlCol="0" anchor="t"/>
          <a:lstStyle/>
          <a:p>
            <a:pPr indent="0" marL="0">
              <a:lnSpc>
                <a:spcPct val="128000"/>
              </a:lnSpc>
              <a:buNone/>
            </a:pPr>
            <a:r>
              <a:rPr lang="en-US" sz="1450" dirty="0">
                <a:solidFill>
                  <a:srgbClr val="2B2B2B"/>
                </a:solidFill>
                <a:latin typeface="Calibri" pitchFamily="34" charset="0"/>
                <a:ea typeface="Calibri" pitchFamily="34" charset="-122"/>
                <a:cs typeface="Calibri" pitchFamily="34" charset="-120"/>
              </a:rPr>
              <a:t>The tone curve is a graph that lets you reshape brightness at every level individually — shadows, midtones, and highlights each get their own adjustment point, instead of one slider moving everything equally. Pulling the shadow end down and pushing the highlight end up (an “S” shape) is the classic way to add rich, natural contrast.</a:t>
            </a:r>
            <a:endParaRPr lang="en-US" sz="1450" dirty="0"/>
          </a:p>
        </p:txBody>
      </p:sp>
      <p:pic>
        <p:nvPicPr>
          <p:cNvPr id="9" name="Image 1" descr="/tmp/claude-0/-home-user-my-professional-documents/761a0e51-6ede-5ab3-921e-f28404666753/scratchpad/photo_deck/assets/curve.png">    </p:cNvPr>
          <p:cNvPicPr>
            <a:picLocks noChangeAspect="1"/>
          </p:cNvPicPr>
          <p:nvPr/>
        </p:nvPicPr>
        <p:blipFill>
          <a:blip r:embed="rId2"/>
          <a:stretch>
            <a:fillRect/>
          </a:stretch>
        </p:blipFill>
        <p:spPr>
          <a:xfrm>
            <a:off x="5989320" y="1051560"/>
            <a:ext cx="5623560" cy="3611880"/>
          </a:xfrm>
          <a:prstGeom prst="rect">
            <a:avLst/>
          </a:prstGeom>
        </p:spPr>
      </p:pic>
      <p:sp>
        <p:nvSpPr>
          <p:cNvPr id="10" name="Shape 6"/>
          <p:cNvSpPr/>
          <p:nvPr/>
        </p:nvSpPr>
        <p:spPr>
          <a:xfrm>
            <a:off x="548640" y="5074920"/>
            <a:ext cx="11064240" cy="1234440"/>
          </a:xfrm>
          <a:prstGeom prst="roundRect">
            <a:avLst>
              <a:gd name="adj" fmla="val 5926"/>
            </a:avLst>
          </a:prstGeom>
          <a:solidFill>
            <a:srgbClr val="F2F2F2"/>
          </a:solidFill>
          <a:ln/>
        </p:spPr>
      </p:sp>
      <p:sp>
        <p:nvSpPr>
          <p:cNvPr id="11" name="Shape 7"/>
          <p:cNvSpPr/>
          <p:nvPr/>
        </p:nvSpPr>
        <p:spPr>
          <a:xfrm>
            <a:off x="822960" y="5367528"/>
            <a:ext cx="640080" cy="640080"/>
          </a:xfrm>
          <a:prstGeom prst="ellipse">
            <a:avLst/>
          </a:prstGeom>
          <a:solidFill>
            <a:srgbClr val="1C1C1E"/>
          </a:solidFill>
          <a:ln/>
        </p:spPr>
      </p:sp>
      <p:sp>
        <p:nvSpPr>
          <p:cNvPr id="12" name="Text 8"/>
          <p:cNvSpPr/>
          <p:nvPr/>
        </p:nvSpPr>
        <p:spPr>
          <a:xfrm>
            <a:off x="822960" y="5367528"/>
            <a:ext cx="640080" cy="640080"/>
          </a:xfrm>
          <a:prstGeom prst="rect">
            <a:avLst/>
          </a:prstGeom>
          <a:noFill/>
          <a:ln/>
        </p:spPr>
        <p:txBody>
          <a:bodyPr wrap="square" lIns="0" tIns="0" rIns="0" bIns="0" rtlCol="0" anchor="ctr"/>
          <a:lstStyle/>
          <a:p>
            <a:pPr algn="ctr" indent="0" marL="0">
              <a:buNone/>
            </a:pPr>
            <a:r>
              <a:rPr lang="en-US" sz="1100" b="1" dirty="0">
                <a:solidFill>
                  <a:srgbClr val="E8A33D"/>
                </a:solidFill>
                <a:latin typeface="Calibri" pitchFamily="34" charset="0"/>
                <a:ea typeface="Calibri" pitchFamily="34" charset="-122"/>
                <a:cs typeface="Calibri" pitchFamily="34" charset="-120"/>
              </a:rPr>
              <a:t>TIP</a:t>
            </a:r>
            <a:endParaRPr lang="en-US" sz="1100" dirty="0"/>
          </a:p>
        </p:txBody>
      </p:sp>
      <p:sp>
        <p:nvSpPr>
          <p:cNvPr id="13" name="Text 9"/>
          <p:cNvSpPr/>
          <p:nvPr/>
        </p:nvSpPr>
        <p:spPr>
          <a:xfrm>
            <a:off x="1691640" y="5193792"/>
            <a:ext cx="3657600" cy="274320"/>
          </a:xfrm>
          <a:prstGeom prst="rect">
            <a:avLst/>
          </a:prstGeom>
          <a:noFill/>
          <a:ln/>
        </p:spPr>
        <p:txBody>
          <a:bodyPr wrap="square" lIns="0" tIns="0" rIns="0" bIns="0" rtlCol="0" anchor="ctr"/>
          <a:lstStyle/>
          <a:p>
            <a:pPr indent="0" marL="0">
              <a:buNone/>
            </a:pPr>
            <a:r>
              <a:rPr lang="en-US" sz="1200" b="1" dirty="0">
                <a:solidFill>
                  <a:srgbClr val="B8722A"/>
                </a:solidFill>
                <a:latin typeface="Calibri" pitchFamily="34" charset="0"/>
                <a:ea typeface="Calibri" pitchFamily="34" charset="-122"/>
                <a:cs typeface="Calibri" pitchFamily="34" charset="-120"/>
              </a:rPr>
              <a:t>Try it now</a:t>
            </a:r>
            <a:endParaRPr lang="en-US" sz="1200" dirty="0"/>
          </a:p>
        </p:txBody>
      </p:sp>
      <p:sp>
        <p:nvSpPr>
          <p:cNvPr id="14" name="Text 10"/>
          <p:cNvSpPr/>
          <p:nvPr/>
        </p:nvSpPr>
        <p:spPr>
          <a:xfrm>
            <a:off x="1691640" y="5440680"/>
            <a:ext cx="9646920" cy="822960"/>
          </a:xfrm>
          <a:prstGeom prst="rect">
            <a:avLst/>
          </a:prstGeom>
          <a:noFill/>
          <a:ln/>
        </p:spPr>
        <p:txBody>
          <a:bodyPr wrap="square" lIns="0" tIns="0" rIns="0" bIns="0" rtlCol="0" anchor="t"/>
          <a:lstStyle/>
          <a:p>
            <a:pPr indent="0" marL="0">
              <a:lnSpc>
                <a:spcPct val="118000"/>
              </a:lnSpc>
              <a:buNone/>
            </a:pPr>
            <a:r>
              <a:rPr lang="en-US" sz="1250" dirty="0">
                <a:solidFill>
                  <a:srgbClr val="2B2B2B"/>
                </a:solidFill>
                <a:latin typeface="Calibri" pitchFamily="34" charset="0"/>
                <a:ea typeface="Calibri" pitchFamily="34" charset="-122"/>
                <a:cs typeface="Calibri" pitchFamily="34" charset="-120"/>
              </a:rPr>
              <a:t>DxO PhotoLab: the Tone Curve palette works exactly like this — click and drag points directly on the graph. Lightroom's Tone Curve panel and Photoshop's Curves adjustment layer work the same way; try a gentle S-curve as your very first move on any photo.</a:t>
            </a:r>
            <a:endParaRPr lang="en-US" sz="1250" dirty="0"/>
          </a:p>
        </p:txBody>
      </p:sp>
      <p:sp>
        <p:nvSpPr>
          <p:cNvPr id="15" name="Text 11"/>
          <p:cNvSpPr/>
          <p:nvPr/>
        </p:nvSpPr>
        <p:spPr>
          <a:xfrm>
            <a:off x="11247120" y="6537960"/>
            <a:ext cx="64008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5 / 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tmp/claude-0/-home-user-my-professional-documents/761a0e51-6ede-5ab3-921e-f28404666753/scratchpad/photo_deck/assets/aperture_doodle.png">    </p:cNvPr>
          <p:cNvPicPr>
            <a:picLocks noChangeAspect="1"/>
          </p:cNvPicPr>
          <p:nvPr/>
        </p:nvPicPr>
        <p:blipFill>
          <a:blip r:embed="rId1">
            <a:alphaModFix amt="12000"/>
          </a:blip>
          <a:stretch>
            <a:fillRect/>
          </a:stretch>
        </p:blipFill>
        <p:spPr>
          <a:xfrm>
            <a:off x="-822960" y="4206240"/>
            <a:ext cx="3108960" cy="3108960"/>
          </a:xfrm>
          <a:prstGeom prst="rect">
            <a:avLst/>
          </a:prstGeom>
        </p:spPr>
      </p:pic>
      <p:sp>
        <p:nvSpPr>
          <p:cNvPr id="3" name="Shape 0"/>
          <p:cNvSpPr/>
          <p:nvPr/>
        </p:nvSpPr>
        <p:spPr>
          <a:xfrm>
            <a:off x="548640" y="502920"/>
            <a:ext cx="566928" cy="566928"/>
          </a:xfrm>
          <a:prstGeom prst="ellipse">
            <a:avLst/>
          </a:prstGeom>
          <a:solidFill>
            <a:srgbClr val="E8A33D"/>
          </a:solidFill>
          <a:ln/>
        </p:spPr>
      </p:sp>
      <p:sp>
        <p:nvSpPr>
          <p:cNvPr id="4"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6</a:t>
            </a:r>
            <a:endParaRPr lang="en-US" sz="2400" dirty="0"/>
          </a:p>
        </p:txBody>
      </p:sp>
      <p:sp>
        <p:nvSpPr>
          <p:cNvPr id="5" name="Text 2"/>
          <p:cNvSpPr/>
          <p:nvPr/>
        </p:nvSpPr>
        <p:spPr>
          <a:xfrm>
            <a:off x="1261872" y="502920"/>
            <a:ext cx="3657600" cy="274320"/>
          </a:xfrm>
          <a:prstGeom prst="rect">
            <a:avLst/>
          </a:prstGeom>
          <a:noFill/>
          <a:ln/>
        </p:spPr>
        <p:txBody>
          <a:bodyPr wrap="square" lIns="0" tIns="0" rIns="0" bIns="0" rtlCol="0" anchor="ctr"/>
          <a:lstStyle/>
          <a:p>
            <a:pPr indent="0" marL="0">
              <a:buNone/>
            </a:pPr>
            <a:r>
              <a:rPr lang="en-US" sz="1200" b="1" spc="200" kern="0" dirty="0">
                <a:solidFill>
                  <a:srgbClr val="B8722A"/>
                </a:solidFill>
                <a:latin typeface="Calibri" pitchFamily="34" charset="0"/>
                <a:ea typeface="Calibri" pitchFamily="34" charset="-122"/>
                <a:cs typeface="Calibri" pitchFamily="34" charset="-120"/>
              </a:rPr>
              <a:t>CONCEPT 6 OF 7</a:t>
            </a:r>
            <a:endParaRPr lang="en-US" sz="1200" dirty="0"/>
          </a:p>
        </p:txBody>
      </p:sp>
      <p:sp>
        <p:nvSpPr>
          <p:cNvPr id="6" name="Text 3"/>
          <p:cNvSpPr/>
          <p:nvPr/>
        </p:nvSpPr>
        <p:spPr>
          <a:xfrm>
            <a:off x="1234440" y="731520"/>
            <a:ext cx="5486400" cy="548640"/>
          </a:xfrm>
          <a:prstGeom prst="rect">
            <a:avLst/>
          </a:prstGeom>
          <a:noFill/>
          <a:ln/>
        </p:spPr>
        <p:txBody>
          <a:bodyPr wrap="square" lIns="0" tIns="0" rIns="0" bIns="0" rtlCol="0" anchor="ctr"/>
          <a:lstStyle/>
          <a:p>
            <a:pPr indent="0" marL="0">
              <a:buNone/>
            </a:pPr>
            <a:r>
              <a:rPr lang="en-US" sz="3600" b="1" dirty="0">
                <a:solidFill>
                  <a:srgbClr val="1C1C1E"/>
                </a:solidFill>
                <a:latin typeface="Cambria" pitchFamily="34" charset="0"/>
                <a:ea typeface="Cambria" pitchFamily="34" charset="-122"/>
                <a:cs typeface="Cambria" pitchFamily="34" charset="-120"/>
              </a:rPr>
              <a:t>Exposure</a:t>
            </a:r>
            <a:endParaRPr lang="en-US" sz="3600" dirty="0"/>
          </a:p>
        </p:txBody>
      </p:sp>
      <p:sp>
        <p:nvSpPr>
          <p:cNvPr id="7" name="Text 4"/>
          <p:cNvSpPr/>
          <p:nvPr/>
        </p:nvSpPr>
        <p:spPr>
          <a:xfrm>
            <a:off x="548640" y="1508760"/>
            <a:ext cx="5120640" cy="274320"/>
          </a:xfrm>
          <a:prstGeom prst="rect">
            <a:avLst/>
          </a:prstGeom>
          <a:noFill/>
          <a:ln/>
        </p:spPr>
        <p:txBody>
          <a:bodyPr wrap="square" lIns="0" tIns="0" rIns="0" bIns="0" rtlCol="0" anchor="ctr"/>
          <a:lstStyle/>
          <a:p>
            <a:pPr indent="0" marL="0">
              <a:buNone/>
            </a:pPr>
            <a:r>
              <a:rPr lang="en-US" sz="1200" b="1" spc="150" kern="0" dirty="0">
                <a:solidFill>
                  <a:srgbClr val="6B6B6B"/>
                </a:solidFill>
                <a:latin typeface="Calibri" pitchFamily="34" charset="0"/>
                <a:ea typeface="Calibri" pitchFamily="34" charset="-122"/>
                <a:cs typeface="Calibri" pitchFamily="34" charset="-120"/>
              </a:rPr>
              <a:t>WHAT IT MEANS</a:t>
            </a:r>
            <a:endParaRPr lang="en-US" sz="1200" dirty="0"/>
          </a:p>
        </p:txBody>
      </p:sp>
      <p:sp>
        <p:nvSpPr>
          <p:cNvPr id="8" name="Text 5"/>
          <p:cNvSpPr/>
          <p:nvPr/>
        </p:nvSpPr>
        <p:spPr>
          <a:xfrm>
            <a:off x="548640" y="1810512"/>
            <a:ext cx="5120640" cy="2880360"/>
          </a:xfrm>
          <a:prstGeom prst="rect">
            <a:avLst/>
          </a:prstGeom>
          <a:noFill/>
          <a:ln/>
        </p:spPr>
        <p:txBody>
          <a:bodyPr wrap="square" lIns="0" tIns="0" rIns="0" bIns="0" rtlCol="0" anchor="t"/>
          <a:lstStyle/>
          <a:p>
            <a:pPr indent="0" marL="0">
              <a:lnSpc>
                <a:spcPct val="128000"/>
              </a:lnSpc>
              <a:buNone/>
            </a:pPr>
            <a:r>
              <a:rPr lang="en-US" sz="1450" dirty="0">
                <a:solidFill>
                  <a:srgbClr val="2B2B2B"/>
                </a:solidFill>
                <a:latin typeface="Calibri" pitchFamily="34" charset="0"/>
                <a:ea typeface="Calibri" pitchFamily="34" charset="-122"/>
                <a:cs typeface="Calibri" pitchFamily="34" charset="-120"/>
              </a:rPr>
              <a:t>Exposure is the total amount of light that reaches your camera's sensor, controlled by three settings working together: aperture (how wide the lens opens), shutter speed (how long light hits the sensor), and ISO (how sensitive the sensor is). Balance them well and detail survives in both shadows and highlights; get it wrong and detail is lost to solid black or pure white.</a:t>
            </a:r>
            <a:endParaRPr lang="en-US" sz="1450" dirty="0"/>
          </a:p>
        </p:txBody>
      </p:sp>
      <p:pic>
        <p:nvPicPr>
          <p:cNvPr id="9" name="Image 1" descr="/tmp/claude-0/-home-user-my-professional-documents/761a0e51-6ede-5ab3-921e-f28404666753/scratchpad/photo_deck/assets/exposure.png">    </p:cNvPr>
          <p:cNvPicPr>
            <a:picLocks noChangeAspect="1"/>
          </p:cNvPicPr>
          <p:nvPr/>
        </p:nvPicPr>
        <p:blipFill>
          <a:blip r:embed="rId2"/>
          <a:stretch>
            <a:fillRect/>
          </a:stretch>
        </p:blipFill>
        <p:spPr>
          <a:xfrm>
            <a:off x="5989320" y="1051560"/>
            <a:ext cx="5623560" cy="3611880"/>
          </a:xfrm>
          <a:prstGeom prst="rect">
            <a:avLst/>
          </a:prstGeom>
        </p:spPr>
      </p:pic>
      <p:sp>
        <p:nvSpPr>
          <p:cNvPr id="10" name="Shape 6"/>
          <p:cNvSpPr/>
          <p:nvPr/>
        </p:nvSpPr>
        <p:spPr>
          <a:xfrm>
            <a:off x="548640" y="5074920"/>
            <a:ext cx="11064240" cy="1234440"/>
          </a:xfrm>
          <a:prstGeom prst="roundRect">
            <a:avLst>
              <a:gd name="adj" fmla="val 5926"/>
            </a:avLst>
          </a:prstGeom>
          <a:solidFill>
            <a:srgbClr val="F2F2F2"/>
          </a:solidFill>
          <a:ln/>
        </p:spPr>
      </p:sp>
      <p:sp>
        <p:nvSpPr>
          <p:cNvPr id="11" name="Shape 7"/>
          <p:cNvSpPr/>
          <p:nvPr/>
        </p:nvSpPr>
        <p:spPr>
          <a:xfrm>
            <a:off x="822960" y="5367528"/>
            <a:ext cx="640080" cy="640080"/>
          </a:xfrm>
          <a:prstGeom prst="ellipse">
            <a:avLst/>
          </a:prstGeom>
          <a:solidFill>
            <a:srgbClr val="1C1C1E"/>
          </a:solidFill>
          <a:ln/>
        </p:spPr>
      </p:sp>
      <p:sp>
        <p:nvSpPr>
          <p:cNvPr id="12" name="Text 8"/>
          <p:cNvSpPr/>
          <p:nvPr/>
        </p:nvSpPr>
        <p:spPr>
          <a:xfrm>
            <a:off x="822960" y="5367528"/>
            <a:ext cx="640080" cy="640080"/>
          </a:xfrm>
          <a:prstGeom prst="rect">
            <a:avLst/>
          </a:prstGeom>
          <a:noFill/>
          <a:ln/>
        </p:spPr>
        <p:txBody>
          <a:bodyPr wrap="square" lIns="0" tIns="0" rIns="0" bIns="0" rtlCol="0" anchor="ctr"/>
          <a:lstStyle/>
          <a:p>
            <a:pPr algn="ctr" indent="0" marL="0">
              <a:buNone/>
            </a:pPr>
            <a:r>
              <a:rPr lang="en-US" sz="1100" b="1" dirty="0">
                <a:solidFill>
                  <a:srgbClr val="E8A33D"/>
                </a:solidFill>
                <a:latin typeface="Calibri" pitchFamily="34" charset="0"/>
                <a:ea typeface="Calibri" pitchFamily="34" charset="-122"/>
                <a:cs typeface="Calibri" pitchFamily="34" charset="-120"/>
              </a:rPr>
              <a:t>TIP</a:t>
            </a:r>
            <a:endParaRPr lang="en-US" sz="1100" dirty="0"/>
          </a:p>
        </p:txBody>
      </p:sp>
      <p:sp>
        <p:nvSpPr>
          <p:cNvPr id="13" name="Text 9"/>
          <p:cNvSpPr/>
          <p:nvPr/>
        </p:nvSpPr>
        <p:spPr>
          <a:xfrm>
            <a:off x="1691640" y="5193792"/>
            <a:ext cx="3657600" cy="274320"/>
          </a:xfrm>
          <a:prstGeom prst="rect">
            <a:avLst/>
          </a:prstGeom>
          <a:noFill/>
          <a:ln/>
        </p:spPr>
        <p:txBody>
          <a:bodyPr wrap="square" lIns="0" tIns="0" rIns="0" bIns="0" rtlCol="0" anchor="ctr"/>
          <a:lstStyle/>
          <a:p>
            <a:pPr indent="0" marL="0">
              <a:buNone/>
            </a:pPr>
            <a:r>
              <a:rPr lang="en-US" sz="1200" b="1" dirty="0">
                <a:solidFill>
                  <a:srgbClr val="B8722A"/>
                </a:solidFill>
                <a:latin typeface="Calibri" pitchFamily="34" charset="0"/>
                <a:ea typeface="Calibri" pitchFamily="34" charset="-122"/>
                <a:cs typeface="Calibri" pitchFamily="34" charset="-120"/>
              </a:rPr>
              <a:t>Try it now</a:t>
            </a:r>
            <a:endParaRPr lang="en-US" sz="1200" dirty="0"/>
          </a:p>
        </p:txBody>
      </p:sp>
      <p:sp>
        <p:nvSpPr>
          <p:cNvPr id="14" name="Text 10"/>
          <p:cNvSpPr/>
          <p:nvPr/>
        </p:nvSpPr>
        <p:spPr>
          <a:xfrm>
            <a:off x="1691640" y="5440680"/>
            <a:ext cx="9646920" cy="822960"/>
          </a:xfrm>
          <a:prstGeom prst="rect">
            <a:avLst/>
          </a:prstGeom>
          <a:noFill/>
          <a:ln/>
        </p:spPr>
        <p:txBody>
          <a:bodyPr wrap="square" lIns="0" tIns="0" rIns="0" bIns="0" rtlCol="0" anchor="t"/>
          <a:lstStyle/>
          <a:p>
            <a:pPr indent="0" marL="0">
              <a:lnSpc>
                <a:spcPct val="118000"/>
              </a:lnSpc>
              <a:buNone/>
            </a:pPr>
            <a:r>
              <a:rPr lang="en-US" sz="1250" dirty="0">
                <a:solidFill>
                  <a:srgbClr val="2B2B2B"/>
                </a:solidFill>
                <a:latin typeface="Calibri" pitchFamily="34" charset="0"/>
                <a:ea typeface="Calibri" pitchFamily="34" charset="-122"/>
                <a:cs typeface="Calibri" pitchFamily="34" charset="-120"/>
              </a:rPr>
              <a:t>DxO PhotoLab: Smart Lighting (HSP technology) recovers shadow and highlight detail from RAW files after the fact. Lightroom / Photoshop (Camera Raw): use Exposure for overall level, then Highlights/Shadows to rescue clipped detail — trust the histogram over your screen, which can mislead in a bright room.</a:t>
            </a:r>
            <a:endParaRPr lang="en-US" sz="1250" dirty="0"/>
          </a:p>
        </p:txBody>
      </p:sp>
      <p:sp>
        <p:nvSpPr>
          <p:cNvPr id="15" name="Text 11"/>
          <p:cNvSpPr/>
          <p:nvPr/>
        </p:nvSpPr>
        <p:spPr>
          <a:xfrm>
            <a:off x="11247120" y="6537960"/>
            <a:ext cx="64008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6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tmp/claude-0/-home-user-my-professional-documents/761a0e51-6ede-5ab3-921e-f28404666753/scratchpad/photo_deck/assets/aperture_doodle.png">    </p:cNvPr>
          <p:cNvPicPr>
            <a:picLocks noChangeAspect="1"/>
          </p:cNvPicPr>
          <p:nvPr/>
        </p:nvPicPr>
        <p:blipFill>
          <a:blip r:embed="rId1">
            <a:alphaModFix amt="12000"/>
          </a:blip>
          <a:stretch>
            <a:fillRect/>
          </a:stretch>
        </p:blipFill>
        <p:spPr>
          <a:xfrm>
            <a:off x="-822960" y="4206240"/>
            <a:ext cx="3108960" cy="3108960"/>
          </a:xfrm>
          <a:prstGeom prst="rect">
            <a:avLst/>
          </a:prstGeom>
        </p:spPr>
      </p:pic>
      <p:sp>
        <p:nvSpPr>
          <p:cNvPr id="3" name="Shape 0"/>
          <p:cNvSpPr/>
          <p:nvPr/>
        </p:nvSpPr>
        <p:spPr>
          <a:xfrm>
            <a:off x="548640" y="502920"/>
            <a:ext cx="566928" cy="566928"/>
          </a:xfrm>
          <a:prstGeom prst="ellipse">
            <a:avLst/>
          </a:prstGeom>
          <a:solidFill>
            <a:srgbClr val="E8A33D"/>
          </a:solidFill>
          <a:ln/>
        </p:spPr>
      </p:sp>
      <p:sp>
        <p:nvSpPr>
          <p:cNvPr id="4"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7</a:t>
            </a:r>
            <a:endParaRPr lang="en-US" sz="2400" dirty="0"/>
          </a:p>
        </p:txBody>
      </p:sp>
      <p:sp>
        <p:nvSpPr>
          <p:cNvPr id="5" name="Text 2"/>
          <p:cNvSpPr/>
          <p:nvPr/>
        </p:nvSpPr>
        <p:spPr>
          <a:xfrm>
            <a:off x="1261872" y="502920"/>
            <a:ext cx="3657600" cy="274320"/>
          </a:xfrm>
          <a:prstGeom prst="rect">
            <a:avLst/>
          </a:prstGeom>
          <a:noFill/>
          <a:ln/>
        </p:spPr>
        <p:txBody>
          <a:bodyPr wrap="square" lIns="0" tIns="0" rIns="0" bIns="0" rtlCol="0" anchor="ctr"/>
          <a:lstStyle/>
          <a:p>
            <a:pPr indent="0" marL="0">
              <a:buNone/>
            </a:pPr>
            <a:r>
              <a:rPr lang="en-US" sz="1200" b="1" spc="200" kern="0" dirty="0">
                <a:solidFill>
                  <a:srgbClr val="B8722A"/>
                </a:solidFill>
                <a:latin typeface="Calibri" pitchFamily="34" charset="0"/>
                <a:ea typeface="Calibri" pitchFamily="34" charset="-122"/>
                <a:cs typeface="Calibri" pitchFamily="34" charset="-120"/>
              </a:rPr>
              <a:t>CONCEPT 7 OF 7</a:t>
            </a:r>
            <a:endParaRPr lang="en-US" sz="1200" dirty="0"/>
          </a:p>
        </p:txBody>
      </p:sp>
      <p:sp>
        <p:nvSpPr>
          <p:cNvPr id="6" name="Text 3"/>
          <p:cNvSpPr/>
          <p:nvPr/>
        </p:nvSpPr>
        <p:spPr>
          <a:xfrm>
            <a:off x="1234440" y="731520"/>
            <a:ext cx="5486400" cy="548640"/>
          </a:xfrm>
          <a:prstGeom prst="rect">
            <a:avLst/>
          </a:prstGeom>
          <a:noFill/>
          <a:ln/>
        </p:spPr>
        <p:txBody>
          <a:bodyPr wrap="square" lIns="0" tIns="0" rIns="0" bIns="0" rtlCol="0" anchor="ctr"/>
          <a:lstStyle/>
          <a:p>
            <a:pPr indent="0" marL="0">
              <a:buNone/>
            </a:pPr>
            <a:r>
              <a:rPr lang="en-US" sz="3600" b="1" dirty="0">
                <a:solidFill>
                  <a:srgbClr val="1C1C1E"/>
                </a:solidFill>
                <a:latin typeface="Cambria" pitchFamily="34" charset="0"/>
                <a:ea typeface="Cambria" pitchFamily="34" charset="-122"/>
                <a:cs typeface="Cambria" pitchFamily="34" charset="-120"/>
              </a:rPr>
              <a:t>Automation</a:t>
            </a:r>
            <a:endParaRPr lang="en-US" sz="3600" dirty="0"/>
          </a:p>
        </p:txBody>
      </p:sp>
      <p:sp>
        <p:nvSpPr>
          <p:cNvPr id="7" name="Text 4"/>
          <p:cNvSpPr/>
          <p:nvPr/>
        </p:nvSpPr>
        <p:spPr>
          <a:xfrm>
            <a:off x="548640" y="1508760"/>
            <a:ext cx="5120640" cy="274320"/>
          </a:xfrm>
          <a:prstGeom prst="rect">
            <a:avLst/>
          </a:prstGeom>
          <a:noFill/>
          <a:ln/>
        </p:spPr>
        <p:txBody>
          <a:bodyPr wrap="square" lIns="0" tIns="0" rIns="0" bIns="0" rtlCol="0" anchor="ctr"/>
          <a:lstStyle/>
          <a:p>
            <a:pPr indent="0" marL="0">
              <a:buNone/>
            </a:pPr>
            <a:r>
              <a:rPr lang="en-US" sz="1200" b="1" spc="150" kern="0" dirty="0">
                <a:solidFill>
                  <a:srgbClr val="6B6B6B"/>
                </a:solidFill>
                <a:latin typeface="Calibri" pitchFamily="34" charset="0"/>
                <a:ea typeface="Calibri" pitchFamily="34" charset="-122"/>
                <a:cs typeface="Calibri" pitchFamily="34" charset="-120"/>
              </a:rPr>
              <a:t>WHAT IT MEANS</a:t>
            </a:r>
            <a:endParaRPr lang="en-US" sz="1200" dirty="0"/>
          </a:p>
        </p:txBody>
      </p:sp>
      <p:sp>
        <p:nvSpPr>
          <p:cNvPr id="8" name="Text 5"/>
          <p:cNvSpPr/>
          <p:nvPr/>
        </p:nvSpPr>
        <p:spPr>
          <a:xfrm>
            <a:off x="548640" y="1810512"/>
            <a:ext cx="5120640" cy="2880360"/>
          </a:xfrm>
          <a:prstGeom prst="rect">
            <a:avLst/>
          </a:prstGeom>
          <a:noFill/>
          <a:ln/>
        </p:spPr>
        <p:txBody>
          <a:bodyPr wrap="square" lIns="0" tIns="0" rIns="0" bIns="0" rtlCol="0" anchor="t"/>
          <a:lstStyle/>
          <a:p>
            <a:pPr indent="0" marL="0">
              <a:lnSpc>
                <a:spcPct val="128000"/>
              </a:lnSpc>
              <a:buNone/>
            </a:pPr>
            <a:r>
              <a:rPr lang="en-US" sz="1450" dirty="0">
                <a:solidFill>
                  <a:srgbClr val="2B2B2B"/>
                </a:solidFill>
                <a:latin typeface="Calibri" pitchFamily="34" charset="0"/>
                <a:ea typeface="Calibri" pitchFamily="34" charset="-122"/>
                <a:cs typeface="Calibri" pitchFamily="34" charset="-120"/>
              </a:rPr>
              <a:t>Automation means letting editing software analyze a photo and automatically set gamma, contrast, brightness, sharpness and exposure for you, using built-in algorithms instead of moving every slider by hand. It's a fast, one-click starting point — you can always fine-tune the result afterward.</a:t>
            </a:r>
            <a:endParaRPr lang="en-US" sz="1450" dirty="0"/>
          </a:p>
        </p:txBody>
      </p:sp>
      <p:pic>
        <p:nvPicPr>
          <p:cNvPr id="9" name="Image 1" descr="/tmp/claude-0/-home-user-my-professional-documents/761a0e51-6ede-5ab3-921e-f28404666753/scratchpad/photo_deck/assets/automation.png">    </p:cNvPr>
          <p:cNvPicPr>
            <a:picLocks noChangeAspect="1"/>
          </p:cNvPicPr>
          <p:nvPr/>
        </p:nvPicPr>
        <p:blipFill>
          <a:blip r:embed="rId2"/>
          <a:stretch>
            <a:fillRect/>
          </a:stretch>
        </p:blipFill>
        <p:spPr>
          <a:xfrm>
            <a:off x="5989320" y="1051560"/>
            <a:ext cx="5623560" cy="3611880"/>
          </a:xfrm>
          <a:prstGeom prst="rect">
            <a:avLst/>
          </a:prstGeom>
        </p:spPr>
      </p:pic>
      <p:sp>
        <p:nvSpPr>
          <p:cNvPr id="10" name="Shape 6"/>
          <p:cNvSpPr/>
          <p:nvPr/>
        </p:nvSpPr>
        <p:spPr>
          <a:xfrm>
            <a:off x="548640" y="5074920"/>
            <a:ext cx="11064240" cy="1234440"/>
          </a:xfrm>
          <a:prstGeom prst="roundRect">
            <a:avLst>
              <a:gd name="adj" fmla="val 5926"/>
            </a:avLst>
          </a:prstGeom>
          <a:solidFill>
            <a:srgbClr val="F2F2F2"/>
          </a:solidFill>
          <a:ln/>
        </p:spPr>
      </p:sp>
      <p:sp>
        <p:nvSpPr>
          <p:cNvPr id="11" name="Shape 7"/>
          <p:cNvSpPr/>
          <p:nvPr/>
        </p:nvSpPr>
        <p:spPr>
          <a:xfrm>
            <a:off x="822960" y="5367528"/>
            <a:ext cx="640080" cy="640080"/>
          </a:xfrm>
          <a:prstGeom prst="ellipse">
            <a:avLst/>
          </a:prstGeom>
          <a:solidFill>
            <a:srgbClr val="1C1C1E"/>
          </a:solidFill>
          <a:ln/>
        </p:spPr>
      </p:sp>
      <p:sp>
        <p:nvSpPr>
          <p:cNvPr id="12" name="Text 8"/>
          <p:cNvSpPr/>
          <p:nvPr/>
        </p:nvSpPr>
        <p:spPr>
          <a:xfrm>
            <a:off x="822960" y="5367528"/>
            <a:ext cx="640080" cy="640080"/>
          </a:xfrm>
          <a:prstGeom prst="rect">
            <a:avLst/>
          </a:prstGeom>
          <a:noFill/>
          <a:ln/>
        </p:spPr>
        <p:txBody>
          <a:bodyPr wrap="square" lIns="0" tIns="0" rIns="0" bIns="0" rtlCol="0" anchor="ctr"/>
          <a:lstStyle/>
          <a:p>
            <a:pPr algn="ctr" indent="0" marL="0">
              <a:buNone/>
            </a:pPr>
            <a:r>
              <a:rPr lang="en-US" sz="1100" b="1" dirty="0">
                <a:solidFill>
                  <a:srgbClr val="E8A33D"/>
                </a:solidFill>
                <a:latin typeface="Calibri" pitchFamily="34" charset="0"/>
                <a:ea typeface="Calibri" pitchFamily="34" charset="-122"/>
                <a:cs typeface="Calibri" pitchFamily="34" charset="-120"/>
              </a:rPr>
              <a:t>TIP</a:t>
            </a:r>
            <a:endParaRPr lang="en-US" sz="1100" dirty="0"/>
          </a:p>
        </p:txBody>
      </p:sp>
      <p:sp>
        <p:nvSpPr>
          <p:cNvPr id="13" name="Text 9"/>
          <p:cNvSpPr/>
          <p:nvPr/>
        </p:nvSpPr>
        <p:spPr>
          <a:xfrm>
            <a:off x="1691640" y="5193792"/>
            <a:ext cx="3657600" cy="274320"/>
          </a:xfrm>
          <a:prstGeom prst="rect">
            <a:avLst/>
          </a:prstGeom>
          <a:noFill/>
          <a:ln/>
        </p:spPr>
        <p:txBody>
          <a:bodyPr wrap="square" lIns="0" tIns="0" rIns="0" bIns="0" rtlCol="0" anchor="ctr"/>
          <a:lstStyle/>
          <a:p>
            <a:pPr indent="0" marL="0">
              <a:buNone/>
            </a:pPr>
            <a:r>
              <a:rPr lang="en-US" sz="1200" b="1" dirty="0">
                <a:solidFill>
                  <a:srgbClr val="B8722A"/>
                </a:solidFill>
                <a:latin typeface="Calibri" pitchFamily="34" charset="0"/>
                <a:ea typeface="Calibri" pitchFamily="34" charset="-122"/>
                <a:cs typeface="Calibri" pitchFamily="34" charset="-120"/>
              </a:rPr>
              <a:t>Try it now</a:t>
            </a:r>
            <a:endParaRPr lang="en-US" sz="1200" dirty="0"/>
          </a:p>
        </p:txBody>
      </p:sp>
      <p:sp>
        <p:nvSpPr>
          <p:cNvPr id="14" name="Text 10"/>
          <p:cNvSpPr/>
          <p:nvPr/>
        </p:nvSpPr>
        <p:spPr>
          <a:xfrm>
            <a:off x="1691640" y="5440680"/>
            <a:ext cx="9646920" cy="822960"/>
          </a:xfrm>
          <a:prstGeom prst="rect">
            <a:avLst/>
          </a:prstGeom>
          <a:noFill/>
          <a:ln/>
        </p:spPr>
        <p:txBody>
          <a:bodyPr wrap="square" lIns="0" tIns="0" rIns="0" bIns="0" rtlCol="0" anchor="t"/>
          <a:lstStyle/>
          <a:p>
            <a:pPr indent="0" marL="0">
              <a:lnSpc>
                <a:spcPct val="118000"/>
              </a:lnSpc>
              <a:buNone/>
            </a:pPr>
            <a:r>
              <a:rPr lang="en-US" sz="1250" dirty="0">
                <a:solidFill>
                  <a:srgbClr val="2B2B2B"/>
                </a:solidFill>
                <a:latin typeface="Calibri" pitchFamily="34" charset="0"/>
                <a:ea typeface="Calibri" pitchFamily="34" charset="-122"/>
                <a:cs typeface="Calibri" pitchFamily="34" charset="-120"/>
              </a:rPr>
              <a:t>DxO PhotoLab: Smart Lighting and ClearView Plus auto-analyze each photo's histogram to balance light and haze in a single click. Lightroom's “Auto” button and Photoshop's Auto Tone/Contrast/Color do the same job — a great first pass, not necessarily the final word.</a:t>
            </a:r>
            <a:endParaRPr lang="en-US" sz="1250" dirty="0"/>
          </a:p>
        </p:txBody>
      </p:sp>
      <p:sp>
        <p:nvSpPr>
          <p:cNvPr id="15" name="Text 11"/>
          <p:cNvSpPr/>
          <p:nvPr/>
        </p:nvSpPr>
        <p:spPr>
          <a:xfrm>
            <a:off x="11247120" y="6537960"/>
            <a:ext cx="64008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7 / 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C1C1E"/>
        </a:solidFill>
      </p:bgPr>
    </p:bg>
    <p:spTree>
      <p:nvGrpSpPr>
        <p:cNvPr id="1" name=""/>
        <p:cNvGrpSpPr/>
        <p:nvPr/>
      </p:nvGrpSpPr>
      <p:grpSpPr>
        <a:xfrm>
          <a:off x="0" y="0"/>
          <a:ext cx="0" cy="0"/>
          <a:chOff x="0" y="0"/>
          <a:chExt cx="0" cy="0"/>
        </a:xfrm>
      </p:grpSpPr>
      <p:pic>
        <p:nvPicPr>
          <p:cNvPr id="2" name="Image 0" descr="/tmp/claude-0/-home-user-my-professional-documents/761a0e51-6ede-5ab3-921e-f28404666753/scratchpad/photo_deck/assets/aperture_doodle_dark.png">    </p:cNvPr>
          <p:cNvPicPr>
            <a:picLocks noChangeAspect="1"/>
          </p:cNvPicPr>
          <p:nvPr/>
        </p:nvPicPr>
        <p:blipFill>
          <a:blip r:embed="rId1">
            <a:alphaModFix amt="20000"/>
          </a:blip>
          <a:stretch>
            <a:fillRect/>
          </a:stretch>
        </p:blipFill>
        <p:spPr>
          <a:xfrm>
            <a:off x="9418320" y="-914400"/>
            <a:ext cx="3291840" cy="3291840"/>
          </a:xfrm>
          <a:prstGeom prst="rect">
            <a:avLst/>
          </a:prstGeom>
        </p:spPr>
      </p:pic>
      <p:sp>
        <p:nvSpPr>
          <p:cNvPr id="3" name="Text 0"/>
          <p:cNvSpPr/>
          <p:nvPr/>
        </p:nvSpPr>
        <p:spPr>
          <a:xfrm>
            <a:off x="640080" y="457200"/>
            <a:ext cx="5486400" cy="32004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BRINGING IT TOGETHER</a:t>
            </a:r>
            <a:endParaRPr lang="en-US" sz="1300" dirty="0"/>
          </a:p>
        </p:txBody>
      </p:sp>
      <p:sp>
        <p:nvSpPr>
          <p:cNvPr id="4" name="Text 1"/>
          <p:cNvSpPr/>
          <p:nvPr/>
        </p:nvSpPr>
        <p:spPr>
          <a:xfrm>
            <a:off x="594360" y="749808"/>
            <a:ext cx="914400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Automating Your Edits</a:t>
            </a:r>
            <a:endParaRPr lang="en-US" sz="3400" dirty="0"/>
          </a:p>
        </p:txBody>
      </p:sp>
      <p:sp>
        <p:nvSpPr>
          <p:cNvPr id="5" name="Text 2"/>
          <p:cNvSpPr/>
          <p:nvPr/>
        </p:nvSpPr>
        <p:spPr>
          <a:xfrm>
            <a:off x="640080" y="1371600"/>
            <a:ext cx="10515600" cy="41148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How auto-adjustments handle gamma, contrast, brightness, sharpness and exposure in three popular tools.</a:t>
            </a:r>
            <a:endParaRPr lang="en-US" sz="1400" dirty="0"/>
          </a:p>
        </p:txBody>
      </p:sp>
      <p:sp>
        <p:nvSpPr>
          <p:cNvPr id="6" name="Shape 3"/>
          <p:cNvSpPr/>
          <p:nvPr/>
        </p:nvSpPr>
        <p:spPr>
          <a:xfrm>
            <a:off x="640080" y="1965960"/>
            <a:ext cx="3538728" cy="3703320"/>
          </a:xfrm>
          <a:prstGeom prst="roundRect">
            <a:avLst>
              <a:gd name="adj" fmla="val 1550"/>
            </a:avLst>
          </a:prstGeom>
          <a:solidFill>
            <a:srgbClr val="2A2A2D"/>
          </a:solidFill>
          <a:ln/>
        </p:spPr>
      </p:sp>
      <p:sp>
        <p:nvSpPr>
          <p:cNvPr id="7" name="Shape 4"/>
          <p:cNvSpPr/>
          <p:nvPr/>
        </p:nvSpPr>
        <p:spPr>
          <a:xfrm>
            <a:off x="896112" y="2221992"/>
            <a:ext cx="512064" cy="512064"/>
          </a:xfrm>
          <a:prstGeom prst="ellipse">
            <a:avLst/>
          </a:prstGeom>
          <a:solidFill>
            <a:srgbClr val="E8A33D"/>
          </a:solidFill>
          <a:ln/>
        </p:spPr>
      </p:sp>
      <p:sp>
        <p:nvSpPr>
          <p:cNvPr id="8" name="Text 5"/>
          <p:cNvSpPr/>
          <p:nvPr/>
        </p:nvSpPr>
        <p:spPr>
          <a:xfrm>
            <a:off x="896112" y="2221992"/>
            <a:ext cx="512064" cy="512064"/>
          </a:xfrm>
          <a:prstGeom prst="rect">
            <a:avLst/>
          </a:prstGeom>
          <a:noFill/>
          <a:ln/>
        </p:spPr>
        <p:txBody>
          <a:bodyPr wrap="square" lIns="0" tIns="0" rIns="0" bIns="0" rtlCol="0" anchor="ctr"/>
          <a:lstStyle/>
          <a:p>
            <a:pPr algn="ctr" indent="0" marL="0">
              <a:buNone/>
            </a:pPr>
            <a:r>
              <a:rPr lang="en-US" sz="2000" b="1" dirty="0">
                <a:solidFill>
                  <a:srgbClr val="1C1C1E"/>
                </a:solidFill>
                <a:latin typeface="Calibri" pitchFamily="34" charset="0"/>
                <a:ea typeface="Calibri" pitchFamily="34" charset="-122"/>
                <a:cs typeface="Calibri" pitchFamily="34" charset="-120"/>
              </a:rPr>
              <a:t>1</a:t>
            </a:r>
            <a:endParaRPr lang="en-US" sz="2000" dirty="0"/>
          </a:p>
        </p:txBody>
      </p:sp>
      <p:sp>
        <p:nvSpPr>
          <p:cNvPr id="9" name="Text 6"/>
          <p:cNvSpPr/>
          <p:nvPr/>
        </p:nvSpPr>
        <p:spPr>
          <a:xfrm>
            <a:off x="896112" y="2862072"/>
            <a:ext cx="3026664" cy="4114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DxO PhotoLab</a:t>
            </a:r>
            <a:endParaRPr lang="en-US" sz="1900" dirty="0"/>
          </a:p>
        </p:txBody>
      </p:sp>
      <p:sp>
        <p:nvSpPr>
          <p:cNvPr id="10" name="Text 7"/>
          <p:cNvSpPr/>
          <p:nvPr/>
        </p:nvSpPr>
        <p:spPr>
          <a:xfrm>
            <a:off x="896112" y="3383280"/>
            <a:ext cx="3026664" cy="2057400"/>
          </a:xfrm>
          <a:prstGeom prst="rect">
            <a:avLst/>
          </a:prstGeom>
          <a:noFill/>
          <a:ln/>
        </p:spPr>
        <p:txBody>
          <a:bodyPr wrap="square" lIns="0" tIns="0" rIns="0" bIns="0" rtlCol="0" anchor="t"/>
          <a:lstStyle/>
          <a:p>
            <a:pPr marL="177800" indent="-177800">
              <a:lnSpc>
                <a:spcPct val="118000"/>
              </a:lnSpc>
              <a:spcAft>
                <a:spcPts val="1000"/>
              </a:spcAft>
              <a:buSzPct val="100000"/>
              <a:buChar char="•"/>
            </a:pPr>
            <a:r>
              <a:rPr lang="en-US" sz="1250" dirty="0">
                <a:solidFill>
                  <a:srgbClr val="F2F2F2"/>
                </a:solidFill>
                <a:latin typeface="Calibri" pitchFamily="34" charset="0"/>
                <a:ea typeface="Calibri" pitchFamily="34" charset="-122"/>
                <a:cs typeface="Calibri" pitchFamily="34" charset="-120"/>
              </a:rPr>
              <a:t>Smart Lighting — auto-balances exposure &amp; contrast using HSP tech</a:t>
            </a:r>
            <a:endParaRPr lang="en-US" sz="1250" dirty="0"/>
          </a:p>
          <a:p>
            <a:pPr marL="177800" indent="-177800">
              <a:lnSpc>
                <a:spcPct val="118000"/>
              </a:lnSpc>
              <a:spcAft>
                <a:spcPts val="1000"/>
              </a:spcAft>
              <a:buSzPct val="100000"/>
              <a:buChar char="•"/>
            </a:pPr>
            <a:r>
              <a:rPr lang="en-US" sz="1250" dirty="0">
                <a:solidFill>
                  <a:srgbClr val="F2F2F2"/>
                </a:solidFill>
                <a:latin typeface="Calibri" pitchFamily="34" charset="0"/>
                <a:ea typeface="Calibri" pitchFamily="34" charset="-122"/>
                <a:cs typeface="Calibri" pitchFamily="34" charset="-120"/>
              </a:rPr>
              <a:t>ClearView Plus — one-click haze &amp; local-contrast removal</a:t>
            </a:r>
            <a:endParaRPr lang="en-US" sz="1250" dirty="0"/>
          </a:p>
          <a:p>
            <a:pPr marL="177800" indent="-177800">
              <a:lnSpc>
                <a:spcPct val="118000"/>
              </a:lnSpc>
              <a:spcAft>
                <a:spcPts val="1000"/>
              </a:spcAft>
              <a:buSzPct val="100000"/>
              <a:buChar char="•"/>
            </a:pPr>
            <a:r>
              <a:rPr lang="en-US" sz="1250" dirty="0">
                <a:solidFill>
                  <a:srgbClr val="F2F2F2"/>
                </a:solidFill>
                <a:latin typeface="Calibri" pitchFamily="34" charset="0"/>
                <a:ea typeface="Calibri" pitchFamily="34" charset="-122"/>
                <a:cs typeface="Calibri" pitchFamily="34" charset="-120"/>
              </a:rPr>
              <a:t>DeepPRIME — auto denoise + sharpening straight from RAW</a:t>
            </a:r>
            <a:endParaRPr lang="en-US" sz="1250" dirty="0"/>
          </a:p>
        </p:txBody>
      </p:sp>
      <p:sp>
        <p:nvSpPr>
          <p:cNvPr id="11" name="Shape 8"/>
          <p:cNvSpPr/>
          <p:nvPr/>
        </p:nvSpPr>
        <p:spPr>
          <a:xfrm>
            <a:off x="4398264" y="1965960"/>
            <a:ext cx="3538728" cy="3703320"/>
          </a:xfrm>
          <a:prstGeom prst="roundRect">
            <a:avLst>
              <a:gd name="adj" fmla="val 1550"/>
            </a:avLst>
          </a:prstGeom>
          <a:solidFill>
            <a:srgbClr val="2A2A2D"/>
          </a:solidFill>
          <a:ln/>
        </p:spPr>
      </p:sp>
      <p:sp>
        <p:nvSpPr>
          <p:cNvPr id="12" name="Shape 9"/>
          <p:cNvSpPr/>
          <p:nvPr/>
        </p:nvSpPr>
        <p:spPr>
          <a:xfrm>
            <a:off x="4654296" y="2221992"/>
            <a:ext cx="512064" cy="512064"/>
          </a:xfrm>
          <a:prstGeom prst="ellipse">
            <a:avLst/>
          </a:prstGeom>
          <a:solidFill>
            <a:srgbClr val="E8A33D"/>
          </a:solidFill>
          <a:ln/>
        </p:spPr>
      </p:sp>
      <p:sp>
        <p:nvSpPr>
          <p:cNvPr id="13" name="Text 10"/>
          <p:cNvSpPr/>
          <p:nvPr/>
        </p:nvSpPr>
        <p:spPr>
          <a:xfrm>
            <a:off x="4654296" y="2221992"/>
            <a:ext cx="512064" cy="512064"/>
          </a:xfrm>
          <a:prstGeom prst="rect">
            <a:avLst/>
          </a:prstGeom>
          <a:noFill/>
          <a:ln/>
        </p:spPr>
        <p:txBody>
          <a:bodyPr wrap="square" lIns="0" tIns="0" rIns="0" bIns="0" rtlCol="0" anchor="ctr"/>
          <a:lstStyle/>
          <a:p>
            <a:pPr algn="ctr" indent="0" marL="0">
              <a:buNone/>
            </a:pPr>
            <a:r>
              <a:rPr lang="en-US" sz="2000" b="1" dirty="0">
                <a:solidFill>
                  <a:srgbClr val="1C1C1E"/>
                </a:solidFill>
                <a:latin typeface="Calibri" pitchFamily="34" charset="0"/>
                <a:ea typeface="Calibri" pitchFamily="34" charset="-122"/>
                <a:cs typeface="Calibri" pitchFamily="34" charset="-120"/>
              </a:rPr>
              <a:t>2</a:t>
            </a:r>
            <a:endParaRPr lang="en-US" sz="2000" dirty="0"/>
          </a:p>
        </p:txBody>
      </p:sp>
      <p:sp>
        <p:nvSpPr>
          <p:cNvPr id="14" name="Text 11"/>
          <p:cNvSpPr/>
          <p:nvPr/>
        </p:nvSpPr>
        <p:spPr>
          <a:xfrm>
            <a:off x="4654296" y="2862072"/>
            <a:ext cx="3026664" cy="4114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Adobe Lightroom</a:t>
            </a:r>
            <a:endParaRPr lang="en-US" sz="1900" dirty="0"/>
          </a:p>
        </p:txBody>
      </p:sp>
      <p:sp>
        <p:nvSpPr>
          <p:cNvPr id="15" name="Text 12"/>
          <p:cNvSpPr/>
          <p:nvPr/>
        </p:nvSpPr>
        <p:spPr>
          <a:xfrm>
            <a:off x="4654296" y="3383280"/>
            <a:ext cx="3026664" cy="2057400"/>
          </a:xfrm>
          <a:prstGeom prst="rect">
            <a:avLst/>
          </a:prstGeom>
          <a:noFill/>
          <a:ln/>
        </p:spPr>
        <p:txBody>
          <a:bodyPr wrap="square" lIns="0" tIns="0" rIns="0" bIns="0" rtlCol="0" anchor="t"/>
          <a:lstStyle/>
          <a:p>
            <a:pPr marL="177800" indent="-177800">
              <a:lnSpc>
                <a:spcPct val="118000"/>
              </a:lnSpc>
              <a:spcAft>
                <a:spcPts val="1000"/>
              </a:spcAft>
              <a:buSzPct val="100000"/>
              <a:buChar char="•"/>
            </a:pPr>
            <a:r>
              <a:rPr lang="en-US" sz="1250" dirty="0">
                <a:solidFill>
                  <a:srgbClr val="F2F2F2"/>
                </a:solidFill>
                <a:latin typeface="Calibri" pitchFamily="34" charset="0"/>
                <a:ea typeface="Calibri" pitchFamily="34" charset="-122"/>
                <a:cs typeface="Calibri" pitchFamily="34" charset="-120"/>
              </a:rPr>
              <a:t>“Auto” button (Basic panel) sets exposure, contrast, highlights, shadows, whites &amp; blacks together</a:t>
            </a:r>
            <a:endParaRPr lang="en-US" sz="1250" dirty="0"/>
          </a:p>
          <a:p>
            <a:pPr marL="177800" indent="-177800">
              <a:lnSpc>
                <a:spcPct val="118000"/>
              </a:lnSpc>
              <a:spcAft>
                <a:spcPts val="1000"/>
              </a:spcAft>
              <a:buSzPct val="100000"/>
              <a:buChar char="•"/>
            </a:pPr>
            <a:r>
              <a:rPr lang="en-US" sz="1250" dirty="0">
                <a:solidFill>
                  <a:srgbClr val="F2F2F2"/>
                </a:solidFill>
                <a:latin typeface="Calibri" pitchFamily="34" charset="0"/>
                <a:ea typeface="Calibri" pitchFamily="34" charset="-122"/>
                <a:cs typeface="Calibri" pitchFamily="34" charset="-120"/>
              </a:rPr>
              <a:t>Auto White Balance for a neutral starting color</a:t>
            </a:r>
            <a:endParaRPr lang="en-US" sz="1250" dirty="0"/>
          </a:p>
          <a:p>
            <a:pPr marL="177800" indent="-177800">
              <a:lnSpc>
                <a:spcPct val="118000"/>
              </a:lnSpc>
              <a:spcAft>
                <a:spcPts val="1000"/>
              </a:spcAft>
              <a:buSzPct val="100000"/>
              <a:buChar char="•"/>
            </a:pPr>
            <a:r>
              <a:rPr lang="en-US" sz="1250" dirty="0">
                <a:solidFill>
                  <a:srgbClr val="F2F2F2"/>
                </a:solidFill>
                <a:latin typeface="Calibri" pitchFamily="34" charset="0"/>
                <a:ea typeface="Calibri" pitchFamily="34" charset="-122"/>
                <a:cs typeface="Calibri" pitchFamily="34" charset="-120"/>
              </a:rPr>
              <a:t>Auto Mask/Select Subject to speed up local edits</a:t>
            </a:r>
            <a:endParaRPr lang="en-US" sz="1250" dirty="0"/>
          </a:p>
        </p:txBody>
      </p:sp>
      <p:sp>
        <p:nvSpPr>
          <p:cNvPr id="16" name="Shape 13"/>
          <p:cNvSpPr/>
          <p:nvPr/>
        </p:nvSpPr>
        <p:spPr>
          <a:xfrm>
            <a:off x="8156448" y="1965960"/>
            <a:ext cx="3538728" cy="3703320"/>
          </a:xfrm>
          <a:prstGeom prst="roundRect">
            <a:avLst>
              <a:gd name="adj" fmla="val 1550"/>
            </a:avLst>
          </a:prstGeom>
          <a:solidFill>
            <a:srgbClr val="2A2A2D"/>
          </a:solidFill>
          <a:ln/>
        </p:spPr>
      </p:sp>
      <p:sp>
        <p:nvSpPr>
          <p:cNvPr id="17" name="Shape 14"/>
          <p:cNvSpPr/>
          <p:nvPr/>
        </p:nvSpPr>
        <p:spPr>
          <a:xfrm>
            <a:off x="8412480" y="2221992"/>
            <a:ext cx="512064" cy="512064"/>
          </a:xfrm>
          <a:prstGeom prst="ellipse">
            <a:avLst/>
          </a:prstGeom>
          <a:solidFill>
            <a:srgbClr val="E8A33D"/>
          </a:solidFill>
          <a:ln/>
        </p:spPr>
      </p:sp>
      <p:sp>
        <p:nvSpPr>
          <p:cNvPr id="18" name="Text 15"/>
          <p:cNvSpPr/>
          <p:nvPr/>
        </p:nvSpPr>
        <p:spPr>
          <a:xfrm>
            <a:off x="8412480" y="2221992"/>
            <a:ext cx="512064" cy="512064"/>
          </a:xfrm>
          <a:prstGeom prst="rect">
            <a:avLst/>
          </a:prstGeom>
          <a:noFill/>
          <a:ln/>
        </p:spPr>
        <p:txBody>
          <a:bodyPr wrap="square" lIns="0" tIns="0" rIns="0" bIns="0" rtlCol="0" anchor="ctr"/>
          <a:lstStyle/>
          <a:p>
            <a:pPr algn="ctr" indent="0" marL="0">
              <a:buNone/>
            </a:pPr>
            <a:r>
              <a:rPr lang="en-US" sz="2000" b="1" dirty="0">
                <a:solidFill>
                  <a:srgbClr val="1C1C1E"/>
                </a:solidFill>
                <a:latin typeface="Calibri" pitchFamily="34" charset="0"/>
                <a:ea typeface="Calibri" pitchFamily="34" charset="-122"/>
                <a:cs typeface="Calibri" pitchFamily="34" charset="-120"/>
              </a:rPr>
              <a:t>3</a:t>
            </a:r>
            <a:endParaRPr lang="en-US" sz="2000" dirty="0"/>
          </a:p>
        </p:txBody>
      </p:sp>
      <p:sp>
        <p:nvSpPr>
          <p:cNvPr id="19" name="Text 16"/>
          <p:cNvSpPr/>
          <p:nvPr/>
        </p:nvSpPr>
        <p:spPr>
          <a:xfrm>
            <a:off x="8412480" y="2862072"/>
            <a:ext cx="3026664" cy="4114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Adobe Photoshop</a:t>
            </a:r>
            <a:endParaRPr lang="en-US" sz="1900" dirty="0"/>
          </a:p>
        </p:txBody>
      </p:sp>
      <p:sp>
        <p:nvSpPr>
          <p:cNvPr id="20" name="Text 17"/>
          <p:cNvSpPr/>
          <p:nvPr/>
        </p:nvSpPr>
        <p:spPr>
          <a:xfrm>
            <a:off x="8412480" y="3383280"/>
            <a:ext cx="3026664" cy="2057400"/>
          </a:xfrm>
          <a:prstGeom prst="rect">
            <a:avLst/>
          </a:prstGeom>
          <a:noFill/>
          <a:ln/>
        </p:spPr>
        <p:txBody>
          <a:bodyPr wrap="square" lIns="0" tIns="0" rIns="0" bIns="0" rtlCol="0" anchor="t"/>
          <a:lstStyle/>
          <a:p>
            <a:pPr marL="177800" indent="-177800">
              <a:lnSpc>
                <a:spcPct val="118000"/>
              </a:lnSpc>
              <a:spcAft>
                <a:spcPts val="1000"/>
              </a:spcAft>
              <a:buSzPct val="100000"/>
              <a:buChar char="•"/>
            </a:pPr>
            <a:r>
              <a:rPr lang="en-US" sz="1250" dirty="0">
                <a:solidFill>
                  <a:srgbClr val="F2F2F2"/>
                </a:solidFill>
                <a:latin typeface="Calibri" pitchFamily="34" charset="0"/>
                <a:ea typeface="Calibri" pitchFamily="34" charset="-122"/>
                <a:cs typeface="Calibri" pitchFamily="34" charset="-120"/>
              </a:rPr>
              <a:t>Image &gt; Auto Tone / Auto Contrast / Auto Color</a:t>
            </a:r>
            <a:endParaRPr lang="en-US" sz="1250" dirty="0"/>
          </a:p>
          <a:p>
            <a:pPr marL="177800" indent="-177800">
              <a:lnSpc>
                <a:spcPct val="118000"/>
              </a:lnSpc>
              <a:spcAft>
                <a:spcPts val="1000"/>
              </a:spcAft>
              <a:buSzPct val="100000"/>
              <a:buChar char="•"/>
            </a:pPr>
            <a:r>
              <a:rPr lang="en-US" sz="1250" dirty="0">
                <a:solidFill>
                  <a:srgbClr val="F2F2F2"/>
                </a:solidFill>
                <a:latin typeface="Calibri" pitchFamily="34" charset="0"/>
                <a:ea typeface="Calibri" pitchFamily="34" charset="-122"/>
                <a:cs typeface="Calibri" pitchFamily="34" charset="-120"/>
              </a:rPr>
              <a:t>Camera Raw filter's Auto button (same engine as Lightroom)</a:t>
            </a:r>
            <a:endParaRPr lang="en-US" sz="1250" dirty="0"/>
          </a:p>
          <a:p>
            <a:pPr marL="177800" indent="-177800">
              <a:lnSpc>
                <a:spcPct val="118000"/>
              </a:lnSpc>
              <a:spcAft>
                <a:spcPts val="1000"/>
              </a:spcAft>
              <a:buSzPct val="100000"/>
              <a:buChar char="•"/>
            </a:pPr>
            <a:r>
              <a:rPr lang="en-US" sz="1250" dirty="0">
                <a:solidFill>
                  <a:srgbClr val="F2F2F2"/>
                </a:solidFill>
                <a:latin typeface="Calibri" pitchFamily="34" charset="0"/>
                <a:ea typeface="Calibri" pitchFamily="34" charset="-122"/>
                <a:cs typeface="Calibri" pitchFamily="34" charset="-120"/>
              </a:rPr>
              <a:t>Neural Filters for auto skin-smoothing &amp; portrait light</a:t>
            </a:r>
            <a:endParaRPr lang="en-US" sz="1250" dirty="0"/>
          </a:p>
        </p:txBody>
      </p:sp>
      <p:sp>
        <p:nvSpPr>
          <p:cNvPr id="21" name="Shape 18"/>
          <p:cNvSpPr/>
          <p:nvPr/>
        </p:nvSpPr>
        <p:spPr>
          <a:xfrm>
            <a:off x="640080" y="5852160"/>
            <a:ext cx="10881360" cy="621792"/>
          </a:xfrm>
          <a:prstGeom prst="roundRect">
            <a:avLst>
              <a:gd name="adj" fmla="val 8824"/>
            </a:avLst>
          </a:prstGeom>
          <a:solidFill>
            <a:srgbClr val="E8A33D"/>
          </a:solidFill>
          <a:ln/>
        </p:spPr>
      </p:sp>
      <p:sp>
        <p:nvSpPr>
          <p:cNvPr id="22" name="Text 19"/>
          <p:cNvSpPr/>
          <p:nvPr/>
        </p:nvSpPr>
        <p:spPr>
          <a:xfrm>
            <a:off x="868680" y="5852160"/>
            <a:ext cx="10424160" cy="621792"/>
          </a:xfrm>
          <a:prstGeom prst="rect">
            <a:avLst/>
          </a:prstGeom>
          <a:noFill/>
          <a:ln/>
        </p:spPr>
        <p:txBody>
          <a:bodyPr wrap="square" lIns="0" tIns="0" rIns="0" bIns="0" rtlCol="0" anchor="ctr"/>
          <a:lstStyle/>
          <a:p>
            <a:pPr indent="0" marL="0">
              <a:buNone/>
            </a:pPr>
            <a:r>
              <a:rPr lang="en-US" sz="1350" b="1" dirty="0">
                <a:solidFill>
                  <a:srgbClr val="1C1C1E"/>
                </a:solidFill>
                <a:latin typeface="Calibri" pitchFamily="34" charset="0"/>
                <a:ea typeface="Calibri" pitchFamily="34" charset="-122"/>
                <a:cs typeface="Calibri" pitchFamily="34" charset="-120"/>
              </a:rPr>
              <a:t>Auto is a starting point, not a finish line — always check the histogram and zoom to 100% before you export.</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Photography Fundamentals: Bite-Sized Tutorial</dc:title>
  <dc:subject>PptxGenJS Presentation</dc:subject>
  <dc:creator>Photography Fundamentals Tutorial</dc:creator>
  <cp:lastModifiedBy>Photography Fundamentals Tutorial</cp:lastModifiedBy>
  <cp:revision>1</cp:revision>
  <dcterms:created xsi:type="dcterms:W3CDTF">2026-07-17T15:02:33Z</dcterms:created>
  <dcterms:modified xsi:type="dcterms:W3CDTF">2026-07-17T15:02:33Z</dcterms:modified>
</cp:coreProperties>
</file>