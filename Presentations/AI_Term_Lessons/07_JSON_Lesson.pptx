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lesson assumes the viewer has seen Lessons 1-6 (Agent, Model, Memory, Skill, Hook, Workflow) - it treats those five terms as already-familiar vocabulary. If used standalone, add one sentence recapping "Workflow" before the hook, since JSON is framed as the data those steps pass to each other. Total runtime target: 2m50s narrated, stretchable to ~4m with pauses for doodles and a short live look at a browser's Network tab or Mistral Studio's own request/response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showing raw, deeply nested JSON on screen for beginners - this doodle intentionally uses only three pairs so the shape stays readable at a glance. Emphasize: this is exactly what moves between a Hook and an Agent, or an Agent and a Skill, in Lesson 6's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crux visual for the whole lesson - nearly every viewer has already seen labeled-field data in an address book or contact app, so hold it a beat longer than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delivering live, this is the easiest moment to actually show the audience something real: open dev tools, click Network, reload a page, and point at one JSON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one short and let the visual carry it - it's the simplest of the three analogies and mainly exists to introduce 'nesting' before the Mistral Studio example uses it implicitly.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for the Mistral Studio claims: general agent-platform data-interchange patterns (steps passing labeled JSON payloads to each other) - verify the exact current UI/feature name in Mistral Studio's own documentation before quoting it as a specific product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naming Lesson 8 explicitly: Python. If recording live, this is a natural spot for a 2-3 second pause before signing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EXPLAINED, PLAIN AND SIMPLE — LESSON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675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"JSON"?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Model, Memory, Skill, Hook, and Workflow have all been one piece at a time. JSON is the plain-text envelope those pieces use to actually hand data to each other.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777240"/>
            <a:ext cx="3931920" cy="53035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051560"/>
            <a:ext cx="914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0515600" y="1051560"/>
            <a:ext cx="914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}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8595360" y="29260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0F6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0" y="29260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ctr" indent="0" marL="0">
              <a:buNone/>
            </a:pPr>
            <a:r>
              <a:rPr lang="en-US" sz="1500" b="1" dirty="0">
                <a:solidFill>
                  <a:srgbClr val="0F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"Sourov"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DEFINITION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labeled envelope for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labeled pairs, "label": "value", wrapped in curly braces as one object — no person re-guessing what a value means.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has its own label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are wrapped together in { }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can itself be a nested list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15000" y="1554480"/>
            <a:ext cx="5577840" cy="3657600"/>
          </a:xfrm>
          <a:prstGeom prst="roundRect">
            <a:avLst>
              <a:gd name="adj" fmla="val 2500"/>
            </a:avLst>
          </a:prstGeom>
          <a:ln w="25400">
            <a:solidFill>
              <a:srgbClr val="0F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988820"/>
            <a:ext cx="1737360" cy="777240"/>
          </a:xfrm>
          <a:prstGeom prst="roundRect">
            <a:avLst>
              <a:gd name="adj" fmla="val 52941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9888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09560" y="19888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75320" y="1988820"/>
            <a:ext cx="2286000" cy="777240"/>
          </a:xfrm>
          <a:prstGeom prst="roundRect">
            <a:avLst>
              <a:gd name="adj" fmla="val 52941"/>
            </a:avLst>
          </a:prstGeom>
          <a:solidFill>
            <a:srgbClr val="0FA3A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19888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994660"/>
            <a:ext cx="1737360" cy="777240"/>
          </a:xfrm>
          <a:prstGeom prst="roundRect">
            <a:avLst>
              <a:gd name="adj" fmla="val 52941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9946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09560" y="299466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75320" y="2994660"/>
            <a:ext cx="2286000" cy="777240"/>
          </a:xfrm>
          <a:prstGeom prst="roundRect">
            <a:avLst>
              <a:gd name="adj" fmla="val 52941"/>
            </a:avLst>
          </a:prstGeom>
          <a:solidFill>
            <a:srgbClr val="0FA3A3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9946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report.pdf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4000500"/>
            <a:ext cx="1737360" cy="777240"/>
          </a:xfrm>
          <a:prstGeom prst="roundRect">
            <a:avLst>
              <a:gd name="adj" fmla="val 52941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40005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09560" y="40005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75320" y="4000500"/>
            <a:ext cx="2286000" cy="777240"/>
          </a:xfrm>
          <a:prstGeom prst="roundRect">
            <a:avLst>
              <a:gd name="adj" fmla="val 52941"/>
            </a:avLst>
          </a:prstGeom>
          <a:solidFill>
            <a:srgbClr val="0FA3A3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40005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SUITE ANALOGY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Outlook contact card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contact is never one blob of text - it's Name: , Email: , Phone: , each value sitting next to its own label. JSON writes that exact idea as text.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"name": "Sourov"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"email": "sourov@example.com"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- just typed so a computer can read it too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737360"/>
            <a:ext cx="42062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194560"/>
            <a:ext cx="914400" cy="914400"/>
          </a:xfrm>
          <a:prstGeom prst="ellipse">
            <a:avLst/>
          </a:prstGeom>
          <a:ln w="3175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47688" y="2395728"/>
            <a:ext cx="420624" cy="42062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3429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Sourov Deb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4023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sourov@example.com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4617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 •• •• •• ••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ANALOGY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browser already fetches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webpage's developer tools and click the Network tab. Most of what loads to build that page isn't more webpage - it's JSON.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page's code unpacks the JSON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uses it to draw what you see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using JSON without looking at 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23560" y="2697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2862072"/>
            <a:ext cx="128016" cy="12801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2862072"/>
            <a:ext cx="128016" cy="128016"/>
          </a:xfrm>
          <a:prstGeom prst="ellipse">
            <a:avLst/>
          </a:prstGeom>
          <a:solidFill>
            <a:srgbClr val="F0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862072"/>
            <a:ext cx="128016" cy="128016"/>
          </a:xfrm>
          <a:prstGeom prst="ellipse">
            <a:avLst/>
          </a:prstGeom>
          <a:solidFill>
            <a:srgbClr val="F0F6F6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154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5400000">
            <a:off x="7863840" y="3246120"/>
            <a:ext cx="246888" cy="274320"/>
          </a:xfrm>
          <a:prstGeom prst="triangle">
            <a:avLst/>
          </a:prstGeom>
          <a:solidFill>
            <a:srgbClr val="0FA3A3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697480"/>
            <a:ext cx="1371600" cy="1371600"/>
          </a:xfrm>
          <a:prstGeom prst="ellipse">
            <a:avLst/>
          </a:prstGeom>
          <a:solidFill>
            <a:srgbClr val="F0F6F6"/>
          </a:solidFill>
          <a:ln w="28575">
            <a:solidFill>
              <a:srgbClr val="0FA3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697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9921240" y="3246120"/>
            <a:ext cx="246888" cy="274320"/>
          </a:xfrm>
          <a:prstGeom prst="triangle">
            <a:avLst/>
          </a:prstGeom>
          <a:solidFill>
            <a:srgbClr val="0FA3A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269748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287000" y="26974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EVERYDAY-TASK ANALOGY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recipe card's ingredient list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"Ingredients:" isn't one value - it's a label pointing at a whole list: flour, eggs, milk.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can point at a list, not just one value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nests lists inside pairs the same way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have been doing this on paper for centuries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64592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2715768"/>
            <a:ext cx="109728" cy="10972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3264408"/>
            <a:ext cx="109728" cy="10972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3813048"/>
            <a:ext cx="109728" cy="10972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4206240"/>
            <a:ext cx="3291840" cy="594360"/>
          </a:xfrm>
          <a:prstGeom prst="roundRect">
            <a:avLst>
              <a:gd name="adj" fmla="val 46154"/>
            </a:avLst>
          </a:prstGeom>
          <a:solidFill>
            <a:srgbClr val="F0F6F6"/>
          </a:solidFill>
          <a:ln w="15875">
            <a:solidFill>
              <a:srgbClr val="0FA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4206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-&gt; a whole list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MISTRAL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handoff is JSON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Hook hands an Agent {"file": "report.pdf"}. The Agent hands a Skill {"status": "ready"}. Nobody types prose between steps.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in a Workflow carries a JSON package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labeled, easy for the next step to read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chain as Lesson 6 - now labeled with what's inside 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32120" y="1783080"/>
            <a:ext cx="5943600" cy="3200400"/>
          </a:xfrm>
          <a:prstGeom prst="roundRect">
            <a:avLst>
              <a:gd name="adj" fmla="val 2286"/>
            </a:avLst>
          </a:prstGeom>
          <a:ln w="317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97880" y="2903220"/>
            <a:ext cx="960120" cy="960120"/>
          </a:xfrm>
          <a:prstGeom prst="ellipse">
            <a:avLst/>
          </a:prstGeom>
          <a:ln w="28575">
            <a:solidFill>
              <a:srgbClr val="0F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29032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7086600" y="3282696"/>
            <a:ext cx="181051" cy="201168"/>
          </a:xfrm>
          <a:prstGeom prst="triangl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6775704" y="2816352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F2C94C"/>
          </a:solidFill>
          <a:ln/>
        </p:spPr>
      </p:sp>
      <p:sp>
        <p:nvSpPr>
          <p:cNvPr id="12" name="Text 10"/>
          <p:cNvSpPr/>
          <p:nvPr/>
        </p:nvSpPr>
        <p:spPr>
          <a:xfrm>
            <a:off x="6775704" y="281635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2903220"/>
            <a:ext cx="960120" cy="960120"/>
          </a:xfrm>
          <a:prstGeom prst="ellipse">
            <a:avLst/>
          </a:prstGeom>
          <a:ln w="28575">
            <a:solidFill>
              <a:srgbClr val="0FA3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29032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rot="5400000">
            <a:off x="8503920" y="3282696"/>
            <a:ext cx="181051" cy="201168"/>
          </a:xfrm>
          <a:prstGeom prst="triangl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93024" y="2816352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F2C94C"/>
          </a:solidFill>
          <a:ln/>
        </p:spPr>
      </p:sp>
      <p:sp>
        <p:nvSpPr>
          <p:cNvPr id="17" name="Text 15"/>
          <p:cNvSpPr/>
          <p:nvPr/>
        </p:nvSpPr>
        <p:spPr>
          <a:xfrm>
            <a:off x="8193024" y="281635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32520" y="2903220"/>
            <a:ext cx="960120" cy="960120"/>
          </a:xfrm>
          <a:prstGeom prst="ellipse">
            <a:avLst/>
          </a:prstGeom>
          <a:ln w="28575">
            <a:solidFill>
              <a:srgbClr val="0FA3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29032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rot="5400000">
            <a:off x="9921240" y="3282696"/>
            <a:ext cx="181051" cy="201168"/>
          </a:xfrm>
          <a:prstGeom prst="triangl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9610344" y="2816352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F2C94C"/>
          </a:solidFill>
          <a:ln/>
        </p:spPr>
      </p:sp>
      <p:sp>
        <p:nvSpPr>
          <p:cNvPr id="22" name="Text 20"/>
          <p:cNvSpPr/>
          <p:nvPr/>
        </p:nvSpPr>
        <p:spPr>
          <a:xfrm>
            <a:off x="9610344" y="281635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49840" y="2903220"/>
            <a:ext cx="960120" cy="960120"/>
          </a:xfrm>
          <a:prstGeom prst="ellipse">
            <a:avLst/>
          </a:prstGeom>
          <a:ln w="28575">
            <a:solidFill>
              <a:srgbClr val="0FA3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0" y="29032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= the envelope, not a new block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pairs, wrapped in braces - it's how Agents, Skills, Hooks, and Workflows actually talk to each other.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building block - the format the blocks already use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by people and by code, at the same time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the language most of those blocks are built 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2651760"/>
            <a:ext cx="1463040" cy="14630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26517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 rot="5400000">
            <a:off x="8092440" y="3223260"/>
            <a:ext cx="288036" cy="320040"/>
          </a:xfrm>
          <a:prstGeom prst="triangl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27889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2788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2026-07-18T01:14:51Z</dcterms:created>
  <dcterms:modified xsi:type="dcterms:W3CDTF">2026-07-18T01:14:51Z</dcterms:modified>
</cp:coreProperties>
</file>