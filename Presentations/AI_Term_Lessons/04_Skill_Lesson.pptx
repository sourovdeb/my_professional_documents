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(0:00-0:20). You've met Agent, Model, and Memory. But how does an agent actually learn to do something new — summarize meeting notes, format a report a specific way, follow a house style? It doesn't get smarter on its own. Someone packages that capability once, as a Skill, and clips it on. Let's unpack what a Skill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(0:20-0:55) A Skill is a packaged, reusable capability — written once, then attached to an agent instead of retraining it. Think of a puzzle piece with exactly the right shape for one job, snapping into a slot the agent already has. The agent's core goal, tools, and memory don't change; it just gained one more specific thing it knows how to do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(0:55-1:30) You already know this pattern from Word or Excel add-ins. Word doesn't come knowing how to format a legal citation a particular way — you install a citation add-in once, and a new button shows up on the ribbon, available in every document after that. A Skill works the same way for an agent: install it once, and the capability is just there from now on, without anyone rewriting the agent's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(1:30-1:55) Same idea with a browser extension. A grammar-checker extension doesn't touch the browser's underlying code — you install it once, and now it quietly checks your spelling on every site, forever, without you doing anything else. A Skill sits on an agent the same way: install once, benefit every time the task calls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(1:55-2:15) Or think about learning how to change a tire. You don't retrain as a driver from scratch — you're the same driver, plus one specific, reusable capability now sitting in your toolkit, ready for the one situation where it actually applies. That's exactly the shape of a Skill: narrow, reusable,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(2:15-2:50) Here's what this looks like in a real product: Mistral Studio has an actual Skills catalog alongside its Models and Agents. You build a Skill once — for example, 'turn raw meeting notes into a clean action-item list' — and you can attach that same Skill to more than one agent. Update the Skill later, and every agent using it picks up the improvement, without you touching each agent individually.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(2:50-3:15) Recap: a Skill is a packaged, reusable capability you attach to an agent, the way an add-in bolts a new button onto Word's ribbon or an extension adds a capability to every browser tab. The agent's own goal, tools, and memory stay the same underneath. Covered so far: Agent, Model, Memory, Skill. Next up: Hook — what actually triggers an agent or a skill to run in the first place. Also queued: Workflow, JSON,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640080" y="548640"/>
            <a:ext cx="6858000" cy="457200"/>
          </a:xfrm>
          <a:prstGeom prst="rect">
            <a:avLst/>
          </a:prstGeom>
          <a:noFill/>
          <a:ln/>
        </p:spPr>
        <p:txBody>
          <a:bodyPr wrap="square" rtlCol="0" anchor="ctr"/>
          <a:lstStyle/>
          <a:p>
            <a:pPr indent="0" marL="0">
              <a:buNone/>
            </a:pPr>
            <a:r>
              <a:rPr lang="en-US" sz="1600" b="1" spc="200" kern="0" dirty="0">
                <a:solidFill>
                  <a:srgbClr val="F2C94C"/>
                </a:solidFill>
                <a:latin typeface="Calibri" pitchFamily="34" charset="0"/>
                <a:ea typeface="Calibri" pitchFamily="34" charset="-122"/>
                <a:cs typeface="Calibri" pitchFamily="34" charset="-120"/>
              </a:rPr>
              <a:t>AI EXPLAINED, PLAIN AND SIMPLE — LESSON 4</a:t>
            </a:r>
            <a:endParaRPr lang="en-US" sz="1600" dirty="0"/>
          </a:p>
        </p:txBody>
      </p:sp>
      <p:sp>
        <p:nvSpPr>
          <p:cNvPr id="3" name="Text 1"/>
          <p:cNvSpPr/>
          <p:nvPr/>
        </p:nvSpPr>
        <p:spPr>
          <a:xfrm>
            <a:off x="640080" y="1051560"/>
            <a:ext cx="6675120" cy="278892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What Is a</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"Skill"?</a:t>
            </a:r>
            <a:endParaRPr lang="en-US" sz="4000" dirty="0"/>
          </a:p>
        </p:txBody>
      </p:sp>
      <p:sp>
        <p:nvSpPr>
          <p:cNvPr id="4" name="Text 2"/>
          <p:cNvSpPr/>
          <p:nvPr/>
        </p:nvSpPr>
        <p:spPr>
          <a:xfrm>
            <a:off x="640080" y="3977640"/>
            <a:ext cx="6400800" cy="1188720"/>
          </a:xfrm>
          <a:prstGeom prst="rect">
            <a:avLst/>
          </a:prstGeom>
          <a:noFill/>
          <a:ln/>
        </p:spPr>
        <p:txBody>
          <a:bodyPr wrap="square" lIns="0" tIns="0" rIns="0" bIns="0" rtlCol="0" anchor="ctr"/>
          <a:lstStyle/>
          <a:p>
            <a:pPr indent="0" marL="0">
              <a:lnSpc>
                <a:spcPct val="130000"/>
              </a:lnSpc>
              <a:buNone/>
            </a:pPr>
            <a:r>
              <a:rPr lang="en-US" sz="1800" dirty="0">
                <a:solidFill>
                  <a:srgbClr val="D6E8F0"/>
                </a:solidFill>
                <a:latin typeface="Calibri" pitchFamily="34" charset="0"/>
                <a:ea typeface="Calibri" pitchFamily="34" charset="-122"/>
                <a:cs typeface="Calibri" pitchFamily="34" charset="-120"/>
              </a:rPr>
              <a:t>An agent already has a goal, tools, and memory. A skill is how it gets a brand-new, reusable capability bolted on — without rebuilding the agent from scratch.</a:t>
            </a:r>
            <a:endParaRPr lang="en-US" sz="1800" dirty="0"/>
          </a:p>
        </p:txBody>
      </p:sp>
      <p:sp>
        <p:nvSpPr>
          <p:cNvPr id="5" name="Shape 3"/>
          <p:cNvSpPr/>
          <p:nvPr/>
        </p:nvSpPr>
        <p:spPr>
          <a:xfrm>
            <a:off x="7635240" y="777240"/>
            <a:ext cx="3931920" cy="5303520"/>
          </a:xfrm>
          <a:prstGeom prst="roundRect">
            <a:avLst>
              <a:gd name="adj" fmla="val 4186"/>
            </a:avLst>
          </a:prstGeom>
          <a:solidFill>
            <a:srgbClr val="FFFFFF"/>
          </a:solidFill>
          <a:ln/>
          <a:effectLst>
            <a:outerShdw sx="100000" sy="100000" kx="0" ky="0" algn="bl" rotWithShape="0" blurRad="152400" dist="76200" dir="5400000">
              <a:srgbClr val="0B1B2B">
                <a:alpha val="35000"/>
              </a:srgbClr>
            </a:outerShdw>
          </a:effectLst>
        </p:spPr>
      </p:sp>
      <p:pic>
        <p:nvPicPr>
          <p:cNvPr id="6" name="Image 0" descr="/tmp/claude-0/-home-user-my-professional-documents/1f5546ee-afd2-5311-9fc2-649b1c424249/scratchpad/ai_lesson/doodles_skill/01_agent_skill_badge.png">    </p:cNvPr>
          <p:cNvPicPr>
            <a:picLocks noChangeAspect="1"/>
          </p:cNvPicPr>
          <p:nvPr/>
        </p:nvPicPr>
        <p:blipFill>
          <a:blip r:embed="rId1"/>
          <a:stretch>
            <a:fillRect/>
          </a:stretch>
        </p:blipFill>
        <p:spPr>
          <a:xfrm>
            <a:off x="7909560" y="1234440"/>
            <a:ext cx="3383280" cy="3383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17720" cy="6858000"/>
          </a:xfrm>
          <a:prstGeom prst="rect">
            <a:avLst/>
          </a:prstGeom>
          <a:solidFill>
            <a:srgbClr val="F0F6F6"/>
          </a:solidFill>
          <a:ln/>
        </p:spPr>
      </p:sp>
      <p:sp>
        <p:nvSpPr>
          <p:cNvPr id="3" name="Text 1"/>
          <p:cNvSpPr/>
          <p:nvPr/>
        </p:nvSpPr>
        <p:spPr>
          <a:xfrm>
            <a:off x="548640" y="502920"/>
            <a:ext cx="3657600" cy="365760"/>
          </a:xfrm>
          <a:prstGeom prst="rect">
            <a:avLst/>
          </a:prstGeom>
          <a:noFill/>
          <a:ln/>
        </p:spPr>
        <p:txBody>
          <a:bodyPr wrap="square" rtlCol="0" anchor="ctr"/>
          <a:lstStyle/>
          <a:p>
            <a:pPr indent="0" marL="0">
              <a:buNone/>
            </a:pPr>
            <a:r>
              <a:rPr lang="en-US" sz="1400" b="1" spc="200" kern="0" dirty="0">
                <a:solidFill>
                  <a:srgbClr val="0FA3A3"/>
                </a:solidFill>
                <a:latin typeface="Calibri" pitchFamily="34" charset="0"/>
                <a:ea typeface="Calibri" pitchFamily="34" charset="-122"/>
                <a:cs typeface="Calibri" pitchFamily="34" charset="-120"/>
              </a:rPr>
              <a:t>THE EVERYDAY DEFINITION</a:t>
            </a:r>
            <a:endParaRPr lang="en-US" sz="1400" dirty="0"/>
          </a:p>
        </p:txBody>
      </p:sp>
      <p:sp>
        <p:nvSpPr>
          <p:cNvPr id="4" name="Text 2"/>
          <p:cNvSpPr/>
          <p:nvPr/>
        </p:nvSpPr>
        <p:spPr>
          <a:xfrm>
            <a:off x="548640" y="868680"/>
            <a:ext cx="3794760" cy="1417320"/>
          </a:xfrm>
          <a:prstGeom prst="rect">
            <a:avLst/>
          </a:prstGeom>
          <a:noFill/>
          <a:ln/>
        </p:spPr>
        <p:txBody>
          <a:bodyPr wrap="square" lIns="0" tIns="0" rIns="0" bIns="0" rtlCol="0" anchor="ctr"/>
          <a:lstStyle/>
          <a:p>
            <a:pPr indent="0" marL="0">
              <a:lnSpc>
                <a:spcPct val="108000"/>
              </a:lnSpc>
              <a:buNone/>
            </a:pPr>
            <a:r>
              <a:rPr lang="en-US" sz="2600" b="1" dirty="0">
                <a:solidFill>
                  <a:srgbClr val="1E3A5F"/>
                </a:solidFill>
                <a:latin typeface="Cambria" pitchFamily="34" charset="0"/>
                <a:ea typeface="Cambria" pitchFamily="34" charset="-122"/>
                <a:cs typeface="Cambria" pitchFamily="34" charset="-120"/>
              </a:rPr>
              <a:t>A packaged capability that snaps in</a:t>
            </a:r>
            <a:endParaRPr lang="en-US" sz="2600" dirty="0"/>
          </a:p>
        </p:txBody>
      </p:sp>
      <p:sp>
        <p:nvSpPr>
          <p:cNvPr id="5" name="Text 3"/>
          <p:cNvSpPr/>
          <p:nvPr/>
        </p:nvSpPr>
        <p:spPr>
          <a:xfrm>
            <a:off x="548640" y="2377440"/>
            <a:ext cx="3749040" cy="1371600"/>
          </a:xfrm>
          <a:prstGeom prst="rect">
            <a:avLst/>
          </a:prstGeom>
          <a:noFill/>
          <a:ln/>
        </p:spPr>
        <p:txBody>
          <a:bodyPr wrap="square" lIns="0" tIns="0" rIns="0" bIns="0" rtlCol="0" anchor="ctr"/>
          <a:lstStyle/>
          <a:p>
            <a:pPr indent="0" marL="0">
              <a:lnSpc>
                <a:spcPct val="128000"/>
              </a:lnSpc>
              <a:buNone/>
            </a:pPr>
            <a:r>
              <a:rPr lang="en-US" sz="1400" dirty="0">
                <a:solidFill>
                  <a:srgbClr val="222222"/>
                </a:solidFill>
                <a:latin typeface="Calibri" pitchFamily="34" charset="0"/>
                <a:ea typeface="Calibri" pitchFamily="34" charset="-122"/>
                <a:cs typeface="Calibri" pitchFamily="34" charset="-120"/>
              </a:rPr>
              <a:t>A Skill is a reusable set of instructions for one job. You don't retrain the agent — you attach the Skill, like a puzzle piece into a matching slot.</a:t>
            </a:r>
            <a:endParaRPr lang="en-US" sz="1400" dirty="0"/>
          </a:p>
        </p:txBody>
      </p:sp>
      <p:sp>
        <p:nvSpPr>
          <p:cNvPr id="6" name="Text 4"/>
          <p:cNvSpPr/>
          <p:nvPr/>
        </p:nvSpPr>
        <p:spPr>
          <a:xfrm>
            <a:off x="548640" y="3794760"/>
            <a:ext cx="3794760" cy="233172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Built once, reused on many tasks</a:t>
            </a:r>
            <a:endParaRPr lang="en-US" sz="1350" dirty="0"/>
          </a:p>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Snaps onto an existing agent, doesn't replace it</a:t>
            </a:r>
            <a:endParaRPr lang="en-US" sz="1350" dirty="0"/>
          </a:p>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The agent still has its own goal, tools, and memory underneath</a:t>
            </a:r>
            <a:endParaRPr lang="en-US" sz="1350" dirty="0"/>
          </a:p>
        </p:txBody>
      </p:sp>
      <p:pic>
        <p:nvPicPr>
          <p:cNvPr id="7" name="Image 0" descr="/tmp/claude-0/-home-user-my-professional-documents/1f5546ee-afd2-5311-9fc2-649b1c424249/scratchpad/ai_lesson/doodles_skill/02_puzzle_into_slot.png">    </p:cNvPr>
          <p:cNvPicPr>
            <a:picLocks noChangeAspect="1"/>
          </p:cNvPicPr>
          <p:nvPr/>
        </p:nvPicPr>
        <p:blipFill>
          <a:blip r:embed="rId1"/>
          <a:stretch>
            <a:fillRect/>
          </a:stretch>
        </p:blipFill>
        <p:spPr>
          <a:xfrm>
            <a:off x="5440680" y="914400"/>
            <a:ext cx="5029200" cy="5029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17720" cy="6858000"/>
          </a:xfrm>
          <a:prstGeom prst="rect">
            <a:avLst/>
          </a:prstGeom>
          <a:solidFill>
            <a:srgbClr val="F0F6F6"/>
          </a:solidFill>
          <a:ln/>
        </p:spPr>
      </p:sp>
      <p:sp>
        <p:nvSpPr>
          <p:cNvPr id="3" name="Text 1"/>
          <p:cNvSpPr/>
          <p:nvPr/>
        </p:nvSpPr>
        <p:spPr>
          <a:xfrm>
            <a:off x="548640" y="502920"/>
            <a:ext cx="3657600" cy="365760"/>
          </a:xfrm>
          <a:prstGeom prst="rect">
            <a:avLst/>
          </a:prstGeom>
          <a:noFill/>
          <a:ln/>
        </p:spPr>
        <p:txBody>
          <a:bodyPr wrap="square" rtlCol="0" anchor="ctr"/>
          <a:lstStyle/>
          <a:p>
            <a:pPr indent="0" marL="0">
              <a:buNone/>
            </a:pPr>
            <a:r>
              <a:rPr lang="en-US" sz="1400" b="1" spc="200" kern="0" dirty="0">
                <a:solidFill>
                  <a:srgbClr val="0FA3A3"/>
                </a:solidFill>
                <a:latin typeface="Calibri" pitchFamily="34" charset="0"/>
                <a:ea typeface="Calibri" pitchFamily="34" charset="-122"/>
                <a:cs typeface="Calibri" pitchFamily="34" charset="-120"/>
              </a:rPr>
              <a:t>ANALOGY 1 — OFFICE SUITE</a:t>
            </a:r>
            <a:endParaRPr lang="en-US" sz="1400" dirty="0"/>
          </a:p>
        </p:txBody>
      </p:sp>
      <p:sp>
        <p:nvSpPr>
          <p:cNvPr id="4" name="Text 2"/>
          <p:cNvSpPr/>
          <p:nvPr/>
        </p:nvSpPr>
        <p:spPr>
          <a:xfrm>
            <a:off x="548640" y="868680"/>
            <a:ext cx="3794760" cy="1417320"/>
          </a:xfrm>
          <a:prstGeom prst="rect">
            <a:avLst/>
          </a:prstGeom>
          <a:noFill/>
          <a:ln/>
        </p:spPr>
        <p:txBody>
          <a:bodyPr wrap="square" lIns="0" tIns="0" rIns="0" bIns="0" rtlCol="0" anchor="ctr"/>
          <a:lstStyle/>
          <a:p>
            <a:pPr indent="0" marL="0">
              <a:lnSpc>
                <a:spcPct val="108000"/>
              </a:lnSpc>
              <a:buNone/>
            </a:pPr>
            <a:r>
              <a:rPr lang="en-US" sz="2600" b="1" dirty="0">
                <a:solidFill>
                  <a:srgbClr val="1E3A5F"/>
                </a:solidFill>
                <a:latin typeface="Cambria" pitchFamily="34" charset="0"/>
                <a:ea typeface="Cambria" pitchFamily="34" charset="-122"/>
                <a:cs typeface="Cambria" pitchFamily="34" charset="-120"/>
              </a:rPr>
              <a:t>Like installing a Word add-in</a:t>
            </a:r>
            <a:endParaRPr lang="en-US" sz="2600" dirty="0"/>
          </a:p>
        </p:txBody>
      </p:sp>
      <p:sp>
        <p:nvSpPr>
          <p:cNvPr id="5" name="Text 3"/>
          <p:cNvSpPr/>
          <p:nvPr/>
        </p:nvSpPr>
        <p:spPr>
          <a:xfrm>
            <a:off x="548640" y="2377440"/>
            <a:ext cx="3749040" cy="1371600"/>
          </a:xfrm>
          <a:prstGeom prst="rect">
            <a:avLst/>
          </a:prstGeom>
          <a:noFill/>
          <a:ln/>
        </p:spPr>
        <p:txBody>
          <a:bodyPr wrap="square" lIns="0" tIns="0" rIns="0" bIns="0" rtlCol="0" anchor="ctr"/>
          <a:lstStyle/>
          <a:p>
            <a:pPr indent="0" marL="0">
              <a:lnSpc>
                <a:spcPct val="128000"/>
              </a:lnSpc>
              <a:buNone/>
            </a:pPr>
            <a:r>
              <a:rPr lang="en-US" sz="1400" dirty="0">
                <a:solidFill>
                  <a:srgbClr val="222222"/>
                </a:solidFill>
                <a:latin typeface="Calibri" pitchFamily="34" charset="0"/>
                <a:ea typeface="Calibri" pitchFamily="34" charset="-122"/>
                <a:cs typeface="Calibri" pitchFamily="34" charset="-120"/>
              </a:rPr>
              <a:t>Word doesn't ship knowing how to format a legal citation a specific way. You install a citation add-in once, and a new button appears on the ribbon — in every document, from then on.</a:t>
            </a:r>
            <a:endParaRPr lang="en-US" sz="1400" dirty="0"/>
          </a:p>
        </p:txBody>
      </p:sp>
      <p:sp>
        <p:nvSpPr>
          <p:cNvPr id="6" name="Text 4"/>
          <p:cNvSpPr/>
          <p:nvPr/>
        </p:nvSpPr>
        <p:spPr>
          <a:xfrm>
            <a:off x="548640" y="3794760"/>
            <a:ext cx="3794760" cy="233172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Add-in: one new button, works everywhere in the app</a:t>
            </a:r>
            <a:endParaRPr lang="en-US" sz="1350" dirty="0"/>
          </a:p>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Skill: one new capability, works on every task the agent gets</a:t>
            </a:r>
            <a:endParaRPr lang="en-US" sz="1350" dirty="0"/>
          </a:p>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Neither one required rewriting the core app</a:t>
            </a:r>
            <a:endParaRPr lang="en-US" sz="1350" dirty="0"/>
          </a:p>
        </p:txBody>
      </p:sp>
      <p:pic>
        <p:nvPicPr>
          <p:cNvPr id="7" name="Image 0" descr="/tmp/claude-0/-home-user-my-professional-documents/1f5546ee-afd2-5311-9fc2-649b1c424249/scratchpad/ai_lesson/doodles_skill/03_office_addin.png">    </p:cNvPr>
          <p:cNvPicPr>
            <a:picLocks noChangeAspect="1"/>
          </p:cNvPicPr>
          <p:nvPr/>
        </p:nvPicPr>
        <p:blipFill>
          <a:blip r:embed="rId1"/>
          <a:stretch>
            <a:fillRect/>
          </a:stretch>
        </p:blipFill>
        <p:spPr>
          <a:xfrm>
            <a:off x="5440680" y="914400"/>
            <a:ext cx="5029200" cy="5029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17720" cy="6858000"/>
          </a:xfrm>
          <a:prstGeom prst="rect">
            <a:avLst/>
          </a:prstGeom>
          <a:solidFill>
            <a:srgbClr val="F0F6F6"/>
          </a:solidFill>
          <a:ln/>
        </p:spPr>
      </p:sp>
      <p:sp>
        <p:nvSpPr>
          <p:cNvPr id="3" name="Text 1"/>
          <p:cNvSpPr/>
          <p:nvPr/>
        </p:nvSpPr>
        <p:spPr>
          <a:xfrm>
            <a:off x="548640" y="502920"/>
            <a:ext cx="3657600" cy="365760"/>
          </a:xfrm>
          <a:prstGeom prst="rect">
            <a:avLst/>
          </a:prstGeom>
          <a:noFill/>
          <a:ln/>
        </p:spPr>
        <p:txBody>
          <a:bodyPr wrap="square" rtlCol="0" anchor="ctr"/>
          <a:lstStyle/>
          <a:p>
            <a:pPr indent="0" marL="0">
              <a:buNone/>
            </a:pPr>
            <a:r>
              <a:rPr lang="en-US" sz="1400" b="1" spc="200" kern="0" dirty="0">
                <a:solidFill>
                  <a:srgbClr val="0FA3A3"/>
                </a:solidFill>
                <a:latin typeface="Calibri" pitchFamily="34" charset="0"/>
                <a:ea typeface="Calibri" pitchFamily="34" charset="-122"/>
                <a:cs typeface="Calibri" pitchFamily="34" charset="-120"/>
              </a:rPr>
              <a:t>ANALOGY 2 — WEB BROWSER</a:t>
            </a:r>
            <a:endParaRPr lang="en-US" sz="1400" dirty="0"/>
          </a:p>
        </p:txBody>
      </p:sp>
      <p:sp>
        <p:nvSpPr>
          <p:cNvPr id="4" name="Text 2"/>
          <p:cNvSpPr/>
          <p:nvPr/>
        </p:nvSpPr>
        <p:spPr>
          <a:xfrm>
            <a:off x="548640" y="868680"/>
            <a:ext cx="3794760" cy="1417320"/>
          </a:xfrm>
          <a:prstGeom prst="rect">
            <a:avLst/>
          </a:prstGeom>
          <a:noFill/>
          <a:ln/>
        </p:spPr>
        <p:txBody>
          <a:bodyPr wrap="square" lIns="0" tIns="0" rIns="0" bIns="0" rtlCol="0" anchor="ctr"/>
          <a:lstStyle/>
          <a:p>
            <a:pPr indent="0" marL="0">
              <a:lnSpc>
                <a:spcPct val="108000"/>
              </a:lnSpc>
              <a:buNone/>
            </a:pPr>
            <a:r>
              <a:rPr lang="en-US" sz="2600" b="1" dirty="0">
                <a:solidFill>
                  <a:srgbClr val="1E3A5F"/>
                </a:solidFill>
                <a:latin typeface="Cambria" pitchFamily="34" charset="0"/>
                <a:ea typeface="Cambria" pitchFamily="34" charset="-122"/>
                <a:cs typeface="Cambria" pitchFamily="34" charset="-120"/>
              </a:rPr>
              <a:t>Like adding a browser extension</a:t>
            </a:r>
            <a:endParaRPr lang="en-US" sz="2600" dirty="0"/>
          </a:p>
        </p:txBody>
      </p:sp>
      <p:sp>
        <p:nvSpPr>
          <p:cNvPr id="5" name="Text 3"/>
          <p:cNvSpPr/>
          <p:nvPr/>
        </p:nvSpPr>
        <p:spPr>
          <a:xfrm>
            <a:off x="548640" y="2377440"/>
            <a:ext cx="3749040" cy="1371600"/>
          </a:xfrm>
          <a:prstGeom prst="rect">
            <a:avLst/>
          </a:prstGeom>
          <a:noFill/>
          <a:ln/>
        </p:spPr>
        <p:txBody>
          <a:bodyPr wrap="square" lIns="0" tIns="0" rIns="0" bIns="0" rtlCol="0" anchor="ctr"/>
          <a:lstStyle/>
          <a:p>
            <a:pPr indent="0" marL="0">
              <a:lnSpc>
                <a:spcPct val="128000"/>
              </a:lnSpc>
              <a:buNone/>
            </a:pPr>
            <a:r>
              <a:rPr lang="en-US" sz="1400" dirty="0">
                <a:solidFill>
                  <a:srgbClr val="222222"/>
                </a:solidFill>
                <a:latin typeface="Calibri" pitchFamily="34" charset="0"/>
                <a:ea typeface="Calibri" pitchFamily="34" charset="-122"/>
                <a:cs typeface="Calibri" pitchFamily="34" charset="-120"/>
              </a:rPr>
              <a:t>A grammar-checker extension doesn't rebuild the browser. Install it once, and it quietly works on every site you visit from then on — a new capability layered on top.</a:t>
            </a:r>
            <a:endParaRPr lang="en-US" sz="1400" dirty="0"/>
          </a:p>
        </p:txBody>
      </p:sp>
      <p:sp>
        <p:nvSpPr>
          <p:cNvPr id="6" name="Text 4"/>
          <p:cNvSpPr/>
          <p:nvPr/>
        </p:nvSpPr>
        <p:spPr>
          <a:xfrm>
            <a:off x="548640" y="3794760"/>
            <a:ext cx="3794760" cy="233172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Extension: install once, works across every tab</a:t>
            </a:r>
            <a:endParaRPr lang="en-US" sz="1350" dirty="0"/>
          </a:p>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Skill: attach once, works across every relevant task</a:t>
            </a:r>
            <a:endParaRPr lang="en-US" sz="1350" dirty="0"/>
          </a:p>
        </p:txBody>
      </p:sp>
      <p:pic>
        <p:nvPicPr>
          <p:cNvPr id="7" name="Image 0" descr="/tmp/claude-0/-home-user-my-professional-documents/1f5546ee-afd2-5311-9fc2-649b1c424249/scratchpad/ai_lesson/doodles_skill/04_browser_extension.png">    </p:cNvPr>
          <p:cNvPicPr>
            <a:picLocks noChangeAspect="1"/>
          </p:cNvPicPr>
          <p:nvPr/>
        </p:nvPicPr>
        <p:blipFill>
          <a:blip r:embed="rId1"/>
          <a:stretch>
            <a:fillRect/>
          </a:stretch>
        </p:blipFill>
        <p:spPr>
          <a:xfrm>
            <a:off x="5440680" y="914400"/>
            <a:ext cx="5029200" cy="5029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17720" cy="6858000"/>
          </a:xfrm>
          <a:prstGeom prst="rect">
            <a:avLst/>
          </a:prstGeom>
          <a:solidFill>
            <a:srgbClr val="F0F6F6"/>
          </a:solidFill>
          <a:ln/>
        </p:spPr>
      </p:sp>
      <p:sp>
        <p:nvSpPr>
          <p:cNvPr id="3" name="Text 1"/>
          <p:cNvSpPr/>
          <p:nvPr/>
        </p:nvSpPr>
        <p:spPr>
          <a:xfrm>
            <a:off x="548640" y="502920"/>
            <a:ext cx="3657600" cy="365760"/>
          </a:xfrm>
          <a:prstGeom prst="rect">
            <a:avLst/>
          </a:prstGeom>
          <a:noFill/>
          <a:ln/>
        </p:spPr>
        <p:txBody>
          <a:bodyPr wrap="square" rtlCol="0" anchor="ctr"/>
          <a:lstStyle/>
          <a:p>
            <a:pPr indent="0" marL="0">
              <a:buNone/>
            </a:pPr>
            <a:r>
              <a:rPr lang="en-US" sz="1400" b="1" spc="200" kern="0" dirty="0">
                <a:solidFill>
                  <a:srgbClr val="0FA3A3"/>
                </a:solidFill>
                <a:latin typeface="Calibri" pitchFamily="34" charset="0"/>
                <a:ea typeface="Calibri" pitchFamily="34" charset="-122"/>
                <a:cs typeface="Calibri" pitchFamily="34" charset="-120"/>
              </a:rPr>
              <a:t>ANALOGY 3 — EVERYDAY TASK</a:t>
            </a:r>
            <a:endParaRPr lang="en-US" sz="1400" dirty="0"/>
          </a:p>
        </p:txBody>
      </p:sp>
      <p:sp>
        <p:nvSpPr>
          <p:cNvPr id="4" name="Text 2"/>
          <p:cNvSpPr/>
          <p:nvPr/>
        </p:nvSpPr>
        <p:spPr>
          <a:xfrm>
            <a:off x="548640" y="868680"/>
            <a:ext cx="3794760" cy="1417320"/>
          </a:xfrm>
          <a:prstGeom prst="rect">
            <a:avLst/>
          </a:prstGeom>
          <a:noFill/>
          <a:ln/>
        </p:spPr>
        <p:txBody>
          <a:bodyPr wrap="square" lIns="0" tIns="0" rIns="0" bIns="0" rtlCol="0" anchor="ctr"/>
          <a:lstStyle/>
          <a:p>
            <a:pPr indent="0" marL="0">
              <a:lnSpc>
                <a:spcPct val="108000"/>
              </a:lnSpc>
              <a:buNone/>
            </a:pPr>
            <a:r>
              <a:rPr lang="en-US" sz="2600" b="1" dirty="0">
                <a:solidFill>
                  <a:srgbClr val="1E3A5F"/>
                </a:solidFill>
                <a:latin typeface="Cambria" pitchFamily="34" charset="0"/>
                <a:ea typeface="Cambria" pitchFamily="34" charset="-122"/>
                <a:cs typeface="Cambria" pitchFamily="34" charset="-120"/>
              </a:rPr>
              <a:t>Like learning to change a tire</a:t>
            </a:r>
            <a:endParaRPr lang="en-US" sz="2600" dirty="0"/>
          </a:p>
        </p:txBody>
      </p:sp>
      <p:sp>
        <p:nvSpPr>
          <p:cNvPr id="5" name="Text 3"/>
          <p:cNvSpPr/>
          <p:nvPr/>
        </p:nvSpPr>
        <p:spPr>
          <a:xfrm>
            <a:off x="548640" y="2377440"/>
            <a:ext cx="3749040" cy="1371600"/>
          </a:xfrm>
          <a:prstGeom prst="rect">
            <a:avLst/>
          </a:prstGeom>
          <a:noFill/>
          <a:ln/>
        </p:spPr>
        <p:txBody>
          <a:bodyPr wrap="square" lIns="0" tIns="0" rIns="0" bIns="0" rtlCol="0" anchor="ctr"/>
          <a:lstStyle/>
          <a:p>
            <a:pPr indent="0" marL="0">
              <a:lnSpc>
                <a:spcPct val="128000"/>
              </a:lnSpc>
              <a:buNone/>
            </a:pPr>
            <a:r>
              <a:rPr lang="en-US" sz="1400" dirty="0">
                <a:solidFill>
                  <a:srgbClr val="222222"/>
                </a:solidFill>
                <a:latin typeface="Calibri" pitchFamily="34" charset="0"/>
                <a:ea typeface="Calibri" pitchFamily="34" charset="-122"/>
                <a:cs typeface="Calibri" pitchFamily="34" charset="-120"/>
              </a:rPr>
              <a:t>You don't retrain as a driver to learn this. You add one specific, reusable skill to your toolkit — and pull it out only when the situation actually calls for it.</a:t>
            </a:r>
            <a:endParaRPr lang="en-US" sz="1400" dirty="0"/>
          </a:p>
        </p:txBody>
      </p:sp>
      <p:sp>
        <p:nvSpPr>
          <p:cNvPr id="6" name="Text 4"/>
          <p:cNvSpPr/>
          <p:nvPr/>
        </p:nvSpPr>
        <p:spPr>
          <a:xfrm>
            <a:off x="548640" y="3794760"/>
            <a:ext cx="3794760" cy="233172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You stay the same driver you were before</a:t>
            </a:r>
            <a:endParaRPr lang="en-US" sz="1350" dirty="0"/>
          </a:p>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The skill sits ready, used only when relevant</a:t>
            </a:r>
            <a:endParaRPr lang="en-US" sz="1350" dirty="0"/>
          </a:p>
        </p:txBody>
      </p:sp>
      <p:pic>
        <p:nvPicPr>
          <p:cNvPr id="7" name="Image 0" descr="/tmp/claude-0/-home-user-my-professional-documents/1f5546ee-afd2-5311-9fc2-649b1c424249/scratchpad/ai_lesson/doodles_skill/05_toolbelt_skill.png">    </p:cNvPr>
          <p:cNvPicPr>
            <a:picLocks noChangeAspect="1"/>
          </p:cNvPicPr>
          <p:nvPr/>
        </p:nvPicPr>
        <p:blipFill>
          <a:blip r:embed="rId1"/>
          <a:stretch>
            <a:fillRect/>
          </a:stretch>
        </p:blipFill>
        <p:spPr>
          <a:xfrm>
            <a:off x="5440680" y="914400"/>
            <a:ext cx="5029200" cy="5029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17720" cy="6858000"/>
          </a:xfrm>
          <a:prstGeom prst="rect">
            <a:avLst/>
          </a:prstGeom>
          <a:solidFill>
            <a:srgbClr val="F0F6F6"/>
          </a:solidFill>
          <a:ln/>
        </p:spPr>
      </p:sp>
      <p:sp>
        <p:nvSpPr>
          <p:cNvPr id="3" name="Text 1"/>
          <p:cNvSpPr/>
          <p:nvPr/>
        </p:nvSpPr>
        <p:spPr>
          <a:xfrm>
            <a:off x="548640" y="502920"/>
            <a:ext cx="3657600" cy="365760"/>
          </a:xfrm>
          <a:prstGeom prst="rect">
            <a:avLst/>
          </a:prstGeom>
          <a:noFill/>
          <a:ln/>
        </p:spPr>
        <p:txBody>
          <a:bodyPr wrap="square" rtlCol="0" anchor="ctr"/>
          <a:lstStyle/>
          <a:p>
            <a:pPr indent="0" marL="0">
              <a:buNone/>
            </a:pPr>
            <a:r>
              <a:rPr lang="en-US" sz="1400" b="1" spc="200" kern="0" dirty="0">
                <a:solidFill>
                  <a:srgbClr val="0FA3A3"/>
                </a:solidFill>
                <a:latin typeface="Calibri" pitchFamily="34" charset="0"/>
                <a:ea typeface="Calibri" pitchFamily="34" charset="-122"/>
                <a:cs typeface="Calibri" pitchFamily="34" charset="-120"/>
              </a:rPr>
              <a:t>SEE IT IN A REAL TOOL</a:t>
            </a:r>
            <a:endParaRPr lang="en-US" sz="1400" dirty="0"/>
          </a:p>
        </p:txBody>
      </p:sp>
      <p:sp>
        <p:nvSpPr>
          <p:cNvPr id="4" name="Text 2"/>
          <p:cNvSpPr/>
          <p:nvPr/>
        </p:nvSpPr>
        <p:spPr>
          <a:xfrm>
            <a:off x="548640" y="868680"/>
            <a:ext cx="3794760" cy="1417320"/>
          </a:xfrm>
          <a:prstGeom prst="rect">
            <a:avLst/>
          </a:prstGeom>
          <a:noFill/>
          <a:ln/>
        </p:spPr>
        <p:txBody>
          <a:bodyPr wrap="square" lIns="0" tIns="0" rIns="0" bIns="0" rtlCol="0" anchor="ctr"/>
          <a:lstStyle/>
          <a:p>
            <a:pPr indent="0" marL="0">
              <a:lnSpc>
                <a:spcPct val="108000"/>
              </a:lnSpc>
              <a:buNone/>
            </a:pPr>
            <a:r>
              <a:rPr lang="en-US" sz="2600" b="1" dirty="0">
                <a:solidFill>
                  <a:srgbClr val="1E3A5F"/>
                </a:solidFill>
                <a:latin typeface="Cambria" pitchFamily="34" charset="0"/>
                <a:ea typeface="Cambria" pitchFamily="34" charset="-122"/>
                <a:cs typeface="Cambria" pitchFamily="34" charset="-120"/>
              </a:rPr>
              <a:t>Mistral Studio's Skills catalog</a:t>
            </a:r>
            <a:endParaRPr lang="en-US" sz="2600" dirty="0"/>
          </a:p>
        </p:txBody>
      </p:sp>
      <p:sp>
        <p:nvSpPr>
          <p:cNvPr id="5" name="Text 3"/>
          <p:cNvSpPr/>
          <p:nvPr/>
        </p:nvSpPr>
        <p:spPr>
          <a:xfrm>
            <a:off x="548640" y="2377440"/>
            <a:ext cx="3749040" cy="1371600"/>
          </a:xfrm>
          <a:prstGeom prst="rect">
            <a:avLst/>
          </a:prstGeom>
          <a:noFill/>
          <a:ln/>
        </p:spPr>
        <p:txBody>
          <a:bodyPr wrap="square" lIns="0" tIns="0" rIns="0" bIns="0" rtlCol="0" anchor="ctr"/>
          <a:lstStyle/>
          <a:p>
            <a:pPr indent="0" marL="0">
              <a:lnSpc>
                <a:spcPct val="128000"/>
              </a:lnSpc>
              <a:buNone/>
            </a:pPr>
            <a:r>
              <a:rPr lang="en-US" sz="1400" dirty="0">
                <a:solidFill>
                  <a:srgbClr val="222222"/>
                </a:solidFill>
                <a:latin typeface="Calibri" pitchFamily="34" charset="0"/>
                <a:ea typeface="Calibri" pitchFamily="34" charset="-122"/>
                <a:cs typeface="Calibri" pitchFamily="34" charset="-120"/>
              </a:rPr>
              <a:t>Mistral Studio lets you build a Skill once — say, 'turn meeting notes into action items' — and attach that exact same Skill to several different agents, instead of re-writing the instructions inside each one.</a:t>
            </a:r>
            <a:endParaRPr lang="en-US" sz="1400" dirty="0"/>
          </a:p>
        </p:txBody>
      </p:sp>
      <p:sp>
        <p:nvSpPr>
          <p:cNvPr id="6" name="Text 4"/>
          <p:cNvSpPr/>
          <p:nvPr/>
        </p:nvSpPr>
        <p:spPr>
          <a:xfrm>
            <a:off x="548640" y="3794760"/>
            <a:ext cx="3794760" cy="2331720"/>
          </a:xfrm>
          <a:prstGeom prst="rect">
            <a:avLst/>
          </a:prstGeom>
          <a:noFill/>
          <a:ln/>
        </p:spPr>
        <p:txBody>
          <a:bodyPr wrap="square" lIns="0" tIns="0" rIns="0" bIns="0" rtlCol="0" anchor="t"/>
          <a:lstStyle/>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Build the Skill once, in its own definition</a:t>
            </a:r>
            <a:endParaRPr lang="en-US" sz="1350" dirty="0"/>
          </a:p>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Attach it to Agent A and Agent B, unchanged</a:t>
            </a:r>
            <a:endParaRPr lang="en-US" sz="1350" dirty="0"/>
          </a:p>
          <a:p>
            <a:pPr marL="342900" indent="-342900">
              <a:spcAft>
                <a:spcPts val="1000"/>
              </a:spcAft>
              <a:buSzPct val="100000"/>
              <a:buChar char="✦"/>
            </a:pPr>
            <a:r>
              <a:rPr lang="en-US" sz="1350" b="1" dirty="0">
                <a:solidFill>
                  <a:srgbClr val="1E3A5F"/>
                </a:solidFill>
                <a:latin typeface="Calibri" pitchFamily="34" charset="0"/>
                <a:ea typeface="Calibri" pitchFamily="34" charset="-122"/>
                <a:cs typeface="Calibri" pitchFamily="34" charset="-120"/>
              </a:rPr>
              <a:t>Update the Skill once — every agent using it benefits</a:t>
            </a:r>
            <a:endParaRPr lang="en-US" sz="1350" dirty="0"/>
          </a:p>
        </p:txBody>
      </p:sp>
      <p:pic>
        <p:nvPicPr>
          <p:cNvPr id="7" name="Image 0" descr="/tmp/claude-0/-home-user-my-professional-documents/1f5546ee-afd2-5311-9fc2-649b1c424249/scratchpad/ai_lesson/doodles_skill/06_mistral_skills_catalog.png">    </p:cNvPr>
          <p:cNvPicPr>
            <a:picLocks noChangeAspect="1"/>
          </p:cNvPicPr>
          <p:nvPr/>
        </p:nvPicPr>
        <p:blipFill>
          <a:blip r:embed="rId1"/>
          <a:stretch>
            <a:fillRect/>
          </a:stretch>
        </p:blipFill>
        <p:spPr>
          <a:xfrm>
            <a:off x="5440680" y="914400"/>
            <a:ext cx="5029200" cy="5029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640080" y="548640"/>
            <a:ext cx="6858000" cy="457200"/>
          </a:xfrm>
          <a:prstGeom prst="rect">
            <a:avLst/>
          </a:prstGeom>
          <a:noFill/>
          <a:ln/>
        </p:spPr>
        <p:txBody>
          <a:bodyPr wrap="square" rtlCol="0" anchor="ctr"/>
          <a:lstStyle/>
          <a:p>
            <a:pPr indent="0" marL="0">
              <a:buNone/>
            </a:pPr>
            <a:r>
              <a:rPr lang="en-US" sz="1600" b="1" spc="200" kern="0" dirty="0">
                <a:solidFill>
                  <a:srgbClr val="F2C94C"/>
                </a:solidFill>
                <a:latin typeface="Calibri" pitchFamily="34" charset="0"/>
                <a:ea typeface="Calibri" pitchFamily="34" charset="-122"/>
                <a:cs typeface="Calibri" pitchFamily="34" charset="-120"/>
              </a:rPr>
              <a:t>RECAP</a:t>
            </a:r>
            <a:endParaRPr lang="en-US" sz="1600" dirty="0"/>
          </a:p>
        </p:txBody>
      </p:sp>
      <p:sp>
        <p:nvSpPr>
          <p:cNvPr id="3" name="Text 1"/>
          <p:cNvSpPr/>
          <p:nvPr/>
        </p:nvSpPr>
        <p:spPr>
          <a:xfrm>
            <a:off x="640080" y="1051560"/>
            <a:ext cx="6675120" cy="278892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Skill = one</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reusable capability,</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bolted on</a:t>
            </a:r>
            <a:endParaRPr lang="en-US" sz="4000" dirty="0"/>
          </a:p>
        </p:txBody>
      </p:sp>
      <p:sp>
        <p:nvSpPr>
          <p:cNvPr id="4" name="Text 2"/>
          <p:cNvSpPr/>
          <p:nvPr/>
        </p:nvSpPr>
        <p:spPr>
          <a:xfrm>
            <a:off x="640080" y="3977640"/>
            <a:ext cx="6400800" cy="1188720"/>
          </a:xfrm>
          <a:prstGeom prst="rect">
            <a:avLst/>
          </a:prstGeom>
          <a:noFill/>
          <a:ln/>
        </p:spPr>
        <p:txBody>
          <a:bodyPr wrap="square" lIns="0" tIns="0" rIns="0" bIns="0" rtlCol="0" anchor="ctr"/>
          <a:lstStyle/>
          <a:p>
            <a:pPr indent="0" marL="0">
              <a:lnSpc>
                <a:spcPct val="130000"/>
              </a:lnSpc>
              <a:buNone/>
            </a:pPr>
            <a:r>
              <a:rPr lang="en-US" sz="1800" dirty="0">
                <a:solidFill>
                  <a:srgbClr val="D6E8F0"/>
                </a:solidFill>
                <a:latin typeface="Calibri" pitchFamily="34" charset="0"/>
                <a:ea typeface="Calibri" pitchFamily="34" charset="-122"/>
                <a:cs typeface="Calibri" pitchFamily="34" charset="-120"/>
              </a:rPr>
              <a:t>Covered so far: Agent, Model, Memory, Skill (Lessons 1-4). Next up: Hook — the trigger that runs something automatically. Also queued: Workflow, JSON, Python.</a:t>
            </a:r>
            <a:endParaRPr lang="en-US" sz="1800" dirty="0"/>
          </a:p>
        </p:txBody>
      </p:sp>
      <p:sp>
        <p:nvSpPr>
          <p:cNvPr id="5" name="Shape 3"/>
          <p:cNvSpPr/>
          <p:nvPr/>
        </p:nvSpPr>
        <p:spPr>
          <a:xfrm>
            <a:off x="7635240" y="777240"/>
            <a:ext cx="3931920" cy="5303520"/>
          </a:xfrm>
          <a:prstGeom prst="roundRect">
            <a:avLst>
              <a:gd name="adj" fmla="val 4186"/>
            </a:avLst>
          </a:prstGeom>
          <a:solidFill>
            <a:srgbClr val="FFFFFF"/>
          </a:solidFill>
          <a:ln/>
          <a:effectLst>
            <a:outerShdw sx="100000" sy="100000" kx="0" ky="0" algn="bl" rotWithShape="0" blurRad="152400" dist="76200" dir="5400000">
              <a:srgbClr val="0B1B2B">
                <a:alpha val="35000"/>
              </a:srgbClr>
            </a:outerShdw>
          </a:effectLst>
        </p:spPr>
      </p:sp>
      <p:pic>
        <p:nvPicPr>
          <p:cNvPr id="6" name="Image 0" descr="/tmp/claude-0/-home-user-my-professional-documents/1f5546ee-afd2-5311-9fc2-649b1c424249/scratchpad/ai_lesson/doodles_skill/07_recap_signpost_skill.png">    </p:cNvPr>
          <p:cNvPicPr>
            <a:picLocks noChangeAspect="1"/>
          </p:cNvPicPr>
          <p:nvPr/>
        </p:nvPicPr>
        <p:blipFill>
          <a:blip r:embed="rId1"/>
          <a:stretch>
            <a:fillRect/>
          </a:stretch>
        </p:blipFill>
        <p:spPr>
          <a:xfrm>
            <a:off x="7909560" y="1234440"/>
            <a:ext cx="3383280" cy="33832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2026-07-17T17:24:10Z</dcterms:created>
  <dcterms:modified xsi:type="dcterms:W3CDTF">2026-07-17T17:24:10Z</dcterms:modified>
</cp:coreProperties>
</file>