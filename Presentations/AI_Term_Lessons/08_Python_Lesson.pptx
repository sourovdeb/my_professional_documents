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assumes the viewer has seen Lessons 1-7 (Agent, Model, Memory, Skill, Hook, Workflow, JSON) - it treats those six terms as already-familiar vocabulary. If used standalone, add one sentence recapping "JSON" before the hook, since Python is framed as the language that writes the code moving that JSON around. Total runtime target: 2m50s narrated, stretchable to ~4m with pauses for doodles and a short live demo of a browser's Console tab or an Excel formula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on-screen example to one short line - avoid showing a full script for beginners; the goal is to show the shape of instructions, not to teach syntax. Emphasize: this is exactly what's running inside a Hook or an Agent from Lesson 6's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crux visual for the whole lesson - nearly every viewer has typed an Excel formula, so hold it a beat longer than the browser-console doodle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delivering live, this is the easiest moment to show the audience something real: open dev tools, click Console, type one line, and point at the immediate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short and let the visual carry it - it reinforces the 'ordered steps' idea from slide 2 with a very familiar, low-tech object before the Mistral Studio example ties everything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the Mistral Studio claims: general agent-platform implementation patterns (agent/skill/hook logic implemented in Python) - verify the exact current implementation language in Mistral Studio's own documentation before quoting it as a specific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Lesson 9 explicitly: Prompt. This also closes the original seed list from the task brief (memory, hook, skill, agent, model, JSON, Python) - a natural spot to pause before signing off if recording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548640"/>
            <a:ext cx="6858000" cy="457200"/>
          </a:xfrm>
          <a:prstGeom prst="rect">
            <a:avLst/>
          </a:prstGeom>
          <a:noFill/>
          <a:ln/>
        </p:spPr>
        <p:txBody>
          <a:bodyPr wrap="square" lIns="0" tIns="0" rIns="0" bIns="0" rtlCol="0" anchor="ctr"/>
          <a:lstStyle/>
          <a:p>
            <a:pPr indent="0" marL="0">
              <a:buNone/>
            </a:pPr>
            <a:r>
              <a:rPr lang="en-US" sz="1400" b="1" spc="200" kern="0" dirty="0">
                <a:solidFill>
                  <a:srgbClr val="F2C94C"/>
                </a:solidFill>
                <a:latin typeface="Calibri" pitchFamily="34" charset="0"/>
                <a:ea typeface="Calibri" pitchFamily="34" charset="-122"/>
                <a:cs typeface="Calibri" pitchFamily="34" charset="-120"/>
              </a:rPr>
              <a:t>AI EXPLAINED, PLAIN AND SIMPLE — LESSON 8</a:t>
            </a:r>
            <a:endParaRPr lang="en-US" sz="1400" dirty="0"/>
          </a:p>
        </p:txBody>
      </p:sp>
      <p:sp>
        <p:nvSpPr>
          <p:cNvPr id="3" name="Text 1"/>
          <p:cNvSpPr/>
          <p:nvPr/>
        </p:nvSpPr>
        <p:spPr>
          <a:xfrm>
            <a:off x="640080" y="1051560"/>
            <a:ext cx="6675120" cy="278892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What Is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"Python"?</a:t>
            </a:r>
            <a:endParaRPr lang="en-US" sz="4000" dirty="0"/>
          </a:p>
        </p:txBody>
      </p:sp>
      <p:sp>
        <p:nvSpPr>
          <p:cNvPr id="4" name="Text 2"/>
          <p:cNvSpPr/>
          <p:nvPr/>
        </p:nvSpPr>
        <p:spPr>
          <a:xfrm>
            <a:off x="640080" y="3977640"/>
            <a:ext cx="6400800" cy="1188720"/>
          </a:xfrm>
          <a:prstGeom prst="rect">
            <a:avLst/>
          </a:prstGeom>
          <a:noFill/>
          <a:ln/>
        </p:spPr>
        <p:txBody>
          <a:bodyPr wrap="square" lIns="0" tIns="0" rIns="0" bIns="0" rtlCol="0" anchor="t"/>
          <a:lstStyle/>
          <a:p>
            <a:pPr indent="0" marL="0">
              <a:lnSpc>
                <a:spcPct val="120000"/>
              </a:lnSpc>
              <a:buNone/>
            </a:pPr>
            <a:r>
              <a:rPr lang="en-US" sz="1500" dirty="0">
                <a:solidFill>
                  <a:srgbClr val="D6E8F0"/>
                </a:solidFill>
                <a:latin typeface="Calibri" pitchFamily="34" charset="0"/>
                <a:ea typeface="Calibri" pitchFamily="34" charset="-122"/>
                <a:cs typeface="Calibri" pitchFamily="34" charset="-120"/>
              </a:rPr>
              <a:t>Agent, Model, Memory, Skill, Hook, Workflow, and JSON have all been one piece at a time. Python is the language most of those pieces are actually written in.</a:t>
            </a:r>
            <a:endParaRPr lang="en-US" sz="1500" dirty="0"/>
          </a:p>
        </p:txBody>
      </p:sp>
      <p:sp>
        <p:nvSpPr>
          <p:cNvPr id="5" name="Shape 3"/>
          <p:cNvSpPr/>
          <p:nvPr/>
        </p:nvSpPr>
        <p:spPr>
          <a:xfrm>
            <a:off x="7635240" y="777240"/>
            <a:ext cx="3931920" cy="5303520"/>
          </a:xfrm>
          <a:prstGeom prst="roundRect">
            <a:avLst>
              <a:gd name="adj" fmla="val 2093"/>
            </a:avLst>
          </a:prstGeom>
          <a:solidFill>
            <a:srgbClr val="FFFFFF"/>
          </a:solidFill>
          <a:ln/>
        </p:spPr>
      </p:sp>
      <p:sp>
        <p:nvSpPr>
          <p:cNvPr id="6" name="Text 4"/>
          <p:cNvSpPr/>
          <p:nvPr/>
        </p:nvSpPr>
        <p:spPr>
          <a:xfrm>
            <a:off x="7772400" y="1051560"/>
            <a:ext cx="914400" cy="4754880"/>
          </a:xfrm>
          <a:prstGeom prst="rect">
            <a:avLst/>
          </a:prstGeom>
          <a:noFill/>
          <a:ln/>
        </p:spPr>
        <p:txBody>
          <a:bodyPr wrap="square" lIns="0" tIns="0" rIns="0" bIns="0" rtlCol="0" anchor="ctr"/>
          <a:lstStyle/>
          <a:p>
            <a:pPr algn="ctr" indent="0" marL="0">
              <a:buNone/>
            </a:pPr>
            <a:r>
              <a:rPr lang="en-US" sz="9600" b="1" dirty="0">
                <a:solidFill>
                  <a:srgbClr val="0FA3A3"/>
                </a:solidFill>
                <a:latin typeface="Cambria" pitchFamily="34" charset="0"/>
                <a:ea typeface="Cambria" pitchFamily="34" charset="-122"/>
                <a:cs typeface="Cambria" pitchFamily="34" charset="-120"/>
              </a:rPr>
              <a:t>(</a:t>
            </a:r>
            <a:endParaRPr lang="en-US" sz="9600" dirty="0"/>
          </a:p>
        </p:txBody>
      </p:sp>
      <p:sp>
        <p:nvSpPr>
          <p:cNvPr id="7" name="Text 5"/>
          <p:cNvSpPr/>
          <p:nvPr/>
        </p:nvSpPr>
        <p:spPr>
          <a:xfrm>
            <a:off x="10058400" y="1051560"/>
            <a:ext cx="914400" cy="4754880"/>
          </a:xfrm>
          <a:prstGeom prst="rect">
            <a:avLst/>
          </a:prstGeom>
          <a:noFill/>
          <a:ln/>
        </p:spPr>
        <p:txBody>
          <a:bodyPr wrap="square" lIns="0" tIns="0" rIns="0" bIns="0" rtlCol="0" anchor="ctr"/>
          <a:lstStyle/>
          <a:p>
            <a:pPr algn="ctr" indent="0" marL="0">
              <a:buNone/>
            </a:pPr>
            <a:r>
              <a:rPr lang="en-US" sz="9600" b="1" dirty="0">
                <a:solidFill>
                  <a:srgbClr val="0FA3A3"/>
                </a:solidFill>
                <a:latin typeface="Cambria" pitchFamily="34" charset="0"/>
                <a:ea typeface="Cambria" pitchFamily="34" charset="-122"/>
                <a:cs typeface="Cambria" pitchFamily="34" charset="-120"/>
              </a:rPr>
              <a:t>)</a:t>
            </a:r>
            <a:endParaRPr lang="en-US" sz="9600" dirty="0"/>
          </a:p>
        </p:txBody>
      </p:sp>
      <p:sp>
        <p:nvSpPr>
          <p:cNvPr id="8" name="Shape 6"/>
          <p:cNvSpPr/>
          <p:nvPr/>
        </p:nvSpPr>
        <p:spPr>
          <a:xfrm>
            <a:off x="8595360" y="2926080"/>
            <a:ext cx="1920240" cy="1005840"/>
          </a:xfrm>
          <a:prstGeom prst="roundRect">
            <a:avLst>
              <a:gd name="adj" fmla="val 13636"/>
            </a:avLst>
          </a:prstGeom>
          <a:solidFill>
            <a:srgbClr val="F0F6F6"/>
          </a:solidFill>
          <a:ln w="19050">
            <a:solidFill>
              <a:srgbClr val="1E3A5F"/>
            </a:solidFill>
            <a:prstDash val="solid"/>
          </a:ln>
        </p:spPr>
      </p:sp>
      <p:sp>
        <p:nvSpPr>
          <p:cNvPr id="9" name="Text 7"/>
          <p:cNvSpPr/>
          <p:nvPr/>
        </p:nvSpPr>
        <p:spPr>
          <a:xfrm>
            <a:off x="8595360" y="2926080"/>
            <a:ext cx="1920240" cy="1005840"/>
          </a:xfrm>
          <a:prstGeom prst="rect">
            <a:avLst/>
          </a:prstGeom>
          <a:noFill/>
          <a:ln/>
        </p:spPr>
        <p:txBody>
          <a:bodyPr wrap="square" lIns="0" tIns="0" rIns="0" bIns="0" rtlCol="0" anchor="ctr"/>
          <a:lstStyle/>
          <a:p>
            <a:pPr algn="ctr" indent="0" marL="0">
              <a:buNone/>
            </a:pPr>
            <a:r>
              <a:rPr lang="en-US" sz="1600" b="1" dirty="0">
                <a:solidFill>
                  <a:srgbClr val="1E3A5F"/>
                </a:solidFill>
                <a:latin typeface="Courier New" pitchFamily="34" charset="0"/>
                <a:ea typeface="Courier New" pitchFamily="34" charset="-122"/>
                <a:cs typeface="Courier New" pitchFamily="34" charset="-120"/>
              </a:rPr>
              <a:t>agent</a:t>
            </a:r>
            <a:pPr algn="ctr" indent="0" marL="0">
              <a:buNone/>
            </a:pPr>
            <a:r>
              <a:rPr lang="en-US" sz="1600" b="1" dirty="0">
                <a:solidFill>
                  <a:srgbClr val="0FA3A3"/>
                </a:solidFill>
                <a:latin typeface="Courier New" pitchFamily="34" charset="0"/>
                <a:ea typeface="Courier New" pitchFamily="34" charset="-122"/>
                <a:cs typeface="Courier New" pitchFamily="34" charset="-120"/>
              </a:rPr>
              <a:t>.run()</a:t>
            </a:r>
            <a:endParaRPr lang="en-US" sz="1600" dirty="0"/>
          </a:p>
        </p:txBody>
      </p:sp>
      <p:sp>
        <p:nvSpPr>
          <p:cNvPr id="10" name="Text 8"/>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THE EVERYDAY DEFINITION</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Ordered instructions, run top to bottom</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Python is a list of steps written as plain, readable text — the computer runs them in order, exactly as written, every single time.</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Every line is one instruction</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Lines run top to bottom, in order</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The same steps can repeat or branch, on command</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5577840" y="1188720"/>
            <a:ext cx="594360" cy="594360"/>
          </a:xfrm>
          <a:prstGeom prst="ellipse">
            <a:avLst/>
          </a:prstGeom>
          <a:solidFill>
            <a:srgbClr val="1E3A5F"/>
          </a:solidFill>
          <a:ln/>
        </p:spPr>
      </p:sp>
      <p:sp>
        <p:nvSpPr>
          <p:cNvPr id="9" name="Text 7"/>
          <p:cNvSpPr/>
          <p:nvPr/>
        </p:nvSpPr>
        <p:spPr>
          <a:xfrm>
            <a:off x="5577840" y="11887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Shape 8"/>
          <p:cNvSpPr/>
          <p:nvPr/>
        </p:nvSpPr>
        <p:spPr>
          <a:xfrm>
            <a:off x="6400800" y="1143000"/>
            <a:ext cx="4480560" cy="685800"/>
          </a:xfrm>
          <a:prstGeom prst="roundRect">
            <a:avLst>
              <a:gd name="adj" fmla="val 16000"/>
            </a:avLst>
          </a:prstGeom>
          <a:solidFill>
            <a:srgbClr val="F0F6F6"/>
          </a:solidFill>
          <a:ln w="12700">
            <a:solidFill>
              <a:srgbClr val="0FA3A3"/>
            </a:solidFill>
            <a:prstDash val="solid"/>
          </a:ln>
        </p:spPr>
      </p:sp>
      <p:sp>
        <p:nvSpPr>
          <p:cNvPr id="11" name="Text 9"/>
          <p:cNvSpPr/>
          <p:nvPr/>
        </p:nvSpPr>
        <p:spPr>
          <a:xfrm>
            <a:off x="6400800" y="1143000"/>
            <a:ext cx="4480560" cy="685800"/>
          </a:xfrm>
          <a:prstGeom prst="rect">
            <a:avLst/>
          </a:prstGeom>
          <a:noFill/>
          <a:ln/>
        </p:spPr>
        <p:txBody>
          <a:bodyPr wrap="square" lIns="0" tIns="0" rIns="0" bIns="0" rtlCol="0" anchor="ctr"/>
          <a:lstStyle/>
          <a:p>
            <a:pPr algn="ctr" indent="0" marL="0">
              <a:buNone/>
            </a:pPr>
            <a:r>
              <a:rPr lang="en-US" sz="1600" b="1" dirty="0">
                <a:solidFill>
                  <a:srgbClr val="1E3A5F"/>
                </a:solidFill>
                <a:latin typeface="Courier New" pitchFamily="34" charset="0"/>
                <a:ea typeface="Courier New" pitchFamily="34" charset="-122"/>
                <a:cs typeface="Courier New" pitchFamily="34" charset="-120"/>
              </a:rPr>
              <a:t>open the file</a:t>
            </a:r>
            <a:endParaRPr lang="en-US" sz="1600" dirty="0"/>
          </a:p>
        </p:txBody>
      </p:sp>
      <p:sp>
        <p:nvSpPr>
          <p:cNvPr id="12" name="Shape 10"/>
          <p:cNvSpPr/>
          <p:nvPr/>
        </p:nvSpPr>
        <p:spPr>
          <a:xfrm rot="10800000">
            <a:off x="5742432" y="1810512"/>
            <a:ext cx="256032" cy="201168"/>
          </a:xfrm>
          <a:prstGeom prst="triangle">
            <a:avLst/>
          </a:prstGeom>
          <a:solidFill>
            <a:srgbClr val="0FA3A3"/>
          </a:solidFill>
          <a:ln/>
        </p:spPr>
      </p:sp>
      <p:sp>
        <p:nvSpPr>
          <p:cNvPr id="13" name="Shape 11"/>
          <p:cNvSpPr/>
          <p:nvPr/>
        </p:nvSpPr>
        <p:spPr>
          <a:xfrm>
            <a:off x="5577840" y="2240280"/>
            <a:ext cx="594360" cy="594360"/>
          </a:xfrm>
          <a:prstGeom prst="ellipse">
            <a:avLst/>
          </a:prstGeom>
          <a:solidFill>
            <a:srgbClr val="1E3A5F"/>
          </a:solidFill>
          <a:ln/>
        </p:spPr>
      </p:sp>
      <p:sp>
        <p:nvSpPr>
          <p:cNvPr id="14" name="Text 12"/>
          <p:cNvSpPr/>
          <p:nvPr/>
        </p:nvSpPr>
        <p:spPr>
          <a:xfrm>
            <a:off x="5577840"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Shape 13"/>
          <p:cNvSpPr/>
          <p:nvPr/>
        </p:nvSpPr>
        <p:spPr>
          <a:xfrm>
            <a:off x="6400800" y="2194560"/>
            <a:ext cx="4480560" cy="685800"/>
          </a:xfrm>
          <a:prstGeom prst="roundRect">
            <a:avLst>
              <a:gd name="adj" fmla="val 16000"/>
            </a:avLst>
          </a:prstGeom>
          <a:solidFill>
            <a:srgbClr val="F0F6F6"/>
          </a:solidFill>
          <a:ln w="12700">
            <a:solidFill>
              <a:srgbClr val="0FA3A3"/>
            </a:solidFill>
            <a:prstDash val="solid"/>
          </a:ln>
        </p:spPr>
      </p:sp>
      <p:sp>
        <p:nvSpPr>
          <p:cNvPr id="16" name="Text 14"/>
          <p:cNvSpPr/>
          <p:nvPr/>
        </p:nvSpPr>
        <p:spPr>
          <a:xfrm>
            <a:off x="6400800" y="2194560"/>
            <a:ext cx="4480560" cy="685800"/>
          </a:xfrm>
          <a:prstGeom prst="rect">
            <a:avLst/>
          </a:prstGeom>
          <a:noFill/>
          <a:ln/>
        </p:spPr>
        <p:txBody>
          <a:bodyPr wrap="square" lIns="0" tIns="0" rIns="0" bIns="0" rtlCol="0" anchor="ctr"/>
          <a:lstStyle/>
          <a:p>
            <a:pPr algn="ctr" indent="0" marL="0">
              <a:buNone/>
            </a:pPr>
            <a:r>
              <a:rPr lang="en-US" sz="1600" b="1" dirty="0">
                <a:solidFill>
                  <a:srgbClr val="1E3A5F"/>
                </a:solidFill>
                <a:latin typeface="Courier New" pitchFamily="34" charset="0"/>
                <a:ea typeface="Courier New" pitchFamily="34" charset="-122"/>
                <a:cs typeface="Courier New" pitchFamily="34" charset="-120"/>
              </a:rPr>
              <a:t>read the data</a:t>
            </a:r>
            <a:endParaRPr lang="en-US" sz="1600" dirty="0"/>
          </a:p>
        </p:txBody>
      </p:sp>
      <p:sp>
        <p:nvSpPr>
          <p:cNvPr id="17" name="Shape 15"/>
          <p:cNvSpPr/>
          <p:nvPr/>
        </p:nvSpPr>
        <p:spPr>
          <a:xfrm rot="10800000">
            <a:off x="5742432" y="2862072"/>
            <a:ext cx="256032" cy="201168"/>
          </a:xfrm>
          <a:prstGeom prst="triangle">
            <a:avLst/>
          </a:prstGeom>
          <a:solidFill>
            <a:srgbClr val="0FA3A3"/>
          </a:solidFill>
          <a:ln/>
        </p:spPr>
      </p:sp>
      <p:sp>
        <p:nvSpPr>
          <p:cNvPr id="18" name="Shape 16"/>
          <p:cNvSpPr/>
          <p:nvPr/>
        </p:nvSpPr>
        <p:spPr>
          <a:xfrm>
            <a:off x="5577840" y="3291840"/>
            <a:ext cx="594360" cy="594360"/>
          </a:xfrm>
          <a:prstGeom prst="ellipse">
            <a:avLst/>
          </a:prstGeom>
          <a:solidFill>
            <a:srgbClr val="1E3A5F"/>
          </a:solidFill>
          <a:ln/>
        </p:spPr>
      </p:sp>
      <p:sp>
        <p:nvSpPr>
          <p:cNvPr id="19" name="Text 17"/>
          <p:cNvSpPr/>
          <p:nvPr/>
        </p:nvSpPr>
        <p:spPr>
          <a:xfrm>
            <a:off x="5577840" y="32918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Shape 18"/>
          <p:cNvSpPr/>
          <p:nvPr/>
        </p:nvSpPr>
        <p:spPr>
          <a:xfrm>
            <a:off x="6400800" y="3246120"/>
            <a:ext cx="4480560" cy="685800"/>
          </a:xfrm>
          <a:prstGeom prst="roundRect">
            <a:avLst>
              <a:gd name="adj" fmla="val 16000"/>
            </a:avLst>
          </a:prstGeom>
          <a:solidFill>
            <a:srgbClr val="F0F6F6"/>
          </a:solidFill>
          <a:ln w="12700">
            <a:solidFill>
              <a:srgbClr val="0FA3A3"/>
            </a:solidFill>
            <a:prstDash val="solid"/>
          </a:ln>
        </p:spPr>
      </p:sp>
      <p:sp>
        <p:nvSpPr>
          <p:cNvPr id="21" name="Text 19"/>
          <p:cNvSpPr/>
          <p:nvPr/>
        </p:nvSpPr>
        <p:spPr>
          <a:xfrm>
            <a:off x="6400800" y="3246120"/>
            <a:ext cx="4480560" cy="685800"/>
          </a:xfrm>
          <a:prstGeom prst="rect">
            <a:avLst/>
          </a:prstGeom>
          <a:noFill/>
          <a:ln/>
        </p:spPr>
        <p:txBody>
          <a:bodyPr wrap="square" lIns="0" tIns="0" rIns="0" bIns="0" rtlCol="0" anchor="ctr"/>
          <a:lstStyle/>
          <a:p>
            <a:pPr algn="ctr" indent="0" marL="0">
              <a:buNone/>
            </a:pPr>
            <a:r>
              <a:rPr lang="en-US" sz="1600" b="1" dirty="0">
                <a:solidFill>
                  <a:srgbClr val="1E3A5F"/>
                </a:solidFill>
                <a:latin typeface="Courier New" pitchFamily="34" charset="0"/>
                <a:ea typeface="Courier New" pitchFamily="34" charset="-122"/>
                <a:cs typeface="Courier New" pitchFamily="34" charset="-120"/>
              </a:rPr>
              <a:t>send the result</a:t>
            </a:r>
            <a:endParaRPr lang="en-US" sz="1600" dirty="0"/>
          </a:p>
        </p:txBody>
      </p:sp>
      <p:sp>
        <p:nvSpPr>
          <p:cNvPr id="22" name="Text 20"/>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OFFICE SUITE ANALOGY</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An Excel formula, scaled up</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A formula like =SUM(A1:A10) is already a tiny program: it names cells, states an operation, and Excel follows it exactly, every time. Python is that same idea, freed from one cell.</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Same shape — named inputs, one operation, an exact result</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Python isn't limited to a single cell or one line</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Read top to bottom, like a longer formula</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5577840" y="1371600"/>
            <a:ext cx="2468880" cy="731520"/>
          </a:xfrm>
          <a:prstGeom prst="roundRect">
            <a:avLst>
              <a:gd name="adj" fmla="val 10000"/>
            </a:avLst>
          </a:prstGeom>
          <a:solidFill>
            <a:srgbClr val="F0F6F6"/>
          </a:solidFill>
          <a:ln w="12700">
            <a:solidFill>
              <a:srgbClr val="1E3A5F"/>
            </a:solidFill>
            <a:prstDash val="solid"/>
          </a:ln>
        </p:spPr>
      </p:sp>
      <p:sp>
        <p:nvSpPr>
          <p:cNvPr id="9" name="Text 7"/>
          <p:cNvSpPr/>
          <p:nvPr/>
        </p:nvSpPr>
        <p:spPr>
          <a:xfrm>
            <a:off x="5715000" y="1371600"/>
            <a:ext cx="457200" cy="731520"/>
          </a:xfrm>
          <a:prstGeom prst="rect">
            <a:avLst/>
          </a:prstGeom>
          <a:noFill/>
          <a:ln/>
        </p:spPr>
        <p:txBody>
          <a:bodyPr wrap="square" lIns="0" tIns="0" rIns="0" bIns="0" rtlCol="0" anchor="ctr"/>
          <a:lstStyle/>
          <a:p>
            <a:pPr algn="ctr" indent="0" marL="0">
              <a:buNone/>
            </a:pPr>
            <a:r>
              <a:rPr lang="en-US" sz="1600" b="1" i="1" dirty="0">
                <a:solidFill>
                  <a:srgbClr val="0FA3A3"/>
                </a:solidFill>
                <a:latin typeface="Cambria" pitchFamily="34" charset="0"/>
                <a:ea typeface="Cambria" pitchFamily="34" charset="-122"/>
                <a:cs typeface="Cambria" pitchFamily="34" charset="-120"/>
              </a:rPr>
              <a:t>fx</a:t>
            </a:r>
            <a:endParaRPr lang="en-US" sz="1600" dirty="0"/>
          </a:p>
        </p:txBody>
      </p:sp>
      <p:sp>
        <p:nvSpPr>
          <p:cNvPr id="10" name="Text 8"/>
          <p:cNvSpPr/>
          <p:nvPr/>
        </p:nvSpPr>
        <p:spPr>
          <a:xfrm>
            <a:off x="6217920" y="1371600"/>
            <a:ext cx="1783080" cy="731520"/>
          </a:xfrm>
          <a:prstGeom prst="rect">
            <a:avLst/>
          </a:prstGeom>
          <a:noFill/>
          <a:ln/>
        </p:spPr>
        <p:txBody>
          <a:bodyPr wrap="square" lIns="0" tIns="0" rIns="0" bIns="0" rtlCol="0" anchor="ctr"/>
          <a:lstStyle/>
          <a:p>
            <a:pPr algn="l" indent="0" marL="0">
              <a:buNone/>
            </a:pPr>
            <a:r>
              <a:rPr lang="en-US" sz="1300" b="1" dirty="0">
                <a:solidFill>
                  <a:srgbClr val="1E3A5F"/>
                </a:solidFill>
                <a:latin typeface="Courier New" pitchFamily="34" charset="0"/>
                <a:ea typeface="Courier New" pitchFamily="34" charset="-122"/>
                <a:cs typeface="Courier New" pitchFamily="34" charset="-120"/>
              </a:rPr>
              <a:t>=SUM(A1:A10)</a:t>
            </a:r>
            <a:endParaRPr lang="en-US" sz="1300" dirty="0"/>
          </a:p>
        </p:txBody>
      </p:sp>
      <p:sp>
        <p:nvSpPr>
          <p:cNvPr id="11" name="Shape 9"/>
          <p:cNvSpPr/>
          <p:nvPr/>
        </p:nvSpPr>
        <p:spPr>
          <a:xfrm rot="5400000">
            <a:off x="8275320" y="1600200"/>
            <a:ext cx="320040" cy="274320"/>
          </a:xfrm>
          <a:prstGeom prst="triangle">
            <a:avLst/>
          </a:prstGeom>
          <a:solidFill>
            <a:srgbClr val="0FA3A3"/>
          </a:solidFill>
          <a:ln/>
        </p:spPr>
      </p:sp>
      <p:sp>
        <p:nvSpPr>
          <p:cNvPr id="12" name="Shape 10"/>
          <p:cNvSpPr/>
          <p:nvPr/>
        </p:nvSpPr>
        <p:spPr>
          <a:xfrm>
            <a:off x="8778240" y="1188720"/>
            <a:ext cx="2468880" cy="1097280"/>
          </a:xfrm>
          <a:prstGeom prst="roundRect">
            <a:avLst>
              <a:gd name="adj" fmla="val 6667"/>
            </a:avLst>
          </a:prstGeom>
          <a:solidFill>
            <a:srgbClr val="1E3A5F"/>
          </a:solidFill>
          <a:ln/>
        </p:spPr>
      </p:sp>
      <p:sp>
        <p:nvSpPr>
          <p:cNvPr id="13" name="Text 11"/>
          <p:cNvSpPr/>
          <p:nvPr/>
        </p:nvSpPr>
        <p:spPr>
          <a:xfrm>
            <a:off x="8915400" y="1280160"/>
            <a:ext cx="2194560" cy="914400"/>
          </a:xfrm>
          <a:prstGeom prst="rect">
            <a:avLst/>
          </a:prstGeom>
          <a:noFill/>
          <a:ln/>
        </p:spPr>
        <p:txBody>
          <a:bodyPr wrap="square" lIns="0" tIns="0" rIns="0" bIns="0" rtlCol="0" anchor="ctr"/>
          <a:lstStyle/>
          <a:p>
            <a:pPr algn="l" indent="0" marL="0">
              <a:lnSpc>
                <a:spcPct val="130000"/>
              </a:lnSpc>
              <a:buNone/>
            </a:pPr>
            <a:r>
              <a:rPr lang="en-US" sz="1100" dirty="0">
                <a:solidFill>
                  <a:srgbClr val="F0F6F6"/>
                </a:solidFill>
                <a:latin typeface="Courier New" pitchFamily="34" charset="0"/>
                <a:ea typeface="Courier New" pitchFamily="34" charset="-122"/>
                <a:cs typeface="Courier New" pitchFamily="34" charset="-120"/>
              </a:rPr>
              <a:t>total = 0</a:t>
            </a:r>
            <a:endParaRPr lang="en-US" sz="1100" dirty="0"/>
          </a:p>
          <a:p>
            <a:pPr algn="l" indent="0" marL="0">
              <a:lnSpc>
                <a:spcPct val="130000"/>
              </a:lnSpc>
              <a:buNone/>
            </a:pPr>
            <a:r>
              <a:rPr lang="en-US" sz="1100" dirty="0">
                <a:solidFill>
                  <a:srgbClr val="F0F6F6"/>
                </a:solidFill>
                <a:latin typeface="Courier New" pitchFamily="34" charset="0"/>
                <a:ea typeface="Courier New" pitchFamily="34" charset="-122"/>
                <a:cs typeface="Courier New" pitchFamily="34" charset="-120"/>
              </a:rPr>
              <a:t>for cell in row:</a:t>
            </a:r>
            <a:endParaRPr lang="en-US" sz="1100" dirty="0"/>
          </a:p>
          <a:p>
            <a:pPr algn="l" indent="0" marL="0">
              <a:lnSpc>
                <a:spcPct val="130000"/>
              </a:lnSpc>
              <a:buNone/>
            </a:pPr>
            <a:r>
              <a:rPr lang="en-US" sz="1100" dirty="0">
                <a:solidFill>
                  <a:srgbClr val="F0F6F6"/>
                </a:solidFill>
                <a:latin typeface="Courier New" pitchFamily="34" charset="0"/>
                <a:ea typeface="Courier New" pitchFamily="34" charset="-122"/>
                <a:cs typeface="Courier New" pitchFamily="34" charset="-120"/>
              </a:rPr>
              <a:t>  total += cell</a:t>
            </a:r>
            <a:endParaRPr lang="en-US" sz="1100" dirty="0"/>
          </a:p>
        </p:txBody>
      </p:sp>
      <p:sp>
        <p:nvSpPr>
          <p:cNvPr id="14" name="Text 12"/>
          <p:cNvSpPr/>
          <p:nvPr/>
        </p:nvSpPr>
        <p:spPr>
          <a:xfrm>
            <a:off x="5577840" y="2743200"/>
            <a:ext cx="5577840" cy="457200"/>
          </a:xfrm>
          <a:prstGeom prst="rect">
            <a:avLst/>
          </a:prstGeom>
          <a:noFill/>
          <a:ln/>
        </p:spPr>
        <p:txBody>
          <a:bodyPr wrap="square" lIns="0" tIns="0" rIns="0" bIns="0" rtlCol="0" anchor="ctr"/>
          <a:lstStyle/>
          <a:p>
            <a:pPr algn="ctr" indent="0" marL="0">
              <a:buNone/>
            </a:pPr>
            <a:r>
              <a:rPr lang="en-US" sz="1200" i="1" dirty="0">
                <a:solidFill>
                  <a:srgbClr val="222222"/>
                </a:solidFill>
                <a:latin typeface="Calibri" pitchFamily="34" charset="0"/>
                <a:ea typeface="Calibri" pitchFamily="34" charset="-122"/>
                <a:cs typeface="Calibri" pitchFamily="34" charset="-120"/>
              </a:rPr>
              <a:t>A formula is a tiny program — Python just isn't stuck in one cell</a:t>
            </a:r>
            <a:endParaRPr lang="en-US" sz="1200" dirty="0"/>
          </a:p>
        </p:txBody>
      </p:sp>
      <p:sp>
        <p:nvSpPr>
          <p:cNvPr id="15" name="Shape 13"/>
          <p:cNvSpPr/>
          <p:nvPr/>
        </p:nvSpPr>
        <p:spPr>
          <a:xfrm>
            <a:off x="5577840" y="3429000"/>
            <a:ext cx="5577840" cy="0"/>
          </a:xfrm>
          <a:prstGeom prst="line">
            <a:avLst/>
          </a:prstGeom>
          <a:noFill/>
          <a:ln w="12700">
            <a:solidFill>
              <a:srgbClr val="D6E8F0"/>
            </a:solidFill>
            <a:prstDash val="solid"/>
          </a:ln>
        </p:spPr>
      </p:sp>
      <p:sp>
        <p:nvSpPr>
          <p:cNvPr id="16" name="Shape 14"/>
          <p:cNvSpPr/>
          <p:nvPr/>
        </p:nvSpPr>
        <p:spPr>
          <a:xfrm>
            <a:off x="5577840" y="3749040"/>
            <a:ext cx="2651760" cy="1737360"/>
          </a:xfrm>
          <a:prstGeom prst="roundRect">
            <a:avLst>
              <a:gd name="adj" fmla="val 5263"/>
            </a:avLst>
          </a:prstGeom>
          <a:solidFill>
            <a:srgbClr val="F0F6F6"/>
          </a:solidFill>
          <a:ln/>
        </p:spPr>
      </p:sp>
      <p:sp>
        <p:nvSpPr>
          <p:cNvPr id="17" name="Text 15"/>
          <p:cNvSpPr/>
          <p:nvPr/>
        </p:nvSpPr>
        <p:spPr>
          <a:xfrm>
            <a:off x="5760720" y="3886200"/>
            <a:ext cx="2286000" cy="1463040"/>
          </a:xfrm>
          <a:prstGeom prst="rect">
            <a:avLst/>
          </a:prstGeom>
          <a:noFill/>
          <a:ln/>
        </p:spPr>
        <p:txBody>
          <a:bodyPr wrap="square" lIns="0" tIns="0" rIns="0" bIns="0" rtlCol="0" anchor="t"/>
          <a:lstStyle/>
          <a:p>
            <a:pPr algn="l" indent="0" marL="0">
              <a:lnSpc>
                <a:spcPct val="135000"/>
              </a:lnSpc>
              <a:buNone/>
            </a:pPr>
            <a:r>
              <a:rPr lang="en-US" sz="1250" b="1" dirty="0">
                <a:solidFill>
                  <a:srgbClr val="1E3A5F"/>
                </a:solidFill>
                <a:latin typeface="Calibri" pitchFamily="34" charset="0"/>
                <a:ea typeface="Calibri" pitchFamily="34" charset="-122"/>
                <a:cs typeface="Calibri" pitchFamily="34" charset="-120"/>
              </a:rPr>
              <a:t>Excel formula</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named cells</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one operation</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exact result</a:t>
            </a:r>
            <a:endParaRPr lang="en-US" sz="1250" dirty="0"/>
          </a:p>
        </p:txBody>
      </p:sp>
      <p:sp>
        <p:nvSpPr>
          <p:cNvPr id="18" name="Shape 16"/>
          <p:cNvSpPr/>
          <p:nvPr/>
        </p:nvSpPr>
        <p:spPr>
          <a:xfrm>
            <a:off x="8503920" y="3749040"/>
            <a:ext cx="2743200" cy="1737360"/>
          </a:xfrm>
          <a:prstGeom prst="roundRect">
            <a:avLst>
              <a:gd name="adj" fmla="val 5263"/>
            </a:avLst>
          </a:prstGeom>
          <a:solidFill>
            <a:srgbClr val="F0F6F6"/>
          </a:solidFill>
          <a:ln/>
        </p:spPr>
      </p:sp>
      <p:sp>
        <p:nvSpPr>
          <p:cNvPr id="19" name="Text 17"/>
          <p:cNvSpPr/>
          <p:nvPr/>
        </p:nvSpPr>
        <p:spPr>
          <a:xfrm>
            <a:off x="8686800" y="3886200"/>
            <a:ext cx="2377440" cy="1463040"/>
          </a:xfrm>
          <a:prstGeom prst="rect">
            <a:avLst/>
          </a:prstGeom>
          <a:noFill/>
          <a:ln/>
        </p:spPr>
        <p:txBody>
          <a:bodyPr wrap="square" lIns="0" tIns="0" rIns="0" bIns="0" rtlCol="0" anchor="t"/>
          <a:lstStyle/>
          <a:p>
            <a:pPr algn="l" indent="0" marL="0">
              <a:lnSpc>
                <a:spcPct val="135000"/>
              </a:lnSpc>
              <a:buNone/>
            </a:pPr>
            <a:r>
              <a:rPr lang="en-US" sz="1250" b="1" dirty="0">
                <a:solidFill>
                  <a:srgbClr val="0FA3A3"/>
                </a:solidFill>
                <a:latin typeface="Calibri" pitchFamily="34" charset="0"/>
                <a:ea typeface="Calibri" pitchFamily="34" charset="-122"/>
                <a:cs typeface="Calibri" pitchFamily="34" charset="-120"/>
              </a:rPr>
              <a:t>Python</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named variables</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many operations</a:t>
            </a:r>
            <a:endParaRPr lang="en-US" sz="1250" dirty="0"/>
          </a:p>
          <a:p>
            <a:pPr algn="l" indent="0" marL="0">
              <a:lnSpc>
                <a:spcPct val="135000"/>
              </a:lnSpc>
              <a:buNone/>
            </a:pPr>
            <a:r>
              <a:rPr lang="en-US" sz="1250" dirty="0">
                <a:solidFill>
                  <a:srgbClr val="222222"/>
                </a:solidFill>
                <a:latin typeface="Calibri" pitchFamily="34" charset="0"/>
                <a:ea typeface="Calibri" pitchFamily="34" charset="-122"/>
                <a:cs typeface="Calibri" pitchFamily="34" charset="-120"/>
              </a:rPr>
              <a:t>exact result, every line</a:t>
            </a:r>
            <a:endParaRPr lang="en-US" sz="1250" dirty="0"/>
          </a:p>
        </p:txBody>
      </p:sp>
      <p:sp>
        <p:nvSpPr>
          <p:cNvPr id="20" name="Text 18"/>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3/7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BROWSER ANALOGY</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Typed instructions, obeyed exactly</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Click a browser's Console tab and type a line of code — it runs immediately, exactly as typed. Python is that same relationship, usually running behind the scenes instead of inside a page.</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Console tab: type a line, watch it run instantly</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Python usually runs behind the scenes, not inside a page</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Same idea either way: text in, exact behavior out</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5577840" y="1234440"/>
            <a:ext cx="5577840" cy="2926080"/>
          </a:xfrm>
          <a:prstGeom prst="roundRect">
            <a:avLst>
              <a:gd name="adj" fmla="val 2500"/>
            </a:avLst>
          </a:prstGeom>
          <a:solidFill>
            <a:srgbClr val="F0F6F6"/>
          </a:solidFill>
          <a:ln w="19050">
            <a:solidFill>
              <a:srgbClr val="1E3A5F"/>
            </a:solidFill>
            <a:prstDash val="solid"/>
          </a:ln>
        </p:spPr>
      </p:sp>
      <p:sp>
        <p:nvSpPr>
          <p:cNvPr id="9" name="Shape 7"/>
          <p:cNvSpPr/>
          <p:nvPr/>
        </p:nvSpPr>
        <p:spPr>
          <a:xfrm>
            <a:off x="5577840" y="1234440"/>
            <a:ext cx="5577840" cy="457200"/>
          </a:xfrm>
          <a:prstGeom prst="rect">
            <a:avLst/>
          </a:prstGeom>
          <a:solidFill>
            <a:srgbClr val="1E3A5F"/>
          </a:solidFill>
          <a:ln/>
        </p:spPr>
      </p:sp>
      <p:sp>
        <p:nvSpPr>
          <p:cNvPr id="10" name="Shape 8"/>
          <p:cNvSpPr/>
          <p:nvPr/>
        </p:nvSpPr>
        <p:spPr>
          <a:xfrm>
            <a:off x="5742432" y="1399032"/>
            <a:ext cx="128016" cy="128016"/>
          </a:xfrm>
          <a:prstGeom prst="ellipse">
            <a:avLst/>
          </a:prstGeom>
          <a:solidFill>
            <a:srgbClr val="F2C94C"/>
          </a:solidFill>
          <a:ln/>
        </p:spPr>
      </p:sp>
      <p:sp>
        <p:nvSpPr>
          <p:cNvPr id="11" name="Shape 9"/>
          <p:cNvSpPr/>
          <p:nvPr/>
        </p:nvSpPr>
        <p:spPr>
          <a:xfrm>
            <a:off x="5998464" y="1399032"/>
            <a:ext cx="128016" cy="128016"/>
          </a:xfrm>
          <a:prstGeom prst="ellipse">
            <a:avLst/>
          </a:prstGeom>
          <a:solidFill>
            <a:srgbClr val="0FA3A3"/>
          </a:solidFill>
          <a:ln/>
        </p:spPr>
      </p:sp>
      <p:sp>
        <p:nvSpPr>
          <p:cNvPr id="12" name="Shape 10"/>
          <p:cNvSpPr/>
          <p:nvPr/>
        </p:nvSpPr>
        <p:spPr>
          <a:xfrm>
            <a:off x="6254496" y="1399032"/>
            <a:ext cx="128016" cy="128016"/>
          </a:xfrm>
          <a:prstGeom prst="ellipse">
            <a:avLst/>
          </a:prstGeom>
          <a:solidFill>
            <a:srgbClr val="FFFFFF"/>
          </a:solidFill>
          <a:ln/>
        </p:spPr>
      </p:sp>
      <p:sp>
        <p:nvSpPr>
          <p:cNvPr id="13" name="Text 11"/>
          <p:cNvSpPr/>
          <p:nvPr/>
        </p:nvSpPr>
        <p:spPr>
          <a:xfrm>
            <a:off x="8503920" y="1234440"/>
            <a:ext cx="2468880" cy="457200"/>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Console</a:t>
            </a:r>
            <a:endParaRPr lang="en-US" sz="1200" dirty="0"/>
          </a:p>
        </p:txBody>
      </p:sp>
      <p:sp>
        <p:nvSpPr>
          <p:cNvPr id="14" name="Text 12"/>
          <p:cNvSpPr/>
          <p:nvPr/>
        </p:nvSpPr>
        <p:spPr>
          <a:xfrm>
            <a:off x="5806440" y="1920240"/>
            <a:ext cx="5120640" cy="1737360"/>
          </a:xfrm>
          <a:prstGeom prst="rect">
            <a:avLst/>
          </a:prstGeom>
          <a:noFill/>
          <a:ln/>
        </p:spPr>
        <p:txBody>
          <a:bodyPr wrap="square" lIns="0" tIns="0" rIns="0" bIns="0" rtlCol="0" anchor="t"/>
          <a:lstStyle/>
          <a:p>
            <a:pPr algn="l" indent="0" marL="0">
              <a:lnSpc>
                <a:spcPct val="160000"/>
              </a:lnSpc>
              <a:buNone/>
            </a:pPr>
            <a:r>
              <a:rPr lang="en-US" sz="1600" b="1" dirty="0">
                <a:solidFill>
                  <a:srgbClr val="0FA3A3"/>
                </a:solidFill>
                <a:latin typeface="Courier New" pitchFamily="34" charset="0"/>
                <a:ea typeface="Courier New" pitchFamily="34" charset="-122"/>
                <a:cs typeface="Courier New" pitchFamily="34" charset="-120"/>
              </a:rPr>
              <a:t>&gt;&gt;&gt; agent.run()</a:t>
            </a:r>
            <a:endParaRPr lang="en-US" sz="1600" dirty="0"/>
          </a:p>
          <a:p>
            <a:pPr algn="l" indent="0" marL="0">
              <a:lnSpc>
                <a:spcPct val="160000"/>
              </a:lnSpc>
              <a:buNone/>
            </a:pPr>
            <a:r>
              <a:rPr lang="en-US" sz="1600" dirty="0">
                <a:solidFill>
                  <a:srgbClr val="222222"/>
                </a:solidFill>
                <a:latin typeface="Courier New" pitchFamily="34" charset="0"/>
                <a:ea typeface="Courier New" pitchFamily="34" charset="-122"/>
                <a:cs typeface="Courier New" pitchFamily="34" charset="-120"/>
              </a:rPr>
              <a:t>"done"</a:t>
            </a:r>
            <a:endParaRPr lang="en-US" sz="1600" dirty="0"/>
          </a:p>
        </p:txBody>
      </p:sp>
      <p:sp>
        <p:nvSpPr>
          <p:cNvPr id="15" name="Text 13"/>
          <p:cNvSpPr/>
          <p:nvPr/>
        </p:nvSpPr>
        <p:spPr>
          <a:xfrm>
            <a:off x="5577840" y="4343400"/>
            <a:ext cx="5577840" cy="365760"/>
          </a:xfrm>
          <a:prstGeom prst="rect">
            <a:avLst/>
          </a:prstGeom>
          <a:noFill/>
          <a:ln/>
        </p:spPr>
        <p:txBody>
          <a:bodyPr wrap="square" lIns="0" tIns="0" rIns="0" bIns="0" rtlCol="0" anchor="ctr"/>
          <a:lstStyle/>
          <a:p>
            <a:pPr algn="ctr" indent="0" marL="0">
              <a:buNone/>
            </a:pPr>
            <a:r>
              <a:rPr lang="en-US" sz="1200" i="1" dirty="0">
                <a:solidFill>
                  <a:srgbClr val="222222"/>
                </a:solidFill>
                <a:latin typeface="Calibri" pitchFamily="34" charset="0"/>
                <a:ea typeface="Calibri" pitchFamily="34" charset="-122"/>
                <a:cs typeface="Calibri" pitchFamily="34" charset="-120"/>
              </a:rPr>
              <a:t>Type a line → it runs instantly, exactly as typed</a:t>
            </a:r>
            <a:endParaRPr lang="en-US" sz="1200" dirty="0"/>
          </a:p>
        </p:txBody>
      </p:sp>
      <p:sp>
        <p:nvSpPr>
          <p:cNvPr id="16" name="Text 14"/>
          <p:cNvSpPr/>
          <p:nvPr/>
        </p:nvSpPr>
        <p:spPr>
          <a:xfrm>
            <a:off x="5577840" y="4754880"/>
            <a:ext cx="5577840" cy="45720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Python usually runs quietly behind the scenes instead</a:t>
            </a:r>
            <a:endParaRPr lang="en-US" sz="1300" dirty="0"/>
          </a:p>
        </p:txBody>
      </p:sp>
      <p:sp>
        <p:nvSpPr>
          <p:cNvPr id="17" name="Text 15"/>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4/7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EVERYDAY-TASK ANALOGY</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A recipe's numbered steps</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A recipe's steps are numbered and done in order — preheat, then mix, then bake. Python reads the same way: step 1, then step 2, then step 3, in exact order.</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Steps are numbered, not optional</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Order matters — step 2 waits for step 1</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Recipes have done this on paper for centuries</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5852160" y="1188720"/>
            <a:ext cx="3108960" cy="3840480"/>
          </a:xfrm>
          <a:prstGeom prst="roundRect">
            <a:avLst>
              <a:gd name="adj" fmla="val 2941"/>
            </a:avLst>
          </a:prstGeom>
          <a:solidFill>
            <a:srgbClr val="F0F6F6"/>
          </a:solidFill>
          <a:ln w="19050">
            <a:solidFill>
              <a:srgbClr val="1E3A5F"/>
            </a:solidFill>
            <a:prstDash val="solid"/>
          </a:ln>
        </p:spPr>
      </p:sp>
      <p:sp>
        <p:nvSpPr>
          <p:cNvPr id="9" name="Text 7"/>
          <p:cNvSpPr/>
          <p:nvPr/>
        </p:nvSpPr>
        <p:spPr>
          <a:xfrm>
            <a:off x="6035040" y="1371600"/>
            <a:ext cx="2743200" cy="457200"/>
          </a:xfrm>
          <a:prstGeom prst="rect">
            <a:avLst/>
          </a:prstGeom>
          <a:noFill/>
          <a:ln/>
        </p:spPr>
        <p:txBody>
          <a:bodyPr wrap="square" lIns="0" tIns="0" rIns="0" bIns="0" rtlCol="0" anchor="ctr"/>
          <a:lstStyle/>
          <a:p>
            <a:pPr indent="0" marL="0">
              <a:buNone/>
            </a:pPr>
            <a:r>
              <a:rPr lang="en-US" sz="1800" b="1" dirty="0">
                <a:solidFill>
                  <a:srgbClr val="1E3A5F"/>
                </a:solidFill>
                <a:latin typeface="Cambria" pitchFamily="34" charset="0"/>
                <a:ea typeface="Cambria" pitchFamily="34" charset="-122"/>
                <a:cs typeface="Cambria" pitchFamily="34" charset="-120"/>
              </a:rPr>
              <a:t>Steps</a:t>
            </a:r>
            <a:endParaRPr lang="en-US" sz="1800" dirty="0"/>
          </a:p>
        </p:txBody>
      </p:sp>
      <p:sp>
        <p:nvSpPr>
          <p:cNvPr id="10" name="Shape 8"/>
          <p:cNvSpPr/>
          <p:nvPr/>
        </p:nvSpPr>
        <p:spPr>
          <a:xfrm>
            <a:off x="6035040" y="2057400"/>
            <a:ext cx="2743200" cy="594360"/>
          </a:xfrm>
          <a:prstGeom prst="roundRect">
            <a:avLst>
              <a:gd name="adj" fmla="val 15385"/>
            </a:avLst>
          </a:prstGeom>
          <a:solidFill>
            <a:srgbClr val="FFFFFF"/>
          </a:solidFill>
          <a:ln w="12700">
            <a:solidFill>
              <a:srgbClr val="0FA3A3"/>
            </a:solidFill>
            <a:prstDash val="solid"/>
          </a:ln>
        </p:spPr>
      </p:sp>
      <p:sp>
        <p:nvSpPr>
          <p:cNvPr id="11" name="Text 9"/>
          <p:cNvSpPr/>
          <p:nvPr/>
        </p:nvSpPr>
        <p:spPr>
          <a:xfrm>
            <a:off x="6172200" y="2057400"/>
            <a:ext cx="2468880" cy="594360"/>
          </a:xfrm>
          <a:prstGeom prst="rect">
            <a:avLst/>
          </a:prstGeom>
          <a:noFill/>
          <a:ln/>
        </p:spPr>
        <p:txBody>
          <a:bodyPr wrap="square" lIns="0" tIns="0" rIns="0" bIns="0" rtlCol="0" anchor="ctr"/>
          <a:lstStyle/>
          <a:p>
            <a:pPr indent="0" marL="0">
              <a:buNone/>
            </a:pPr>
            <a:r>
              <a:rPr lang="en-US" sz="1500" b="1" dirty="0">
                <a:solidFill>
                  <a:srgbClr val="1E3A5F"/>
                </a:solidFill>
                <a:latin typeface="Courier New" pitchFamily="34" charset="0"/>
                <a:ea typeface="Courier New" pitchFamily="34" charset="-122"/>
                <a:cs typeface="Courier New" pitchFamily="34" charset="-120"/>
              </a:rPr>
              <a:t>1. Preheat</a:t>
            </a:r>
            <a:endParaRPr lang="en-US" sz="1500" dirty="0"/>
          </a:p>
        </p:txBody>
      </p:sp>
      <p:sp>
        <p:nvSpPr>
          <p:cNvPr id="12" name="Shape 10"/>
          <p:cNvSpPr/>
          <p:nvPr/>
        </p:nvSpPr>
        <p:spPr>
          <a:xfrm>
            <a:off x="6035040" y="2926080"/>
            <a:ext cx="2743200" cy="594360"/>
          </a:xfrm>
          <a:prstGeom prst="roundRect">
            <a:avLst>
              <a:gd name="adj" fmla="val 15385"/>
            </a:avLst>
          </a:prstGeom>
          <a:solidFill>
            <a:srgbClr val="FFFFFF"/>
          </a:solidFill>
          <a:ln w="12700">
            <a:solidFill>
              <a:srgbClr val="0FA3A3"/>
            </a:solidFill>
            <a:prstDash val="solid"/>
          </a:ln>
        </p:spPr>
      </p:sp>
      <p:sp>
        <p:nvSpPr>
          <p:cNvPr id="13" name="Text 11"/>
          <p:cNvSpPr/>
          <p:nvPr/>
        </p:nvSpPr>
        <p:spPr>
          <a:xfrm>
            <a:off x="6172200" y="2926080"/>
            <a:ext cx="2468880" cy="594360"/>
          </a:xfrm>
          <a:prstGeom prst="rect">
            <a:avLst/>
          </a:prstGeom>
          <a:noFill/>
          <a:ln/>
        </p:spPr>
        <p:txBody>
          <a:bodyPr wrap="square" lIns="0" tIns="0" rIns="0" bIns="0" rtlCol="0" anchor="ctr"/>
          <a:lstStyle/>
          <a:p>
            <a:pPr indent="0" marL="0">
              <a:buNone/>
            </a:pPr>
            <a:r>
              <a:rPr lang="en-US" sz="1500" b="1" dirty="0">
                <a:solidFill>
                  <a:srgbClr val="1E3A5F"/>
                </a:solidFill>
                <a:latin typeface="Courier New" pitchFamily="34" charset="0"/>
                <a:ea typeface="Courier New" pitchFamily="34" charset="-122"/>
                <a:cs typeface="Courier New" pitchFamily="34" charset="-120"/>
              </a:rPr>
              <a:t>2. Mix</a:t>
            </a:r>
            <a:endParaRPr lang="en-US" sz="1500" dirty="0"/>
          </a:p>
        </p:txBody>
      </p:sp>
      <p:sp>
        <p:nvSpPr>
          <p:cNvPr id="14" name="Shape 12"/>
          <p:cNvSpPr/>
          <p:nvPr/>
        </p:nvSpPr>
        <p:spPr>
          <a:xfrm>
            <a:off x="6035040" y="3794760"/>
            <a:ext cx="2743200" cy="594360"/>
          </a:xfrm>
          <a:prstGeom prst="roundRect">
            <a:avLst>
              <a:gd name="adj" fmla="val 15385"/>
            </a:avLst>
          </a:prstGeom>
          <a:solidFill>
            <a:srgbClr val="FFFFFF"/>
          </a:solidFill>
          <a:ln w="12700">
            <a:solidFill>
              <a:srgbClr val="0FA3A3"/>
            </a:solidFill>
            <a:prstDash val="solid"/>
          </a:ln>
        </p:spPr>
      </p:sp>
      <p:sp>
        <p:nvSpPr>
          <p:cNvPr id="15" name="Text 13"/>
          <p:cNvSpPr/>
          <p:nvPr/>
        </p:nvSpPr>
        <p:spPr>
          <a:xfrm>
            <a:off x="6172200" y="3794760"/>
            <a:ext cx="2468880" cy="594360"/>
          </a:xfrm>
          <a:prstGeom prst="rect">
            <a:avLst/>
          </a:prstGeom>
          <a:noFill/>
          <a:ln/>
        </p:spPr>
        <p:txBody>
          <a:bodyPr wrap="square" lIns="0" tIns="0" rIns="0" bIns="0" rtlCol="0" anchor="ctr"/>
          <a:lstStyle/>
          <a:p>
            <a:pPr indent="0" marL="0">
              <a:buNone/>
            </a:pPr>
            <a:r>
              <a:rPr lang="en-US" sz="1500" b="1" dirty="0">
                <a:solidFill>
                  <a:srgbClr val="1E3A5F"/>
                </a:solidFill>
                <a:latin typeface="Courier New" pitchFamily="34" charset="0"/>
                <a:ea typeface="Courier New" pitchFamily="34" charset="-122"/>
                <a:cs typeface="Courier New" pitchFamily="34" charset="-120"/>
              </a:rPr>
              <a:t>3. Bake</a:t>
            </a:r>
            <a:endParaRPr lang="en-US" sz="1500" dirty="0"/>
          </a:p>
        </p:txBody>
      </p:sp>
      <p:sp>
        <p:nvSpPr>
          <p:cNvPr id="16" name="Shape 14"/>
          <p:cNvSpPr/>
          <p:nvPr/>
        </p:nvSpPr>
        <p:spPr>
          <a:xfrm rot="5400000">
            <a:off x="9098280" y="2880360"/>
            <a:ext cx="365760" cy="320040"/>
          </a:xfrm>
          <a:prstGeom prst="triangle">
            <a:avLst/>
          </a:prstGeom>
          <a:solidFill>
            <a:srgbClr val="0FA3A3"/>
          </a:solidFill>
          <a:ln/>
        </p:spPr>
      </p:sp>
      <p:sp>
        <p:nvSpPr>
          <p:cNvPr id="17" name="Shape 15"/>
          <p:cNvSpPr/>
          <p:nvPr/>
        </p:nvSpPr>
        <p:spPr>
          <a:xfrm>
            <a:off x="9601200" y="2423160"/>
            <a:ext cx="1737360" cy="914400"/>
          </a:xfrm>
          <a:prstGeom prst="roundRect">
            <a:avLst>
              <a:gd name="adj" fmla="val 10000"/>
            </a:avLst>
          </a:prstGeom>
          <a:solidFill>
            <a:srgbClr val="1E3A5F"/>
          </a:solidFill>
          <a:ln/>
        </p:spPr>
      </p:sp>
      <p:sp>
        <p:nvSpPr>
          <p:cNvPr id="18" name="Text 16"/>
          <p:cNvSpPr/>
          <p:nvPr/>
        </p:nvSpPr>
        <p:spPr>
          <a:xfrm>
            <a:off x="9692640" y="2514600"/>
            <a:ext cx="155448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one step</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the next</a:t>
            </a:r>
            <a:endParaRPr lang="en-US" sz="1200" dirty="0"/>
          </a:p>
        </p:txBody>
      </p:sp>
      <p:sp>
        <p:nvSpPr>
          <p:cNvPr id="19" name="Text 17"/>
          <p:cNvSpPr/>
          <p:nvPr/>
        </p:nvSpPr>
        <p:spPr>
          <a:xfrm>
            <a:off x="5577840" y="5257800"/>
            <a:ext cx="5852160" cy="548640"/>
          </a:xfrm>
          <a:prstGeom prst="rect">
            <a:avLst/>
          </a:prstGeom>
          <a:noFill/>
          <a:ln/>
        </p:spPr>
        <p:txBody>
          <a:bodyPr wrap="square" lIns="0" tIns="0" rIns="0" bIns="0" rtlCol="0" anchor="ctr"/>
          <a:lstStyle/>
          <a:p>
            <a:pPr algn="ctr" indent="0" marL="0">
              <a:buNone/>
            </a:pPr>
            <a:r>
              <a:rPr lang="en-US" sz="1200" i="1" dirty="0">
                <a:solidFill>
                  <a:srgbClr val="222222"/>
                </a:solidFill>
                <a:latin typeface="Calibri" pitchFamily="34" charset="0"/>
                <a:ea typeface="Calibri" pitchFamily="34" charset="-122"/>
                <a:cs typeface="Calibri" pitchFamily="34" charset="-120"/>
              </a:rPr>
              <a:t>Numbered, in order — step 2 waits on step 1, same as a line of Python</a:t>
            </a:r>
            <a:endParaRPr lang="en-US" sz="1200" dirty="0"/>
          </a:p>
        </p:txBody>
      </p:sp>
      <p:sp>
        <p:nvSpPr>
          <p:cNvPr id="20" name="Text 18"/>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5/7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REAL EXAMPLE: MISTRAL STUDIO</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Every box in the chain is Python</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Every box in Lesson 6's chain — Hook, Agent, Skill, Notify — is Python code: it reads the JSON that arrives, decides what to do, and calls the next box.</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The JSON (Lesson 7) is the data moving on the arrows</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Python is the code doing the reading and deciding inside each box</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Same chain as Lessons 6–7, now with its language named</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5623560" y="2651760"/>
            <a:ext cx="1234440" cy="777240"/>
          </a:xfrm>
          <a:prstGeom prst="roundRect">
            <a:avLst>
              <a:gd name="adj" fmla="val 11765"/>
            </a:avLst>
          </a:prstGeom>
          <a:solidFill>
            <a:srgbClr val="1E3A5F"/>
          </a:solidFill>
          <a:ln/>
        </p:spPr>
      </p:sp>
      <p:sp>
        <p:nvSpPr>
          <p:cNvPr id="9" name="Text 7"/>
          <p:cNvSpPr/>
          <p:nvPr/>
        </p:nvSpPr>
        <p:spPr>
          <a:xfrm>
            <a:off x="5623560" y="2651760"/>
            <a:ext cx="12344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Hook</a:t>
            </a:r>
            <a:endParaRPr lang="en-US" sz="1400" dirty="0"/>
          </a:p>
        </p:txBody>
      </p:sp>
      <p:sp>
        <p:nvSpPr>
          <p:cNvPr id="10" name="Shape 8"/>
          <p:cNvSpPr/>
          <p:nvPr/>
        </p:nvSpPr>
        <p:spPr>
          <a:xfrm>
            <a:off x="6473952" y="2450592"/>
            <a:ext cx="384048" cy="292608"/>
          </a:xfrm>
          <a:prstGeom prst="roundRect">
            <a:avLst>
              <a:gd name="adj" fmla="val 18750"/>
            </a:avLst>
          </a:prstGeom>
          <a:solidFill>
            <a:srgbClr val="F2C94C"/>
          </a:solidFill>
          <a:ln/>
        </p:spPr>
      </p:sp>
      <p:sp>
        <p:nvSpPr>
          <p:cNvPr id="11" name="Text 9"/>
          <p:cNvSpPr/>
          <p:nvPr/>
        </p:nvSpPr>
        <p:spPr>
          <a:xfrm>
            <a:off x="6473952" y="2450592"/>
            <a:ext cx="384048" cy="292608"/>
          </a:xfrm>
          <a:prstGeom prst="rect">
            <a:avLst/>
          </a:prstGeom>
          <a:noFill/>
          <a:ln/>
        </p:spPr>
        <p:txBody>
          <a:bodyPr wrap="square" lIns="0" tIns="0" rIns="0" bIns="0" rtlCol="0" anchor="ctr"/>
          <a:lstStyle/>
          <a:p>
            <a:pPr algn="ctr" indent="0" marL="0">
              <a:buNone/>
            </a:pPr>
            <a:r>
              <a:rPr lang="en-US" sz="1100" b="1" dirty="0">
                <a:solidFill>
                  <a:srgbClr val="1E3A5F"/>
                </a:solidFill>
                <a:latin typeface="Courier New" pitchFamily="34" charset="0"/>
                <a:ea typeface="Courier New" pitchFamily="34" charset="-122"/>
                <a:cs typeface="Courier New" pitchFamily="34" charset="-120"/>
              </a:rPr>
              <a:t>&lt;&gt;</a:t>
            </a:r>
            <a:endParaRPr lang="en-US" sz="1100" dirty="0"/>
          </a:p>
        </p:txBody>
      </p:sp>
      <p:sp>
        <p:nvSpPr>
          <p:cNvPr id="12" name="Shape 10"/>
          <p:cNvSpPr/>
          <p:nvPr/>
        </p:nvSpPr>
        <p:spPr>
          <a:xfrm>
            <a:off x="6858000" y="3035808"/>
            <a:ext cx="210312" cy="0"/>
          </a:xfrm>
          <a:prstGeom prst="line">
            <a:avLst/>
          </a:prstGeom>
          <a:noFill/>
          <a:ln w="25400">
            <a:solidFill>
              <a:srgbClr val="0FA3A3"/>
            </a:solidFill>
            <a:prstDash val="solid"/>
          </a:ln>
        </p:spPr>
      </p:sp>
      <p:sp>
        <p:nvSpPr>
          <p:cNvPr id="13" name="Shape 11"/>
          <p:cNvSpPr/>
          <p:nvPr/>
        </p:nvSpPr>
        <p:spPr>
          <a:xfrm rot="5400000">
            <a:off x="7068312" y="2935224"/>
            <a:ext cx="201168" cy="201168"/>
          </a:xfrm>
          <a:prstGeom prst="triangle">
            <a:avLst/>
          </a:prstGeom>
          <a:solidFill>
            <a:srgbClr val="0FA3A3"/>
          </a:solidFill>
          <a:ln/>
        </p:spPr>
      </p:sp>
      <p:sp>
        <p:nvSpPr>
          <p:cNvPr id="14" name="Shape 12"/>
          <p:cNvSpPr/>
          <p:nvPr/>
        </p:nvSpPr>
        <p:spPr>
          <a:xfrm>
            <a:off x="6761988" y="2331720"/>
            <a:ext cx="402336" cy="292608"/>
          </a:xfrm>
          <a:prstGeom prst="roundRect">
            <a:avLst>
              <a:gd name="adj" fmla="val 15625"/>
            </a:avLst>
          </a:prstGeom>
          <a:solidFill>
            <a:srgbClr val="F0F6F6"/>
          </a:solidFill>
          <a:ln w="9525">
            <a:solidFill>
              <a:srgbClr val="0FA3A3"/>
            </a:solidFill>
            <a:prstDash val="solid"/>
          </a:ln>
        </p:spPr>
      </p:sp>
      <p:sp>
        <p:nvSpPr>
          <p:cNvPr id="15" name="Text 13"/>
          <p:cNvSpPr/>
          <p:nvPr/>
        </p:nvSpPr>
        <p:spPr>
          <a:xfrm>
            <a:off x="6761988" y="2331720"/>
            <a:ext cx="402336" cy="292608"/>
          </a:xfrm>
          <a:prstGeom prst="rect">
            <a:avLst/>
          </a:prstGeom>
          <a:noFill/>
          <a:ln/>
        </p:spPr>
        <p:txBody>
          <a:bodyPr wrap="square" lIns="0" tIns="0" rIns="0" bIns="0" rtlCol="0" anchor="ctr"/>
          <a:lstStyle/>
          <a:p>
            <a:pPr algn="ctr" indent="0" marL="0">
              <a:buNone/>
            </a:pPr>
            <a:r>
              <a:rPr lang="en-US" sz="1100" b="1" dirty="0">
                <a:solidFill>
                  <a:srgbClr val="0FA3A3"/>
                </a:solidFill>
                <a:latin typeface="Courier New" pitchFamily="34" charset="0"/>
                <a:ea typeface="Courier New" pitchFamily="34" charset="-122"/>
                <a:cs typeface="Courier New" pitchFamily="34" charset="-120"/>
              </a:rPr>
              <a:t>{ }</a:t>
            </a:r>
            <a:endParaRPr lang="en-US" sz="1100" dirty="0"/>
          </a:p>
        </p:txBody>
      </p:sp>
      <p:sp>
        <p:nvSpPr>
          <p:cNvPr id="16" name="Shape 14"/>
          <p:cNvSpPr/>
          <p:nvPr/>
        </p:nvSpPr>
        <p:spPr>
          <a:xfrm>
            <a:off x="7360920" y="2651760"/>
            <a:ext cx="1234440" cy="777240"/>
          </a:xfrm>
          <a:prstGeom prst="roundRect">
            <a:avLst>
              <a:gd name="adj" fmla="val 11765"/>
            </a:avLst>
          </a:prstGeom>
          <a:solidFill>
            <a:srgbClr val="1E3A5F"/>
          </a:solidFill>
          <a:ln/>
        </p:spPr>
      </p:sp>
      <p:sp>
        <p:nvSpPr>
          <p:cNvPr id="17" name="Text 15"/>
          <p:cNvSpPr/>
          <p:nvPr/>
        </p:nvSpPr>
        <p:spPr>
          <a:xfrm>
            <a:off x="7360920" y="2651760"/>
            <a:ext cx="12344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Agent</a:t>
            </a:r>
            <a:endParaRPr lang="en-US" sz="1400" dirty="0"/>
          </a:p>
        </p:txBody>
      </p:sp>
      <p:sp>
        <p:nvSpPr>
          <p:cNvPr id="18" name="Shape 16"/>
          <p:cNvSpPr/>
          <p:nvPr/>
        </p:nvSpPr>
        <p:spPr>
          <a:xfrm>
            <a:off x="8211312" y="2450592"/>
            <a:ext cx="384048" cy="292608"/>
          </a:xfrm>
          <a:prstGeom prst="roundRect">
            <a:avLst>
              <a:gd name="adj" fmla="val 18750"/>
            </a:avLst>
          </a:prstGeom>
          <a:solidFill>
            <a:srgbClr val="F2C94C"/>
          </a:solidFill>
          <a:ln/>
        </p:spPr>
      </p:sp>
      <p:sp>
        <p:nvSpPr>
          <p:cNvPr id="19" name="Text 17"/>
          <p:cNvSpPr/>
          <p:nvPr/>
        </p:nvSpPr>
        <p:spPr>
          <a:xfrm>
            <a:off x="8211312" y="2450592"/>
            <a:ext cx="384048" cy="292608"/>
          </a:xfrm>
          <a:prstGeom prst="rect">
            <a:avLst/>
          </a:prstGeom>
          <a:noFill/>
          <a:ln/>
        </p:spPr>
        <p:txBody>
          <a:bodyPr wrap="square" lIns="0" tIns="0" rIns="0" bIns="0" rtlCol="0" anchor="ctr"/>
          <a:lstStyle/>
          <a:p>
            <a:pPr algn="ctr" indent="0" marL="0">
              <a:buNone/>
            </a:pPr>
            <a:r>
              <a:rPr lang="en-US" sz="1100" b="1" dirty="0">
                <a:solidFill>
                  <a:srgbClr val="1E3A5F"/>
                </a:solidFill>
                <a:latin typeface="Courier New" pitchFamily="34" charset="0"/>
                <a:ea typeface="Courier New" pitchFamily="34" charset="-122"/>
                <a:cs typeface="Courier New" pitchFamily="34" charset="-120"/>
              </a:rPr>
              <a:t>&lt;&gt;</a:t>
            </a:r>
            <a:endParaRPr lang="en-US" sz="1100" dirty="0"/>
          </a:p>
        </p:txBody>
      </p:sp>
      <p:sp>
        <p:nvSpPr>
          <p:cNvPr id="20" name="Shape 18"/>
          <p:cNvSpPr/>
          <p:nvPr/>
        </p:nvSpPr>
        <p:spPr>
          <a:xfrm>
            <a:off x="8595360" y="3035808"/>
            <a:ext cx="210312" cy="0"/>
          </a:xfrm>
          <a:prstGeom prst="line">
            <a:avLst/>
          </a:prstGeom>
          <a:noFill/>
          <a:ln w="25400">
            <a:solidFill>
              <a:srgbClr val="0FA3A3"/>
            </a:solidFill>
            <a:prstDash val="solid"/>
          </a:ln>
        </p:spPr>
      </p:sp>
      <p:sp>
        <p:nvSpPr>
          <p:cNvPr id="21" name="Shape 19"/>
          <p:cNvSpPr/>
          <p:nvPr/>
        </p:nvSpPr>
        <p:spPr>
          <a:xfrm rot="5400000">
            <a:off x="8805672" y="2935224"/>
            <a:ext cx="201168" cy="201168"/>
          </a:xfrm>
          <a:prstGeom prst="triangle">
            <a:avLst/>
          </a:prstGeom>
          <a:solidFill>
            <a:srgbClr val="0FA3A3"/>
          </a:solidFill>
          <a:ln/>
        </p:spPr>
      </p:sp>
      <p:sp>
        <p:nvSpPr>
          <p:cNvPr id="22" name="Shape 20"/>
          <p:cNvSpPr/>
          <p:nvPr/>
        </p:nvSpPr>
        <p:spPr>
          <a:xfrm>
            <a:off x="8499348" y="2331720"/>
            <a:ext cx="402336" cy="292608"/>
          </a:xfrm>
          <a:prstGeom prst="roundRect">
            <a:avLst>
              <a:gd name="adj" fmla="val 15625"/>
            </a:avLst>
          </a:prstGeom>
          <a:solidFill>
            <a:srgbClr val="F0F6F6"/>
          </a:solidFill>
          <a:ln w="9525">
            <a:solidFill>
              <a:srgbClr val="0FA3A3"/>
            </a:solidFill>
            <a:prstDash val="solid"/>
          </a:ln>
        </p:spPr>
      </p:sp>
      <p:sp>
        <p:nvSpPr>
          <p:cNvPr id="23" name="Text 21"/>
          <p:cNvSpPr/>
          <p:nvPr/>
        </p:nvSpPr>
        <p:spPr>
          <a:xfrm>
            <a:off x="8499348" y="2331720"/>
            <a:ext cx="402336" cy="292608"/>
          </a:xfrm>
          <a:prstGeom prst="rect">
            <a:avLst/>
          </a:prstGeom>
          <a:noFill/>
          <a:ln/>
        </p:spPr>
        <p:txBody>
          <a:bodyPr wrap="square" lIns="0" tIns="0" rIns="0" bIns="0" rtlCol="0" anchor="ctr"/>
          <a:lstStyle/>
          <a:p>
            <a:pPr algn="ctr" indent="0" marL="0">
              <a:buNone/>
            </a:pPr>
            <a:r>
              <a:rPr lang="en-US" sz="1100" b="1" dirty="0">
                <a:solidFill>
                  <a:srgbClr val="0FA3A3"/>
                </a:solidFill>
                <a:latin typeface="Courier New" pitchFamily="34" charset="0"/>
                <a:ea typeface="Courier New" pitchFamily="34" charset="-122"/>
                <a:cs typeface="Courier New" pitchFamily="34" charset="-120"/>
              </a:rPr>
              <a:t>{ }</a:t>
            </a:r>
            <a:endParaRPr lang="en-US" sz="1100" dirty="0"/>
          </a:p>
        </p:txBody>
      </p:sp>
      <p:sp>
        <p:nvSpPr>
          <p:cNvPr id="24" name="Shape 22"/>
          <p:cNvSpPr/>
          <p:nvPr/>
        </p:nvSpPr>
        <p:spPr>
          <a:xfrm>
            <a:off x="9098280" y="2651760"/>
            <a:ext cx="1234440" cy="777240"/>
          </a:xfrm>
          <a:prstGeom prst="roundRect">
            <a:avLst>
              <a:gd name="adj" fmla="val 11765"/>
            </a:avLst>
          </a:prstGeom>
          <a:solidFill>
            <a:srgbClr val="1E3A5F"/>
          </a:solidFill>
          <a:ln/>
        </p:spPr>
      </p:sp>
      <p:sp>
        <p:nvSpPr>
          <p:cNvPr id="25" name="Text 23"/>
          <p:cNvSpPr/>
          <p:nvPr/>
        </p:nvSpPr>
        <p:spPr>
          <a:xfrm>
            <a:off x="9098280" y="2651760"/>
            <a:ext cx="12344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Skill</a:t>
            </a:r>
            <a:endParaRPr lang="en-US" sz="1400" dirty="0"/>
          </a:p>
        </p:txBody>
      </p:sp>
      <p:sp>
        <p:nvSpPr>
          <p:cNvPr id="26" name="Shape 24"/>
          <p:cNvSpPr/>
          <p:nvPr/>
        </p:nvSpPr>
        <p:spPr>
          <a:xfrm>
            <a:off x="9948672" y="2450592"/>
            <a:ext cx="384048" cy="292608"/>
          </a:xfrm>
          <a:prstGeom prst="roundRect">
            <a:avLst>
              <a:gd name="adj" fmla="val 18750"/>
            </a:avLst>
          </a:prstGeom>
          <a:solidFill>
            <a:srgbClr val="F2C94C"/>
          </a:solidFill>
          <a:ln/>
        </p:spPr>
      </p:sp>
      <p:sp>
        <p:nvSpPr>
          <p:cNvPr id="27" name="Text 25"/>
          <p:cNvSpPr/>
          <p:nvPr/>
        </p:nvSpPr>
        <p:spPr>
          <a:xfrm>
            <a:off x="9948672" y="2450592"/>
            <a:ext cx="384048" cy="292608"/>
          </a:xfrm>
          <a:prstGeom prst="rect">
            <a:avLst/>
          </a:prstGeom>
          <a:noFill/>
          <a:ln/>
        </p:spPr>
        <p:txBody>
          <a:bodyPr wrap="square" lIns="0" tIns="0" rIns="0" bIns="0" rtlCol="0" anchor="ctr"/>
          <a:lstStyle/>
          <a:p>
            <a:pPr algn="ctr" indent="0" marL="0">
              <a:buNone/>
            </a:pPr>
            <a:r>
              <a:rPr lang="en-US" sz="1100" b="1" dirty="0">
                <a:solidFill>
                  <a:srgbClr val="1E3A5F"/>
                </a:solidFill>
                <a:latin typeface="Courier New" pitchFamily="34" charset="0"/>
                <a:ea typeface="Courier New" pitchFamily="34" charset="-122"/>
                <a:cs typeface="Courier New" pitchFamily="34" charset="-120"/>
              </a:rPr>
              <a:t>&lt;&gt;</a:t>
            </a:r>
            <a:endParaRPr lang="en-US" sz="1100" dirty="0"/>
          </a:p>
        </p:txBody>
      </p:sp>
      <p:sp>
        <p:nvSpPr>
          <p:cNvPr id="28" name="Shape 26"/>
          <p:cNvSpPr/>
          <p:nvPr/>
        </p:nvSpPr>
        <p:spPr>
          <a:xfrm>
            <a:off x="10332720" y="3035808"/>
            <a:ext cx="210312" cy="0"/>
          </a:xfrm>
          <a:prstGeom prst="line">
            <a:avLst/>
          </a:prstGeom>
          <a:noFill/>
          <a:ln w="25400">
            <a:solidFill>
              <a:srgbClr val="0FA3A3"/>
            </a:solidFill>
            <a:prstDash val="solid"/>
          </a:ln>
        </p:spPr>
      </p:sp>
      <p:sp>
        <p:nvSpPr>
          <p:cNvPr id="29" name="Shape 27"/>
          <p:cNvSpPr/>
          <p:nvPr/>
        </p:nvSpPr>
        <p:spPr>
          <a:xfrm rot="5400000">
            <a:off x="10543032" y="2935224"/>
            <a:ext cx="201168" cy="201168"/>
          </a:xfrm>
          <a:prstGeom prst="triangle">
            <a:avLst/>
          </a:prstGeom>
          <a:solidFill>
            <a:srgbClr val="0FA3A3"/>
          </a:solidFill>
          <a:ln/>
        </p:spPr>
      </p:sp>
      <p:sp>
        <p:nvSpPr>
          <p:cNvPr id="30" name="Shape 28"/>
          <p:cNvSpPr/>
          <p:nvPr/>
        </p:nvSpPr>
        <p:spPr>
          <a:xfrm>
            <a:off x="10236708" y="2331720"/>
            <a:ext cx="402336" cy="292608"/>
          </a:xfrm>
          <a:prstGeom prst="roundRect">
            <a:avLst>
              <a:gd name="adj" fmla="val 15625"/>
            </a:avLst>
          </a:prstGeom>
          <a:solidFill>
            <a:srgbClr val="F0F6F6"/>
          </a:solidFill>
          <a:ln w="9525">
            <a:solidFill>
              <a:srgbClr val="0FA3A3"/>
            </a:solidFill>
            <a:prstDash val="solid"/>
          </a:ln>
        </p:spPr>
      </p:sp>
      <p:sp>
        <p:nvSpPr>
          <p:cNvPr id="31" name="Text 29"/>
          <p:cNvSpPr/>
          <p:nvPr/>
        </p:nvSpPr>
        <p:spPr>
          <a:xfrm>
            <a:off x="10236708" y="2331720"/>
            <a:ext cx="402336" cy="292608"/>
          </a:xfrm>
          <a:prstGeom prst="rect">
            <a:avLst/>
          </a:prstGeom>
          <a:noFill/>
          <a:ln/>
        </p:spPr>
        <p:txBody>
          <a:bodyPr wrap="square" lIns="0" tIns="0" rIns="0" bIns="0" rtlCol="0" anchor="ctr"/>
          <a:lstStyle/>
          <a:p>
            <a:pPr algn="ctr" indent="0" marL="0">
              <a:buNone/>
            </a:pPr>
            <a:r>
              <a:rPr lang="en-US" sz="1100" b="1" dirty="0">
                <a:solidFill>
                  <a:srgbClr val="0FA3A3"/>
                </a:solidFill>
                <a:latin typeface="Courier New" pitchFamily="34" charset="0"/>
                <a:ea typeface="Courier New" pitchFamily="34" charset="-122"/>
                <a:cs typeface="Courier New" pitchFamily="34" charset="-120"/>
              </a:rPr>
              <a:t>{ }</a:t>
            </a:r>
            <a:endParaRPr lang="en-US" sz="1100" dirty="0"/>
          </a:p>
        </p:txBody>
      </p:sp>
      <p:sp>
        <p:nvSpPr>
          <p:cNvPr id="32" name="Shape 30"/>
          <p:cNvSpPr/>
          <p:nvPr/>
        </p:nvSpPr>
        <p:spPr>
          <a:xfrm>
            <a:off x="10835640" y="2651760"/>
            <a:ext cx="1234440" cy="777240"/>
          </a:xfrm>
          <a:prstGeom prst="roundRect">
            <a:avLst>
              <a:gd name="adj" fmla="val 11765"/>
            </a:avLst>
          </a:prstGeom>
          <a:solidFill>
            <a:srgbClr val="1E3A5F"/>
          </a:solidFill>
          <a:ln/>
        </p:spPr>
      </p:sp>
      <p:sp>
        <p:nvSpPr>
          <p:cNvPr id="33" name="Text 31"/>
          <p:cNvSpPr/>
          <p:nvPr/>
        </p:nvSpPr>
        <p:spPr>
          <a:xfrm>
            <a:off x="10835640" y="2651760"/>
            <a:ext cx="12344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Notify</a:t>
            </a:r>
            <a:endParaRPr lang="en-US" sz="1400" dirty="0"/>
          </a:p>
        </p:txBody>
      </p:sp>
      <p:sp>
        <p:nvSpPr>
          <p:cNvPr id="34" name="Shape 32"/>
          <p:cNvSpPr/>
          <p:nvPr/>
        </p:nvSpPr>
        <p:spPr>
          <a:xfrm>
            <a:off x="11686032" y="2450592"/>
            <a:ext cx="384048" cy="292608"/>
          </a:xfrm>
          <a:prstGeom prst="roundRect">
            <a:avLst>
              <a:gd name="adj" fmla="val 18750"/>
            </a:avLst>
          </a:prstGeom>
          <a:solidFill>
            <a:srgbClr val="F2C94C"/>
          </a:solidFill>
          <a:ln/>
        </p:spPr>
      </p:sp>
      <p:sp>
        <p:nvSpPr>
          <p:cNvPr id="35" name="Text 33"/>
          <p:cNvSpPr/>
          <p:nvPr/>
        </p:nvSpPr>
        <p:spPr>
          <a:xfrm>
            <a:off x="11686032" y="2450592"/>
            <a:ext cx="384048" cy="292608"/>
          </a:xfrm>
          <a:prstGeom prst="rect">
            <a:avLst/>
          </a:prstGeom>
          <a:noFill/>
          <a:ln/>
        </p:spPr>
        <p:txBody>
          <a:bodyPr wrap="square" lIns="0" tIns="0" rIns="0" bIns="0" rtlCol="0" anchor="ctr"/>
          <a:lstStyle/>
          <a:p>
            <a:pPr algn="ctr" indent="0" marL="0">
              <a:buNone/>
            </a:pPr>
            <a:r>
              <a:rPr lang="en-US" sz="1100" b="1" dirty="0">
                <a:solidFill>
                  <a:srgbClr val="1E3A5F"/>
                </a:solidFill>
                <a:latin typeface="Courier New" pitchFamily="34" charset="0"/>
                <a:ea typeface="Courier New" pitchFamily="34" charset="-122"/>
                <a:cs typeface="Courier New" pitchFamily="34" charset="-120"/>
              </a:rPr>
              <a:t>&lt;&gt;</a:t>
            </a:r>
            <a:endParaRPr lang="en-US" sz="1100" dirty="0"/>
          </a:p>
        </p:txBody>
      </p:sp>
      <p:sp>
        <p:nvSpPr>
          <p:cNvPr id="36" name="Text 34"/>
          <p:cNvSpPr/>
          <p:nvPr/>
        </p:nvSpPr>
        <p:spPr>
          <a:xfrm>
            <a:off x="5577840" y="3794760"/>
            <a:ext cx="5760720" cy="457200"/>
          </a:xfrm>
          <a:prstGeom prst="rect">
            <a:avLst/>
          </a:prstGeom>
          <a:noFill/>
          <a:ln/>
        </p:spPr>
        <p:txBody>
          <a:bodyPr wrap="square" lIns="0" tIns="0" rIns="0" bIns="0" rtlCol="0" anchor="ctr"/>
          <a:lstStyle/>
          <a:p>
            <a:pPr algn="ctr" indent="0" marL="0">
              <a:buNone/>
            </a:pPr>
            <a:r>
              <a:rPr lang="en-US" sz="1250" b="1" dirty="0">
                <a:solidFill>
                  <a:srgbClr val="0FA3A3"/>
                </a:solidFill>
                <a:latin typeface="Calibri" pitchFamily="34" charset="0"/>
                <a:ea typeface="Calibri" pitchFamily="34" charset="-122"/>
                <a:cs typeface="Calibri" pitchFamily="34" charset="-120"/>
              </a:rPr>
              <a:t>{ }</a:t>
            </a:r>
            <a:pPr algn="ctr" indent="0" marL="0">
              <a:buNone/>
            </a:pPr>
            <a:r>
              <a:rPr lang="en-US" sz="1250" dirty="0">
                <a:solidFill>
                  <a:srgbClr val="222222"/>
                </a:solidFill>
                <a:latin typeface="Calibri" pitchFamily="34" charset="0"/>
                <a:ea typeface="Calibri" pitchFamily="34" charset="-122"/>
                <a:cs typeface="Calibri" pitchFamily="34" charset="-120"/>
              </a:rPr>
              <a:t>  data on the arrows (Lesson 7)     </a:t>
            </a:r>
            <a:pPr algn="ctr" indent="0" marL="0">
              <a:buNone/>
            </a:pPr>
            <a:r>
              <a:rPr lang="en-US" sz="1250" b="1" dirty="0">
                <a:solidFill>
                  <a:srgbClr val="F2C94C"/>
                </a:solidFill>
                <a:latin typeface="Calibri" pitchFamily="34" charset="0"/>
                <a:ea typeface="Calibri" pitchFamily="34" charset="-122"/>
                <a:cs typeface="Calibri" pitchFamily="34" charset="-120"/>
              </a:rPr>
              <a:t>&lt;&gt;</a:t>
            </a:r>
            <a:pPr algn="ctr" indent="0" marL="0">
              <a:buNone/>
            </a:pPr>
            <a:r>
              <a:rPr lang="en-US" sz="1250" dirty="0">
                <a:solidFill>
                  <a:srgbClr val="222222"/>
                </a:solidFill>
                <a:latin typeface="Calibri" pitchFamily="34" charset="0"/>
                <a:ea typeface="Calibri" pitchFamily="34" charset="-122"/>
                <a:cs typeface="Calibri" pitchFamily="34" charset="-120"/>
              </a:rPr>
              <a:t>  code inside the boxes (today)</a:t>
            </a:r>
            <a:endParaRPr lang="en-US" sz="1250" dirty="0"/>
          </a:p>
        </p:txBody>
      </p:sp>
      <p:sp>
        <p:nvSpPr>
          <p:cNvPr id="37" name="Text 35"/>
          <p:cNvSpPr/>
          <p:nvPr/>
        </p:nvSpPr>
        <p:spPr>
          <a:xfrm>
            <a:off x="5577840" y="4434840"/>
            <a:ext cx="5760720" cy="731520"/>
          </a:xfrm>
          <a:prstGeom prst="rect">
            <a:avLst/>
          </a:prstGeom>
          <a:noFill/>
          <a:ln/>
        </p:spPr>
        <p:txBody>
          <a:bodyPr wrap="square" lIns="0" tIns="0" rIns="0" bIns="0" rtlCol="0" anchor="ctr"/>
          <a:lstStyle/>
          <a:p>
            <a:pPr algn="ctr" indent="0" marL="0">
              <a:lnSpc>
                <a:spcPct val="120000"/>
              </a:lnSpc>
              <a:buNone/>
            </a:pPr>
            <a:r>
              <a:rPr lang="en-US" sz="1300" i="1" dirty="0">
                <a:solidFill>
                  <a:srgbClr val="1E3A5F"/>
                </a:solidFill>
                <a:latin typeface="Calibri" pitchFamily="34" charset="0"/>
                <a:ea typeface="Calibri" pitchFamily="34" charset="-122"/>
                <a:cs typeface="Calibri" pitchFamily="34" charset="-120"/>
              </a:rPr>
              <a:t>Every arrow carries JSON. Every box is Python reading it and calling the next box.</a:t>
            </a:r>
            <a:endParaRPr lang="en-US" sz="1300" dirty="0"/>
          </a:p>
        </p:txBody>
      </p:sp>
      <p:sp>
        <p:nvSpPr>
          <p:cNvPr id="38" name="Text 36"/>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6/7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lIns="0" tIns="0" rIns="0" bIns="0"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RECAP</a:t>
            </a:r>
            <a:endParaRPr lang="en-US" sz="1400" dirty="0"/>
          </a:p>
        </p:txBody>
      </p:sp>
      <p:sp>
        <p:nvSpPr>
          <p:cNvPr id="4" name="Text 2"/>
          <p:cNvSpPr/>
          <p:nvPr/>
        </p:nvSpPr>
        <p:spPr>
          <a:xfrm>
            <a:off x="548640" y="868680"/>
            <a:ext cx="3749040" cy="1463040"/>
          </a:xfrm>
          <a:prstGeom prst="rect">
            <a:avLst/>
          </a:prstGeom>
          <a:noFill/>
          <a:ln/>
        </p:spPr>
        <p:txBody>
          <a:bodyPr wrap="square" lIns="0" tIns="0" rIns="0" bIns="0" rtlCol="0" anchor="t"/>
          <a:lstStyle/>
          <a:p>
            <a:pPr indent="0" marL="0">
              <a:lnSpc>
                <a:spcPct val="105000"/>
              </a:lnSpc>
              <a:buNone/>
            </a:pPr>
            <a:r>
              <a:rPr lang="en-US" sz="2600" b="1" dirty="0">
                <a:solidFill>
                  <a:srgbClr val="1E3A5F"/>
                </a:solidFill>
                <a:latin typeface="Cambria" pitchFamily="34" charset="0"/>
                <a:ea typeface="Cambria" pitchFamily="34" charset="-122"/>
                <a:cs typeface="Cambria" pitchFamily="34" charset="-120"/>
              </a:rPr>
              <a:t>Python = the readable steps, not a new block</a:t>
            </a:r>
            <a:endParaRPr lang="en-US" sz="2600" dirty="0"/>
          </a:p>
        </p:txBody>
      </p:sp>
      <p:sp>
        <p:nvSpPr>
          <p:cNvPr id="5" name="Text 3"/>
          <p:cNvSpPr/>
          <p:nvPr/>
        </p:nvSpPr>
        <p:spPr>
          <a:xfrm>
            <a:off x="548640" y="2468880"/>
            <a:ext cx="3749040" cy="1097280"/>
          </a:xfrm>
          <a:prstGeom prst="rect">
            <a:avLst/>
          </a:prstGeom>
          <a:noFill/>
          <a:ln/>
        </p:spPr>
        <p:txBody>
          <a:bodyPr wrap="square" lIns="0" tIns="0" rIns="0" bIns="0" rtlCol="0" anchor="t"/>
          <a:lstStyle/>
          <a:p>
            <a:pPr indent="0" marL="0">
              <a:lnSpc>
                <a:spcPct val="115000"/>
              </a:lnSpc>
              <a:buNone/>
            </a:pPr>
            <a:r>
              <a:rPr lang="en-US" sz="1400" dirty="0">
                <a:solidFill>
                  <a:srgbClr val="222222"/>
                </a:solidFill>
                <a:latin typeface="Calibri" pitchFamily="34" charset="0"/>
                <a:ea typeface="Calibri" pitchFamily="34" charset="-122"/>
                <a:cs typeface="Calibri" pitchFamily="34" charset="-120"/>
              </a:rPr>
              <a:t>Ordered, plain-text instructions the computer runs exactly as written — it's the language most Agents, Skills, Hooks, and Workflows are actually built in.</a:t>
            </a:r>
            <a:endParaRPr lang="en-US" sz="1400" dirty="0"/>
          </a:p>
        </p:txBody>
      </p:sp>
      <p:sp>
        <p:nvSpPr>
          <p:cNvPr id="6" name="Text 4"/>
          <p:cNvSpPr/>
          <p:nvPr/>
        </p:nvSpPr>
        <p:spPr>
          <a:xfrm>
            <a:off x="548640" y="3794760"/>
            <a:ext cx="379476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Not a new building block — the language the blocks are written in</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Readable top to bottom by people, run exactly by the computer</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Next time: the instruction you actually hand the model — Prompt</a:t>
            </a:r>
            <a:endParaRPr lang="en-US" sz="1400" dirty="0"/>
          </a:p>
        </p:txBody>
      </p:sp>
      <p:sp>
        <p:nvSpPr>
          <p:cNvPr id="7" name="Shape 5"/>
          <p:cNvSpPr/>
          <p:nvPr/>
        </p:nvSpPr>
        <p:spPr>
          <a:xfrm>
            <a:off x="5074920" y="777240"/>
            <a:ext cx="6583680" cy="5303520"/>
          </a:xfrm>
          <a:prstGeom prst="roundRect">
            <a:avLst>
              <a:gd name="adj" fmla="val 2069"/>
            </a:avLst>
          </a:prstGeom>
          <a:solidFill>
            <a:srgbClr val="FFFFFF"/>
          </a:solidFill>
          <a:ln w="19050">
            <a:solidFill>
              <a:srgbClr val="D6E8F0"/>
            </a:solidFill>
            <a:prstDash val="solid"/>
          </a:ln>
          <a:effectLst>
            <a:outerShdw sx="100000" sy="100000" kx="0" ky="0" algn="bl" rotWithShape="0" blurRad="101600" dist="38100" dir="5400000">
              <a:srgbClr val="1E3A5F">
                <a:alpha val="15000"/>
              </a:srgbClr>
            </a:outerShdw>
          </a:effectLst>
        </p:spPr>
      </p:sp>
      <p:sp>
        <p:nvSpPr>
          <p:cNvPr id="8" name="Shape 6"/>
          <p:cNvSpPr/>
          <p:nvPr/>
        </p:nvSpPr>
        <p:spPr>
          <a:xfrm>
            <a:off x="6492240" y="1463040"/>
            <a:ext cx="1371600" cy="1371600"/>
          </a:xfrm>
          <a:prstGeom prst="ellipse">
            <a:avLst/>
          </a:prstGeom>
          <a:solidFill>
            <a:srgbClr val="0FA3A3"/>
          </a:solidFill>
          <a:ln/>
        </p:spPr>
      </p:sp>
      <p:sp>
        <p:nvSpPr>
          <p:cNvPr id="9" name="Text 7"/>
          <p:cNvSpPr/>
          <p:nvPr/>
        </p:nvSpPr>
        <p:spPr>
          <a:xfrm>
            <a:off x="6492240" y="1463040"/>
            <a:ext cx="1371600" cy="13716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a:t>
            </a:r>
            <a:endParaRPr lang="en-US" sz="4800" dirty="0"/>
          </a:p>
        </p:txBody>
      </p:sp>
      <p:sp>
        <p:nvSpPr>
          <p:cNvPr id="10" name="Text 8"/>
          <p:cNvSpPr/>
          <p:nvPr/>
        </p:nvSpPr>
        <p:spPr>
          <a:xfrm>
            <a:off x="5577840" y="2971800"/>
            <a:ext cx="3200400" cy="457200"/>
          </a:xfrm>
          <a:prstGeom prst="rect">
            <a:avLst/>
          </a:prstGeom>
          <a:noFill/>
          <a:ln/>
        </p:spPr>
        <p:txBody>
          <a:bodyPr wrap="square" lIns="0" tIns="0" rIns="0" bIns="0" rtlCol="0" anchor="ctr"/>
          <a:lstStyle/>
          <a:p>
            <a:pPr algn="ctr" indent="0" marL="0">
              <a:buNone/>
            </a:pPr>
            <a:r>
              <a:rPr lang="en-US" sz="1400" b="1" dirty="0">
                <a:solidFill>
                  <a:srgbClr val="1E3A5F"/>
                </a:solidFill>
                <a:latin typeface="Calibri" pitchFamily="34" charset="0"/>
                <a:ea typeface="Calibri" pitchFamily="34" charset="-122"/>
                <a:cs typeface="Calibri" pitchFamily="34" charset="-120"/>
              </a:rPr>
              <a:t>Python — done</a:t>
            </a:r>
            <a:endParaRPr lang="en-US" sz="1400" dirty="0"/>
          </a:p>
        </p:txBody>
      </p:sp>
      <p:sp>
        <p:nvSpPr>
          <p:cNvPr id="11" name="Shape 9"/>
          <p:cNvSpPr/>
          <p:nvPr/>
        </p:nvSpPr>
        <p:spPr>
          <a:xfrm rot="5400000">
            <a:off x="9006840" y="2011680"/>
            <a:ext cx="365760" cy="320040"/>
          </a:xfrm>
          <a:prstGeom prst="triangle">
            <a:avLst/>
          </a:prstGeom>
          <a:solidFill>
            <a:srgbClr val="F2C94C"/>
          </a:solidFill>
          <a:ln/>
        </p:spPr>
      </p:sp>
      <p:sp>
        <p:nvSpPr>
          <p:cNvPr id="12" name="Shape 10"/>
          <p:cNvSpPr/>
          <p:nvPr/>
        </p:nvSpPr>
        <p:spPr>
          <a:xfrm>
            <a:off x="9509760" y="1600200"/>
            <a:ext cx="2011680" cy="1188720"/>
          </a:xfrm>
          <a:prstGeom prst="roundRect">
            <a:avLst>
              <a:gd name="adj" fmla="val 9231"/>
            </a:avLst>
          </a:prstGeom>
          <a:solidFill>
            <a:srgbClr val="1E3A5F"/>
          </a:solidFill>
          <a:ln/>
        </p:spPr>
      </p:sp>
      <p:sp>
        <p:nvSpPr>
          <p:cNvPr id="13" name="Text 11"/>
          <p:cNvSpPr/>
          <p:nvPr/>
        </p:nvSpPr>
        <p:spPr>
          <a:xfrm>
            <a:off x="9509760" y="1600200"/>
            <a:ext cx="2011680" cy="1188720"/>
          </a:xfrm>
          <a:prstGeom prst="rect">
            <a:avLst/>
          </a:prstGeom>
          <a:noFill/>
          <a:ln/>
        </p:spPr>
        <p:txBody>
          <a:bodyPr wrap="square" lIns="0" tIns="0" rIns="0" bIns="0" rtlCol="0" anchor="ctr"/>
          <a:lstStyle/>
          <a:p>
            <a:pPr algn="ctr" indent="0" marL="0">
              <a:lnSpc>
                <a:spcPct val="120000"/>
              </a:lnSpc>
              <a:buNone/>
            </a:pPr>
            <a:r>
              <a:rPr lang="en-US" sz="1500" dirty="0">
                <a:solidFill>
                  <a:srgbClr val="D6E8F0"/>
                </a:solidFill>
                <a:latin typeface="Cambria" pitchFamily="34" charset="0"/>
                <a:ea typeface="Cambria" pitchFamily="34" charset="-122"/>
                <a:cs typeface="Cambria" pitchFamily="34" charset="-120"/>
              </a:rPr>
              <a:t>Next:</a:t>
            </a:r>
            <a:endParaRPr lang="en-US" sz="1500" dirty="0"/>
          </a:p>
          <a:p>
            <a:pPr algn="ctr" indent="0" marL="0">
              <a:lnSpc>
                <a:spcPct val="120000"/>
              </a:lnSpc>
              <a:buNone/>
            </a:pPr>
            <a:r>
              <a:rPr lang="en-US" sz="2200" b="1" dirty="0">
                <a:solidFill>
                  <a:srgbClr val="F2C94C"/>
                </a:solidFill>
                <a:latin typeface="Cambria" pitchFamily="34" charset="0"/>
                <a:ea typeface="Cambria" pitchFamily="34" charset="-122"/>
                <a:cs typeface="Cambria" pitchFamily="34" charset="-120"/>
              </a:rPr>
              <a:t>Prompt</a:t>
            </a:r>
            <a:endParaRPr lang="en-US" sz="1500" dirty="0"/>
          </a:p>
        </p:txBody>
      </p:sp>
      <p:sp>
        <p:nvSpPr>
          <p:cNvPr id="14" name="Text 12"/>
          <p:cNvSpPr/>
          <p:nvPr/>
        </p:nvSpPr>
        <p:spPr>
          <a:xfrm>
            <a:off x="5577840" y="4114800"/>
            <a:ext cx="5760720" cy="914400"/>
          </a:xfrm>
          <a:prstGeom prst="rect">
            <a:avLst/>
          </a:prstGeom>
          <a:noFill/>
          <a:ln/>
        </p:spPr>
        <p:txBody>
          <a:bodyPr wrap="square" lIns="0" tIns="0" rIns="0" bIns="0" rtlCol="0" anchor="ctr"/>
          <a:lstStyle/>
          <a:p>
            <a:pPr algn="ctr" indent="0" marL="0">
              <a:lnSpc>
                <a:spcPct val="125000"/>
              </a:lnSpc>
              <a:buNone/>
            </a:pPr>
            <a:r>
              <a:rPr lang="en-US" sz="1300" i="1" dirty="0">
                <a:solidFill>
                  <a:srgbClr val="222222"/>
                </a:solidFill>
                <a:latin typeface="Calibri" pitchFamily="34" charset="0"/>
                <a:ea typeface="Calibri" pitchFamily="34" charset="-122"/>
                <a:cs typeface="Calibri" pitchFamily="34" charset="-120"/>
              </a:rPr>
              <a:t>Lessons 1–8 close out the original list: Agent, Model, Memory, Skill, Hook, Workflow, JSON, Python.</a:t>
            </a:r>
            <a:endParaRPr lang="en-US" sz="1300" dirty="0"/>
          </a:p>
        </p:txBody>
      </p:sp>
      <p:sp>
        <p:nvSpPr>
          <p:cNvPr id="15" name="Text 13"/>
          <p:cNvSpPr/>
          <p:nvPr/>
        </p:nvSpPr>
        <p:spPr>
          <a:xfrm>
            <a:off x="11155680" y="6492240"/>
            <a:ext cx="822960" cy="274320"/>
          </a:xfrm>
          <a:prstGeom prst="rect">
            <a:avLst/>
          </a:prstGeom>
          <a:noFill/>
          <a:ln/>
        </p:spPr>
        <p:txBody>
          <a:bodyPr wrap="square" lIns="0" tIns="0" rIns="0" bIns="0" rtlCol="0" anchor="ctr"/>
          <a:lstStyle/>
          <a:p>
            <a:pPr algn="r" indent="0" marL="0">
              <a:buNone/>
            </a:pPr>
            <a:r>
              <a:rPr lang="en-US" sz="900" dirty="0">
                <a:solidFill>
                  <a:srgbClr val="D6E8F0"/>
                </a:solidFill>
                <a:latin typeface="Calibri" pitchFamily="34" charset="0"/>
                <a:ea typeface="Calibri" pitchFamily="34" charset="-122"/>
                <a:cs typeface="Calibri" pitchFamily="34" charset="-120"/>
              </a:rPr>
              <a:t>08 · 7/7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2026-07-18T03:19:57Z</dcterms:created>
  <dcterms:modified xsi:type="dcterms:W3CDTF">2026-07-18T03:19:57Z</dcterms:modified>
</cp:coreProperties>
</file>