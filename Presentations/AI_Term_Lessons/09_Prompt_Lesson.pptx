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You've met the Agent, the Model, and the pieces they're built from. But every single one of them sits idle until somebody types something. That something has a name: the prompt. And it's the one part of AI that's entirely in your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prompt is just the message you hand the model: what you want, the details that pin it down, and — if you have one — an example of what a good answer looks like. Here's the catch: the model sees only the words you typed. Not your situation, not your taste, not what you meant to say. Vague words in, vague answer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already write prompts every day — they're called emails. 'Handle the report' gets you a guess. Deadline, audience, three points to cover, plus last month's report as a sample, gets you almost exactly what you pictured. Same colleague, same skill — only the brief changed. A prompt is that brief, written to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 think of a search box. 'Restaurant' gives you a million results; 'cheap thai restaurant open now near the station' gives you the one you needed. The engine never got smarter — the query got clearer. A prompt is a search query with room to stretch out: sentences, background, constraints, even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 ordering food. 'Some food' makes the kitchen guess; 'a 20-minute vegetarian pasta for two, no mushrooms' gets nailed. The cook's skill never changed. The order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Mistral Studio you meet prompts in two places. The chat box, where every message you send is a prompt for that one answer. And the agent's Instructions box, where you write a prompt once — 'you summarize reports for busy teachers, plain language, five bullets' — and it quietly steers every single run of Lesson 6's Hook, Agent, Skill chain from then on. Same model underneath; the written instructions are what make it your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So: the model is stored patterns plus fast math — the prompt is where your thinking gets in. Clearer ask, closer answer. Next time: what the model actually does with your words the moment you hit send — it chops them into pieces called Tokens. See you in Lesson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C94C"/>
                </a:solidFill>
                <a:latin typeface="Calibri"/>
              </a:rPr>
              <a:t>AI EXPLAINED, PLAIN AND SIMPLE —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66751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What Is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 “Prompt”?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D6E8F0"/>
                </a:solidFill>
                <a:latin typeface="Calibri"/>
              </a:rPr>
              <a:t>An Agent and its Model sit idle until somebody types something. That something — the message you hand the model — is the prompt, and it’s the one part of AI that’s entirely in your hands.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777240"/>
            <a:ext cx="3931920" cy="5303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55480" y="1252728"/>
            <a:ext cx="91440" cy="9144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98280" y="1417320"/>
            <a:ext cx="1005840" cy="77724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39681" y="1634947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01784" y="1634947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79915" y="1899208"/>
            <a:ext cx="442569" cy="82296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2834640"/>
            <a:ext cx="2697480" cy="731520"/>
          </a:xfrm>
          <a:prstGeom prst="roundRect">
            <a:avLst>
              <a:gd name="adj" fmla="val 35000"/>
            </a:avLst>
          </a:prstGeom>
          <a:solidFill>
            <a:srgbClr val="F0F6F6"/>
          </a:solidFill>
          <a:ln w="19050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83464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ourier New"/>
              </a:rPr>
              <a:t>explain prompts</a:t>
            </a:r>
            <a:r>
              <a:rPr sz="1500" b="1" i="0">
                <a:solidFill>
                  <a:srgbClr val="0FA3A3"/>
                </a:solidFill>
                <a:latin typeface="Courier New"/>
              </a:rPr>
              <a:t>|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44200" y="2834640"/>
            <a:ext cx="502920" cy="731520"/>
          </a:xfrm>
          <a:prstGeom prst="roundRect">
            <a:avLst>
              <a:gd name="adj" fmla="val 3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2834640"/>
            <a:ext cx="502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977639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E3A5F"/>
                </a:solidFill>
                <a:latin typeface="Calibri"/>
              </a:rPr>
              <a:t>Everything starts with</a:t>
            </a:r>
          </a:p>
          <a:p>
            <a:pPr algn="ctr"/>
            <a:r>
              <a:rPr sz="1300" b="0" i="0">
                <a:solidFill>
                  <a:srgbClr val="1E3A5F"/>
                </a:solidFill>
                <a:latin typeface="Calibri"/>
              </a:rPr>
              <a:t>what you type 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6E8F0"/>
                </a:solidFill>
                <a:latin typeface="Calibri"/>
              </a:rPr>
              <a:t>09 ·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A3A3"/>
                </a:solidFill>
                <a:latin typeface="Calibri"/>
              </a:rPr>
              <a:t>THE EVERYDAY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749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3A5F"/>
                </a:solidFill>
                <a:latin typeface="Cambria"/>
              </a:rPr>
              <a:t>The message you hand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199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Your ask, the details that pin it down, and — if you have one — an example of what “good” looks like. The model sees only these words; it can’t see what you meant.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384048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The ask — what you want done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The details — audience, length, limits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The example — what a good answer looks 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777240"/>
            <a:ext cx="65836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0" y="1234440"/>
            <a:ext cx="4114800" cy="914400"/>
          </a:xfrm>
          <a:prstGeom prst="roundRect">
            <a:avLst>
              <a:gd name="adj" fmla="val 20000"/>
            </a:avLst>
          </a:prstGeom>
          <a:solidFill>
            <a:srgbClr val="F0F6F6"/>
          </a:solidFill>
          <a:ln w="15875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362456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A3A3"/>
                </a:solidFill>
                <a:latin typeface="Calibri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66420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ourier New"/>
              </a:rPr>
              <a:t>summarize this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331720"/>
            <a:ext cx="4114800" cy="914400"/>
          </a:xfrm>
          <a:prstGeom prst="roundRect">
            <a:avLst>
              <a:gd name="adj" fmla="val 20000"/>
            </a:avLst>
          </a:prstGeom>
          <a:solidFill>
            <a:srgbClr val="F0F6F6"/>
          </a:solidFill>
          <a:ln w="15875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459736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A3A3"/>
                </a:solidFill>
                <a:latin typeface="Calibri"/>
              </a:rPr>
              <a:t>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761487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ourier New"/>
              </a:rPr>
              <a:t>5 bullets · plain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3429000"/>
            <a:ext cx="4114800" cy="914400"/>
          </a:xfrm>
          <a:prstGeom prst="roundRect">
            <a:avLst>
              <a:gd name="adj" fmla="val 20000"/>
            </a:avLst>
          </a:prstGeom>
          <a:solidFill>
            <a:srgbClr val="F0F6F6"/>
          </a:solidFill>
          <a:ln w="15875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557016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A3A3"/>
                </a:solidFill>
                <a:latin typeface="Calibri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85876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ourier New"/>
              </a:rPr>
              <a:t>like last month’s summary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9921240" y="2606040"/>
            <a:ext cx="274320" cy="274320"/>
          </a:xfrm>
          <a:prstGeom prst="triangl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81360" y="2258568"/>
            <a:ext cx="91440" cy="9144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24160" y="2423160"/>
            <a:ext cx="1005840" cy="77724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65561" y="2640787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27664" y="2640787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05795" y="2905048"/>
            <a:ext cx="442569" cy="82296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507492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A good prompt carries all three — the model sees only these words.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6E8F0"/>
                </a:solidFill>
                <a:latin typeface="Calibri"/>
              </a:rPr>
              <a:t>09 ·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A3A3"/>
                </a:solidFill>
                <a:latin typeface="Calibri"/>
              </a:rPr>
              <a:t>OFFICE SUITE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749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3A5F"/>
                </a:solidFill>
                <a:latin typeface="Cambria"/>
              </a:rPr>
              <a:t>An email brief to a colleague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199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“Handle the report” gets you a guess. Deadline, audience, three points to cover, and a sample attached gets you what you pictured.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384048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Vague brief — the colleague fills gaps by guessing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Clear brief — the same skill, aimed at your goal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A prompt is that brief, written to a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777240"/>
            <a:ext cx="65836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0" y="118872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188720"/>
            <a:ext cx="2697480" cy="457200"/>
          </a:xfrm>
          <a:prstGeom prst="roundRect">
            <a:avLst>
              <a:gd name="adj" fmla="val 30000"/>
            </a:avLst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2801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To: Alex   ·   Subject: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8288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“handle the report”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651760"/>
            <a:ext cx="2286000" cy="548640"/>
          </a:xfrm>
          <a:prstGeom prst="roundRect">
            <a:avLst>
              <a:gd name="adj" fmla="val 40000"/>
            </a:avLst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65176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22222"/>
                </a:solidFill>
                <a:latin typeface="Calibri"/>
              </a:rPr>
              <a:t>reply: “which report?”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188720"/>
            <a:ext cx="27889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1188720"/>
            <a:ext cx="2788920" cy="457200"/>
          </a:xfrm>
          <a:prstGeom prst="roundRect">
            <a:avLst>
              <a:gd name="adj" fmla="val 30000"/>
            </a:avLst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28016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  <a:latin typeface="Calibri"/>
              </a:rPr>
              <a:t>To: Alex · Subject: Q3 report — Fri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783080"/>
            <a:ext cx="2468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FA3A3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audience: the board</a:t>
            </a:r>
          </a:p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FA3A3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3 wins, 1 risk</a:t>
            </a:r>
          </a:p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FA3A3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5 bullets, plain language</a:t>
            </a:r>
          </a:p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FA3A3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sample attached 📎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0" y="3977639"/>
            <a:ext cx="548640" cy="54864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397763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516636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Same colleague, same skill — only the brief changed.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6E8F0"/>
                </a:solidFill>
                <a:latin typeface="Calibri"/>
              </a:rPr>
              <a:t>09 ·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A3A3"/>
                </a:solidFill>
                <a:latin typeface="Calibri"/>
              </a:rPr>
              <a:t>BROWSER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749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3A5F"/>
                </a:solidFill>
                <a:latin typeface="Cambria"/>
              </a:rPr>
              <a:t>A search query, with room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199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“Restaurant” returns a million results; “cheap thai, open now, near the station” returns the one you needed. The engine never got smarter.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384048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Short query — the engine guesses what you meant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Specific query — now it can actually aim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A prompt is a query with room to stretch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777240"/>
            <a:ext cx="65836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0" y="1097280"/>
            <a:ext cx="562356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097280"/>
            <a:ext cx="5623560" cy="411480"/>
          </a:xfrm>
          <a:prstGeom prst="rect">
            <a:avLst/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06440" y="1243584"/>
            <a:ext cx="118872" cy="11887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07607" y="1243584"/>
            <a:ext cx="118872" cy="11887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08776" y="1243584"/>
            <a:ext cx="118872" cy="118872"/>
          </a:xfrm>
          <a:prstGeom prst="ellipse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1783080"/>
            <a:ext cx="2103120" cy="502920"/>
          </a:xfrm>
          <a:prstGeom prst="roundRect">
            <a:avLst>
              <a:gd name="adj" fmla="val 45000"/>
            </a:avLst>
          </a:prstGeom>
          <a:solidFill>
            <a:srgbClr val="F0F6F6"/>
          </a:solidFill>
          <a:ln w="15875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7830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ourier New"/>
              </a:rPr>
              <a:t>restaurant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691640"/>
            <a:ext cx="2377440" cy="164592"/>
          </a:xfrm>
          <a:prstGeom prst="roundRect">
            <a:avLst>
              <a:gd name="adj" fmla="val 50000"/>
            </a:avLst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993392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2295144"/>
            <a:ext cx="2560320" cy="164592"/>
          </a:xfrm>
          <a:prstGeom prst="roundRect">
            <a:avLst>
              <a:gd name="adj" fmla="val 50000"/>
            </a:avLst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2596896"/>
            <a:ext cx="2194560" cy="164592"/>
          </a:xfrm>
          <a:prstGeom prst="roundRect">
            <a:avLst>
              <a:gd name="adj" fmla="val 50000"/>
            </a:avLst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926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1,000,000 results…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520440"/>
            <a:ext cx="3931920" cy="502920"/>
          </a:xfrm>
          <a:prstGeom prst="roundRect">
            <a:avLst>
              <a:gd name="adj" fmla="val 45000"/>
            </a:avLst>
          </a:prstGeom>
          <a:solidFill>
            <a:srgbClr val="F0F6F6"/>
          </a:solidFill>
          <a:ln w="19050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52044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Courier New"/>
              </a:rPr>
              <a:t>cheap thai · open now · near station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206240"/>
            <a:ext cx="310896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20624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Thai Smile — 200 m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4251960"/>
            <a:ext cx="365760" cy="36576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42519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521208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The engine didn’t get smarter. The query got clearer.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6E8F0"/>
                </a:solidFill>
                <a:latin typeface="Calibri"/>
              </a:rPr>
              <a:t>09 ·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A3A3"/>
                </a:solidFill>
                <a:latin typeface="Calibri"/>
              </a:rPr>
              <a:t>EVERYDAY-TASK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749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3A5F"/>
                </a:solidFill>
                <a:latin typeface="Cambria"/>
              </a:rPr>
              <a:t>Ordering, not mind-reading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199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“Some food” makes the kitchen guess; “a 20-minute vegetarian pasta for two, no mushrooms” gets nailed. The cook’s skill never 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384048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Vague order — the kitchen has to guess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Precise order — same kitchen, exact dish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The model is the kitchen; your prompt is the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777240"/>
            <a:ext cx="65836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280160"/>
            <a:ext cx="246888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1280160"/>
            <a:ext cx="2468880" cy="4114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34416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659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“some food??”</a:t>
            </a:r>
          </a:p>
        </p:txBody>
      </p:sp>
      <p:sp>
        <p:nvSpPr>
          <p:cNvPr id="12" name="Oval 11"/>
          <p:cNvSpPr/>
          <p:nvPr/>
        </p:nvSpPr>
        <p:spPr>
          <a:xfrm>
            <a:off x="6720840" y="2606040"/>
            <a:ext cx="502920" cy="502920"/>
          </a:xfrm>
          <a:prstGeom prst="ellipse">
            <a:avLst/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606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3A5F"/>
                </a:solidFill>
                <a:latin typeface="Calibri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28016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1280160"/>
            <a:ext cx="2697480" cy="4114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344168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74519"/>
            <a:ext cx="2331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pasta — vegetarian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ready in 20 minutes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for two people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no mushrooms</a:t>
            </a:r>
          </a:p>
        </p:txBody>
      </p:sp>
      <p:sp>
        <p:nvSpPr>
          <p:cNvPr id="18" name="Oval 17"/>
          <p:cNvSpPr/>
          <p:nvPr/>
        </p:nvSpPr>
        <p:spPr>
          <a:xfrm>
            <a:off x="10835640" y="3794760"/>
            <a:ext cx="548640" cy="54864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5640" y="37947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512064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The cook never changed. The order did.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6E8F0"/>
                </a:solidFill>
                <a:latin typeface="Calibri"/>
              </a:rPr>
              <a:t>09 ·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A3A3"/>
                </a:solidFill>
                <a:latin typeface="Calibri"/>
              </a:rPr>
              <a:t>REAL EXAMPLE: MISTRAL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749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3A5F"/>
                </a:solidFill>
                <a:latin typeface="Cambria"/>
              </a:rPr>
              <a:t>One written prompt, steering every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199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Every chat message is a prompt for one answer. An agent’s Instructions box is a prompt you write once — it steers every run of Lesson 6’s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384048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Chat box — a prompt per answer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Instructions box — one prompt, every run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Same model underneath; the words make it yours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777240"/>
            <a:ext cx="65836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60" y="1143000"/>
            <a:ext cx="29260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26187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C94C"/>
                </a:solidFill>
                <a:latin typeface="Calibri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5544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5F"/>
                </a:solidFill>
                <a:latin typeface="Courier New"/>
              </a:rPr>
              <a:t>you summarize reports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5F"/>
                </a:solidFill>
                <a:latin typeface="Courier New"/>
              </a:rPr>
              <a:t>plain language · 5 bullets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68512" y="2468880"/>
            <a:ext cx="18288" cy="105156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8558784" y="3520440"/>
            <a:ext cx="237744" cy="182880"/>
          </a:xfrm>
          <a:prstGeom prst="triangl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3794760"/>
            <a:ext cx="987552" cy="640080"/>
          </a:xfrm>
          <a:prstGeom prst="roundRect">
            <a:avLst>
              <a:gd name="adj" fmla="val 20000"/>
            </a:avLst>
          </a:prstGeom>
          <a:solidFill>
            <a:srgbClr val="F0F6F6"/>
          </a:solidFill>
          <a:ln w="15875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3794760"/>
            <a:ext cx="987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File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6515100" y="4014216"/>
            <a:ext cx="201168" cy="201168"/>
          </a:xfrm>
          <a:prstGeom prst="triangl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57416" y="3794760"/>
            <a:ext cx="987552" cy="640080"/>
          </a:xfrm>
          <a:prstGeom prst="roundRect">
            <a:avLst>
              <a:gd name="adj" fmla="val 20000"/>
            </a:avLst>
          </a:prstGeom>
          <a:solidFill>
            <a:srgbClr val="F0F6F6"/>
          </a:solidFill>
          <a:ln w="15875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7416" y="3794760"/>
            <a:ext cx="987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Hook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786116" y="4014216"/>
            <a:ext cx="201168" cy="201168"/>
          </a:xfrm>
          <a:prstGeom prst="triangl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8432" y="3794760"/>
            <a:ext cx="987552" cy="64008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254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2" y="3794760"/>
            <a:ext cx="987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9057132" y="4014216"/>
            <a:ext cx="201168" cy="201168"/>
          </a:xfrm>
          <a:prstGeom prst="triangl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99448" y="3794760"/>
            <a:ext cx="987552" cy="640080"/>
          </a:xfrm>
          <a:prstGeom prst="roundRect">
            <a:avLst>
              <a:gd name="adj" fmla="val 20000"/>
            </a:avLst>
          </a:prstGeom>
          <a:solidFill>
            <a:srgbClr val="F0F6F6"/>
          </a:solidFill>
          <a:ln w="15875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3794760"/>
            <a:ext cx="987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Skill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10328148" y="4014216"/>
            <a:ext cx="201168" cy="201168"/>
          </a:xfrm>
          <a:prstGeom prst="triangl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70464" y="3794760"/>
            <a:ext cx="987552" cy="640080"/>
          </a:xfrm>
          <a:prstGeom prst="roundRect">
            <a:avLst>
              <a:gd name="adj" fmla="val 20000"/>
            </a:avLst>
          </a:prstGeom>
          <a:solidFill>
            <a:srgbClr val="F0F6F6"/>
          </a:solidFill>
          <a:ln w="15875">
            <a:solidFill>
              <a:srgbClr val="0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70464" y="3794760"/>
            <a:ext cx="987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Notify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507492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One written prompt above the chain — steering every run.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6E8F0"/>
                </a:solidFill>
                <a:latin typeface="Calibri"/>
              </a:rPr>
              <a:t>09 ·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A3A3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3749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3A5F"/>
                </a:solidFill>
                <a:latin typeface="Cambria"/>
              </a:rPr>
              <a:t>Prompt = where your thinking gets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199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The model is stored patterns plus fast math — brilliant at fetching and recombining, but the direction comes from your head, through the prompt.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384048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The model sees only what you typed, never what you meant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Ask + details + example — the shape of a good prompt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FA3A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Clearer ask, closer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777240"/>
            <a:ext cx="65836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6480" y="1371600"/>
            <a:ext cx="1097280" cy="109728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7160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737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Prompt — 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2608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1280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6E8F0"/>
                </a:solidFill>
                <a:latin typeface="Cambria"/>
              </a:rPr>
              <a:t>Next: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063240"/>
            <a:ext cx="3383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2C94C"/>
                </a:solidFill>
                <a:latin typeface="Cambria"/>
              </a:rPr>
              <a:t>Token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D6E8F0"/>
                </a:solidFill>
                <a:latin typeface="Calibri"/>
              </a:rPr>
              <a:t>what the model chops your words into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57200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Lessons 1–9 so far: Agent, Model, Memory, Skill, Hook, Workflow, JSON, Python, Prompt.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6E8F0"/>
                </a:solidFill>
                <a:latin typeface="Calibri"/>
              </a:rPr>
              <a:t>09 ·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