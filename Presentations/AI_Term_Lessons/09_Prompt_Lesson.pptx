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lesson assumes the viewer has seen Lessons 1-8 (Agent, Model, Memory, Skill, Hook, Workflow, JSON, Python) - it treats those as already-familiar vocabulary. If used standalone, add one sentence recapping "Agent" before the hook, since a prompt is framed as the thing that starts an agent or model moving. Total runtime target: 2m50s narrated, stretchable to ~4m with pauses for doodles and a short live demo of typing the same request two ways into a search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on-screen contrast to one short vague query and one short specific query - avoid a long multi-paragraph prompt example for beginners; the goal is to show the shape of "vague vs specific," not to teach prompt-engineering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crux visual for the whole lesson - nearly everyone has sent or received a vague work email, so hold it a beat longer than the search-bar doodle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delivering live, this is the easiest moment to show the audience something real: open a search engine, type one vague query then one specific query, and point at how different the results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one short and let the visual carry it - it reinforces the "vague vs specific" idea from slides 2-4 with a very familiar, non-technical scenario before the Mistral Studio example ties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for the Mistral Studio claims: general agent-platform conventions (separating a standing "system" instruction from each turn's "user" instruction) - verify the exact current System Prompt / User Prompt field names and behavior in Mistral Studio's own documentation before quoting them as a specific product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naming Lesson 10 explicitly: Token. This starts the second batch (Prompt -&gt; Token -&gt; Context Window -&gt; API -&gt; Fine-tuning) suggested at the end of Lesson 8's index note - a natural spot to pause before signing off if recording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EXPLAINED, PLAIN AND SIMPLE — LESSON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
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"Prompt"?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8036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Agent, Model, Memory, Skill, Hook, Workflow, Python, and JSON have all been one piece at a time. A prompt is the words that make any of them actually move.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280160"/>
            <a:ext cx="4114800" cy="3931920"/>
          </a:xfrm>
          <a:prstGeom prst="roundRect">
            <a:avLst>
              <a:gd name="adj" fmla="val 2791"/>
            </a:avLst>
          </a:prstGeom>
          <a:solidFill>
            <a:srgbClr val="17315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1828800"/>
            <a:ext cx="2194560" cy="1005840"/>
          </a:xfrm>
          <a:prstGeom prst="roundRect">
            <a:avLst>
              <a:gd name="adj" fmla="val 16364"/>
            </a:avLst>
          </a:prstGeom>
          <a:solidFill>
            <a:srgbClr val="0FA3A3"/>
          </a:solidFill>
          <a:ln/>
        </p:spPr>
      </p:sp>
      <p:sp>
        <p:nvSpPr>
          <p:cNvPr id="7" name="Shape 5"/>
          <p:cNvSpPr/>
          <p:nvPr/>
        </p:nvSpPr>
        <p:spPr>
          <a:xfrm rot="10800000">
            <a:off x="8229600" y="2697480"/>
            <a:ext cx="365760" cy="274320"/>
          </a:xfrm>
          <a:prstGeom prst="triangle">
            <a:avLst/>
          </a:prstGeom>
          <a:solidFill>
            <a:srgbClr val="0FA3A3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0" y="18288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641080" y="3154680"/>
            <a:ext cx="1097280" cy="457200"/>
          </a:xfrm>
          <a:prstGeom prst="rightArrow">
            <a:avLst/>
          </a:prstGeom>
          <a:solidFill>
            <a:srgbClr val="F2C94C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374904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2C94C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300" kern="0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406640" y="4709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in — that's what wakes the model or agent up.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1/7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DEFINITION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Words in, precision decides the result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is the instruction you type or say to a model or agent to get it moving. Vague words in, a vague result out. Specific words in, a specific result out — same model, same agent, different words.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you type or say is the prompt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or agent does nothing before it arrives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tool can look brilliant or useless — only the prompt changed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371600"/>
            <a:ext cx="4846320" cy="4206240"/>
          </a:xfrm>
          <a:prstGeom prst="roundRect">
            <a:avLst>
              <a:gd name="adj" fmla="val 2174"/>
            </a:avLst>
          </a:prstGeom>
          <a:solidFill>
            <a:srgbClr val="F0F6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0" y="1737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"restaurant"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2377440"/>
            <a:ext cx="2377440" cy="0"/>
          </a:xfrm>
          <a:prstGeom prst="line">
            <a:avLst/>
          </a:prstGeom>
          <a:noFill/>
          <a:ln w="25400">
            <a:solidFill>
              <a:srgbClr val="AAAAAA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9692640" y="2240280"/>
            <a:ext cx="201168" cy="201168"/>
          </a:xfrm>
          <a:prstGeom prst="ellipse">
            <a:avLst/>
          </a:prstGeom>
          <a:solidFill>
            <a:srgbClr val="BBBBBB"/>
          </a:solidFill>
          <a:ln/>
        </p:spPr>
      </p:sp>
      <p:sp>
        <p:nvSpPr>
          <p:cNvPr id="10" name="Shape 8"/>
          <p:cNvSpPr/>
          <p:nvPr/>
        </p:nvSpPr>
        <p:spPr>
          <a:xfrm>
            <a:off x="10012680" y="2057400"/>
            <a:ext cx="201168" cy="201168"/>
          </a:xfrm>
          <a:prstGeom prst="ellipse">
            <a:avLst/>
          </a:prstGeom>
          <a:solidFill>
            <a:srgbClr val="BBBBBB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2240280"/>
            <a:ext cx="201168" cy="201168"/>
          </a:xfrm>
          <a:prstGeom prst="ellipse">
            <a:avLst/>
          </a:prstGeom>
          <a:solidFill>
            <a:srgbClr val="BBBBBB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5146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results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32320" y="333756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"vegetarian, open now,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 Gare de Lyon"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784080" y="3611880"/>
            <a:ext cx="1005840" cy="365760"/>
          </a:xfrm>
          <a:prstGeom prst="rightArrow">
            <a:avLst/>
          </a:prstGeom>
          <a:solidFill>
            <a:srgbClr val="0FA3A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81360" y="3474720"/>
            <a:ext cx="457200" cy="457200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4251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exact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 in, scattered result out.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prompt in, one exact result out.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2/7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SUITE ANALOGY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email to a very literal assistant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760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"send that thing to the client" and you get a confused reply. Email the exact file, the exact address, and the exact subject line, and it’s just done. The assistant didn’t get smarter — the instruction did.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33756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assistant, same inbox, same skills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words in the email changed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in the request became precision in the result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75120" y="1280160"/>
            <a:ext cx="4937760" cy="4297680"/>
          </a:xfrm>
          <a:prstGeom prst="roundRect">
            <a:avLst>
              <a:gd name="adj" fmla="val 2128"/>
            </a:avLst>
          </a:prstGeom>
          <a:solidFill>
            <a:srgbClr val="F0F6F6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0" y="164592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D8D8D8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0" y="1645920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"send that thing to the client"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0" y="27889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— which thing? which client?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40880" y="3566160"/>
            <a:ext cx="4206240" cy="1280160"/>
          </a:xfrm>
          <a:prstGeom prst="roundRect">
            <a:avLst>
              <a:gd name="adj" fmla="val 5714"/>
            </a:avLst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356616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"send the July invoice PDF to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client@example.com, subject: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 — July 2026"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40880" y="48920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 — no follow-up needed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3/7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ANALOGY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search bar, two very different queries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760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"restaurant" and you get a wall of noise. Type "vegetarian restaurant open now near Gare de Lyon" and you get three good answers. Same search bar, same engine — the prompt is the only thing that changed.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33756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 underneath both searches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query returns thousands of loose matches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query returns a short, useful list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75120" y="1371600"/>
            <a:ext cx="4937760" cy="4114800"/>
          </a:xfrm>
          <a:prstGeom prst="roundRect">
            <a:avLst>
              <a:gd name="adj" fmla="val 2222"/>
            </a:avLst>
          </a:prstGeom>
          <a:solidFill>
            <a:srgbClr val="F0F6F6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0" y="173736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69480" y="17373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restaurant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0" y="2514600"/>
            <a:ext cx="320040" cy="32004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" name="Shape 8"/>
          <p:cNvSpPr/>
          <p:nvPr/>
        </p:nvSpPr>
        <p:spPr>
          <a:xfrm>
            <a:off x="8183880" y="2514600"/>
            <a:ext cx="320040" cy="32004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0" y="2514600"/>
            <a:ext cx="320040" cy="32004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04120" y="2514600"/>
            <a:ext cx="320040" cy="32004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9260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loose matches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0" y="3566160"/>
            <a:ext cx="4206240" cy="685800"/>
          </a:xfrm>
          <a:prstGeom prst="roundRect">
            <a:avLst>
              <a:gd name="adj" fmla="val 37333"/>
            </a:avLst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356616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vegetarian, open now,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near Gare de Lyon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223760" y="448056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2C94C"/>
          </a:solidFill>
          <a:ln/>
        </p:spPr>
      </p:sp>
      <p:sp>
        <p:nvSpPr>
          <p:cNvPr id="17" name="Shape 15"/>
          <p:cNvSpPr/>
          <p:nvPr/>
        </p:nvSpPr>
        <p:spPr>
          <a:xfrm>
            <a:off x="8641080" y="448056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2C94C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58400" y="448056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2C94C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49377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good answers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4/7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EVERYDAY-TASK ANALOGY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Giving directions to a taxi driver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760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 driver "somewhere nice" and you circle the block. Tell them "Rue de Rivoli, number 12, the blue door" and you’re there in five minutes. A prompt is the destination you actually say out loud, instead of leaving the driver to guess.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5760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destination gets you circling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exact address gets you there directly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driver's skill didn't change — the instruction did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75120" y="1371600"/>
            <a:ext cx="4937760" cy="4114800"/>
          </a:xfrm>
          <a:prstGeom prst="roundRect">
            <a:avLst>
              <a:gd name="adj" fmla="val 2222"/>
            </a:avLst>
          </a:prstGeom>
          <a:solidFill>
            <a:srgbClr val="F0F6F6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0" y="457200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F2C94C"/>
          </a:solidFill>
          <a:ln/>
        </p:spPr>
      </p:sp>
      <p:sp>
        <p:nvSpPr>
          <p:cNvPr id="8" name="Shape 6"/>
          <p:cNvSpPr/>
          <p:nvPr/>
        </p:nvSpPr>
        <p:spPr>
          <a:xfrm>
            <a:off x="8549640" y="5029200"/>
            <a:ext cx="274320" cy="2743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320" y="5029200"/>
            <a:ext cx="274320" cy="2743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0" y="4572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49440" y="1645920"/>
            <a:ext cx="1920240" cy="731520"/>
          </a:xfrm>
          <a:prstGeom prst="roundRect">
            <a:avLst>
              <a:gd name="adj" fmla="val 18750"/>
            </a:avLst>
          </a:prstGeom>
          <a:solidFill>
            <a:srgbClr val="D8D8D8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64592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"somewhere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0" y="2468880"/>
            <a:ext cx="1280160" cy="1280160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7033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circling the block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18320" y="1645920"/>
            <a:ext cx="1920240" cy="868680"/>
          </a:xfrm>
          <a:prstGeom prst="roundRect">
            <a:avLst>
              <a:gd name="adj" fmla="val 15789"/>
            </a:avLst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0" y="1645920"/>
            <a:ext cx="1920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"Rue de Rivoli,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 blue door"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32720" y="2560320"/>
            <a:ext cx="-640080" cy="1920240"/>
          </a:xfrm>
          <a:prstGeom prst="line">
            <a:avLst/>
          </a:prstGeom>
          <a:noFill/>
          <a:ln w="31750">
            <a:solidFill>
              <a:srgbClr val="0FA3A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418320" y="41148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5/7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MISTRAL STUDIO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prompts start every chain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set once — standing instructions, like telling a driver ‘always take the fastest route.’ The User Prompt is the specific ask each time — ‘Rue de Rivoli, number 12.’ Every box in Lesson 6's chain starts from a prompt like this.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17315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657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95728" y="3959352"/>
            <a:ext cx="283464" cy="219456"/>
          </a:xfrm>
          <a:prstGeom prst="rightArrow">
            <a:avLst/>
          </a:prstGeom>
          <a:solidFill>
            <a:srgbClr val="0FA3A3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3337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365760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173154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3657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97480" y="4224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53128" y="3959352"/>
            <a:ext cx="283464" cy="219456"/>
          </a:xfrm>
          <a:prstGeom prst="rightArrow">
            <a:avLst/>
          </a:prstGeom>
          <a:solidFill>
            <a:srgbClr val="0FA3A3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3337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65760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F2C94C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3657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54880" y="4224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10528" y="3959352"/>
            <a:ext cx="283464" cy="219456"/>
          </a:xfrm>
          <a:prstGeom prst="rightArrow">
            <a:avLst/>
          </a:prstGeom>
          <a:solidFill>
            <a:srgbClr val="0FA3A3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3337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365760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173154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3657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12280" y="4224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67928" y="3959352"/>
            <a:ext cx="283464" cy="219456"/>
          </a:xfrm>
          <a:prstGeom prst="rightArrow">
            <a:avLst/>
          </a:prstGeom>
          <a:solidFill>
            <a:srgbClr val="0FA3A3"/>
          </a:solidFill>
          <a:ln/>
        </p:spPr>
      </p:sp>
      <p:sp>
        <p:nvSpPr>
          <p:cNvPr id="24" name="Text 22"/>
          <p:cNvSpPr/>
          <p:nvPr/>
        </p:nvSpPr>
        <p:spPr>
          <a:xfrm>
            <a:off x="8503920" y="3337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69680" y="3657600"/>
            <a:ext cx="1737360" cy="822960"/>
          </a:xfrm>
          <a:prstGeom prst="roundRect">
            <a:avLst>
              <a:gd name="adj" fmla="val 11111"/>
            </a:avLst>
          </a:prstGeom>
          <a:solidFill>
            <a:srgbClr val="173154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0" y="365760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869680" y="4224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A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480560" y="242316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173154"/>
          </a:solidFill>
          <a:ln w="15875">
            <a:solidFill>
              <a:srgbClr val="0FA3A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24231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(set once)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23560" y="2926080"/>
            <a:ext cx="0" cy="731520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251960" y="4800600"/>
            <a:ext cx="2743200" cy="502920"/>
          </a:xfrm>
          <a:prstGeom prst="roundRect">
            <a:avLst>
              <a:gd name="adj" fmla="val 45455"/>
            </a:avLst>
          </a:prstGeom>
          <a:solidFill>
            <a:srgbClr val="0FA3A3"/>
          </a:solidFill>
          <a:ln/>
        </p:spPr>
      </p:sp>
      <p:sp>
        <p:nvSpPr>
          <p:cNvPr id="32" name="Text 30"/>
          <p:cNvSpPr/>
          <p:nvPr/>
        </p:nvSpPr>
        <p:spPr>
          <a:xfrm>
            <a:off x="425196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"User Prompt" (asked each time)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23560" y="4800600"/>
            <a:ext cx="0" cy="-320040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6/7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= the words that start it moving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you actually type or say to a model or agent — vague words in, a vague result out; specific words in, a specific result out. It's the one lever you control every single time.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6035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— done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in decide the precision of the result out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sets standing rules; User Prompt is the specific ask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D6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the units a model actually reads those words in — Token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1–9 so far: Agent, Model, Memory, Skill, Hook, Workflow, JSON, Python, Prompt.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12480" y="1645920"/>
            <a:ext cx="1463040" cy="1463040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0" y="164592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9052560" y="3200400"/>
            <a:ext cx="182880" cy="1645920"/>
          </a:xfrm>
          <a:prstGeom prst="rect">
            <a:avLst/>
          </a:prstGeom>
          <a:solidFill>
            <a:srgbClr val="9FB6CC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474720"/>
            <a:ext cx="2743200" cy="640080"/>
          </a:xfrm>
          <a:prstGeom prst="homePlat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0" y="347472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Token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0" y="64739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7/7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2026-07-21T15:16:28Z</dcterms:created>
  <dcterms:modified xsi:type="dcterms:W3CDTF">2026-07-21T15:16:28Z</dcterms:modified>
</cp:coreProperties>
</file>