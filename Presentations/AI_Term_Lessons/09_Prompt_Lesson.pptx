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Lst>
  <p:notesMasterIdLst>
    <p:notesMasterId r:id="rId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notesMaster" Target="notesMasters/notesMaster1.xml"/><Relationship Id="rId10" Type="http://schemas.openxmlformats.org/officeDocument/2006/relationships/presProps" Target="presProps.xml"/><Relationship Id="rId11" Type="http://schemas.openxmlformats.org/officeDocument/2006/relationships/viewProps" Target="viewProps.xml"/><Relationship Id="rId12" Type="http://schemas.openxmlformats.org/officeDocument/2006/relationships/theme" Target="theme/theme1.xml"/><Relationship Id="rId1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You've met Agent, Model, Memory, Skill, Hook, Workflow, JSON, and Python — the whole machine. But none of it moves on its own. Something has to actually tell it what to do, right now. That's a Prompt.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Prompt is just the specific instruction you hand a model or agent — plain words, stating the actual ask. Not the model's knowledge, not its tools, not the code underneath. Just: here's what I want, right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a new email in Outlook and the signature, the formatting, the address book are already sitting there, fully set up. None of it does anything until you type the actual message. That typed message is the Prompt — everything else was just waiting.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Or open a browser: your whole history and every bookmark are already loaded, and nothing happens until you type something into the address bar and hit enter. 'Best pizza near me' is a Prompt — one specific request, handed to a system that was sitting idle until you asked.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Or think of a fully stocked kitchen with a great chef — on its own, it makes nothing. Walk up and say 'a medium-rare steak, no onions,' and that's what turns capability into an actual dish. The kitchen is the Model and Skills you already know; your order is the Prompt.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our running Mistral Studio chain, the Hook can hand the Agent {"file": "report.pdf"} all day long — nothing happens until a Prompt, something like 'summarize this file and email the result to finance,' is the actual instruction the Agent's underlying model gets run with. The JSON is the data arriving; the Prompt is what says what to do with it, right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a Prompt is the specific instruction that kicks off the work — layered on top of whatever data and code already exist, and the one thing that turns a sitting-idle system into action. Next time: the unit AI actually reads and writes text in, and why it quietly controls cost and speed — Token. See you in Lesson 10.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E3A5F"/>
        </a:solidFill>
      </p:bgPr>
    </p:bg>
    <p:spTree>
      <p:nvGrpSpPr>
        <p:cNvPr id="1" name=""/>
        <p:cNvGrpSpPr/>
        <p:nvPr/>
      </p:nvGrpSpPr>
      <p:grpSpPr>
        <a:xfrm>
          <a:off x="0" y="0"/>
          <a:ext cx="0" cy="0"/>
          <a:chOff x="0" y="0"/>
          <a:chExt cx="0" cy="0"/>
        </a:xfrm>
      </p:grpSpPr>
      <p:sp>
        <p:nvSpPr>
          <p:cNvPr id="2" name="Text 0"/>
          <p:cNvSpPr/>
          <p:nvPr/>
        </p:nvSpPr>
        <p:spPr>
          <a:xfrm>
            <a:off x="502920" y="502920"/>
            <a:ext cx="5669280" cy="365760"/>
          </a:xfrm>
          <a:prstGeom prst="rect">
            <a:avLst/>
          </a:prstGeom>
          <a:noFill/>
          <a:ln/>
        </p:spPr>
        <p:txBody>
          <a:bodyPr wrap="square" rtlCol="0" anchor="ctr"/>
          <a:lstStyle/>
          <a:p>
            <a:pPr indent="0" marL="0">
              <a:buNone/>
            </a:pPr>
            <a:r>
              <a:rPr lang="en-US" sz="1500" b="1" spc="150" kern="0" dirty="0">
                <a:solidFill>
                  <a:srgbClr val="F2C94C"/>
                </a:solidFill>
                <a:latin typeface="Calibri" pitchFamily="34" charset="0"/>
                <a:ea typeface="Calibri" pitchFamily="34" charset="-122"/>
                <a:cs typeface="Calibri" pitchFamily="34" charset="-120"/>
              </a:rPr>
              <a:t>AI EXPLAINED, PLAIN AND SIMPLE — LESSON 9</a:t>
            </a:r>
            <a:endParaRPr lang="en-US" sz="1500" dirty="0"/>
          </a:p>
        </p:txBody>
      </p:sp>
      <p:sp>
        <p:nvSpPr>
          <p:cNvPr id="3" name="Text 1"/>
          <p:cNvSpPr/>
          <p:nvPr/>
        </p:nvSpPr>
        <p:spPr>
          <a:xfrm>
            <a:off x="502920" y="868680"/>
            <a:ext cx="5669280" cy="1737360"/>
          </a:xfrm>
          <a:prstGeom prst="rect">
            <a:avLst/>
          </a:prstGeom>
          <a:noFill/>
          <a:ln/>
        </p:spPr>
        <p:txBody>
          <a:bodyPr wrap="square" rtlCol="0" anchor="ctr"/>
          <a:lstStyle/>
          <a:p>
            <a:pPr indent="0" marL="0">
              <a:lnSpc>
                <a:spcPct val="105000"/>
              </a:lnSpc>
              <a:buNone/>
            </a:pPr>
            <a:r>
              <a:rPr lang="en-US" sz="4000" b="1" dirty="0">
                <a:solidFill>
                  <a:srgbClr val="FFFFFF"/>
                </a:solidFill>
                <a:latin typeface="Cambria" pitchFamily="34" charset="0"/>
                <a:ea typeface="Cambria" pitchFamily="34" charset="-122"/>
                <a:cs typeface="Cambria" pitchFamily="34" charset="-120"/>
              </a:rPr>
              <a:t>What Is a</a:t>
            </a:r>
            <a:endParaRPr lang="en-US" sz="4000" dirty="0"/>
          </a:p>
          <a:p>
            <a:pPr indent="0" marL="0">
              <a:lnSpc>
                <a:spcPct val="105000"/>
              </a:lnSpc>
              <a:buNone/>
            </a:pPr>
            <a:r>
              <a:rPr lang="en-US" sz="4000" b="1" dirty="0">
                <a:solidFill>
                  <a:srgbClr val="FFFFFF"/>
                </a:solidFill>
                <a:latin typeface="Cambria" pitchFamily="34" charset="0"/>
                <a:ea typeface="Cambria" pitchFamily="34" charset="-122"/>
                <a:cs typeface="Cambria" pitchFamily="34" charset="-120"/>
              </a:rPr>
              <a:t>"Prompt"?</a:t>
            </a:r>
            <a:endParaRPr lang="en-US" sz="4000" dirty="0"/>
          </a:p>
        </p:txBody>
      </p:sp>
      <p:sp>
        <p:nvSpPr>
          <p:cNvPr id="4" name="Text 2"/>
          <p:cNvSpPr/>
          <p:nvPr/>
        </p:nvSpPr>
        <p:spPr>
          <a:xfrm>
            <a:off x="502920" y="2880360"/>
            <a:ext cx="5760720" cy="1188720"/>
          </a:xfrm>
          <a:prstGeom prst="rect">
            <a:avLst/>
          </a:prstGeom>
          <a:noFill/>
          <a:ln/>
        </p:spPr>
        <p:txBody>
          <a:bodyPr wrap="square" rtlCol="0" anchor="ctr"/>
          <a:lstStyle/>
          <a:p>
            <a:pPr indent="0" marL="0">
              <a:lnSpc>
                <a:spcPct val="130000"/>
              </a:lnSpc>
              <a:buNone/>
            </a:pPr>
            <a:r>
              <a:rPr lang="en-US" sz="1600" dirty="0">
                <a:solidFill>
                  <a:srgbClr val="D8E2EE"/>
                </a:solidFill>
                <a:latin typeface="Calibri" pitchFamily="34" charset="0"/>
                <a:ea typeface="Calibri" pitchFamily="34" charset="-122"/>
                <a:cs typeface="Calibri" pitchFamily="34" charset="-120"/>
              </a:rPr>
              <a:t>Agent, Model, Memory, Skill, Hook, Workflow, JSON, and Python are all built and waiting. Prompt is the instruction that makes them actually do something.</a:t>
            </a:r>
            <a:endParaRPr lang="en-US" sz="1600" dirty="0"/>
          </a:p>
        </p:txBody>
      </p:sp>
      <p:sp>
        <p:nvSpPr>
          <p:cNvPr id="5" name="Shape 3"/>
          <p:cNvSpPr/>
          <p:nvPr/>
        </p:nvSpPr>
        <p:spPr>
          <a:xfrm>
            <a:off x="6537960" y="777240"/>
            <a:ext cx="5120640" cy="5257800"/>
          </a:xfrm>
          <a:prstGeom prst="roundRect">
            <a:avLst>
              <a:gd name="adj" fmla="val 2143"/>
            </a:avLst>
          </a:prstGeom>
          <a:solidFill>
            <a:srgbClr val="FFFFFF"/>
          </a:solidFill>
          <a:ln/>
        </p:spPr>
      </p:sp>
      <p:sp>
        <p:nvSpPr>
          <p:cNvPr id="6" name="Shape 4"/>
          <p:cNvSpPr/>
          <p:nvPr/>
        </p:nvSpPr>
        <p:spPr>
          <a:xfrm>
            <a:off x="6612941" y="2459736"/>
            <a:ext cx="2103120" cy="1051560"/>
          </a:xfrm>
          <a:prstGeom prst="roundRect">
            <a:avLst>
              <a:gd name="adj" fmla="val 12174"/>
            </a:avLst>
          </a:prstGeom>
          <a:solidFill>
            <a:srgbClr val="0FA3A3"/>
          </a:solidFill>
          <a:ln/>
        </p:spPr>
      </p:sp>
      <p:sp>
        <p:nvSpPr>
          <p:cNvPr id="7" name="Shape 5"/>
          <p:cNvSpPr/>
          <p:nvPr/>
        </p:nvSpPr>
        <p:spPr>
          <a:xfrm rot="10800000">
            <a:off x="7481621" y="3493008"/>
            <a:ext cx="365760" cy="274320"/>
          </a:xfrm>
          <a:prstGeom prst="triangle">
            <a:avLst/>
          </a:prstGeom>
          <a:solidFill>
            <a:srgbClr val="0FA3A3"/>
          </a:solidFill>
          <a:ln/>
        </p:spPr>
      </p:sp>
      <p:sp>
        <p:nvSpPr>
          <p:cNvPr id="8" name="Text 6"/>
          <p:cNvSpPr/>
          <p:nvPr/>
        </p:nvSpPr>
        <p:spPr>
          <a:xfrm>
            <a:off x="6612941" y="2459736"/>
            <a:ext cx="2103120" cy="1051560"/>
          </a:xfrm>
          <a:prstGeom prst="rect">
            <a:avLst/>
          </a:prstGeom>
          <a:noFill/>
          <a:ln/>
        </p:spPr>
        <p:txBody>
          <a:bodyPr wrap="square" rtlCol="0" anchor="ctr"/>
          <a:lstStyle/>
          <a:p>
            <a:pPr algn="ctr" indent="0" marL="0">
              <a:buNone/>
            </a:pPr>
            <a:r>
              <a:rPr lang="en-US" sz="1250" b="1" i="1" dirty="0">
                <a:solidFill>
                  <a:srgbClr val="FFFFFF"/>
                </a:solidFill>
                <a:latin typeface="Calibri" pitchFamily="34" charset="0"/>
                <a:ea typeface="Calibri" pitchFamily="34" charset="-122"/>
                <a:cs typeface="Calibri" pitchFamily="34" charset="-120"/>
              </a:rPr>
              <a:t>“summarize this file,</a:t>
            </a:r>
            <a:endParaRPr lang="en-US" sz="1250" dirty="0"/>
          </a:p>
          <a:p>
            <a:pPr algn="ctr" indent="0" marL="0">
              <a:buNone/>
            </a:pPr>
            <a:r>
              <a:rPr lang="en-US" sz="1250" b="1" i="1" dirty="0">
                <a:solidFill>
                  <a:srgbClr val="FFFFFF"/>
                </a:solidFill>
                <a:latin typeface="Calibri" pitchFamily="34" charset="0"/>
                <a:ea typeface="Calibri" pitchFamily="34" charset="-122"/>
                <a:cs typeface="Calibri" pitchFamily="34" charset="-120"/>
              </a:rPr>
              <a:t>email finance”</a:t>
            </a:r>
            <a:endParaRPr lang="en-US" sz="1250" dirty="0"/>
          </a:p>
        </p:txBody>
      </p:sp>
      <p:sp>
        <p:nvSpPr>
          <p:cNvPr id="9" name="Shape 7"/>
          <p:cNvSpPr/>
          <p:nvPr/>
        </p:nvSpPr>
        <p:spPr>
          <a:xfrm>
            <a:off x="8853221" y="2967228"/>
            <a:ext cx="274320" cy="36576"/>
          </a:xfrm>
          <a:prstGeom prst="rect">
            <a:avLst/>
          </a:prstGeom>
          <a:solidFill>
            <a:srgbClr val="1E3A5F"/>
          </a:solidFill>
          <a:ln/>
        </p:spPr>
      </p:sp>
      <p:sp>
        <p:nvSpPr>
          <p:cNvPr id="10" name="Shape 8"/>
          <p:cNvSpPr/>
          <p:nvPr/>
        </p:nvSpPr>
        <p:spPr>
          <a:xfrm rot="5400000">
            <a:off x="9173261" y="2894076"/>
            <a:ext cx="182880" cy="182880"/>
          </a:xfrm>
          <a:prstGeom prst="triangle">
            <a:avLst/>
          </a:prstGeom>
          <a:solidFill>
            <a:srgbClr val="1E3A5F"/>
          </a:solidFill>
          <a:ln/>
        </p:spPr>
      </p:sp>
      <p:sp>
        <p:nvSpPr>
          <p:cNvPr id="11" name="Shape 9"/>
          <p:cNvSpPr/>
          <p:nvPr/>
        </p:nvSpPr>
        <p:spPr>
          <a:xfrm>
            <a:off x="9356141" y="2116836"/>
            <a:ext cx="1737360" cy="1737360"/>
          </a:xfrm>
          <a:prstGeom prst="ellipse">
            <a:avLst/>
          </a:prstGeom>
          <a:solidFill>
            <a:srgbClr val="1E3A5F"/>
          </a:solidFill>
          <a:ln/>
        </p:spPr>
      </p:sp>
      <p:sp>
        <p:nvSpPr>
          <p:cNvPr id="12" name="Text 10"/>
          <p:cNvSpPr/>
          <p:nvPr/>
        </p:nvSpPr>
        <p:spPr>
          <a:xfrm>
            <a:off x="9356141" y="2116836"/>
            <a:ext cx="1737360" cy="1737360"/>
          </a:xfrm>
          <a:prstGeom prst="rect">
            <a:avLst/>
          </a:prstGeom>
          <a:noFill/>
          <a:ln/>
        </p:spPr>
        <p:txBody>
          <a:bodyPr wrap="square"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AGENT</a:t>
            </a:r>
            <a:endParaRPr lang="en-US" sz="1800" dirty="0"/>
          </a:p>
        </p:txBody>
      </p:sp>
      <p:sp>
        <p:nvSpPr>
          <p:cNvPr id="13" name="Text 11"/>
          <p:cNvSpPr/>
          <p:nvPr/>
        </p:nvSpPr>
        <p:spPr>
          <a:xfrm>
            <a:off x="6812280" y="5120640"/>
            <a:ext cx="4572000" cy="640080"/>
          </a:xfrm>
          <a:prstGeom prst="rect">
            <a:avLst/>
          </a:prstGeom>
          <a:noFill/>
          <a:ln/>
        </p:spPr>
        <p:txBody>
          <a:bodyPr wrap="square" rtlCol="0" anchor="ctr"/>
          <a:lstStyle/>
          <a:p>
            <a:pPr algn="ctr" indent="0" marL="0">
              <a:buNone/>
            </a:pPr>
            <a:r>
              <a:rPr lang="en-US" sz="1350" i="1" dirty="0">
                <a:solidFill>
                  <a:srgbClr val="222222"/>
                </a:solidFill>
                <a:latin typeface="Calibri" pitchFamily="34" charset="0"/>
                <a:ea typeface="Calibri" pitchFamily="34" charset="-122"/>
                <a:cs typeface="Calibri" pitchFamily="34" charset="-120"/>
              </a:rPr>
              <a:t>The specific instruction that makes the machine actually move.</a:t>
            </a:r>
            <a:endParaRPr lang="en-US" sz="1350" dirty="0"/>
          </a:p>
        </p:txBody>
      </p:sp>
      <p:sp>
        <p:nvSpPr>
          <p:cNvPr id="14" name="Text 12"/>
          <p:cNvSpPr/>
          <p:nvPr/>
        </p:nvSpPr>
        <p:spPr>
          <a:xfrm>
            <a:off x="10607040" y="6537960"/>
            <a:ext cx="1371600" cy="274320"/>
          </a:xfrm>
          <a:prstGeom prst="rect">
            <a:avLst/>
          </a:prstGeom>
          <a:noFill/>
          <a:ln/>
        </p:spPr>
        <p:txBody>
          <a:bodyPr wrap="square" rtlCol="0" anchor="ctr"/>
          <a:lstStyle/>
          <a:p>
            <a:pPr algn="r" indent="0" marL="0">
              <a:buNone/>
            </a:pPr>
            <a:r>
              <a:rPr lang="en-US" sz="1000" dirty="0">
                <a:solidFill>
                  <a:srgbClr val="9FB3C8"/>
                </a:solidFill>
                <a:latin typeface="Calibri" pitchFamily="34" charset="0"/>
                <a:ea typeface="Calibri" pitchFamily="34" charset="-122"/>
                <a:cs typeface="Calibri" pitchFamily="34" charset="-120"/>
              </a:rPr>
              <a:t>09 · 1/7</a:t>
            </a:r>
            <a:endParaRPr lang="en-US" sz="1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4617720" cy="6858000"/>
          </a:xfrm>
          <a:prstGeom prst="rect">
            <a:avLst/>
          </a:prstGeom>
          <a:solidFill>
            <a:srgbClr val="F0F6F6"/>
          </a:solidFill>
          <a:ln/>
        </p:spPr>
      </p:sp>
      <p:sp>
        <p:nvSpPr>
          <p:cNvPr id="3" name="Text 1"/>
          <p:cNvSpPr/>
          <p:nvPr/>
        </p:nvSpPr>
        <p:spPr>
          <a:xfrm>
            <a:off x="457200" y="502920"/>
            <a:ext cx="3840480" cy="502920"/>
          </a:xfrm>
          <a:prstGeom prst="rect">
            <a:avLst/>
          </a:prstGeom>
          <a:noFill/>
          <a:ln/>
        </p:spPr>
        <p:txBody>
          <a:bodyPr wrap="square" rtlCol="0" anchor="ctr"/>
          <a:lstStyle/>
          <a:p>
            <a:pPr indent="0" marL="0">
              <a:lnSpc>
                <a:spcPct val="115000"/>
              </a:lnSpc>
              <a:buNone/>
            </a:pPr>
            <a:r>
              <a:rPr lang="en-US" sz="1300" b="1" spc="130" kern="0" dirty="0">
                <a:solidFill>
                  <a:srgbClr val="0FA3A3"/>
                </a:solidFill>
                <a:latin typeface="Calibri" pitchFamily="34" charset="0"/>
                <a:ea typeface="Calibri" pitchFamily="34" charset="-122"/>
                <a:cs typeface="Calibri" pitchFamily="34" charset="-120"/>
              </a:rPr>
              <a:t>THE EVERYDAY DEFINITION</a:t>
            </a:r>
            <a:endParaRPr lang="en-US" sz="1300" dirty="0"/>
          </a:p>
        </p:txBody>
      </p:sp>
      <p:sp>
        <p:nvSpPr>
          <p:cNvPr id="4" name="Text 2"/>
          <p:cNvSpPr/>
          <p:nvPr/>
        </p:nvSpPr>
        <p:spPr>
          <a:xfrm>
            <a:off x="457200" y="1005840"/>
            <a:ext cx="3886200" cy="1554480"/>
          </a:xfrm>
          <a:prstGeom prst="rect">
            <a:avLst/>
          </a:prstGeom>
          <a:noFill/>
          <a:ln/>
        </p:spPr>
        <p:txBody>
          <a:bodyPr wrap="square" rtlCol="0" anchor="ctr"/>
          <a:lstStyle/>
          <a:p>
            <a:pPr indent="0" marL="0">
              <a:lnSpc>
                <a:spcPct val="108000"/>
              </a:lnSpc>
              <a:buNone/>
            </a:pPr>
            <a:r>
              <a:rPr lang="en-US" sz="2700" b="1" dirty="0">
                <a:solidFill>
                  <a:srgbClr val="1E3A5F"/>
                </a:solidFill>
                <a:latin typeface="Cambria" pitchFamily="34" charset="0"/>
                <a:ea typeface="Cambria" pitchFamily="34" charset="-122"/>
                <a:cs typeface="Cambria" pitchFamily="34" charset="-120"/>
              </a:rPr>
              <a:t>What actually starts the work</a:t>
            </a:r>
            <a:endParaRPr lang="en-US" sz="2700" dirty="0"/>
          </a:p>
        </p:txBody>
      </p:sp>
      <p:sp>
        <p:nvSpPr>
          <p:cNvPr id="5" name="Text 3"/>
          <p:cNvSpPr/>
          <p:nvPr/>
        </p:nvSpPr>
        <p:spPr>
          <a:xfrm>
            <a:off x="457200" y="2560320"/>
            <a:ext cx="3886200" cy="1417320"/>
          </a:xfrm>
          <a:prstGeom prst="rect">
            <a:avLst/>
          </a:prstGeom>
          <a:noFill/>
          <a:ln/>
        </p:spPr>
        <p:txBody>
          <a:bodyPr wrap="square" rtlCol="0" anchor="ctr"/>
          <a:lstStyle/>
          <a:p>
            <a:pPr indent="0" marL="0">
              <a:lnSpc>
                <a:spcPct val="128000"/>
              </a:lnSpc>
              <a:buNone/>
            </a:pPr>
            <a:r>
              <a:rPr lang="en-US" sz="1450" dirty="0">
                <a:solidFill>
                  <a:srgbClr val="222222"/>
                </a:solidFill>
                <a:latin typeface="Calibri" pitchFamily="34" charset="0"/>
                <a:ea typeface="Calibri" pitchFamily="34" charset="-122"/>
                <a:cs typeface="Calibri" pitchFamily="34" charset="-120"/>
              </a:rPr>
              <a:t>A Prompt is just the specific instruction you hand a model or agent — plain words, stating the actual ask. Not the model's knowledge, not its tools, not the code underneath. Just: here's what I want, right now.</a:t>
            </a:r>
            <a:endParaRPr lang="en-US" sz="1450" dirty="0"/>
          </a:p>
        </p:txBody>
      </p:sp>
      <p:sp>
        <p:nvSpPr>
          <p:cNvPr id="6" name="Text 4"/>
          <p:cNvSpPr/>
          <p:nvPr/>
        </p:nvSpPr>
        <p:spPr>
          <a:xfrm>
            <a:off x="457200" y="4069080"/>
            <a:ext cx="3794760" cy="548640"/>
          </a:xfrm>
          <a:prstGeom prst="rect">
            <a:avLst/>
          </a:prstGeom>
          <a:noFill/>
          <a:ln/>
        </p:spPr>
        <p:txBody>
          <a:bodyPr wrap="square" rtlCol="0" anchor="ctr"/>
          <a:lstStyle/>
          <a:p>
            <a:pPr marL="152400" indent="-152400">
              <a:lnSpc>
                <a:spcPct val="115000"/>
              </a:lnSpc>
              <a:buSzPct val="100000"/>
              <a:buChar char="■"/>
            </a:pPr>
            <a:r>
              <a:rPr lang="en-US" sz="1350" dirty="0">
                <a:solidFill>
                  <a:srgbClr val="222222"/>
                </a:solidFill>
                <a:latin typeface="Calibri" pitchFamily="34" charset="0"/>
                <a:ea typeface="Calibri" pitchFamily="34" charset="-122"/>
                <a:cs typeface="Calibri" pitchFamily="34" charset="-120"/>
              </a:rPr>
              <a:t>It's the ask, not the capability behind it</a:t>
            </a:r>
            <a:endParaRPr lang="en-US" sz="1350" dirty="0"/>
          </a:p>
        </p:txBody>
      </p:sp>
      <p:sp>
        <p:nvSpPr>
          <p:cNvPr id="7" name="Text 5"/>
          <p:cNvSpPr/>
          <p:nvPr/>
        </p:nvSpPr>
        <p:spPr>
          <a:xfrm>
            <a:off x="457200" y="4727448"/>
            <a:ext cx="3794760" cy="548640"/>
          </a:xfrm>
          <a:prstGeom prst="rect">
            <a:avLst/>
          </a:prstGeom>
          <a:noFill/>
          <a:ln/>
        </p:spPr>
        <p:txBody>
          <a:bodyPr wrap="square" rtlCol="0" anchor="ctr"/>
          <a:lstStyle/>
          <a:p>
            <a:pPr marL="152400" indent="-152400">
              <a:lnSpc>
                <a:spcPct val="115000"/>
              </a:lnSpc>
              <a:buSzPct val="100000"/>
              <a:buChar char="■"/>
            </a:pPr>
            <a:r>
              <a:rPr lang="en-US" sz="1350" dirty="0">
                <a:solidFill>
                  <a:srgbClr val="222222"/>
                </a:solidFill>
                <a:latin typeface="Calibri" pitchFamily="34" charset="0"/>
                <a:ea typeface="Calibri" pitchFamily="34" charset="-122"/>
                <a:cs typeface="Calibri" pitchFamily="34" charset="-120"/>
              </a:rPr>
              <a:t>Plain words — no special syntax required</a:t>
            </a:r>
            <a:endParaRPr lang="en-US" sz="1350" dirty="0"/>
          </a:p>
        </p:txBody>
      </p:sp>
      <p:sp>
        <p:nvSpPr>
          <p:cNvPr id="8" name="Text 6"/>
          <p:cNvSpPr/>
          <p:nvPr/>
        </p:nvSpPr>
        <p:spPr>
          <a:xfrm>
            <a:off x="457200" y="5166360"/>
            <a:ext cx="3794760" cy="548640"/>
          </a:xfrm>
          <a:prstGeom prst="rect">
            <a:avLst/>
          </a:prstGeom>
          <a:noFill/>
          <a:ln/>
        </p:spPr>
        <p:txBody>
          <a:bodyPr wrap="square" rtlCol="0" anchor="ctr"/>
          <a:lstStyle/>
          <a:p>
            <a:pPr marL="152400" indent="-152400">
              <a:lnSpc>
                <a:spcPct val="115000"/>
              </a:lnSpc>
              <a:buSzPct val="100000"/>
              <a:buChar char="■"/>
            </a:pPr>
            <a:r>
              <a:rPr lang="en-US" sz="1350" dirty="0">
                <a:solidFill>
                  <a:srgbClr val="222222"/>
                </a:solidFill>
                <a:latin typeface="Calibri" pitchFamily="34" charset="0"/>
                <a:ea typeface="Calibri" pitchFamily="34" charset="-122"/>
                <a:cs typeface="Calibri" pitchFamily="34" charset="-120"/>
              </a:rPr>
              <a:t>Nothing runs until one arrives</a:t>
            </a:r>
            <a:endParaRPr lang="en-US" sz="1350" dirty="0"/>
          </a:p>
        </p:txBody>
      </p:sp>
      <p:sp>
        <p:nvSpPr>
          <p:cNvPr id="9" name="Shape 7"/>
          <p:cNvSpPr/>
          <p:nvPr/>
        </p:nvSpPr>
        <p:spPr>
          <a:xfrm>
            <a:off x="5074920" y="777240"/>
            <a:ext cx="6583680" cy="5303520"/>
          </a:xfrm>
          <a:prstGeom prst="roundRect">
            <a:avLst>
              <a:gd name="adj" fmla="val 2069"/>
            </a:avLst>
          </a:prstGeom>
          <a:solidFill>
            <a:srgbClr val="FFFFFF"/>
          </a:solidFill>
          <a:ln w="12700">
            <a:solidFill>
              <a:srgbClr val="D6E8F0"/>
            </a:solidFill>
            <a:prstDash val="solid"/>
          </a:ln>
        </p:spPr>
      </p:sp>
      <p:sp>
        <p:nvSpPr>
          <p:cNvPr id="10" name="Shape 8"/>
          <p:cNvSpPr/>
          <p:nvPr/>
        </p:nvSpPr>
        <p:spPr>
          <a:xfrm>
            <a:off x="5486400" y="2212848"/>
            <a:ext cx="2377440" cy="1371600"/>
          </a:xfrm>
          <a:prstGeom prst="roundRect">
            <a:avLst>
              <a:gd name="adj" fmla="val 8000"/>
            </a:avLst>
          </a:prstGeom>
          <a:solidFill>
            <a:srgbClr val="D9DDE1"/>
          </a:solidFill>
          <a:ln/>
        </p:spPr>
      </p:sp>
      <p:sp>
        <p:nvSpPr>
          <p:cNvPr id="11" name="Text 9"/>
          <p:cNvSpPr/>
          <p:nvPr/>
        </p:nvSpPr>
        <p:spPr>
          <a:xfrm>
            <a:off x="5486400" y="2212848"/>
            <a:ext cx="2377440" cy="1371600"/>
          </a:xfrm>
          <a:prstGeom prst="rect">
            <a:avLst/>
          </a:prstGeom>
          <a:noFill/>
          <a:ln/>
        </p:spPr>
        <p:txBody>
          <a:bodyPr wrap="square" rtlCol="0" anchor="ctr"/>
          <a:lstStyle/>
          <a:p>
            <a:pPr algn="ctr" indent="0" marL="0">
              <a:buNone/>
            </a:pPr>
            <a:r>
              <a:rPr lang="en-US" sz="1600" i="1" dirty="0">
                <a:solidFill>
                  <a:srgbClr val="6B7280"/>
                </a:solidFill>
                <a:latin typeface="Calibri" pitchFamily="34" charset="0"/>
                <a:ea typeface="Calibri" pitchFamily="34" charset="-122"/>
                <a:cs typeface="Calibri" pitchFamily="34" charset="-120"/>
              </a:rPr>
              <a:t>waiting…</a:t>
            </a:r>
            <a:endParaRPr lang="en-US" sz="1600" dirty="0"/>
          </a:p>
        </p:txBody>
      </p:sp>
      <p:sp>
        <p:nvSpPr>
          <p:cNvPr id="12" name="Shape 10"/>
          <p:cNvSpPr/>
          <p:nvPr/>
        </p:nvSpPr>
        <p:spPr>
          <a:xfrm>
            <a:off x="8869680" y="2212848"/>
            <a:ext cx="2377440" cy="1371600"/>
          </a:xfrm>
          <a:prstGeom prst="roundRect">
            <a:avLst>
              <a:gd name="adj" fmla="val 8000"/>
            </a:avLst>
          </a:prstGeom>
          <a:solidFill>
            <a:srgbClr val="1E3A5F"/>
          </a:solidFill>
          <a:ln/>
        </p:spPr>
      </p:sp>
      <p:sp>
        <p:nvSpPr>
          <p:cNvPr id="13" name="Text 11"/>
          <p:cNvSpPr/>
          <p:nvPr/>
        </p:nvSpPr>
        <p:spPr>
          <a:xfrm>
            <a:off x="8869680" y="2212848"/>
            <a:ext cx="2377440" cy="1371600"/>
          </a:xfrm>
          <a:prstGeom prst="rect">
            <a:avLst/>
          </a:prstGeom>
          <a:noFill/>
          <a:ln/>
        </p:spPr>
        <p:txBody>
          <a:bodyPr wrap="square"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on it</a:t>
            </a:r>
            <a:endParaRPr lang="en-US" sz="1600" dirty="0"/>
          </a:p>
        </p:txBody>
      </p:sp>
      <p:sp>
        <p:nvSpPr>
          <p:cNvPr id="14" name="Shape 12"/>
          <p:cNvSpPr/>
          <p:nvPr/>
        </p:nvSpPr>
        <p:spPr>
          <a:xfrm>
            <a:off x="7955280" y="2898648"/>
            <a:ext cx="822960" cy="0"/>
          </a:xfrm>
          <a:prstGeom prst="line">
            <a:avLst/>
          </a:prstGeom>
          <a:noFill/>
          <a:ln w="38100">
            <a:solidFill>
              <a:srgbClr val="0FA3A3"/>
            </a:solidFill>
            <a:prstDash val="solid"/>
            <a:tailEnd type="triangle"/>
          </a:ln>
        </p:spPr>
      </p:sp>
      <p:sp>
        <p:nvSpPr>
          <p:cNvPr id="15" name="Shape 13"/>
          <p:cNvSpPr/>
          <p:nvPr/>
        </p:nvSpPr>
        <p:spPr>
          <a:xfrm>
            <a:off x="7909560" y="2212848"/>
            <a:ext cx="914400" cy="384048"/>
          </a:xfrm>
          <a:prstGeom prst="roundRect">
            <a:avLst>
              <a:gd name="adj" fmla="val 19048"/>
            </a:avLst>
          </a:prstGeom>
          <a:solidFill>
            <a:srgbClr val="F2C94C"/>
          </a:solidFill>
          <a:ln/>
        </p:spPr>
      </p:sp>
      <p:sp>
        <p:nvSpPr>
          <p:cNvPr id="16" name="Text 14"/>
          <p:cNvSpPr/>
          <p:nvPr/>
        </p:nvSpPr>
        <p:spPr>
          <a:xfrm>
            <a:off x="7909560" y="2212848"/>
            <a:ext cx="914400" cy="384048"/>
          </a:xfrm>
          <a:prstGeom prst="rect">
            <a:avLst/>
          </a:prstGeom>
          <a:noFill/>
          <a:ln/>
        </p:spPr>
        <p:txBody>
          <a:bodyPr wrap="square" rtlCol="0" anchor="ctr"/>
          <a:lstStyle/>
          <a:p>
            <a:pPr algn="ctr" indent="0" marL="0">
              <a:buNone/>
            </a:pPr>
            <a:r>
              <a:rPr lang="en-US" sz="1100" b="1" dirty="0">
                <a:solidFill>
                  <a:srgbClr val="1E3A5F"/>
                </a:solidFill>
                <a:latin typeface="Calibri" pitchFamily="34" charset="0"/>
                <a:ea typeface="Calibri" pitchFamily="34" charset="-122"/>
                <a:cs typeface="Calibri" pitchFamily="34" charset="-120"/>
              </a:rPr>
              <a:t>prompt</a:t>
            </a:r>
            <a:endParaRPr lang="en-US" sz="1100" dirty="0"/>
          </a:p>
        </p:txBody>
      </p:sp>
      <p:sp>
        <p:nvSpPr>
          <p:cNvPr id="17" name="Text 15"/>
          <p:cNvSpPr/>
          <p:nvPr/>
        </p:nvSpPr>
        <p:spPr>
          <a:xfrm>
            <a:off x="5349240" y="5166360"/>
            <a:ext cx="6035040" cy="640080"/>
          </a:xfrm>
          <a:prstGeom prst="rect">
            <a:avLst/>
          </a:prstGeom>
          <a:noFill/>
          <a:ln/>
        </p:spPr>
        <p:txBody>
          <a:bodyPr wrap="square" rtlCol="0" anchor="ctr"/>
          <a:lstStyle/>
          <a:p>
            <a:pPr algn="ctr" indent="0" marL="0">
              <a:buNone/>
            </a:pPr>
            <a:r>
              <a:rPr lang="en-US" sz="1350" i="1" dirty="0">
                <a:solidFill>
                  <a:srgbClr val="222222"/>
                </a:solidFill>
                <a:latin typeface="Calibri" pitchFamily="34" charset="0"/>
                <a:ea typeface="Calibri" pitchFamily="34" charset="-122"/>
                <a:cs typeface="Calibri" pitchFamily="34" charset="-120"/>
              </a:rPr>
              <a:t>Everything sits idle until a Prompt arrives.</a:t>
            </a:r>
            <a:endParaRPr lang="en-US" sz="1350" dirty="0"/>
          </a:p>
        </p:txBody>
      </p:sp>
      <p:sp>
        <p:nvSpPr>
          <p:cNvPr id="18" name="Text 16"/>
          <p:cNvSpPr/>
          <p:nvPr/>
        </p:nvSpPr>
        <p:spPr>
          <a:xfrm>
            <a:off x="10607040" y="6537960"/>
            <a:ext cx="1371600" cy="274320"/>
          </a:xfrm>
          <a:prstGeom prst="rect">
            <a:avLst/>
          </a:prstGeom>
          <a:noFill/>
          <a:ln/>
        </p:spPr>
        <p:txBody>
          <a:bodyPr wrap="square" rtlCol="0" anchor="ctr"/>
          <a:lstStyle/>
          <a:p>
            <a:pPr algn="r" indent="0" marL="0">
              <a:buNone/>
            </a:pPr>
            <a:r>
              <a:rPr lang="en-US" sz="1000" dirty="0">
                <a:solidFill>
                  <a:srgbClr val="9AA5AE"/>
                </a:solidFill>
                <a:latin typeface="Calibri" pitchFamily="34" charset="0"/>
                <a:ea typeface="Calibri" pitchFamily="34" charset="-122"/>
                <a:cs typeface="Calibri" pitchFamily="34" charset="-120"/>
              </a:rPr>
              <a:t>09 · 2/7</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4617720" cy="6858000"/>
          </a:xfrm>
          <a:prstGeom prst="rect">
            <a:avLst/>
          </a:prstGeom>
          <a:solidFill>
            <a:srgbClr val="F0F6F6"/>
          </a:solidFill>
          <a:ln/>
        </p:spPr>
      </p:sp>
      <p:sp>
        <p:nvSpPr>
          <p:cNvPr id="3" name="Text 1"/>
          <p:cNvSpPr/>
          <p:nvPr/>
        </p:nvSpPr>
        <p:spPr>
          <a:xfrm>
            <a:off x="457200" y="502920"/>
            <a:ext cx="3840480" cy="502920"/>
          </a:xfrm>
          <a:prstGeom prst="rect">
            <a:avLst/>
          </a:prstGeom>
          <a:noFill/>
          <a:ln/>
        </p:spPr>
        <p:txBody>
          <a:bodyPr wrap="square" rtlCol="0" anchor="ctr"/>
          <a:lstStyle/>
          <a:p>
            <a:pPr indent="0" marL="0">
              <a:lnSpc>
                <a:spcPct val="115000"/>
              </a:lnSpc>
              <a:buNone/>
            </a:pPr>
            <a:r>
              <a:rPr lang="en-US" sz="1300" b="1" spc="130" kern="0" dirty="0">
                <a:solidFill>
                  <a:srgbClr val="0FA3A3"/>
                </a:solidFill>
                <a:latin typeface="Calibri" pitchFamily="34" charset="0"/>
                <a:ea typeface="Calibri" pitchFamily="34" charset="-122"/>
                <a:cs typeface="Calibri" pitchFamily="34" charset="-120"/>
              </a:rPr>
              <a:t>OFFICE SUITE ANALOGY</a:t>
            </a:r>
            <a:endParaRPr lang="en-US" sz="1300" dirty="0"/>
          </a:p>
        </p:txBody>
      </p:sp>
      <p:sp>
        <p:nvSpPr>
          <p:cNvPr id="4" name="Text 2"/>
          <p:cNvSpPr/>
          <p:nvPr/>
        </p:nvSpPr>
        <p:spPr>
          <a:xfrm>
            <a:off x="457200" y="1005840"/>
            <a:ext cx="3886200" cy="1554480"/>
          </a:xfrm>
          <a:prstGeom prst="rect">
            <a:avLst/>
          </a:prstGeom>
          <a:noFill/>
          <a:ln/>
        </p:spPr>
        <p:txBody>
          <a:bodyPr wrap="square" rtlCol="0" anchor="ctr"/>
          <a:lstStyle/>
          <a:p>
            <a:pPr indent="0" marL="0">
              <a:lnSpc>
                <a:spcPct val="108000"/>
              </a:lnSpc>
              <a:buNone/>
            </a:pPr>
            <a:r>
              <a:rPr lang="en-US" sz="2700" b="1" dirty="0">
                <a:solidFill>
                  <a:srgbClr val="1E3A5F"/>
                </a:solidFill>
                <a:latin typeface="Cambria" pitchFamily="34" charset="0"/>
                <a:ea typeface="Cambria" pitchFamily="34" charset="-122"/>
                <a:cs typeface="Cambria" pitchFamily="34" charset="-120"/>
              </a:rPr>
              <a:t>A blank email, fully set up and waiting</a:t>
            </a:r>
            <a:endParaRPr lang="en-US" sz="2700" dirty="0"/>
          </a:p>
        </p:txBody>
      </p:sp>
      <p:sp>
        <p:nvSpPr>
          <p:cNvPr id="5" name="Text 3"/>
          <p:cNvSpPr/>
          <p:nvPr/>
        </p:nvSpPr>
        <p:spPr>
          <a:xfrm>
            <a:off x="457200" y="2560320"/>
            <a:ext cx="3886200" cy="1417320"/>
          </a:xfrm>
          <a:prstGeom prst="rect">
            <a:avLst/>
          </a:prstGeom>
          <a:noFill/>
          <a:ln/>
        </p:spPr>
        <p:txBody>
          <a:bodyPr wrap="square" rtlCol="0" anchor="ctr"/>
          <a:lstStyle/>
          <a:p>
            <a:pPr indent="0" marL="0">
              <a:lnSpc>
                <a:spcPct val="128000"/>
              </a:lnSpc>
              <a:buNone/>
            </a:pPr>
            <a:r>
              <a:rPr lang="en-US" sz="1450" dirty="0">
                <a:solidFill>
                  <a:srgbClr val="222222"/>
                </a:solidFill>
                <a:latin typeface="Calibri" pitchFamily="34" charset="0"/>
                <a:ea typeface="Calibri" pitchFamily="34" charset="-122"/>
                <a:cs typeface="Calibri" pitchFamily="34" charset="-120"/>
              </a:rPr>
              <a:t>Open a new email in Outlook and the signature, the formatting, the address book are already sitting there, fully set up. None of it does anything until you type the actual message.</a:t>
            </a:r>
            <a:endParaRPr lang="en-US" sz="1450" dirty="0"/>
          </a:p>
        </p:txBody>
      </p:sp>
      <p:sp>
        <p:nvSpPr>
          <p:cNvPr id="6" name="Text 4"/>
          <p:cNvSpPr/>
          <p:nvPr/>
        </p:nvSpPr>
        <p:spPr>
          <a:xfrm>
            <a:off x="457200" y="4069080"/>
            <a:ext cx="3794760" cy="548640"/>
          </a:xfrm>
          <a:prstGeom prst="rect">
            <a:avLst/>
          </a:prstGeom>
          <a:noFill/>
          <a:ln/>
        </p:spPr>
        <p:txBody>
          <a:bodyPr wrap="square" rtlCol="0" anchor="ctr"/>
          <a:lstStyle/>
          <a:p>
            <a:pPr marL="152400" indent="-152400">
              <a:lnSpc>
                <a:spcPct val="115000"/>
              </a:lnSpc>
              <a:buSzPct val="100000"/>
              <a:buChar char="■"/>
            </a:pPr>
            <a:r>
              <a:rPr lang="en-US" sz="1350" dirty="0">
                <a:solidFill>
                  <a:srgbClr val="222222"/>
                </a:solidFill>
                <a:latin typeface="Calibri" pitchFamily="34" charset="0"/>
                <a:ea typeface="Calibri" pitchFamily="34" charset="-122"/>
                <a:cs typeface="Calibri" pitchFamily="34" charset="-120"/>
              </a:rPr>
              <a:t>The template was ready before you opened it</a:t>
            </a:r>
            <a:endParaRPr lang="en-US" sz="1350" dirty="0"/>
          </a:p>
        </p:txBody>
      </p:sp>
      <p:sp>
        <p:nvSpPr>
          <p:cNvPr id="7" name="Text 5"/>
          <p:cNvSpPr/>
          <p:nvPr/>
        </p:nvSpPr>
        <p:spPr>
          <a:xfrm>
            <a:off x="457200" y="4727448"/>
            <a:ext cx="3794760" cy="548640"/>
          </a:xfrm>
          <a:prstGeom prst="rect">
            <a:avLst/>
          </a:prstGeom>
          <a:noFill/>
          <a:ln/>
        </p:spPr>
        <p:txBody>
          <a:bodyPr wrap="square" rtlCol="0" anchor="ctr"/>
          <a:lstStyle/>
          <a:p>
            <a:pPr marL="152400" indent="-152400">
              <a:lnSpc>
                <a:spcPct val="115000"/>
              </a:lnSpc>
              <a:buSzPct val="100000"/>
              <a:buChar char="■"/>
            </a:pPr>
            <a:r>
              <a:rPr lang="en-US" sz="1350" dirty="0">
                <a:solidFill>
                  <a:srgbClr val="222222"/>
                </a:solidFill>
                <a:latin typeface="Calibri" pitchFamily="34" charset="0"/>
                <a:ea typeface="Calibri" pitchFamily="34" charset="-122"/>
                <a:cs typeface="Calibri" pitchFamily="34" charset="-120"/>
              </a:rPr>
              <a:t>Nothing sends until you write the message</a:t>
            </a:r>
            <a:endParaRPr lang="en-US" sz="1350" dirty="0"/>
          </a:p>
        </p:txBody>
      </p:sp>
      <p:sp>
        <p:nvSpPr>
          <p:cNvPr id="8" name="Text 6"/>
          <p:cNvSpPr/>
          <p:nvPr/>
        </p:nvSpPr>
        <p:spPr>
          <a:xfrm>
            <a:off x="457200" y="5385816"/>
            <a:ext cx="3794760" cy="548640"/>
          </a:xfrm>
          <a:prstGeom prst="rect">
            <a:avLst/>
          </a:prstGeom>
          <a:noFill/>
          <a:ln/>
        </p:spPr>
        <p:txBody>
          <a:bodyPr wrap="square" rtlCol="0" anchor="ctr"/>
          <a:lstStyle/>
          <a:p>
            <a:pPr marL="152400" indent="-152400">
              <a:lnSpc>
                <a:spcPct val="115000"/>
              </a:lnSpc>
              <a:buSzPct val="100000"/>
              <a:buChar char="■"/>
            </a:pPr>
            <a:r>
              <a:rPr lang="en-US" sz="1350" dirty="0">
                <a:solidFill>
                  <a:srgbClr val="222222"/>
                </a:solidFill>
                <a:latin typeface="Calibri" pitchFamily="34" charset="0"/>
                <a:ea typeface="Calibri" pitchFamily="34" charset="-122"/>
                <a:cs typeface="Calibri" pitchFamily="34" charset="-120"/>
              </a:rPr>
              <a:t>The typed message is the Prompt</a:t>
            </a:r>
            <a:endParaRPr lang="en-US" sz="1350" dirty="0"/>
          </a:p>
        </p:txBody>
      </p:sp>
      <p:sp>
        <p:nvSpPr>
          <p:cNvPr id="9" name="Shape 7"/>
          <p:cNvSpPr/>
          <p:nvPr/>
        </p:nvSpPr>
        <p:spPr>
          <a:xfrm>
            <a:off x="5074920" y="777240"/>
            <a:ext cx="6583680" cy="5303520"/>
          </a:xfrm>
          <a:prstGeom prst="roundRect">
            <a:avLst>
              <a:gd name="adj" fmla="val 2069"/>
            </a:avLst>
          </a:prstGeom>
          <a:solidFill>
            <a:srgbClr val="FFFFFF"/>
          </a:solidFill>
          <a:ln w="12700">
            <a:solidFill>
              <a:srgbClr val="D6E8F0"/>
            </a:solidFill>
            <a:prstDash val="solid"/>
          </a:ln>
        </p:spPr>
      </p:sp>
      <p:sp>
        <p:nvSpPr>
          <p:cNvPr id="10" name="Shape 8"/>
          <p:cNvSpPr/>
          <p:nvPr/>
        </p:nvSpPr>
        <p:spPr>
          <a:xfrm>
            <a:off x="5623560" y="2474366"/>
            <a:ext cx="5486400" cy="2377440"/>
          </a:xfrm>
          <a:prstGeom prst="roundRect">
            <a:avLst>
              <a:gd name="adj" fmla="val 3846"/>
            </a:avLst>
          </a:prstGeom>
          <a:solidFill>
            <a:srgbClr val="FFFFFF"/>
          </a:solidFill>
          <a:ln w="19050">
            <a:solidFill>
              <a:srgbClr val="D6E8F0"/>
            </a:solidFill>
            <a:prstDash val="solid"/>
          </a:ln>
        </p:spPr>
      </p:sp>
      <p:sp>
        <p:nvSpPr>
          <p:cNvPr id="11" name="Text 9"/>
          <p:cNvSpPr/>
          <p:nvPr/>
        </p:nvSpPr>
        <p:spPr>
          <a:xfrm>
            <a:off x="5852160" y="2657246"/>
            <a:ext cx="5029200" cy="274320"/>
          </a:xfrm>
          <a:prstGeom prst="rect">
            <a:avLst/>
          </a:prstGeom>
          <a:noFill/>
          <a:ln/>
        </p:spPr>
        <p:txBody>
          <a:bodyPr wrap="square" rtlCol="0" anchor="ctr"/>
          <a:lstStyle/>
          <a:p>
            <a:pPr indent="0" marL="0">
              <a:buNone/>
            </a:pPr>
            <a:r>
              <a:rPr lang="en-US" sz="1200" dirty="0">
                <a:solidFill>
                  <a:srgbClr val="8A8F98"/>
                </a:solidFill>
                <a:latin typeface="Calibri" pitchFamily="34" charset="0"/>
                <a:ea typeface="Calibri" pitchFamily="34" charset="-122"/>
                <a:cs typeface="Calibri" pitchFamily="34" charset="-120"/>
              </a:rPr>
              <a:t>To:      finance@company.com</a:t>
            </a:r>
            <a:endParaRPr lang="en-US" sz="1200" dirty="0"/>
          </a:p>
        </p:txBody>
      </p:sp>
      <p:sp>
        <p:nvSpPr>
          <p:cNvPr id="12" name="Shape 10"/>
          <p:cNvSpPr/>
          <p:nvPr/>
        </p:nvSpPr>
        <p:spPr>
          <a:xfrm>
            <a:off x="5852160" y="3041294"/>
            <a:ext cx="5029200" cy="0"/>
          </a:xfrm>
          <a:prstGeom prst="line">
            <a:avLst/>
          </a:prstGeom>
          <a:noFill/>
          <a:ln w="12700">
            <a:solidFill>
              <a:srgbClr val="D6E8F0"/>
            </a:solidFill>
            <a:prstDash val="solid"/>
          </a:ln>
        </p:spPr>
      </p:sp>
      <p:sp>
        <p:nvSpPr>
          <p:cNvPr id="13" name="Text 11"/>
          <p:cNvSpPr/>
          <p:nvPr/>
        </p:nvSpPr>
        <p:spPr>
          <a:xfrm>
            <a:off x="5852160" y="3187598"/>
            <a:ext cx="5029200" cy="274320"/>
          </a:xfrm>
          <a:prstGeom prst="rect">
            <a:avLst/>
          </a:prstGeom>
          <a:noFill/>
          <a:ln/>
        </p:spPr>
        <p:txBody>
          <a:bodyPr wrap="square" rtlCol="0" anchor="ctr"/>
          <a:lstStyle/>
          <a:p>
            <a:pPr indent="0" marL="0">
              <a:buNone/>
            </a:pPr>
            <a:r>
              <a:rPr lang="en-US" sz="1200" dirty="0">
                <a:solidFill>
                  <a:srgbClr val="8A8F98"/>
                </a:solidFill>
                <a:latin typeface="Calibri" pitchFamily="34" charset="0"/>
                <a:ea typeface="Calibri" pitchFamily="34" charset="-122"/>
                <a:cs typeface="Calibri" pitchFamily="34" charset="-120"/>
              </a:rPr>
              <a:t>Subject:</a:t>
            </a:r>
            <a:endParaRPr lang="en-US" sz="1200" dirty="0"/>
          </a:p>
        </p:txBody>
      </p:sp>
      <p:sp>
        <p:nvSpPr>
          <p:cNvPr id="14" name="Text 12"/>
          <p:cNvSpPr/>
          <p:nvPr/>
        </p:nvSpPr>
        <p:spPr>
          <a:xfrm>
            <a:off x="5852160" y="3525926"/>
            <a:ext cx="5029200" cy="822960"/>
          </a:xfrm>
          <a:prstGeom prst="rect">
            <a:avLst/>
          </a:prstGeom>
          <a:noFill/>
          <a:ln/>
        </p:spPr>
        <p:txBody>
          <a:bodyPr wrap="square" rtlCol="0" anchor="ctr"/>
          <a:lstStyle/>
          <a:p>
            <a:pPr indent="0" marL="0">
              <a:lnSpc>
                <a:spcPct val="120000"/>
              </a:lnSpc>
              <a:buNone/>
            </a:pPr>
            <a:r>
              <a:rPr lang="en-US" sz="1400" b="1" i="1" dirty="0">
                <a:solidFill>
                  <a:srgbClr val="0FA3A3"/>
                </a:solidFill>
                <a:latin typeface="Calibri" pitchFamily="34" charset="0"/>
                <a:ea typeface="Calibri" pitchFamily="34" charset="-122"/>
                <a:cs typeface="Calibri" pitchFamily="34" charset="-120"/>
              </a:rPr>
              <a:t>Summarize the attached report and</a:t>
            </a:r>
            <a:endParaRPr lang="en-US" sz="1400" dirty="0"/>
          </a:p>
          <a:p>
            <a:pPr indent="0" marL="0">
              <a:lnSpc>
                <a:spcPct val="120000"/>
              </a:lnSpc>
              <a:buNone/>
            </a:pPr>
            <a:r>
              <a:rPr lang="en-US" sz="1400" b="1" i="1" dirty="0">
                <a:solidFill>
                  <a:srgbClr val="0FA3A3"/>
                </a:solidFill>
                <a:latin typeface="Calibri" pitchFamily="34" charset="0"/>
                <a:ea typeface="Calibri" pitchFamily="34" charset="-122"/>
                <a:cs typeface="Calibri" pitchFamily="34" charset="-120"/>
              </a:rPr>
              <a:t>send the key numbers to Finance.</a:t>
            </a:r>
            <a:endParaRPr lang="en-US" sz="1400" dirty="0"/>
          </a:p>
        </p:txBody>
      </p:sp>
      <p:sp>
        <p:nvSpPr>
          <p:cNvPr id="15" name="Text 13"/>
          <p:cNvSpPr/>
          <p:nvPr/>
        </p:nvSpPr>
        <p:spPr>
          <a:xfrm>
            <a:off x="5852160" y="4486046"/>
            <a:ext cx="5029200" cy="274320"/>
          </a:xfrm>
          <a:prstGeom prst="rect">
            <a:avLst/>
          </a:prstGeom>
          <a:noFill/>
          <a:ln/>
        </p:spPr>
        <p:txBody>
          <a:bodyPr wrap="square" rtlCol="0" anchor="ctr"/>
          <a:lstStyle/>
          <a:p>
            <a:pPr indent="0" marL="0">
              <a:buNone/>
            </a:pPr>
            <a:r>
              <a:rPr lang="en-US" sz="1050" i="1" dirty="0">
                <a:solidFill>
                  <a:srgbClr val="B5BAC1"/>
                </a:solidFill>
                <a:latin typeface="Calibri" pitchFamily="34" charset="0"/>
                <a:ea typeface="Calibri" pitchFamily="34" charset="-122"/>
                <a:cs typeface="Calibri" pitchFamily="34" charset="-120"/>
              </a:rPr>
              <a:t>— Sourov  (auto-signature)</a:t>
            </a:r>
            <a:endParaRPr lang="en-US" sz="1050" dirty="0"/>
          </a:p>
        </p:txBody>
      </p:sp>
      <p:sp>
        <p:nvSpPr>
          <p:cNvPr id="16" name="Text 14"/>
          <p:cNvSpPr/>
          <p:nvPr/>
        </p:nvSpPr>
        <p:spPr>
          <a:xfrm>
            <a:off x="5349240" y="5166360"/>
            <a:ext cx="6035040" cy="640080"/>
          </a:xfrm>
          <a:prstGeom prst="rect">
            <a:avLst/>
          </a:prstGeom>
          <a:noFill/>
          <a:ln/>
        </p:spPr>
        <p:txBody>
          <a:bodyPr wrap="square" rtlCol="0" anchor="ctr"/>
          <a:lstStyle/>
          <a:p>
            <a:pPr algn="ctr" indent="0" marL="0">
              <a:buNone/>
            </a:pPr>
            <a:r>
              <a:rPr lang="en-US" sz="1350" i="1" dirty="0">
                <a:solidFill>
                  <a:srgbClr val="222222"/>
                </a:solidFill>
                <a:latin typeface="Calibri" pitchFamily="34" charset="0"/>
                <a:ea typeface="Calibri" pitchFamily="34" charset="-122"/>
                <a:cs typeface="Calibri" pitchFamily="34" charset="-120"/>
              </a:rPr>
              <a:t>The signature was ready. Nothing happened until you typed the message.</a:t>
            </a:r>
            <a:endParaRPr lang="en-US" sz="1350" dirty="0"/>
          </a:p>
        </p:txBody>
      </p:sp>
      <p:sp>
        <p:nvSpPr>
          <p:cNvPr id="17" name="Text 15"/>
          <p:cNvSpPr/>
          <p:nvPr/>
        </p:nvSpPr>
        <p:spPr>
          <a:xfrm>
            <a:off x="10607040" y="6537960"/>
            <a:ext cx="1371600" cy="274320"/>
          </a:xfrm>
          <a:prstGeom prst="rect">
            <a:avLst/>
          </a:prstGeom>
          <a:noFill/>
          <a:ln/>
        </p:spPr>
        <p:txBody>
          <a:bodyPr wrap="square" rtlCol="0" anchor="ctr"/>
          <a:lstStyle/>
          <a:p>
            <a:pPr algn="r" indent="0" marL="0">
              <a:buNone/>
            </a:pPr>
            <a:r>
              <a:rPr lang="en-US" sz="1000" dirty="0">
                <a:solidFill>
                  <a:srgbClr val="9AA5AE"/>
                </a:solidFill>
                <a:latin typeface="Calibri" pitchFamily="34" charset="0"/>
                <a:ea typeface="Calibri" pitchFamily="34" charset="-122"/>
                <a:cs typeface="Calibri" pitchFamily="34" charset="-120"/>
              </a:rPr>
              <a:t>09 · 3/7</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4617720" cy="6858000"/>
          </a:xfrm>
          <a:prstGeom prst="rect">
            <a:avLst/>
          </a:prstGeom>
          <a:solidFill>
            <a:srgbClr val="F0F6F6"/>
          </a:solidFill>
          <a:ln/>
        </p:spPr>
      </p:sp>
      <p:sp>
        <p:nvSpPr>
          <p:cNvPr id="3" name="Text 1"/>
          <p:cNvSpPr/>
          <p:nvPr/>
        </p:nvSpPr>
        <p:spPr>
          <a:xfrm>
            <a:off x="457200" y="502920"/>
            <a:ext cx="3840480" cy="502920"/>
          </a:xfrm>
          <a:prstGeom prst="rect">
            <a:avLst/>
          </a:prstGeom>
          <a:noFill/>
          <a:ln/>
        </p:spPr>
        <p:txBody>
          <a:bodyPr wrap="square" rtlCol="0" anchor="ctr"/>
          <a:lstStyle/>
          <a:p>
            <a:pPr indent="0" marL="0">
              <a:lnSpc>
                <a:spcPct val="115000"/>
              </a:lnSpc>
              <a:buNone/>
            </a:pPr>
            <a:r>
              <a:rPr lang="en-US" sz="1300" b="1" spc="130" kern="0" dirty="0">
                <a:solidFill>
                  <a:srgbClr val="0FA3A3"/>
                </a:solidFill>
                <a:latin typeface="Calibri" pitchFamily="34" charset="0"/>
                <a:ea typeface="Calibri" pitchFamily="34" charset="-122"/>
                <a:cs typeface="Calibri" pitchFamily="34" charset="-120"/>
              </a:rPr>
              <a:t>BROWSER ANALOGY</a:t>
            </a:r>
            <a:endParaRPr lang="en-US" sz="1300" dirty="0"/>
          </a:p>
        </p:txBody>
      </p:sp>
      <p:sp>
        <p:nvSpPr>
          <p:cNvPr id="4" name="Text 2"/>
          <p:cNvSpPr/>
          <p:nvPr/>
        </p:nvSpPr>
        <p:spPr>
          <a:xfrm>
            <a:off x="457200" y="1005840"/>
            <a:ext cx="3886200" cy="1554480"/>
          </a:xfrm>
          <a:prstGeom prst="rect">
            <a:avLst/>
          </a:prstGeom>
          <a:noFill/>
          <a:ln/>
        </p:spPr>
        <p:txBody>
          <a:bodyPr wrap="square" rtlCol="0" anchor="ctr"/>
          <a:lstStyle/>
          <a:p>
            <a:pPr indent="0" marL="0">
              <a:lnSpc>
                <a:spcPct val="108000"/>
              </a:lnSpc>
              <a:buNone/>
            </a:pPr>
            <a:r>
              <a:rPr lang="en-US" sz="2700" b="1" dirty="0">
                <a:solidFill>
                  <a:srgbClr val="1E3A5F"/>
                </a:solidFill>
                <a:latin typeface="Cambria" pitchFamily="34" charset="0"/>
                <a:ea typeface="Cambria" pitchFamily="34" charset="-122"/>
                <a:cs typeface="Cambria" pitchFamily="34" charset="-120"/>
              </a:rPr>
              <a:t>Everything loaded, nothing happening yet</a:t>
            </a:r>
            <a:endParaRPr lang="en-US" sz="2700" dirty="0"/>
          </a:p>
        </p:txBody>
      </p:sp>
      <p:sp>
        <p:nvSpPr>
          <p:cNvPr id="5" name="Text 3"/>
          <p:cNvSpPr/>
          <p:nvPr/>
        </p:nvSpPr>
        <p:spPr>
          <a:xfrm>
            <a:off x="457200" y="2560320"/>
            <a:ext cx="3886200" cy="1417320"/>
          </a:xfrm>
          <a:prstGeom prst="rect">
            <a:avLst/>
          </a:prstGeom>
          <a:noFill/>
          <a:ln/>
        </p:spPr>
        <p:txBody>
          <a:bodyPr wrap="square" rtlCol="0" anchor="ctr"/>
          <a:lstStyle/>
          <a:p>
            <a:pPr indent="0" marL="0">
              <a:lnSpc>
                <a:spcPct val="128000"/>
              </a:lnSpc>
              <a:buNone/>
            </a:pPr>
            <a:r>
              <a:rPr lang="en-US" sz="1450" dirty="0">
                <a:solidFill>
                  <a:srgbClr val="222222"/>
                </a:solidFill>
                <a:latin typeface="Calibri" pitchFamily="34" charset="0"/>
                <a:ea typeface="Calibri" pitchFamily="34" charset="-122"/>
                <a:cs typeface="Calibri" pitchFamily="34" charset="-120"/>
              </a:rPr>
              <a:t>A browser sits open with your whole history and every bookmark already loaded — nothing happens until you type something into the address bar and hit enter.</a:t>
            </a:r>
            <a:endParaRPr lang="en-US" sz="1450" dirty="0"/>
          </a:p>
        </p:txBody>
      </p:sp>
      <p:sp>
        <p:nvSpPr>
          <p:cNvPr id="6" name="Text 4"/>
          <p:cNvSpPr/>
          <p:nvPr/>
        </p:nvSpPr>
        <p:spPr>
          <a:xfrm>
            <a:off x="457200" y="4069080"/>
            <a:ext cx="3794760" cy="548640"/>
          </a:xfrm>
          <a:prstGeom prst="rect">
            <a:avLst/>
          </a:prstGeom>
          <a:noFill/>
          <a:ln/>
        </p:spPr>
        <p:txBody>
          <a:bodyPr wrap="square" rtlCol="0" anchor="ctr"/>
          <a:lstStyle/>
          <a:p>
            <a:pPr marL="152400" indent="-152400">
              <a:lnSpc>
                <a:spcPct val="115000"/>
              </a:lnSpc>
              <a:buSzPct val="100000"/>
              <a:buChar char="■"/>
            </a:pPr>
            <a:r>
              <a:rPr lang="en-US" sz="1350" dirty="0">
                <a:solidFill>
                  <a:srgbClr val="222222"/>
                </a:solidFill>
                <a:latin typeface="Calibri" pitchFamily="34" charset="0"/>
                <a:ea typeface="Calibri" pitchFamily="34" charset="-122"/>
                <a:cs typeface="Calibri" pitchFamily="34" charset="-120"/>
              </a:rPr>
              <a:t>History and bookmarks: already there</a:t>
            </a:r>
            <a:endParaRPr lang="en-US" sz="1350" dirty="0"/>
          </a:p>
        </p:txBody>
      </p:sp>
      <p:sp>
        <p:nvSpPr>
          <p:cNvPr id="7" name="Text 5"/>
          <p:cNvSpPr/>
          <p:nvPr/>
        </p:nvSpPr>
        <p:spPr>
          <a:xfrm>
            <a:off x="457200" y="4507992"/>
            <a:ext cx="3794760" cy="548640"/>
          </a:xfrm>
          <a:prstGeom prst="rect">
            <a:avLst/>
          </a:prstGeom>
          <a:noFill/>
          <a:ln/>
        </p:spPr>
        <p:txBody>
          <a:bodyPr wrap="square" rtlCol="0" anchor="ctr"/>
          <a:lstStyle/>
          <a:p>
            <a:pPr marL="152400" indent="-152400">
              <a:lnSpc>
                <a:spcPct val="115000"/>
              </a:lnSpc>
              <a:buSzPct val="100000"/>
              <a:buChar char="■"/>
            </a:pPr>
            <a:r>
              <a:rPr lang="en-US" sz="1350" dirty="0">
                <a:solidFill>
                  <a:srgbClr val="222222"/>
                </a:solidFill>
                <a:latin typeface="Calibri" pitchFamily="34" charset="0"/>
                <a:ea typeface="Calibri" pitchFamily="34" charset="-122"/>
                <a:cs typeface="Calibri" pitchFamily="34" charset="-120"/>
              </a:rPr>
              <a:t>“Best pizza near me”: one specific request</a:t>
            </a:r>
            <a:endParaRPr lang="en-US" sz="1350" dirty="0"/>
          </a:p>
        </p:txBody>
      </p:sp>
      <p:sp>
        <p:nvSpPr>
          <p:cNvPr id="8" name="Text 6"/>
          <p:cNvSpPr/>
          <p:nvPr/>
        </p:nvSpPr>
        <p:spPr>
          <a:xfrm>
            <a:off x="457200" y="5166360"/>
            <a:ext cx="3794760" cy="548640"/>
          </a:xfrm>
          <a:prstGeom prst="rect">
            <a:avLst/>
          </a:prstGeom>
          <a:noFill/>
          <a:ln/>
        </p:spPr>
        <p:txBody>
          <a:bodyPr wrap="square" rtlCol="0" anchor="ctr"/>
          <a:lstStyle/>
          <a:p>
            <a:pPr marL="152400" indent="-152400">
              <a:lnSpc>
                <a:spcPct val="115000"/>
              </a:lnSpc>
              <a:buSzPct val="100000"/>
              <a:buChar char="■"/>
            </a:pPr>
            <a:r>
              <a:rPr lang="en-US" sz="1350" dirty="0">
                <a:solidFill>
                  <a:srgbClr val="222222"/>
                </a:solidFill>
                <a:latin typeface="Calibri" pitchFamily="34" charset="0"/>
                <a:ea typeface="Calibri" pitchFamily="34" charset="-122"/>
                <a:cs typeface="Calibri" pitchFamily="34" charset="-120"/>
              </a:rPr>
              <a:t>Hitting enter is what starts the work</a:t>
            </a:r>
            <a:endParaRPr lang="en-US" sz="1350" dirty="0"/>
          </a:p>
        </p:txBody>
      </p:sp>
      <p:sp>
        <p:nvSpPr>
          <p:cNvPr id="9" name="Shape 7"/>
          <p:cNvSpPr/>
          <p:nvPr/>
        </p:nvSpPr>
        <p:spPr>
          <a:xfrm>
            <a:off x="5074920" y="777240"/>
            <a:ext cx="6583680" cy="5303520"/>
          </a:xfrm>
          <a:prstGeom prst="roundRect">
            <a:avLst>
              <a:gd name="adj" fmla="val 2069"/>
            </a:avLst>
          </a:prstGeom>
          <a:solidFill>
            <a:srgbClr val="FFFFFF"/>
          </a:solidFill>
          <a:ln w="12700">
            <a:solidFill>
              <a:srgbClr val="D6E8F0"/>
            </a:solidFill>
            <a:prstDash val="solid"/>
          </a:ln>
        </p:spPr>
      </p:sp>
      <p:sp>
        <p:nvSpPr>
          <p:cNvPr id="10" name="Shape 8"/>
          <p:cNvSpPr/>
          <p:nvPr/>
        </p:nvSpPr>
        <p:spPr>
          <a:xfrm>
            <a:off x="5623560" y="2898648"/>
            <a:ext cx="5486400" cy="685800"/>
          </a:xfrm>
          <a:prstGeom prst="roundRect">
            <a:avLst>
              <a:gd name="adj" fmla="val 46667"/>
            </a:avLst>
          </a:prstGeom>
          <a:solidFill>
            <a:srgbClr val="F0F6F6"/>
          </a:solidFill>
          <a:ln w="19050">
            <a:solidFill>
              <a:srgbClr val="D6E8F0"/>
            </a:solidFill>
            <a:prstDash val="solid"/>
          </a:ln>
        </p:spPr>
      </p:sp>
      <p:sp>
        <p:nvSpPr>
          <p:cNvPr id="11" name="Shape 9"/>
          <p:cNvSpPr/>
          <p:nvPr/>
        </p:nvSpPr>
        <p:spPr>
          <a:xfrm>
            <a:off x="5852160" y="2514600"/>
            <a:ext cx="146304" cy="146304"/>
          </a:xfrm>
          <a:prstGeom prst="ellipse">
            <a:avLst/>
          </a:prstGeom>
          <a:solidFill>
            <a:srgbClr val="EB5757"/>
          </a:solidFill>
          <a:ln/>
        </p:spPr>
      </p:sp>
      <p:sp>
        <p:nvSpPr>
          <p:cNvPr id="12" name="Shape 10"/>
          <p:cNvSpPr/>
          <p:nvPr/>
        </p:nvSpPr>
        <p:spPr>
          <a:xfrm>
            <a:off x="6144768" y="2514600"/>
            <a:ext cx="146304" cy="146304"/>
          </a:xfrm>
          <a:prstGeom prst="ellipse">
            <a:avLst/>
          </a:prstGeom>
          <a:solidFill>
            <a:srgbClr val="F2C94C"/>
          </a:solidFill>
          <a:ln/>
        </p:spPr>
      </p:sp>
      <p:sp>
        <p:nvSpPr>
          <p:cNvPr id="13" name="Shape 11"/>
          <p:cNvSpPr/>
          <p:nvPr/>
        </p:nvSpPr>
        <p:spPr>
          <a:xfrm>
            <a:off x="6437376" y="2514600"/>
            <a:ext cx="146304" cy="146304"/>
          </a:xfrm>
          <a:prstGeom prst="ellipse">
            <a:avLst/>
          </a:prstGeom>
          <a:solidFill>
            <a:srgbClr val="27AE60"/>
          </a:solidFill>
          <a:ln/>
        </p:spPr>
      </p:sp>
      <p:sp>
        <p:nvSpPr>
          <p:cNvPr id="14" name="Text 12"/>
          <p:cNvSpPr/>
          <p:nvPr/>
        </p:nvSpPr>
        <p:spPr>
          <a:xfrm>
            <a:off x="5943600" y="2898648"/>
            <a:ext cx="4297680" cy="685800"/>
          </a:xfrm>
          <a:prstGeom prst="rect">
            <a:avLst/>
          </a:prstGeom>
          <a:noFill/>
          <a:ln/>
        </p:spPr>
        <p:txBody>
          <a:bodyPr wrap="square" rtlCol="0" anchor="ctr"/>
          <a:lstStyle/>
          <a:p>
            <a:pPr indent="0" marL="0">
              <a:buNone/>
            </a:pPr>
            <a:r>
              <a:rPr lang="en-US" sz="1600" b="1" dirty="0">
                <a:solidFill>
                  <a:srgbClr val="1E3A5F"/>
                </a:solidFill>
                <a:latin typeface="Consolas" pitchFamily="34" charset="0"/>
                <a:ea typeface="Consolas" pitchFamily="34" charset="-122"/>
                <a:cs typeface="Consolas" pitchFamily="34" charset="-120"/>
              </a:rPr>
              <a:t>best pizza near me</a:t>
            </a:r>
            <a:endParaRPr lang="en-US" sz="1600" dirty="0"/>
          </a:p>
        </p:txBody>
      </p:sp>
      <p:sp>
        <p:nvSpPr>
          <p:cNvPr id="15" name="Shape 13"/>
          <p:cNvSpPr/>
          <p:nvPr/>
        </p:nvSpPr>
        <p:spPr>
          <a:xfrm>
            <a:off x="10424160" y="3241548"/>
            <a:ext cx="502920" cy="0"/>
          </a:xfrm>
          <a:prstGeom prst="line">
            <a:avLst/>
          </a:prstGeom>
          <a:noFill/>
          <a:ln w="38100">
            <a:solidFill>
              <a:srgbClr val="0FA3A3"/>
            </a:solidFill>
            <a:prstDash val="solid"/>
            <a:tailEnd type="triangle"/>
          </a:ln>
        </p:spPr>
      </p:sp>
      <p:sp>
        <p:nvSpPr>
          <p:cNvPr id="16" name="Text 14"/>
          <p:cNvSpPr/>
          <p:nvPr/>
        </p:nvSpPr>
        <p:spPr>
          <a:xfrm>
            <a:off x="5349240" y="5166360"/>
            <a:ext cx="6035040" cy="640080"/>
          </a:xfrm>
          <a:prstGeom prst="rect">
            <a:avLst/>
          </a:prstGeom>
          <a:noFill/>
          <a:ln/>
        </p:spPr>
        <p:txBody>
          <a:bodyPr wrap="square" rtlCol="0" anchor="ctr"/>
          <a:lstStyle/>
          <a:p>
            <a:pPr algn="ctr" indent="0" marL="0">
              <a:buNone/>
            </a:pPr>
            <a:r>
              <a:rPr lang="en-US" sz="1350" i="1" dirty="0">
                <a:solidFill>
                  <a:srgbClr val="222222"/>
                </a:solidFill>
                <a:latin typeface="Calibri" pitchFamily="34" charset="0"/>
                <a:ea typeface="Calibri" pitchFamily="34" charset="-122"/>
                <a:cs typeface="Calibri" pitchFamily="34" charset="-120"/>
              </a:rPr>
              <a:t>One line, hit enter — that's a Prompt.</a:t>
            </a:r>
            <a:endParaRPr lang="en-US" sz="1350" dirty="0"/>
          </a:p>
        </p:txBody>
      </p:sp>
      <p:sp>
        <p:nvSpPr>
          <p:cNvPr id="17" name="Text 15"/>
          <p:cNvSpPr/>
          <p:nvPr/>
        </p:nvSpPr>
        <p:spPr>
          <a:xfrm>
            <a:off x="10607040" y="6537960"/>
            <a:ext cx="1371600" cy="274320"/>
          </a:xfrm>
          <a:prstGeom prst="rect">
            <a:avLst/>
          </a:prstGeom>
          <a:noFill/>
          <a:ln/>
        </p:spPr>
        <p:txBody>
          <a:bodyPr wrap="square" rtlCol="0" anchor="ctr"/>
          <a:lstStyle/>
          <a:p>
            <a:pPr algn="r" indent="0" marL="0">
              <a:buNone/>
            </a:pPr>
            <a:r>
              <a:rPr lang="en-US" sz="1000" dirty="0">
                <a:solidFill>
                  <a:srgbClr val="9AA5AE"/>
                </a:solidFill>
                <a:latin typeface="Calibri" pitchFamily="34" charset="0"/>
                <a:ea typeface="Calibri" pitchFamily="34" charset="-122"/>
                <a:cs typeface="Calibri" pitchFamily="34" charset="-120"/>
              </a:rPr>
              <a:t>09 · 4/7</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4617720" cy="6858000"/>
          </a:xfrm>
          <a:prstGeom prst="rect">
            <a:avLst/>
          </a:prstGeom>
          <a:solidFill>
            <a:srgbClr val="F0F6F6"/>
          </a:solidFill>
          <a:ln/>
        </p:spPr>
      </p:sp>
      <p:sp>
        <p:nvSpPr>
          <p:cNvPr id="3" name="Text 1"/>
          <p:cNvSpPr/>
          <p:nvPr/>
        </p:nvSpPr>
        <p:spPr>
          <a:xfrm>
            <a:off x="457200" y="502920"/>
            <a:ext cx="3840480" cy="502920"/>
          </a:xfrm>
          <a:prstGeom prst="rect">
            <a:avLst/>
          </a:prstGeom>
          <a:noFill/>
          <a:ln/>
        </p:spPr>
        <p:txBody>
          <a:bodyPr wrap="square" rtlCol="0" anchor="ctr"/>
          <a:lstStyle/>
          <a:p>
            <a:pPr indent="0" marL="0">
              <a:lnSpc>
                <a:spcPct val="115000"/>
              </a:lnSpc>
              <a:buNone/>
            </a:pPr>
            <a:r>
              <a:rPr lang="en-US" sz="1300" b="1" spc="130" kern="0" dirty="0">
                <a:solidFill>
                  <a:srgbClr val="0FA3A3"/>
                </a:solidFill>
                <a:latin typeface="Calibri" pitchFamily="34" charset="0"/>
                <a:ea typeface="Calibri" pitchFamily="34" charset="-122"/>
                <a:cs typeface="Calibri" pitchFamily="34" charset="-120"/>
              </a:rPr>
              <a:t>EVERYDAY-TASK ANALOGY</a:t>
            </a:r>
            <a:endParaRPr lang="en-US" sz="1300" dirty="0"/>
          </a:p>
        </p:txBody>
      </p:sp>
      <p:sp>
        <p:nvSpPr>
          <p:cNvPr id="4" name="Text 2"/>
          <p:cNvSpPr/>
          <p:nvPr/>
        </p:nvSpPr>
        <p:spPr>
          <a:xfrm>
            <a:off x="457200" y="1005840"/>
            <a:ext cx="3886200" cy="1554480"/>
          </a:xfrm>
          <a:prstGeom prst="rect">
            <a:avLst/>
          </a:prstGeom>
          <a:noFill/>
          <a:ln/>
        </p:spPr>
        <p:txBody>
          <a:bodyPr wrap="square" rtlCol="0" anchor="ctr"/>
          <a:lstStyle/>
          <a:p>
            <a:pPr indent="0" marL="0">
              <a:lnSpc>
                <a:spcPct val="108000"/>
              </a:lnSpc>
              <a:buNone/>
            </a:pPr>
            <a:r>
              <a:rPr lang="en-US" sz="2700" b="1" dirty="0">
                <a:solidFill>
                  <a:srgbClr val="1E3A5F"/>
                </a:solidFill>
                <a:latin typeface="Cambria" pitchFamily="34" charset="0"/>
                <a:ea typeface="Cambria" pitchFamily="34" charset="-122"/>
                <a:cs typeface="Cambria" pitchFamily="34" charset="-120"/>
              </a:rPr>
              <a:t>A fully stocked kitchen still needs an order</a:t>
            </a:r>
            <a:endParaRPr lang="en-US" sz="2700" dirty="0"/>
          </a:p>
        </p:txBody>
      </p:sp>
      <p:sp>
        <p:nvSpPr>
          <p:cNvPr id="5" name="Text 3"/>
          <p:cNvSpPr/>
          <p:nvPr/>
        </p:nvSpPr>
        <p:spPr>
          <a:xfrm>
            <a:off x="457200" y="2560320"/>
            <a:ext cx="3886200" cy="1417320"/>
          </a:xfrm>
          <a:prstGeom prst="rect">
            <a:avLst/>
          </a:prstGeom>
          <a:noFill/>
          <a:ln/>
        </p:spPr>
        <p:txBody>
          <a:bodyPr wrap="square" rtlCol="0" anchor="ctr"/>
          <a:lstStyle/>
          <a:p>
            <a:pPr indent="0" marL="0">
              <a:lnSpc>
                <a:spcPct val="128000"/>
              </a:lnSpc>
              <a:buNone/>
            </a:pPr>
            <a:r>
              <a:rPr lang="en-US" sz="1450" dirty="0">
                <a:solidFill>
                  <a:srgbClr val="222222"/>
                </a:solidFill>
                <a:latin typeface="Calibri" pitchFamily="34" charset="0"/>
                <a:ea typeface="Calibri" pitchFamily="34" charset="-122"/>
                <a:cs typeface="Calibri" pitchFamily="34" charset="-120"/>
              </a:rPr>
              <a:t>A fully stocked kitchen with a great chef changes nothing on its own. Walk up and say the order, and that's what turns capability into an actual dish.</a:t>
            </a:r>
            <a:endParaRPr lang="en-US" sz="1450" dirty="0"/>
          </a:p>
        </p:txBody>
      </p:sp>
      <p:sp>
        <p:nvSpPr>
          <p:cNvPr id="6" name="Text 4"/>
          <p:cNvSpPr/>
          <p:nvPr/>
        </p:nvSpPr>
        <p:spPr>
          <a:xfrm>
            <a:off x="457200" y="4069080"/>
            <a:ext cx="3794760" cy="548640"/>
          </a:xfrm>
          <a:prstGeom prst="rect">
            <a:avLst/>
          </a:prstGeom>
          <a:noFill/>
          <a:ln/>
        </p:spPr>
        <p:txBody>
          <a:bodyPr wrap="square" rtlCol="0" anchor="ctr"/>
          <a:lstStyle/>
          <a:p>
            <a:pPr marL="152400" indent="-152400">
              <a:lnSpc>
                <a:spcPct val="115000"/>
              </a:lnSpc>
              <a:buSzPct val="100000"/>
              <a:buChar char="■"/>
            </a:pPr>
            <a:r>
              <a:rPr lang="en-US" sz="1350" dirty="0">
                <a:solidFill>
                  <a:srgbClr val="222222"/>
                </a:solidFill>
                <a:latin typeface="Calibri" pitchFamily="34" charset="0"/>
                <a:ea typeface="Calibri" pitchFamily="34" charset="-122"/>
                <a:cs typeface="Calibri" pitchFamily="34" charset="-120"/>
              </a:rPr>
              <a:t>The kitchen = the Model and Skills you know</a:t>
            </a:r>
            <a:endParaRPr lang="en-US" sz="1350" dirty="0"/>
          </a:p>
        </p:txBody>
      </p:sp>
      <p:sp>
        <p:nvSpPr>
          <p:cNvPr id="7" name="Text 5"/>
          <p:cNvSpPr/>
          <p:nvPr/>
        </p:nvSpPr>
        <p:spPr>
          <a:xfrm>
            <a:off x="457200" y="4727448"/>
            <a:ext cx="3794760" cy="548640"/>
          </a:xfrm>
          <a:prstGeom prst="rect">
            <a:avLst/>
          </a:prstGeom>
          <a:noFill/>
          <a:ln/>
        </p:spPr>
        <p:txBody>
          <a:bodyPr wrap="square" rtlCol="0" anchor="ctr"/>
          <a:lstStyle/>
          <a:p>
            <a:pPr marL="152400" indent="-152400">
              <a:lnSpc>
                <a:spcPct val="115000"/>
              </a:lnSpc>
              <a:buSzPct val="100000"/>
              <a:buChar char="■"/>
            </a:pPr>
            <a:r>
              <a:rPr lang="en-US" sz="1350" dirty="0">
                <a:solidFill>
                  <a:srgbClr val="222222"/>
                </a:solidFill>
                <a:latin typeface="Calibri" pitchFamily="34" charset="0"/>
                <a:ea typeface="Calibri" pitchFamily="34" charset="-122"/>
                <a:cs typeface="Calibri" pitchFamily="34" charset="-120"/>
              </a:rPr>
              <a:t>The order = the Prompt</a:t>
            </a:r>
            <a:endParaRPr lang="en-US" sz="1350" dirty="0"/>
          </a:p>
        </p:txBody>
      </p:sp>
      <p:sp>
        <p:nvSpPr>
          <p:cNvPr id="8" name="Text 6"/>
          <p:cNvSpPr/>
          <p:nvPr/>
        </p:nvSpPr>
        <p:spPr>
          <a:xfrm>
            <a:off x="457200" y="5166360"/>
            <a:ext cx="3794760" cy="548640"/>
          </a:xfrm>
          <a:prstGeom prst="rect">
            <a:avLst/>
          </a:prstGeom>
          <a:noFill/>
          <a:ln/>
        </p:spPr>
        <p:txBody>
          <a:bodyPr wrap="square" rtlCol="0" anchor="ctr"/>
          <a:lstStyle/>
          <a:p>
            <a:pPr marL="152400" indent="-152400">
              <a:lnSpc>
                <a:spcPct val="115000"/>
              </a:lnSpc>
              <a:buSzPct val="100000"/>
              <a:buChar char="■"/>
            </a:pPr>
            <a:r>
              <a:rPr lang="en-US" sz="1350" dirty="0">
                <a:solidFill>
                  <a:srgbClr val="222222"/>
                </a:solidFill>
                <a:latin typeface="Calibri" pitchFamily="34" charset="0"/>
                <a:ea typeface="Calibri" pitchFamily="34" charset="-122"/>
                <a:cs typeface="Calibri" pitchFamily="34" charset="-120"/>
              </a:rPr>
              <a:t>Capability sits idle without a specific ask</a:t>
            </a:r>
            <a:endParaRPr lang="en-US" sz="1350" dirty="0"/>
          </a:p>
        </p:txBody>
      </p:sp>
      <p:sp>
        <p:nvSpPr>
          <p:cNvPr id="9" name="Shape 7"/>
          <p:cNvSpPr/>
          <p:nvPr/>
        </p:nvSpPr>
        <p:spPr>
          <a:xfrm>
            <a:off x="5074920" y="777240"/>
            <a:ext cx="6583680" cy="5303520"/>
          </a:xfrm>
          <a:prstGeom prst="roundRect">
            <a:avLst>
              <a:gd name="adj" fmla="val 2069"/>
            </a:avLst>
          </a:prstGeom>
          <a:solidFill>
            <a:srgbClr val="FFFFFF"/>
          </a:solidFill>
          <a:ln w="12700">
            <a:solidFill>
              <a:srgbClr val="D6E8F0"/>
            </a:solidFill>
            <a:prstDash val="solid"/>
          </a:ln>
        </p:spPr>
      </p:sp>
      <p:sp>
        <p:nvSpPr>
          <p:cNvPr id="10" name="Shape 8"/>
          <p:cNvSpPr/>
          <p:nvPr/>
        </p:nvSpPr>
        <p:spPr>
          <a:xfrm>
            <a:off x="6903720" y="2474366"/>
            <a:ext cx="2926080" cy="1737360"/>
          </a:xfrm>
          <a:prstGeom prst="roundRect">
            <a:avLst>
              <a:gd name="adj" fmla="val 4211"/>
            </a:avLst>
          </a:prstGeom>
          <a:solidFill>
            <a:srgbClr val="FFFDF5"/>
          </a:solidFill>
          <a:ln w="19050">
            <a:solidFill>
              <a:srgbClr val="F2C94C"/>
            </a:solidFill>
            <a:prstDash val="solid"/>
          </a:ln>
        </p:spPr>
      </p:sp>
      <p:sp>
        <p:nvSpPr>
          <p:cNvPr id="11" name="Text 9"/>
          <p:cNvSpPr/>
          <p:nvPr/>
        </p:nvSpPr>
        <p:spPr>
          <a:xfrm>
            <a:off x="6903720" y="2611526"/>
            <a:ext cx="2926080" cy="274320"/>
          </a:xfrm>
          <a:prstGeom prst="rect">
            <a:avLst/>
          </a:prstGeom>
          <a:noFill/>
          <a:ln/>
        </p:spPr>
        <p:txBody>
          <a:bodyPr wrap="square" rtlCol="0" anchor="ctr"/>
          <a:lstStyle/>
          <a:p>
            <a:pPr algn="ctr" indent="0" marL="0">
              <a:buNone/>
            </a:pPr>
            <a:r>
              <a:rPr lang="en-US" sz="1100" b="1" spc="200" kern="0" dirty="0">
                <a:solidFill>
                  <a:srgbClr val="B08900"/>
                </a:solidFill>
                <a:latin typeface="Calibri" pitchFamily="34" charset="0"/>
                <a:ea typeface="Calibri" pitchFamily="34" charset="-122"/>
                <a:cs typeface="Calibri" pitchFamily="34" charset="-120"/>
              </a:rPr>
              <a:t>ORDER</a:t>
            </a:r>
            <a:endParaRPr lang="en-US" sz="1100" dirty="0"/>
          </a:p>
        </p:txBody>
      </p:sp>
      <p:sp>
        <p:nvSpPr>
          <p:cNvPr id="12" name="Text 10"/>
          <p:cNvSpPr/>
          <p:nvPr/>
        </p:nvSpPr>
        <p:spPr>
          <a:xfrm>
            <a:off x="7086600" y="2977286"/>
            <a:ext cx="2560320" cy="1005840"/>
          </a:xfrm>
          <a:prstGeom prst="rect">
            <a:avLst/>
          </a:prstGeom>
          <a:noFill/>
          <a:ln/>
        </p:spPr>
        <p:txBody>
          <a:bodyPr wrap="square" rtlCol="0" anchor="ctr"/>
          <a:lstStyle/>
          <a:p>
            <a:pPr algn="ctr" indent="0" marL="0">
              <a:lnSpc>
                <a:spcPct val="120000"/>
              </a:lnSpc>
              <a:buNone/>
            </a:pPr>
            <a:r>
              <a:rPr lang="en-US" sz="1600" b="1" dirty="0">
                <a:solidFill>
                  <a:srgbClr val="222222"/>
                </a:solidFill>
                <a:latin typeface="Calibri" pitchFamily="34" charset="0"/>
                <a:ea typeface="Calibri" pitchFamily="34" charset="-122"/>
                <a:cs typeface="Calibri" pitchFamily="34" charset="-120"/>
              </a:rPr>
              <a:t>medium-rare steak,</a:t>
            </a:r>
            <a:endParaRPr lang="en-US" sz="1600" dirty="0"/>
          </a:p>
          <a:p>
            <a:pPr algn="ctr" indent="0" marL="0">
              <a:lnSpc>
                <a:spcPct val="120000"/>
              </a:lnSpc>
              <a:buNone/>
            </a:pPr>
            <a:r>
              <a:rPr lang="en-US" sz="1600" b="1" dirty="0">
                <a:solidFill>
                  <a:srgbClr val="222222"/>
                </a:solidFill>
                <a:latin typeface="Calibri" pitchFamily="34" charset="0"/>
                <a:ea typeface="Calibri" pitchFamily="34" charset="-122"/>
                <a:cs typeface="Calibri" pitchFamily="34" charset="-120"/>
              </a:rPr>
              <a:t>no onions</a:t>
            </a:r>
            <a:endParaRPr lang="en-US" sz="1600" dirty="0"/>
          </a:p>
        </p:txBody>
      </p:sp>
      <p:sp>
        <p:nvSpPr>
          <p:cNvPr id="13" name="Shape 11"/>
          <p:cNvSpPr/>
          <p:nvPr/>
        </p:nvSpPr>
        <p:spPr>
          <a:xfrm>
            <a:off x="8046720" y="1971446"/>
            <a:ext cx="640080" cy="640080"/>
          </a:xfrm>
          <a:prstGeom prst="ellipse">
            <a:avLst/>
          </a:prstGeom>
          <a:solidFill>
            <a:srgbClr val="1E3A5F"/>
          </a:solidFill>
          <a:ln/>
        </p:spPr>
      </p:sp>
      <p:sp>
        <p:nvSpPr>
          <p:cNvPr id="14" name="Text 12"/>
          <p:cNvSpPr/>
          <p:nvPr/>
        </p:nvSpPr>
        <p:spPr>
          <a:xfrm>
            <a:off x="8046720" y="1971446"/>
            <a:ext cx="640080" cy="640080"/>
          </a:xfrm>
          <a:prstGeom prst="rect">
            <a:avLst/>
          </a:prstGeom>
          <a:noFill/>
          <a:ln/>
        </p:spPr>
        <p:txBody>
          <a:bodyPr wrap="square" rtlCol="0" anchor="ctr"/>
          <a:lstStyle/>
          <a:p>
            <a:pPr algn="ctr" indent="0" marL="0">
              <a:buNone/>
            </a:pPr>
            <a:r>
              <a:rPr lang="en-US" sz="2200" dirty="0">
                <a:solidFill>
                  <a:srgbClr val="000000"/>
                </a:solidFill>
                <a:latin typeface="Calibri" pitchFamily="34" charset="0"/>
                <a:ea typeface="Calibri" pitchFamily="34" charset="-122"/>
                <a:cs typeface="Calibri" pitchFamily="34" charset="-120"/>
              </a:rPr>
              <a:t>👨‍🍳</a:t>
            </a:r>
            <a:endParaRPr lang="en-US" sz="2200" dirty="0"/>
          </a:p>
        </p:txBody>
      </p:sp>
      <p:sp>
        <p:nvSpPr>
          <p:cNvPr id="15" name="Text 13"/>
          <p:cNvSpPr/>
          <p:nvPr/>
        </p:nvSpPr>
        <p:spPr>
          <a:xfrm>
            <a:off x="5349240" y="5166360"/>
            <a:ext cx="6035040" cy="640080"/>
          </a:xfrm>
          <a:prstGeom prst="rect">
            <a:avLst/>
          </a:prstGeom>
          <a:noFill/>
          <a:ln/>
        </p:spPr>
        <p:txBody>
          <a:bodyPr wrap="square" rtlCol="0" anchor="ctr"/>
          <a:lstStyle/>
          <a:p>
            <a:pPr algn="ctr" indent="0" marL="0">
              <a:buNone/>
            </a:pPr>
            <a:r>
              <a:rPr lang="en-US" sz="1350" i="1" dirty="0">
                <a:solidFill>
                  <a:srgbClr val="222222"/>
                </a:solidFill>
                <a:latin typeface="Calibri" pitchFamily="34" charset="0"/>
                <a:ea typeface="Calibri" pitchFamily="34" charset="-122"/>
                <a:cs typeface="Calibri" pitchFamily="34" charset="-120"/>
              </a:rPr>
              <a:t>The kitchen could do it all along. The order is what makes it happen.</a:t>
            </a:r>
            <a:endParaRPr lang="en-US" sz="1350" dirty="0"/>
          </a:p>
        </p:txBody>
      </p:sp>
      <p:sp>
        <p:nvSpPr>
          <p:cNvPr id="16" name="Text 14"/>
          <p:cNvSpPr/>
          <p:nvPr/>
        </p:nvSpPr>
        <p:spPr>
          <a:xfrm>
            <a:off x="10607040" y="6537960"/>
            <a:ext cx="1371600" cy="274320"/>
          </a:xfrm>
          <a:prstGeom prst="rect">
            <a:avLst/>
          </a:prstGeom>
          <a:noFill/>
          <a:ln/>
        </p:spPr>
        <p:txBody>
          <a:bodyPr wrap="square" rtlCol="0" anchor="ctr"/>
          <a:lstStyle/>
          <a:p>
            <a:pPr algn="r" indent="0" marL="0">
              <a:buNone/>
            </a:pPr>
            <a:r>
              <a:rPr lang="en-US" sz="1000" dirty="0">
                <a:solidFill>
                  <a:srgbClr val="9AA5AE"/>
                </a:solidFill>
                <a:latin typeface="Calibri" pitchFamily="34" charset="0"/>
                <a:ea typeface="Calibri" pitchFamily="34" charset="-122"/>
                <a:cs typeface="Calibri" pitchFamily="34" charset="-120"/>
              </a:rPr>
              <a:t>09 · 5/7</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4617720" cy="6858000"/>
          </a:xfrm>
          <a:prstGeom prst="rect">
            <a:avLst/>
          </a:prstGeom>
          <a:solidFill>
            <a:srgbClr val="F0F6F6"/>
          </a:solidFill>
          <a:ln/>
        </p:spPr>
      </p:sp>
      <p:sp>
        <p:nvSpPr>
          <p:cNvPr id="3" name="Text 1"/>
          <p:cNvSpPr/>
          <p:nvPr/>
        </p:nvSpPr>
        <p:spPr>
          <a:xfrm>
            <a:off x="457200" y="502920"/>
            <a:ext cx="3840480" cy="502920"/>
          </a:xfrm>
          <a:prstGeom prst="rect">
            <a:avLst/>
          </a:prstGeom>
          <a:noFill/>
          <a:ln/>
        </p:spPr>
        <p:txBody>
          <a:bodyPr wrap="square" rtlCol="0" anchor="ctr"/>
          <a:lstStyle/>
          <a:p>
            <a:pPr indent="0" marL="0">
              <a:lnSpc>
                <a:spcPct val="115000"/>
              </a:lnSpc>
              <a:buNone/>
            </a:pPr>
            <a:r>
              <a:rPr lang="en-US" sz="1300" b="1" spc="130" kern="0" dirty="0">
                <a:solidFill>
                  <a:srgbClr val="0FA3A3"/>
                </a:solidFill>
                <a:latin typeface="Calibri" pitchFamily="34" charset="0"/>
                <a:ea typeface="Calibri" pitchFamily="34" charset="-122"/>
                <a:cs typeface="Calibri" pitchFamily="34" charset="-120"/>
              </a:rPr>
              <a:t>REAL EXAMPLE: MISTRAL STUDIO</a:t>
            </a:r>
            <a:endParaRPr lang="en-US" sz="1300" dirty="0"/>
          </a:p>
        </p:txBody>
      </p:sp>
      <p:sp>
        <p:nvSpPr>
          <p:cNvPr id="4" name="Text 2"/>
          <p:cNvSpPr/>
          <p:nvPr/>
        </p:nvSpPr>
        <p:spPr>
          <a:xfrm>
            <a:off x="457200" y="1005840"/>
            <a:ext cx="3886200" cy="1554480"/>
          </a:xfrm>
          <a:prstGeom prst="rect">
            <a:avLst/>
          </a:prstGeom>
          <a:noFill/>
          <a:ln/>
        </p:spPr>
        <p:txBody>
          <a:bodyPr wrap="square" rtlCol="0" anchor="ctr"/>
          <a:lstStyle/>
          <a:p>
            <a:pPr indent="0" marL="0">
              <a:lnSpc>
                <a:spcPct val="108000"/>
              </a:lnSpc>
              <a:buNone/>
            </a:pPr>
            <a:r>
              <a:rPr lang="en-US" sz="2700" b="1" dirty="0">
                <a:solidFill>
                  <a:srgbClr val="1E3A5F"/>
                </a:solidFill>
                <a:latin typeface="Cambria" pitchFamily="34" charset="0"/>
                <a:ea typeface="Cambria" pitchFamily="34" charset="-122"/>
                <a:cs typeface="Cambria" pitchFamily="34" charset="-120"/>
              </a:rPr>
              <a:t>The Prompt tells the Agent what to do</a:t>
            </a:r>
            <a:endParaRPr lang="en-US" sz="2700" dirty="0"/>
          </a:p>
        </p:txBody>
      </p:sp>
      <p:sp>
        <p:nvSpPr>
          <p:cNvPr id="5" name="Text 3"/>
          <p:cNvSpPr/>
          <p:nvPr/>
        </p:nvSpPr>
        <p:spPr>
          <a:xfrm>
            <a:off x="457200" y="2560320"/>
            <a:ext cx="3886200" cy="1417320"/>
          </a:xfrm>
          <a:prstGeom prst="rect">
            <a:avLst/>
          </a:prstGeom>
          <a:noFill/>
          <a:ln/>
        </p:spPr>
        <p:txBody>
          <a:bodyPr wrap="square" rtlCol="0" anchor="ctr"/>
          <a:lstStyle/>
          <a:p>
            <a:pPr indent="0" marL="0">
              <a:lnSpc>
                <a:spcPct val="128000"/>
              </a:lnSpc>
              <a:buNone/>
            </a:pPr>
            <a:r>
              <a:rPr lang="en-US" sz="1450" dirty="0">
                <a:solidFill>
                  <a:srgbClr val="222222"/>
                </a:solidFill>
                <a:latin typeface="Calibri" pitchFamily="34" charset="0"/>
                <a:ea typeface="Calibri" pitchFamily="34" charset="-122"/>
                <a:cs typeface="Calibri" pitchFamily="34" charset="-120"/>
              </a:rPr>
              <a:t>The Hook can hand the Agent a file all day long — nothing happens until a Prompt is the actual instruction the Agent's underlying model gets run with.</a:t>
            </a:r>
            <a:endParaRPr lang="en-US" sz="1450" dirty="0"/>
          </a:p>
        </p:txBody>
      </p:sp>
      <p:sp>
        <p:nvSpPr>
          <p:cNvPr id="6" name="Text 4"/>
          <p:cNvSpPr/>
          <p:nvPr/>
        </p:nvSpPr>
        <p:spPr>
          <a:xfrm>
            <a:off x="457200" y="4069080"/>
            <a:ext cx="3794760" cy="548640"/>
          </a:xfrm>
          <a:prstGeom prst="rect">
            <a:avLst/>
          </a:prstGeom>
          <a:noFill/>
          <a:ln/>
        </p:spPr>
        <p:txBody>
          <a:bodyPr wrap="square" rtlCol="0" anchor="ctr"/>
          <a:lstStyle/>
          <a:p>
            <a:pPr marL="152400" indent="-152400">
              <a:lnSpc>
                <a:spcPct val="115000"/>
              </a:lnSpc>
              <a:buSzPct val="100000"/>
              <a:buChar char="■"/>
            </a:pPr>
            <a:r>
              <a:rPr lang="en-US" sz="1350" dirty="0">
                <a:solidFill>
                  <a:srgbClr val="222222"/>
                </a:solidFill>
                <a:latin typeface="Calibri" pitchFamily="34" charset="0"/>
                <a:ea typeface="Calibri" pitchFamily="34" charset="-122"/>
                <a:cs typeface="Calibri" pitchFamily="34" charset="-120"/>
              </a:rPr>
              <a:t>{ } JSON (Lesson 7) is the data arriving</a:t>
            </a:r>
            <a:endParaRPr lang="en-US" sz="1350" dirty="0"/>
          </a:p>
        </p:txBody>
      </p:sp>
      <p:sp>
        <p:nvSpPr>
          <p:cNvPr id="7" name="Text 5"/>
          <p:cNvSpPr/>
          <p:nvPr/>
        </p:nvSpPr>
        <p:spPr>
          <a:xfrm>
            <a:off x="457200" y="4507992"/>
            <a:ext cx="3794760" cy="548640"/>
          </a:xfrm>
          <a:prstGeom prst="rect">
            <a:avLst/>
          </a:prstGeom>
          <a:noFill/>
          <a:ln/>
        </p:spPr>
        <p:txBody>
          <a:bodyPr wrap="square" rtlCol="0" anchor="ctr"/>
          <a:lstStyle/>
          <a:p>
            <a:pPr marL="152400" indent="-152400">
              <a:lnSpc>
                <a:spcPct val="115000"/>
              </a:lnSpc>
              <a:buSzPct val="100000"/>
              <a:buChar char="■"/>
            </a:pPr>
            <a:r>
              <a:rPr lang="en-US" sz="1350" dirty="0">
                <a:solidFill>
                  <a:srgbClr val="222222"/>
                </a:solidFill>
                <a:latin typeface="Calibri" pitchFamily="34" charset="0"/>
                <a:ea typeface="Calibri" pitchFamily="34" charset="-122"/>
                <a:cs typeface="Calibri" pitchFamily="34" charset="-120"/>
              </a:rPr>
              <a:t>&lt;&gt; Python (Lesson 8) is the code reading it</a:t>
            </a:r>
            <a:endParaRPr lang="en-US" sz="1350" dirty="0"/>
          </a:p>
        </p:txBody>
      </p:sp>
      <p:sp>
        <p:nvSpPr>
          <p:cNvPr id="8" name="Text 6"/>
          <p:cNvSpPr/>
          <p:nvPr/>
        </p:nvSpPr>
        <p:spPr>
          <a:xfrm>
            <a:off x="457200" y="5166360"/>
            <a:ext cx="3794760" cy="548640"/>
          </a:xfrm>
          <a:prstGeom prst="rect">
            <a:avLst/>
          </a:prstGeom>
          <a:noFill/>
          <a:ln/>
        </p:spPr>
        <p:txBody>
          <a:bodyPr wrap="square" rtlCol="0" anchor="ctr"/>
          <a:lstStyle/>
          <a:p>
            <a:pPr marL="152400" indent="-152400">
              <a:lnSpc>
                <a:spcPct val="115000"/>
              </a:lnSpc>
              <a:buSzPct val="100000"/>
              <a:buChar char="■"/>
            </a:pPr>
            <a:r>
              <a:rPr lang="en-US" sz="1350" dirty="0">
                <a:solidFill>
                  <a:srgbClr val="222222"/>
                </a:solidFill>
                <a:latin typeface="Calibri" pitchFamily="34" charset="0"/>
                <a:ea typeface="Calibri" pitchFamily="34" charset="-122"/>
                <a:cs typeface="Calibri" pitchFamily="34" charset="-120"/>
              </a:rPr>
              <a:t>A Prompt is what says what to do with it, now</a:t>
            </a:r>
            <a:endParaRPr lang="en-US" sz="1350" dirty="0"/>
          </a:p>
        </p:txBody>
      </p:sp>
      <p:sp>
        <p:nvSpPr>
          <p:cNvPr id="9" name="Shape 7"/>
          <p:cNvSpPr/>
          <p:nvPr/>
        </p:nvSpPr>
        <p:spPr>
          <a:xfrm>
            <a:off x="5074920" y="777240"/>
            <a:ext cx="6583680" cy="5303520"/>
          </a:xfrm>
          <a:prstGeom prst="roundRect">
            <a:avLst>
              <a:gd name="adj" fmla="val 2069"/>
            </a:avLst>
          </a:prstGeom>
          <a:solidFill>
            <a:srgbClr val="FFFFFF"/>
          </a:solidFill>
          <a:ln w="12700">
            <a:solidFill>
              <a:srgbClr val="D6E8F0"/>
            </a:solidFill>
            <a:prstDash val="solid"/>
          </a:ln>
        </p:spPr>
      </p:sp>
      <p:sp>
        <p:nvSpPr>
          <p:cNvPr id="10" name="Shape 8"/>
          <p:cNvSpPr/>
          <p:nvPr/>
        </p:nvSpPr>
        <p:spPr>
          <a:xfrm>
            <a:off x="5532120" y="2474366"/>
            <a:ext cx="1097280" cy="777240"/>
          </a:xfrm>
          <a:prstGeom prst="roundRect">
            <a:avLst>
              <a:gd name="adj" fmla="val 11765"/>
            </a:avLst>
          </a:prstGeom>
          <a:solidFill>
            <a:srgbClr val="1E3A5F"/>
          </a:solidFill>
          <a:ln/>
        </p:spPr>
      </p:sp>
      <p:sp>
        <p:nvSpPr>
          <p:cNvPr id="11" name="Text 9"/>
          <p:cNvSpPr/>
          <p:nvPr/>
        </p:nvSpPr>
        <p:spPr>
          <a:xfrm>
            <a:off x="5532120" y="2474366"/>
            <a:ext cx="1097280" cy="777240"/>
          </a:xfrm>
          <a:prstGeom prst="rect">
            <a:avLst/>
          </a:prstGeom>
          <a:noFill/>
          <a:ln/>
        </p:spPr>
        <p:txBody>
          <a:bodyPr wrap="square"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Hook</a:t>
            </a:r>
            <a:endParaRPr lang="en-US" sz="1400" dirty="0"/>
          </a:p>
        </p:txBody>
      </p:sp>
      <p:sp>
        <p:nvSpPr>
          <p:cNvPr id="12" name="Shape 10"/>
          <p:cNvSpPr/>
          <p:nvPr/>
        </p:nvSpPr>
        <p:spPr>
          <a:xfrm rot="5400000">
            <a:off x="6733032" y="2753258"/>
            <a:ext cx="219456" cy="219456"/>
          </a:xfrm>
          <a:prstGeom prst="triangle">
            <a:avLst/>
          </a:prstGeom>
          <a:solidFill>
            <a:srgbClr val="0FA3A3"/>
          </a:solidFill>
          <a:ln/>
        </p:spPr>
      </p:sp>
      <p:sp>
        <p:nvSpPr>
          <p:cNvPr id="13" name="Shape 11"/>
          <p:cNvSpPr/>
          <p:nvPr/>
        </p:nvSpPr>
        <p:spPr>
          <a:xfrm>
            <a:off x="6586728" y="2090318"/>
            <a:ext cx="512064" cy="310896"/>
          </a:xfrm>
          <a:prstGeom prst="roundRect">
            <a:avLst>
              <a:gd name="adj" fmla="val 17647"/>
            </a:avLst>
          </a:prstGeom>
          <a:solidFill>
            <a:srgbClr val="F0F6F6"/>
          </a:solidFill>
          <a:ln w="12700">
            <a:solidFill>
              <a:srgbClr val="0FA3A3"/>
            </a:solidFill>
            <a:prstDash val="solid"/>
          </a:ln>
        </p:spPr>
      </p:sp>
      <p:sp>
        <p:nvSpPr>
          <p:cNvPr id="14" name="Text 12"/>
          <p:cNvSpPr/>
          <p:nvPr/>
        </p:nvSpPr>
        <p:spPr>
          <a:xfrm>
            <a:off x="6586728" y="2090318"/>
            <a:ext cx="512064" cy="310896"/>
          </a:xfrm>
          <a:prstGeom prst="rect">
            <a:avLst/>
          </a:prstGeom>
          <a:noFill/>
          <a:ln/>
        </p:spPr>
        <p:txBody>
          <a:bodyPr wrap="square" rtlCol="0" anchor="ctr"/>
          <a:lstStyle/>
          <a:p>
            <a:pPr algn="ctr" indent="0" marL="0">
              <a:buNone/>
            </a:pPr>
            <a:r>
              <a:rPr lang="en-US" sz="1100" b="1" dirty="0">
                <a:solidFill>
                  <a:srgbClr val="0FA3A3"/>
                </a:solidFill>
                <a:latin typeface="Consolas" pitchFamily="34" charset="0"/>
                <a:ea typeface="Consolas" pitchFamily="34" charset="-122"/>
                <a:cs typeface="Consolas" pitchFamily="34" charset="-120"/>
              </a:rPr>
              <a:t>{ }</a:t>
            </a:r>
            <a:endParaRPr lang="en-US" sz="1100" dirty="0"/>
          </a:p>
        </p:txBody>
      </p:sp>
      <p:sp>
        <p:nvSpPr>
          <p:cNvPr id="15" name="Shape 13"/>
          <p:cNvSpPr/>
          <p:nvPr/>
        </p:nvSpPr>
        <p:spPr>
          <a:xfrm>
            <a:off x="6373368" y="2273198"/>
            <a:ext cx="402336" cy="274320"/>
          </a:xfrm>
          <a:prstGeom prst="roundRect">
            <a:avLst>
              <a:gd name="adj" fmla="val 20000"/>
            </a:avLst>
          </a:prstGeom>
          <a:solidFill>
            <a:srgbClr val="F2C94C"/>
          </a:solidFill>
          <a:ln/>
        </p:spPr>
      </p:sp>
      <p:sp>
        <p:nvSpPr>
          <p:cNvPr id="16" name="Text 14"/>
          <p:cNvSpPr/>
          <p:nvPr/>
        </p:nvSpPr>
        <p:spPr>
          <a:xfrm>
            <a:off x="6373368" y="2273198"/>
            <a:ext cx="402336" cy="274320"/>
          </a:xfrm>
          <a:prstGeom prst="rect">
            <a:avLst/>
          </a:prstGeom>
          <a:noFill/>
          <a:ln/>
        </p:spPr>
        <p:txBody>
          <a:bodyPr wrap="square" rtlCol="0" anchor="ctr"/>
          <a:lstStyle/>
          <a:p>
            <a:pPr algn="ctr" indent="0" marL="0">
              <a:buNone/>
            </a:pPr>
            <a:r>
              <a:rPr lang="en-US" sz="950" b="1" dirty="0">
                <a:solidFill>
                  <a:srgbClr val="1E3A5F"/>
                </a:solidFill>
                <a:latin typeface="Consolas" pitchFamily="34" charset="0"/>
                <a:ea typeface="Consolas" pitchFamily="34" charset="-122"/>
                <a:cs typeface="Consolas" pitchFamily="34" charset="-120"/>
              </a:rPr>
              <a:t>&lt;&gt;</a:t>
            </a:r>
            <a:endParaRPr lang="en-US" sz="950" dirty="0"/>
          </a:p>
        </p:txBody>
      </p:sp>
      <p:sp>
        <p:nvSpPr>
          <p:cNvPr id="17" name="Shape 15"/>
          <p:cNvSpPr/>
          <p:nvPr/>
        </p:nvSpPr>
        <p:spPr>
          <a:xfrm>
            <a:off x="7056120" y="2474366"/>
            <a:ext cx="1097280" cy="777240"/>
          </a:xfrm>
          <a:prstGeom prst="roundRect">
            <a:avLst>
              <a:gd name="adj" fmla="val 11765"/>
            </a:avLst>
          </a:prstGeom>
          <a:solidFill>
            <a:srgbClr val="1E3A5F"/>
          </a:solidFill>
          <a:ln/>
        </p:spPr>
      </p:sp>
      <p:sp>
        <p:nvSpPr>
          <p:cNvPr id="18" name="Text 16"/>
          <p:cNvSpPr/>
          <p:nvPr/>
        </p:nvSpPr>
        <p:spPr>
          <a:xfrm>
            <a:off x="7056120" y="2474366"/>
            <a:ext cx="1097280" cy="777240"/>
          </a:xfrm>
          <a:prstGeom prst="rect">
            <a:avLst/>
          </a:prstGeom>
          <a:noFill/>
          <a:ln/>
        </p:spPr>
        <p:txBody>
          <a:bodyPr wrap="square"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Agent</a:t>
            </a:r>
            <a:endParaRPr lang="en-US" sz="1400" dirty="0"/>
          </a:p>
        </p:txBody>
      </p:sp>
      <p:sp>
        <p:nvSpPr>
          <p:cNvPr id="19" name="Shape 17"/>
          <p:cNvSpPr/>
          <p:nvPr/>
        </p:nvSpPr>
        <p:spPr>
          <a:xfrm rot="5400000">
            <a:off x="8257032" y="2753258"/>
            <a:ext cx="219456" cy="219456"/>
          </a:xfrm>
          <a:prstGeom prst="triangle">
            <a:avLst/>
          </a:prstGeom>
          <a:solidFill>
            <a:srgbClr val="0FA3A3"/>
          </a:solidFill>
          <a:ln/>
        </p:spPr>
      </p:sp>
      <p:sp>
        <p:nvSpPr>
          <p:cNvPr id="20" name="Shape 18"/>
          <p:cNvSpPr/>
          <p:nvPr/>
        </p:nvSpPr>
        <p:spPr>
          <a:xfrm>
            <a:off x="8110728" y="2090318"/>
            <a:ext cx="512064" cy="310896"/>
          </a:xfrm>
          <a:prstGeom prst="roundRect">
            <a:avLst>
              <a:gd name="adj" fmla="val 17647"/>
            </a:avLst>
          </a:prstGeom>
          <a:solidFill>
            <a:srgbClr val="F0F6F6"/>
          </a:solidFill>
          <a:ln w="12700">
            <a:solidFill>
              <a:srgbClr val="0FA3A3"/>
            </a:solidFill>
            <a:prstDash val="solid"/>
          </a:ln>
        </p:spPr>
      </p:sp>
      <p:sp>
        <p:nvSpPr>
          <p:cNvPr id="21" name="Text 19"/>
          <p:cNvSpPr/>
          <p:nvPr/>
        </p:nvSpPr>
        <p:spPr>
          <a:xfrm>
            <a:off x="8110728" y="2090318"/>
            <a:ext cx="512064" cy="310896"/>
          </a:xfrm>
          <a:prstGeom prst="rect">
            <a:avLst/>
          </a:prstGeom>
          <a:noFill/>
          <a:ln/>
        </p:spPr>
        <p:txBody>
          <a:bodyPr wrap="square" rtlCol="0" anchor="ctr"/>
          <a:lstStyle/>
          <a:p>
            <a:pPr algn="ctr" indent="0" marL="0">
              <a:buNone/>
            </a:pPr>
            <a:r>
              <a:rPr lang="en-US" sz="1100" b="1" dirty="0">
                <a:solidFill>
                  <a:srgbClr val="0FA3A3"/>
                </a:solidFill>
                <a:latin typeface="Consolas" pitchFamily="34" charset="0"/>
                <a:ea typeface="Consolas" pitchFamily="34" charset="-122"/>
                <a:cs typeface="Consolas" pitchFamily="34" charset="-120"/>
              </a:rPr>
              <a:t>{ }</a:t>
            </a:r>
            <a:endParaRPr lang="en-US" sz="1100" dirty="0"/>
          </a:p>
        </p:txBody>
      </p:sp>
      <p:sp>
        <p:nvSpPr>
          <p:cNvPr id="22" name="Shape 20"/>
          <p:cNvSpPr/>
          <p:nvPr/>
        </p:nvSpPr>
        <p:spPr>
          <a:xfrm>
            <a:off x="7897368" y="2273198"/>
            <a:ext cx="402336" cy="274320"/>
          </a:xfrm>
          <a:prstGeom prst="roundRect">
            <a:avLst>
              <a:gd name="adj" fmla="val 20000"/>
            </a:avLst>
          </a:prstGeom>
          <a:solidFill>
            <a:srgbClr val="F2C94C"/>
          </a:solidFill>
          <a:ln/>
        </p:spPr>
      </p:sp>
      <p:sp>
        <p:nvSpPr>
          <p:cNvPr id="23" name="Text 21"/>
          <p:cNvSpPr/>
          <p:nvPr/>
        </p:nvSpPr>
        <p:spPr>
          <a:xfrm>
            <a:off x="7897368" y="2273198"/>
            <a:ext cx="402336" cy="274320"/>
          </a:xfrm>
          <a:prstGeom prst="rect">
            <a:avLst/>
          </a:prstGeom>
          <a:noFill/>
          <a:ln/>
        </p:spPr>
        <p:txBody>
          <a:bodyPr wrap="square" rtlCol="0" anchor="ctr"/>
          <a:lstStyle/>
          <a:p>
            <a:pPr algn="ctr" indent="0" marL="0">
              <a:buNone/>
            </a:pPr>
            <a:r>
              <a:rPr lang="en-US" sz="950" b="1" dirty="0">
                <a:solidFill>
                  <a:srgbClr val="1E3A5F"/>
                </a:solidFill>
                <a:latin typeface="Consolas" pitchFamily="34" charset="0"/>
                <a:ea typeface="Consolas" pitchFamily="34" charset="-122"/>
                <a:cs typeface="Consolas" pitchFamily="34" charset="-120"/>
              </a:rPr>
              <a:t>&lt;&gt;</a:t>
            </a:r>
            <a:endParaRPr lang="en-US" sz="950" dirty="0"/>
          </a:p>
        </p:txBody>
      </p:sp>
      <p:sp>
        <p:nvSpPr>
          <p:cNvPr id="24" name="Shape 22"/>
          <p:cNvSpPr/>
          <p:nvPr/>
        </p:nvSpPr>
        <p:spPr>
          <a:xfrm>
            <a:off x="8580120" y="2474366"/>
            <a:ext cx="1097280" cy="777240"/>
          </a:xfrm>
          <a:prstGeom prst="roundRect">
            <a:avLst>
              <a:gd name="adj" fmla="val 11765"/>
            </a:avLst>
          </a:prstGeom>
          <a:solidFill>
            <a:srgbClr val="1E3A5F"/>
          </a:solidFill>
          <a:ln/>
        </p:spPr>
      </p:sp>
      <p:sp>
        <p:nvSpPr>
          <p:cNvPr id="25" name="Text 23"/>
          <p:cNvSpPr/>
          <p:nvPr/>
        </p:nvSpPr>
        <p:spPr>
          <a:xfrm>
            <a:off x="8580120" y="2474366"/>
            <a:ext cx="1097280" cy="777240"/>
          </a:xfrm>
          <a:prstGeom prst="rect">
            <a:avLst/>
          </a:prstGeom>
          <a:noFill/>
          <a:ln/>
        </p:spPr>
        <p:txBody>
          <a:bodyPr wrap="square"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Skill</a:t>
            </a:r>
            <a:endParaRPr lang="en-US" sz="1400" dirty="0"/>
          </a:p>
        </p:txBody>
      </p:sp>
      <p:sp>
        <p:nvSpPr>
          <p:cNvPr id="26" name="Shape 24"/>
          <p:cNvSpPr/>
          <p:nvPr/>
        </p:nvSpPr>
        <p:spPr>
          <a:xfrm rot="5400000">
            <a:off x="9781032" y="2753258"/>
            <a:ext cx="219456" cy="219456"/>
          </a:xfrm>
          <a:prstGeom prst="triangle">
            <a:avLst/>
          </a:prstGeom>
          <a:solidFill>
            <a:srgbClr val="0FA3A3"/>
          </a:solidFill>
          <a:ln/>
        </p:spPr>
      </p:sp>
      <p:sp>
        <p:nvSpPr>
          <p:cNvPr id="27" name="Shape 25"/>
          <p:cNvSpPr/>
          <p:nvPr/>
        </p:nvSpPr>
        <p:spPr>
          <a:xfrm>
            <a:off x="9634728" y="2090318"/>
            <a:ext cx="512064" cy="310896"/>
          </a:xfrm>
          <a:prstGeom prst="roundRect">
            <a:avLst>
              <a:gd name="adj" fmla="val 17647"/>
            </a:avLst>
          </a:prstGeom>
          <a:solidFill>
            <a:srgbClr val="F0F6F6"/>
          </a:solidFill>
          <a:ln w="12700">
            <a:solidFill>
              <a:srgbClr val="0FA3A3"/>
            </a:solidFill>
            <a:prstDash val="solid"/>
          </a:ln>
        </p:spPr>
      </p:sp>
      <p:sp>
        <p:nvSpPr>
          <p:cNvPr id="28" name="Text 26"/>
          <p:cNvSpPr/>
          <p:nvPr/>
        </p:nvSpPr>
        <p:spPr>
          <a:xfrm>
            <a:off x="9634728" y="2090318"/>
            <a:ext cx="512064" cy="310896"/>
          </a:xfrm>
          <a:prstGeom prst="rect">
            <a:avLst/>
          </a:prstGeom>
          <a:noFill/>
          <a:ln/>
        </p:spPr>
        <p:txBody>
          <a:bodyPr wrap="square" rtlCol="0" anchor="ctr"/>
          <a:lstStyle/>
          <a:p>
            <a:pPr algn="ctr" indent="0" marL="0">
              <a:buNone/>
            </a:pPr>
            <a:r>
              <a:rPr lang="en-US" sz="1100" b="1" dirty="0">
                <a:solidFill>
                  <a:srgbClr val="0FA3A3"/>
                </a:solidFill>
                <a:latin typeface="Consolas" pitchFamily="34" charset="0"/>
                <a:ea typeface="Consolas" pitchFamily="34" charset="-122"/>
                <a:cs typeface="Consolas" pitchFamily="34" charset="-120"/>
              </a:rPr>
              <a:t>{ }</a:t>
            </a:r>
            <a:endParaRPr lang="en-US" sz="1100" dirty="0"/>
          </a:p>
        </p:txBody>
      </p:sp>
      <p:sp>
        <p:nvSpPr>
          <p:cNvPr id="29" name="Shape 27"/>
          <p:cNvSpPr/>
          <p:nvPr/>
        </p:nvSpPr>
        <p:spPr>
          <a:xfrm>
            <a:off x="9421368" y="2273198"/>
            <a:ext cx="402336" cy="274320"/>
          </a:xfrm>
          <a:prstGeom prst="roundRect">
            <a:avLst>
              <a:gd name="adj" fmla="val 20000"/>
            </a:avLst>
          </a:prstGeom>
          <a:solidFill>
            <a:srgbClr val="F2C94C"/>
          </a:solidFill>
          <a:ln/>
        </p:spPr>
      </p:sp>
      <p:sp>
        <p:nvSpPr>
          <p:cNvPr id="30" name="Text 28"/>
          <p:cNvSpPr/>
          <p:nvPr/>
        </p:nvSpPr>
        <p:spPr>
          <a:xfrm>
            <a:off x="9421368" y="2273198"/>
            <a:ext cx="402336" cy="274320"/>
          </a:xfrm>
          <a:prstGeom prst="rect">
            <a:avLst/>
          </a:prstGeom>
          <a:noFill/>
          <a:ln/>
        </p:spPr>
        <p:txBody>
          <a:bodyPr wrap="square" rtlCol="0" anchor="ctr"/>
          <a:lstStyle/>
          <a:p>
            <a:pPr algn="ctr" indent="0" marL="0">
              <a:buNone/>
            </a:pPr>
            <a:r>
              <a:rPr lang="en-US" sz="950" b="1" dirty="0">
                <a:solidFill>
                  <a:srgbClr val="1E3A5F"/>
                </a:solidFill>
                <a:latin typeface="Consolas" pitchFamily="34" charset="0"/>
                <a:ea typeface="Consolas" pitchFamily="34" charset="-122"/>
                <a:cs typeface="Consolas" pitchFamily="34" charset="-120"/>
              </a:rPr>
              <a:t>&lt;&gt;</a:t>
            </a:r>
            <a:endParaRPr lang="en-US" sz="950" dirty="0"/>
          </a:p>
        </p:txBody>
      </p:sp>
      <p:sp>
        <p:nvSpPr>
          <p:cNvPr id="31" name="Shape 29"/>
          <p:cNvSpPr/>
          <p:nvPr/>
        </p:nvSpPr>
        <p:spPr>
          <a:xfrm>
            <a:off x="10104120" y="2474366"/>
            <a:ext cx="1097280" cy="777240"/>
          </a:xfrm>
          <a:prstGeom prst="roundRect">
            <a:avLst>
              <a:gd name="adj" fmla="val 11765"/>
            </a:avLst>
          </a:prstGeom>
          <a:solidFill>
            <a:srgbClr val="1E3A5F"/>
          </a:solidFill>
          <a:ln/>
        </p:spPr>
      </p:sp>
      <p:sp>
        <p:nvSpPr>
          <p:cNvPr id="32" name="Text 30"/>
          <p:cNvSpPr/>
          <p:nvPr/>
        </p:nvSpPr>
        <p:spPr>
          <a:xfrm>
            <a:off x="10104120" y="2474366"/>
            <a:ext cx="1097280" cy="777240"/>
          </a:xfrm>
          <a:prstGeom prst="rect">
            <a:avLst/>
          </a:prstGeom>
          <a:noFill/>
          <a:ln/>
        </p:spPr>
        <p:txBody>
          <a:bodyPr wrap="square"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Notify</a:t>
            </a:r>
            <a:endParaRPr lang="en-US" sz="1400" dirty="0"/>
          </a:p>
        </p:txBody>
      </p:sp>
      <p:sp>
        <p:nvSpPr>
          <p:cNvPr id="33" name="Shape 31"/>
          <p:cNvSpPr/>
          <p:nvPr/>
        </p:nvSpPr>
        <p:spPr>
          <a:xfrm>
            <a:off x="10945368" y="2273198"/>
            <a:ext cx="402336" cy="274320"/>
          </a:xfrm>
          <a:prstGeom prst="roundRect">
            <a:avLst>
              <a:gd name="adj" fmla="val 20000"/>
            </a:avLst>
          </a:prstGeom>
          <a:solidFill>
            <a:srgbClr val="F2C94C"/>
          </a:solidFill>
          <a:ln/>
        </p:spPr>
      </p:sp>
      <p:sp>
        <p:nvSpPr>
          <p:cNvPr id="34" name="Text 32"/>
          <p:cNvSpPr/>
          <p:nvPr/>
        </p:nvSpPr>
        <p:spPr>
          <a:xfrm>
            <a:off x="10945368" y="2273198"/>
            <a:ext cx="402336" cy="274320"/>
          </a:xfrm>
          <a:prstGeom prst="rect">
            <a:avLst/>
          </a:prstGeom>
          <a:noFill/>
          <a:ln/>
        </p:spPr>
        <p:txBody>
          <a:bodyPr wrap="square" rtlCol="0" anchor="ctr"/>
          <a:lstStyle/>
          <a:p>
            <a:pPr algn="ctr" indent="0" marL="0">
              <a:buNone/>
            </a:pPr>
            <a:r>
              <a:rPr lang="en-US" sz="950" b="1" dirty="0">
                <a:solidFill>
                  <a:srgbClr val="1E3A5F"/>
                </a:solidFill>
                <a:latin typeface="Consolas" pitchFamily="34" charset="0"/>
                <a:ea typeface="Consolas" pitchFamily="34" charset="-122"/>
                <a:cs typeface="Consolas" pitchFamily="34" charset="-120"/>
              </a:rPr>
              <a:t>&lt;&gt;</a:t>
            </a:r>
            <a:endParaRPr lang="en-US" sz="950" dirty="0"/>
          </a:p>
        </p:txBody>
      </p:sp>
      <p:sp>
        <p:nvSpPr>
          <p:cNvPr id="35" name="Shape 33"/>
          <p:cNvSpPr/>
          <p:nvPr/>
        </p:nvSpPr>
        <p:spPr>
          <a:xfrm>
            <a:off x="7101840" y="1582826"/>
            <a:ext cx="1005840" cy="365760"/>
          </a:xfrm>
          <a:prstGeom prst="roundRect">
            <a:avLst>
              <a:gd name="adj" fmla="val 20000"/>
            </a:avLst>
          </a:prstGeom>
          <a:solidFill>
            <a:srgbClr val="0FA3A3"/>
          </a:solidFill>
          <a:ln/>
        </p:spPr>
      </p:sp>
      <p:sp>
        <p:nvSpPr>
          <p:cNvPr id="36" name="Text 34"/>
          <p:cNvSpPr/>
          <p:nvPr/>
        </p:nvSpPr>
        <p:spPr>
          <a:xfrm>
            <a:off x="7101840" y="1582826"/>
            <a:ext cx="1005840" cy="36576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prompt</a:t>
            </a:r>
            <a:endParaRPr lang="en-US" sz="1100" dirty="0"/>
          </a:p>
        </p:txBody>
      </p:sp>
      <p:sp>
        <p:nvSpPr>
          <p:cNvPr id="37" name="Shape 35"/>
          <p:cNvSpPr/>
          <p:nvPr/>
        </p:nvSpPr>
        <p:spPr>
          <a:xfrm rot="10800000">
            <a:off x="7513320" y="1921154"/>
            <a:ext cx="182880" cy="182880"/>
          </a:xfrm>
          <a:prstGeom prst="triangle">
            <a:avLst/>
          </a:prstGeom>
          <a:solidFill>
            <a:srgbClr val="0FA3A3"/>
          </a:solidFill>
          <a:ln/>
        </p:spPr>
      </p:sp>
      <p:sp>
        <p:nvSpPr>
          <p:cNvPr id="38" name="Text 36"/>
          <p:cNvSpPr/>
          <p:nvPr/>
        </p:nvSpPr>
        <p:spPr>
          <a:xfrm>
            <a:off x="5532120" y="3571646"/>
            <a:ext cx="5669280" cy="320040"/>
          </a:xfrm>
          <a:prstGeom prst="rect">
            <a:avLst/>
          </a:prstGeom>
          <a:noFill/>
          <a:ln/>
        </p:spPr>
        <p:txBody>
          <a:bodyPr wrap="square" rtlCol="0" anchor="ctr"/>
          <a:lstStyle/>
          <a:p>
            <a:pPr algn="ctr" indent="0" marL="0">
              <a:buNone/>
            </a:pPr>
            <a:r>
              <a:rPr lang="en-US" sz="1250" b="1" dirty="0">
                <a:solidFill>
                  <a:srgbClr val="0FA3A3"/>
                </a:solidFill>
                <a:latin typeface="Consolas" pitchFamily="34" charset="0"/>
                <a:ea typeface="Consolas" pitchFamily="34" charset="-122"/>
                <a:cs typeface="Consolas" pitchFamily="34" charset="-120"/>
              </a:rPr>
              <a:t>{ }</a:t>
            </a:r>
            <a:pPr algn="ctr" indent="0" marL="0">
              <a:buNone/>
            </a:pPr>
            <a:r>
              <a:rPr lang="en-US" sz="1250" dirty="0">
                <a:solidFill>
                  <a:srgbClr val="222222"/>
                </a:solidFill>
                <a:latin typeface="Calibri" pitchFamily="34" charset="0"/>
                <a:ea typeface="Calibri" pitchFamily="34" charset="-122"/>
                <a:cs typeface="Calibri" pitchFamily="34" charset="-120"/>
              </a:rPr>
              <a:t>  data on the arrows (Lesson 7)     </a:t>
            </a:r>
            <a:pPr algn="ctr" indent="0" marL="0">
              <a:buNone/>
            </a:pPr>
            <a:r>
              <a:rPr lang="en-US" sz="1250" b="1" dirty="0">
                <a:solidFill>
                  <a:srgbClr val="F2C94C"/>
                </a:solidFill>
                <a:latin typeface="Consolas" pitchFamily="34" charset="0"/>
                <a:ea typeface="Consolas" pitchFamily="34" charset="-122"/>
                <a:cs typeface="Consolas" pitchFamily="34" charset="-120"/>
              </a:rPr>
              <a:t>&lt;&gt;</a:t>
            </a:r>
            <a:pPr algn="ctr" indent="0" marL="0">
              <a:buNone/>
            </a:pPr>
            <a:r>
              <a:rPr lang="en-US" sz="1250" dirty="0">
                <a:solidFill>
                  <a:srgbClr val="222222"/>
                </a:solidFill>
                <a:latin typeface="Calibri" pitchFamily="34" charset="0"/>
                <a:ea typeface="Calibri" pitchFamily="34" charset="-122"/>
                <a:cs typeface="Calibri" pitchFamily="34" charset="-120"/>
              </a:rPr>
              <a:t>  code inside the boxes (Lesson 8)</a:t>
            </a:r>
            <a:endParaRPr lang="en-US" sz="1250" dirty="0"/>
          </a:p>
        </p:txBody>
      </p:sp>
      <p:sp>
        <p:nvSpPr>
          <p:cNvPr id="39" name="Text 37"/>
          <p:cNvSpPr/>
          <p:nvPr/>
        </p:nvSpPr>
        <p:spPr>
          <a:xfrm>
            <a:off x="5440680" y="5120640"/>
            <a:ext cx="5852160" cy="685800"/>
          </a:xfrm>
          <a:prstGeom prst="rect">
            <a:avLst/>
          </a:prstGeom>
          <a:noFill/>
          <a:ln/>
        </p:spPr>
        <p:txBody>
          <a:bodyPr wrap="square" rtlCol="0" anchor="ctr"/>
          <a:lstStyle/>
          <a:p>
            <a:pPr algn="ctr" indent="0" marL="0">
              <a:lnSpc>
                <a:spcPct val="120000"/>
              </a:lnSpc>
              <a:buNone/>
            </a:pPr>
            <a:r>
              <a:rPr lang="en-US" sz="1350" i="1" dirty="0">
                <a:solidFill>
                  <a:srgbClr val="1E3A5F"/>
                </a:solidFill>
                <a:latin typeface="Calibri" pitchFamily="34" charset="0"/>
                <a:ea typeface="Calibri" pitchFamily="34" charset="-122"/>
                <a:cs typeface="Calibri" pitchFamily="34" charset="-120"/>
              </a:rPr>
              <a:t>The Prompt is what tells the Agent's model what to do with the JSON that just arrived.</a:t>
            </a:r>
            <a:endParaRPr lang="en-US" sz="1350" dirty="0"/>
          </a:p>
        </p:txBody>
      </p:sp>
      <p:sp>
        <p:nvSpPr>
          <p:cNvPr id="40" name="Text 38"/>
          <p:cNvSpPr/>
          <p:nvPr/>
        </p:nvSpPr>
        <p:spPr>
          <a:xfrm>
            <a:off x="10607040" y="6537960"/>
            <a:ext cx="1371600" cy="274320"/>
          </a:xfrm>
          <a:prstGeom prst="rect">
            <a:avLst/>
          </a:prstGeom>
          <a:noFill/>
          <a:ln/>
        </p:spPr>
        <p:txBody>
          <a:bodyPr wrap="square" rtlCol="0" anchor="ctr"/>
          <a:lstStyle/>
          <a:p>
            <a:pPr algn="r" indent="0" marL="0">
              <a:buNone/>
            </a:pPr>
            <a:r>
              <a:rPr lang="en-US" sz="1000" dirty="0">
                <a:solidFill>
                  <a:srgbClr val="9AA5AE"/>
                </a:solidFill>
                <a:latin typeface="Calibri" pitchFamily="34" charset="0"/>
                <a:ea typeface="Calibri" pitchFamily="34" charset="-122"/>
                <a:cs typeface="Calibri" pitchFamily="34" charset="-120"/>
              </a:rPr>
              <a:t>09 · 6/7</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4617720" cy="6858000"/>
          </a:xfrm>
          <a:prstGeom prst="rect">
            <a:avLst/>
          </a:prstGeom>
          <a:solidFill>
            <a:srgbClr val="F0F6F6"/>
          </a:solidFill>
          <a:ln/>
        </p:spPr>
      </p:sp>
      <p:sp>
        <p:nvSpPr>
          <p:cNvPr id="3" name="Text 1"/>
          <p:cNvSpPr/>
          <p:nvPr/>
        </p:nvSpPr>
        <p:spPr>
          <a:xfrm>
            <a:off x="457200" y="502920"/>
            <a:ext cx="3840480" cy="502920"/>
          </a:xfrm>
          <a:prstGeom prst="rect">
            <a:avLst/>
          </a:prstGeom>
          <a:noFill/>
          <a:ln/>
        </p:spPr>
        <p:txBody>
          <a:bodyPr wrap="square" rtlCol="0" anchor="ctr"/>
          <a:lstStyle/>
          <a:p>
            <a:pPr indent="0" marL="0">
              <a:lnSpc>
                <a:spcPct val="115000"/>
              </a:lnSpc>
              <a:buNone/>
            </a:pPr>
            <a:r>
              <a:rPr lang="en-US" sz="1300" b="1" spc="130" kern="0" dirty="0">
                <a:solidFill>
                  <a:srgbClr val="0FA3A3"/>
                </a:solidFill>
                <a:latin typeface="Calibri" pitchFamily="34" charset="0"/>
                <a:ea typeface="Calibri" pitchFamily="34" charset="-122"/>
                <a:cs typeface="Calibri" pitchFamily="34" charset="-120"/>
              </a:rPr>
              <a:t>RECAP</a:t>
            </a:r>
            <a:endParaRPr lang="en-US" sz="1300" dirty="0"/>
          </a:p>
        </p:txBody>
      </p:sp>
      <p:sp>
        <p:nvSpPr>
          <p:cNvPr id="4" name="Text 2"/>
          <p:cNvSpPr/>
          <p:nvPr/>
        </p:nvSpPr>
        <p:spPr>
          <a:xfrm>
            <a:off x="457200" y="1005840"/>
            <a:ext cx="3886200" cy="1554480"/>
          </a:xfrm>
          <a:prstGeom prst="rect">
            <a:avLst/>
          </a:prstGeom>
          <a:noFill/>
          <a:ln/>
        </p:spPr>
        <p:txBody>
          <a:bodyPr wrap="square" rtlCol="0" anchor="ctr"/>
          <a:lstStyle/>
          <a:p>
            <a:pPr indent="0" marL="0">
              <a:lnSpc>
                <a:spcPct val="108000"/>
              </a:lnSpc>
              <a:buNone/>
            </a:pPr>
            <a:r>
              <a:rPr lang="en-US" sz="2700" b="1" dirty="0">
                <a:solidFill>
                  <a:srgbClr val="1E3A5F"/>
                </a:solidFill>
                <a:latin typeface="Cambria" pitchFamily="34" charset="0"/>
                <a:ea typeface="Cambria" pitchFamily="34" charset="-122"/>
                <a:cs typeface="Cambria" pitchFamily="34" charset="-120"/>
              </a:rPr>
              <a:t>Prompt = the ask that starts the work</a:t>
            </a:r>
            <a:endParaRPr lang="en-US" sz="2700" dirty="0"/>
          </a:p>
        </p:txBody>
      </p:sp>
      <p:sp>
        <p:nvSpPr>
          <p:cNvPr id="5" name="Text 3"/>
          <p:cNvSpPr/>
          <p:nvPr/>
        </p:nvSpPr>
        <p:spPr>
          <a:xfrm>
            <a:off x="457200" y="2560320"/>
            <a:ext cx="3886200" cy="1417320"/>
          </a:xfrm>
          <a:prstGeom prst="rect">
            <a:avLst/>
          </a:prstGeom>
          <a:noFill/>
          <a:ln/>
        </p:spPr>
        <p:txBody>
          <a:bodyPr wrap="square" rtlCol="0" anchor="ctr"/>
          <a:lstStyle/>
          <a:p>
            <a:pPr indent="0" marL="0">
              <a:lnSpc>
                <a:spcPct val="128000"/>
              </a:lnSpc>
              <a:buNone/>
            </a:pPr>
            <a:r>
              <a:rPr lang="en-US" sz="1450" dirty="0">
                <a:solidFill>
                  <a:srgbClr val="222222"/>
                </a:solidFill>
                <a:latin typeface="Calibri" pitchFamily="34" charset="0"/>
                <a:ea typeface="Calibri" pitchFamily="34" charset="-122"/>
                <a:cs typeface="Calibri" pitchFamily="34" charset="-120"/>
              </a:rPr>
              <a:t>The specific instruction that turns a sitting-idle system into action — layered on top of whatever data and code already exist.</a:t>
            </a:r>
            <a:endParaRPr lang="en-US" sz="1450" dirty="0"/>
          </a:p>
        </p:txBody>
      </p:sp>
      <p:sp>
        <p:nvSpPr>
          <p:cNvPr id="6" name="Text 4"/>
          <p:cNvSpPr/>
          <p:nvPr/>
        </p:nvSpPr>
        <p:spPr>
          <a:xfrm>
            <a:off x="457200" y="4069080"/>
            <a:ext cx="3794760" cy="548640"/>
          </a:xfrm>
          <a:prstGeom prst="rect">
            <a:avLst/>
          </a:prstGeom>
          <a:noFill/>
          <a:ln/>
        </p:spPr>
        <p:txBody>
          <a:bodyPr wrap="square" rtlCol="0" anchor="ctr"/>
          <a:lstStyle/>
          <a:p>
            <a:pPr marL="152400" indent="-152400">
              <a:lnSpc>
                <a:spcPct val="115000"/>
              </a:lnSpc>
              <a:buSzPct val="100000"/>
              <a:buChar char="■"/>
            </a:pPr>
            <a:r>
              <a:rPr lang="en-US" sz="1350" dirty="0">
                <a:solidFill>
                  <a:srgbClr val="222222"/>
                </a:solidFill>
                <a:latin typeface="Calibri" pitchFamily="34" charset="0"/>
                <a:ea typeface="Calibri" pitchFamily="34" charset="-122"/>
                <a:cs typeface="Calibri" pitchFamily="34" charset="-120"/>
              </a:rPr>
              <a:t>Not a new building block — the trigger for the ones you know</a:t>
            </a:r>
            <a:endParaRPr lang="en-US" sz="1350" dirty="0"/>
          </a:p>
        </p:txBody>
      </p:sp>
      <p:sp>
        <p:nvSpPr>
          <p:cNvPr id="7" name="Text 5"/>
          <p:cNvSpPr/>
          <p:nvPr/>
        </p:nvSpPr>
        <p:spPr>
          <a:xfrm>
            <a:off x="457200" y="4727448"/>
            <a:ext cx="3794760" cy="548640"/>
          </a:xfrm>
          <a:prstGeom prst="rect">
            <a:avLst/>
          </a:prstGeom>
          <a:noFill/>
          <a:ln/>
        </p:spPr>
        <p:txBody>
          <a:bodyPr wrap="square" rtlCol="0" anchor="ctr"/>
          <a:lstStyle/>
          <a:p>
            <a:pPr marL="152400" indent="-152400">
              <a:lnSpc>
                <a:spcPct val="115000"/>
              </a:lnSpc>
              <a:buSzPct val="100000"/>
              <a:buChar char="■"/>
            </a:pPr>
            <a:r>
              <a:rPr lang="en-US" sz="1350" dirty="0">
                <a:solidFill>
                  <a:srgbClr val="222222"/>
                </a:solidFill>
                <a:latin typeface="Calibri" pitchFamily="34" charset="0"/>
                <a:ea typeface="Calibri" pitchFamily="34" charset="-122"/>
                <a:cs typeface="Calibri" pitchFamily="34" charset="-120"/>
              </a:rPr>
              <a:t>Plain words, stating the actual ask</a:t>
            </a:r>
            <a:endParaRPr lang="en-US" sz="1350" dirty="0"/>
          </a:p>
        </p:txBody>
      </p:sp>
      <p:sp>
        <p:nvSpPr>
          <p:cNvPr id="8" name="Text 6"/>
          <p:cNvSpPr/>
          <p:nvPr/>
        </p:nvSpPr>
        <p:spPr>
          <a:xfrm>
            <a:off x="457200" y="5166360"/>
            <a:ext cx="3794760" cy="548640"/>
          </a:xfrm>
          <a:prstGeom prst="rect">
            <a:avLst/>
          </a:prstGeom>
          <a:noFill/>
          <a:ln/>
        </p:spPr>
        <p:txBody>
          <a:bodyPr wrap="square" rtlCol="0" anchor="ctr"/>
          <a:lstStyle/>
          <a:p>
            <a:pPr marL="152400" indent="-152400">
              <a:lnSpc>
                <a:spcPct val="115000"/>
              </a:lnSpc>
              <a:buSzPct val="100000"/>
              <a:buChar char="■"/>
            </a:pPr>
            <a:r>
              <a:rPr lang="en-US" sz="1350" dirty="0">
                <a:solidFill>
                  <a:srgbClr val="222222"/>
                </a:solidFill>
                <a:latin typeface="Calibri" pitchFamily="34" charset="0"/>
                <a:ea typeface="Calibri" pitchFamily="34" charset="-122"/>
                <a:cs typeface="Calibri" pitchFamily="34" charset="-120"/>
              </a:rPr>
              <a:t>Next time: Token — the unit AI reads and writes in</a:t>
            </a:r>
            <a:endParaRPr lang="en-US" sz="1350" dirty="0"/>
          </a:p>
        </p:txBody>
      </p:sp>
      <p:sp>
        <p:nvSpPr>
          <p:cNvPr id="9" name="Shape 7"/>
          <p:cNvSpPr/>
          <p:nvPr/>
        </p:nvSpPr>
        <p:spPr>
          <a:xfrm>
            <a:off x="5074920" y="777240"/>
            <a:ext cx="6583680" cy="5303520"/>
          </a:xfrm>
          <a:prstGeom prst="roundRect">
            <a:avLst>
              <a:gd name="adj" fmla="val 2069"/>
            </a:avLst>
          </a:prstGeom>
          <a:solidFill>
            <a:srgbClr val="FFFFFF"/>
          </a:solidFill>
          <a:ln w="12700">
            <a:solidFill>
              <a:srgbClr val="D6E8F0"/>
            </a:solidFill>
            <a:prstDash val="solid"/>
          </a:ln>
        </p:spPr>
      </p:sp>
      <p:sp>
        <p:nvSpPr>
          <p:cNvPr id="10" name="Shape 8"/>
          <p:cNvSpPr/>
          <p:nvPr/>
        </p:nvSpPr>
        <p:spPr>
          <a:xfrm>
            <a:off x="6141110" y="1909267"/>
            <a:ext cx="1554480" cy="1554480"/>
          </a:xfrm>
          <a:prstGeom prst="ellipse">
            <a:avLst/>
          </a:prstGeom>
          <a:solidFill>
            <a:srgbClr val="0FA3A3"/>
          </a:solidFill>
          <a:ln/>
        </p:spPr>
      </p:sp>
      <p:sp>
        <p:nvSpPr>
          <p:cNvPr id="11" name="Text 9"/>
          <p:cNvSpPr/>
          <p:nvPr/>
        </p:nvSpPr>
        <p:spPr>
          <a:xfrm>
            <a:off x="6141110" y="1909267"/>
            <a:ext cx="1554480" cy="1554480"/>
          </a:xfrm>
          <a:prstGeom prst="rect">
            <a:avLst/>
          </a:prstGeom>
          <a:noFill/>
          <a:ln/>
        </p:spPr>
        <p:txBody>
          <a:bodyPr wrap="square" rtlCol="0" anchor="ctr"/>
          <a:lstStyle/>
          <a:p>
            <a:pPr algn="ctr" indent="0" marL="0">
              <a:buNone/>
            </a:pPr>
            <a:r>
              <a:rPr lang="en-US" sz="4400" b="1" dirty="0">
                <a:solidFill>
                  <a:srgbClr val="FFFFFF"/>
                </a:solidFill>
                <a:latin typeface="Arial" pitchFamily="34" charset="0"/>
                <a:ea typeface="Arial" pitchFamily="34" charset="-122"/>
                <a:cs typeface="Arial" pitchFamily="34" charset="-120"/>
              </a:rPr>
              <a:t>✓</a:t>
            </a:r>
            <a:endParaRPr lang="en-US" sz="4400" dirty="0"/>
          </a:p>
        </p:txBody>
      </p:sp>
      <p:sp>
        <p:nvSpPr>
          <p:cNvPr id="12" name="Text 10"/>
          <p:cNvSpPr/>
          <p:nvPr/>
        </p:nvSpPr>
        <p:spPr>
          <a:xfrm>
            <a:off x="5729630" y="3600907"/>
            <a:ext cx="2377440" cy="365760"/>
          </a:xfrm>
          <a:prstGeom prst="rect">
            <a:avLst/>
          </a:prstGeom>
          <a:noFill/>
          <a:ln/>
        </p:spPr>
        <p:txBody>
          <a:bodyPr wrap="square" rtlCol="0" anchor="ctr"/>
          <a:lstStyle/>
          <a:p>
            <a:pPr algn="ctr" indent="0" marL="0">
              <a:buNone/>
            </a:pPr>
            <a:r>
              <a:rPr lang="en-US" sz="1600" b="1" dirty="0">
                <a:solidFill>
                  <a:srgbClr val="1E3A5F"/>
                </a:solidFill>
                <a:latin typeface="Calibri" pitchFamily="34" charset="0"/>
                <a:ea typeface="Calibri" pitchFamily="34" charset="-122"/>
                <a:cs typeface="Calibri" pitchFamily="34" charset="-120"/>
              </a:rPr>
              <a:t>Prompt — done</a:t>
            </a:r>
            <a:endParaRPr lang="en-US" sz="1600" dirty="0"/>
          </a:p>
        </p:txBody>
      </p:sp>
      <p:sp>
        <p:nvSpPr>
          <p:cNvPr id="13" name="Shape 11"/>
          <p:cNvSpPr/>
          <p:nvPr/>
        </p:nvSpPr>
        <p:spPr>
          <a:xfrm rot="5400000">
            <a:off x="8152790" y="2485339"/>
            <a:ext cx="384048" cy="402336"/>
          </a:xfrm>
          <a:prstGeom prst="triangle">
            <a:avLst/>
          </a:prstGeom>
          <a:solidFill>
            <a:srgbClr val="F2C94C"/>
          </a:solidFill>
          <a:ln/>
        </p:spPr>
      </p:sp>
      <p:sp>
        <p:nvSpPr>
          <p:cNvPr id="14" name="Shape 12"/>
          <p:cNvSpPr/>
          <p:nvPr/>
        </p:nvSpPr>
        <p:spPr>
          <a:xfrm>
            <a:off x="8701430" y="2092147"/>
            <a:ext cx="2011680" cy="1188720"/>
          </a:xfrm>
          <a:prstGeom prst="roundRect">
            <a:avLst>
              <a:gd name="adj" fmla="val 9231"/>
            </a:avLst>
          </a:prstGeom>
          <a:solidFill>
            <a:srgbClr val="1E3A5F"/>
          </a:solidFill>
          <a:ln/>
        </p:spPr>
      </p:sp>
      <p:sp>
        <p:nvSpPr>
          <p:cNvPr id="15" name="Text 13"/>
          <p:cNvSpPr/>
          <p:nvPr/>
        </p:nvSpPr>
        <p:spPr>
          <a:xfrm>
            <a:off x="8701430" y="2229307"/>
            <a:ext cx="2011680" cy="320040"/>
          </a:xfrm>
          <a:prstGeom prst="rect">
            <a:avLst/>
          </a:prstGeom>
          <a:noFill/>
          <a:ln/>
        </p:spPr>
        <p:txBody>
          <a:bodyPr wrap="square" rtlCol="0" anchor="ctr"/>
          <a:lstStyle/>
          <a:p>
            <a:pPr algn="ctr" indent="0" marL="0">
              <a:buNone/>
            </a:pPr>
            <a:r>
              <a:rPr lang="en-US" sz="1300" dirty="0">
                <a:solidFill>
                  <a:srgbClr val="D8E2EE"/>
                </a:solidFill>
                <a:latin typeface="Calibri" pitchFamily="34" charset="0"/>
                <a:ea typeface="Calibri" pitchFamily="34" charset="-122"/>
                <a:cs typeface="Calibri" pitchFamily="34" charset="-120"/>
              </a:rPr>
              <a:t>Next:</a:t>
            </a:r>
            <a:endParaRPr lang="en-US" sz="1300" dirty="0"/>
          </a:p>
        </p:txBody>
      </p:sp>
      <p:sp>
        <p:nvSpPr>
          <p:cNvPr id="16" name="Text 14"/>
          <p:cNvSpPr/>
          <p:nvPr/>
        </p:nvSpPr>
        <p:spPr>
          <a:xfrm>
            <a:off x="8701430" y="2549347"/>
            <a:ext cx="2011680" cy="502920"/>
          </a:xfrm>
          <a:prstGeom prst="rect">
            <a:avLst/>
          </a:prstGeom>
          <a:noFill/>
          <a:ln/>
        </p:spPr>
        <p:txBody>
          <a:bodyPr wrap="square" rtlCol="0" anchor="ctr"/>
          <a:lstStyle/>
          <a:p>
            <a:pPr algn="ctr" indent="0" marL="0">
              <a:buNone/>
            </a:pPr>
            <a:r>
              <a:rPr lang="en-US" sz="2200" b="1" dirty="0">
                <a:solidFill>
                  <a:srgbClr val="F2C94C"/>
                </a:solidFill>
                <a:latin typeface="Cambria" pitchFamily="34" charset="0"/>
                <a:ea typeface="Cambria" pitchFamily="34" charset="-122"/>
                <a:cs typeface="Cambria" pitchFamily="34" charset="-120"/>
              </a:rPr>
              <a:t>Token</a:t>
            </a:r>
            <a:endParaRPr lang="en-US" sz="2200" dirty="0"/>
          </a:p>
        </p:txBody>
      </p:sp>
      <p:sp>
        <p:nvSpPr>
          <p:cNvPr id="17" name="Text 15"/>
          <p:cNvSpPr/>
          <p:nvPr/>
        </p:nvSpPr>
        <p:spPr>
          <a:xfrm>
            <a:off x="5440680" y="4709160"/>
            <a:ext cx="5852160" cy="914400"/>
          </a:xfrm>
          <a:prstGeom prst="rect">
            <a:avLst/>
          </a:prstGeom>
          <a:noFill/>
          <a:ln/>
        </p:spPr>
        <p:txBody>
          <a:bodyPr wrap="square" rtlCol="0" anchor="ctr"/>
          <a:lstStyle/>
          <a:p>
            <a:pPr algn="ctr" indent="0" marL="0">
              <a:lnSpc>
                <a:spcPct val="130000"/>
              </a:lnSpc>
              <a:buNone/>
            </a:pPr>
            <a:r>
              <a:rPr lang="en-US" sz="1400" i="1" dirty="0">
                <a:solidFill>
                  <a:srgbClr val="1E3A5F"/>
                </a:solidFill>
                <a:latin typeface="Calibri" pitchFamily="34" charset="0"/>
                <a:ea typeface="Calibri" pitchFamily="34" charset="-122"/>
                <a:cs typeface="Calibri" pitchFamily="34" charset="-120"/>
              </a:rPr>
              <a:t>Lessons 1–9 close out the extended list: Agent, Model, Memory, Skill, Hook,</a:t>
            </a:r>
            <a:endParaRPr lang="en-US" sz="1400" dirty="0"/>
          </a:p>
          <a:p>
            <a:pPr algn="ctr" indent="0" marL="0">
              <a:lnSpc>
                <a:spcPct val="130000"/>
              </a:lnSpc>
              <a:buNone/>
            </a:pPr>
            <a:r>
              <a:rPr lang="en-US" sz="1400" i="1" dirty="0">
                <a:solidFill>
                  <a:srgbClr val="1E3A5F"/>
                </a:solidFill>
                <a:latin typeface="Calibri" pitchFamily="34" charset="0"/>
                <a:ea typeface="Calibri" pitchFamily="34" charset="-122"/>
                <a:cs typeface="Calibri" pitchFamily="34" charset="-120"/>
              </a:rPr>
              <a:t>Workflow, JSON, Python, Prompt.</a:t>
            </a:r>
            <a:endParaRPr lang="en-US" sz="1400" dirty="0"/>
          </a:p>
        </p:txBody>
      </p:sp>
      <p:sp>
        <p:nvSpPr>
          <p:cNvPr id="18" name="Text 16"/>
          <p:cNvSpPr/>
          <p:nvPr/>
        </p:nvSpPr>
        <p:spPr>
          <a:xfrm>
            <a:off x="10607040" y="6537960"/>
            <a:ext cx="1371600" cy="274320"/>
          </a:xfrm>
          <a:prstGeom prst="rect">
            <a:avLst/>
          </a:prstGeom>
          <a:noFill/>
          <a:ln/>
        </p:spPr>
        <p:txBody>
          <a:bodyPr wrap="square" rtlCol="0" anchor="ctr"/>
          <a:lstStyle/>
          <a:p>
            <a:pPr algn="r" indent="0" marL="0">
              <a:buNone/>
            </a:pPr>
            <a:r>
              <a:rPr lang="en-US" sz="1000" dirty="0">
                <a:solidFill>
                  <a:srgbClr val="9AA5AE"/>
                </a:solidFill>
                <a:latin typeface="Calibri" pitchFamily="34" charset="0"/>
                <a:ea typeface="Calibri" pitchFamily="34" charset="-122"/>
                <a:cs typeface="Calibri" pitchFamily="34" charset="-120"/>
              </a:rPr>
              <a:t>09 · 7/7</a:t>
            </a:r>
            <a:endParaRPr 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7</Slides>
  <Notes>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7</vt:i4>
      </vt:variant>
    </vt:vector>
  </HeadingPairs>
  <TitlesOfParts>
    <vt:vector size="10" baseType="lpstr">
      <vt:lpstr>Arial</vt:lpstr>
      <vt:lpstr>Calibri</vt:lpstr>
      <vt:lpstr>Office Theme</vt:lpstr>
      <vt:lpstr>Slide 1</vt:lpstr>
      <vt:lpstr>Slide 2</vt:lpstr>
      <vt:lpstr>Slide 3</vt:lpstr>
      <vt:lpstr>Slide 4</vt:lpstr>
      <vt:lpstr>Slide 5</vt:lpstr>
      <vt:lpstr>Slide 6</vt:lpstr>
      <vt:lpstr>Slide 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2026-07-18T04:34:40Z</dcterms:created>
  <dcterms:modified xsi:type="dcterms:W3CDTF">2026-07-18T04:34:40Z</dcterms:modified>
</cp:coreProperties>
</file>