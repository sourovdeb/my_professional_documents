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 asked a chatbot a question, gotten a perfect answer... and then had to go do all the work yourself anyway? That gap between answering and doing is exactly what the word 'agent' fixes. Let's break it down in plain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 asked a chatbot a question, gotten a perfect answer... and then had to go do all the work yourself anyway? That gap — between answering and doing — is exactly what the word 'agent' fixes. Let's break it down in plain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model is the part of AI that thinks. Give it a question, it gives you an answer — like typing into a search bar, or running spell-check in Word. Smart, but it can't act. It has no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agent takes that same brain and gives it hands: a toolbox of things it's allowed to use — a web browser, your email, a calendar, a document. You give it a goal instead of a question, and it figures out the steps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trick that makes it work: an agent runs in a loop. It thinks of the next step, acts on it, checks whether that worked, and repeats — until the goal is actually done, not just described.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difference is simple: ask a model a question, you get an answer back. Give an agent a goal, and it goes off, plans the steps, and comes back with the task actually finished.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see this exact split in a real product: Mistral Studio. It's a platform for building AI systems, and it literally keeps 'Models' and 'Agents' as two separate building blocks in its catalog. A Model there is just the reasoning engine. An Agent wraps that model with instructions and tools — web search, code execution, a document library — so it can plan and act on its own. Studio even lets agents hand work off to other agents inside a workflow that remembers where it left off if something fails. Same brain. Very different job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next time you hear 'AI agent,' don't picture something mysterious. Picture the intern who used to just answer your questions, now handed a laptop, a toolbox, and a to-do list — going off to actually finish the task and reporting back when it's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time: how does an agent remember what happened five minutes ago? That's 'memory' — see you in Lesson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F3C7E"/>
        </a:solidFill>
      </p:bgPr>
    </p:bg>
    <p:spTree>
      <p:nvGrpSpPr>
        <p:cNvPr id="1" name=""/>
        <p:cNvGrpSpPr/>
        <p:nvPr/>
      </p:nvGrpSpPr>
      <p:grpSpPr>
        <a:xfrm>
          <a:off x="0" y="0"/>
          <a:ext cx="0" cy="0"/>
          <a:chOff x="0" y="0"/>
          <a:chExt cx="0" cy="0"/>
        </a:xfrm>
      </p:grpSpPr>
      <p:sp>
        <p:nvSpPr>
          <p:cNvPr id="2" name="Shape 0"/>
          <p:cNvSpPr/>
          <p:nvPr/>
        </p:nvSpPr>
        <p:spPr>
          <a:xfrm>
            <a:off x="9692640" y="-1097280"/>
            <a:ext cx="3840480" cy="3840480"/>
          </a:xfrm>
          <a:prstGeom prst="ellipse">
            <a:avLst/>
          </a:prstGeom>
          <a:solidFill>
            <a:srgbClr val="F96167">
              <a:alpha val="30000"/>
            </a:srgbClr>
          </a:solidFill>
          <a:ln/>
        </p:spPr>
      </p:sp>
      <p:sp>
        <p:nvSpPr>
          <p:cNvPr id="3" name="Shape 1"/>
          <p:cNvSpPr/>
          <p:nvPr/>
        </p:nvSpPr>
        <p:spPr>
          <a:xfrm>
            <a:off x="-1371600" y="4937760"/>
            <a:ext cx="3291840" cy="3291840"/>
          </a:xfrm>
          <a:prstGeom prst="ellipse">
            <a:avLst/>
          </a:prstGeom>
          <a:solidFill>
            <a:srgbClr val="F9E795">
              <a:alpha val="25000"/>
            </a:srgbClr>
          </a:solidFill>
          <a:ln/>
        </p:spPr>
      </p:sp>
      <p:sp>
        <p:nvSpPr>
          <p:cNvPr id="4" name="Text 2"/>
          <p:cNvSpPr/>
          <p:nvPr/>
        </p:nvSpPr>
        <p:spPr>
          <a:xfrm>
            <a:off x="822960" y="2103120"/>
            <a:ext cx="10515600"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AI Explained, Plain and Simple</a:t>
            </a:r>
            <a:endParaRPr lang="en-US" sz="4000" dirty="0"/>
          </a:p>
        </p:txBody>
      </p:sp>
      <p:sp>
        <p:nvSpPr>
          <p:cNvPr id="5" name="Text 3"/>
          <p:cNvSpPr/>
          <p:nvPr/>
        </p:nvSpPr>
        <p:spPr>
          <a:xfrm>
            <a:off x="822960" y="3063240"/>
            <a:ext cx="10515600" cy="731520"/>
          </a:xfrm>
          <a:prstGeom prst="rect">
            <a:avLst/>
          </a:prstGeom>
          <a:noFill/>
          <a:ln/>
        </p:spPr>
        <p:txBody>
          <a:bodyPr wrap="square" lIns="0" tIns="0" rIns="0" bIns="0" rtlCol="0" anchor="ctr"/>
          <a:lstStyle/>
          <a:p>
            <a:pPr indent="0" marL="0">
              <a:buNone/>
            </a:pPr>
            <a:r>
              <a:rPr lang="en-US" sz="2400" dirty="0">
                <a:solidFill>
                  <a:srgbClr val="F9E795"/>
                </a:solidFill>
                <a:latin typeface="Calibri" pitchFamily="34" charset="0"/>
                <a:ea typeface="Calibri" pitchFamily="34" charset="-122"/>
                <a:cs typeface="Calibri" pitchFamily="34" charset="-120"/>
              </a:rPr>
              <a:t>Lesson 1: What Is an “Agent”?</a:t>
            </a:r>
            <a:endParaRPr lang="en-US" sz="2400" dirty="0"/>
          </a:p>
        </p:txBody>
      </p:sp>
      <p:sp>
        <p:nvSpPr>
          <p:cNvPr id="6" name="Text 4"/>
          <p:cNvSpPr/>
          <p:nvPr/>
        </p:nvSpPr>
        <p:spPr>
          <a:xfrm>
            <a:off x="822960" y="6035040"/>
            <a:ext cx="10515600" cy="457200"/>
          </a:xfrm>
          <a:prstGeom prst="rect">
            <a:avLst/>
          </a:prstGeom>
          <a:noFill/>
          <a:ln/>
        </p:spPr>
        <p:txBody>
          <a:bodyPr wrap="square" lIns="0" tIns="0" rIns="0" bIns="0" rtlCol="0" anchor="ctr"/>
          <a:lstStyle/>
          <a:p>
            <a:pPr indent="0" marL="0">
              <a:buNone/>
            </a:pPr>
            <a:r>
              <a:rPr lang="en-US" sz="1400" i="1" dirty="0">
                <a:solidFill>
                  <a:srgbClr val="FFFFFF"/>
                </a:solidFill>
                <a:latin typeface="Calibri" pitchFamily="34" charset="0"/>
                <a:ea typeface="Calibri" pitchFamily="34" charset="-122"/>
                <a:cs typeface="Calibri" pitchFamily="34" charset="-120"/>
              </a:rPr>
              <a:t>A 2–5 minute lesson · script, slides, and doodles · Sourov Deb · July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822960"/>
          </a:xfrm>
          <a:prstGeom prst="rect">
            <a:avLst/>
          </a:prstGeom>
          <a:noFill/>
          <a:ln/>
        </p:spPr>
        <p:txBody>
          <a:bodyPr wrap="square" lIns="0" tIns="0" rIns="0" bIns="0" rtlCol="0" anchor="ctr"/>
          <a:lstStyle/>
          <a:p>
            <a:pPr algn="l" indent="0" marL="0">
              <a:buNone/>
            </a:pPr>
            <a:r>
              <a:rPr lang="en-US" sz="3200" b="1" dirty="0">
                <a:solidFill>
                  <a:srgbClr val="2F3C7E"/>
                </a:solidFill>
                <a:latin typeface="Cambria" pitchFamily="34" charset="0"/>
                <a:ea typeface="Cambria" pitchFamily="34" charset="-122"/>
                <a:cs typeface="Cambria" pitchFamily="34" charset="-120"/>
              </a:rPr>
              <a:t>The gap everyone has hit</a:t>
            </a:r>
            <a:endParaRPr lang="en-US" sz="3200" dirty="0"/>
          </a:p>
        </p:txBody>
      </p:sp>
      <p:sp>
        <p:nvSpPr>
          <p:cNvPr id="3" name="Shape 1"/>
          <p:cNvSpPr/>
          <p:nvPr/>
        </p:nvSpPr>
        <p:spPr>
          <a:xfrm>
            <a:off x="914400" y="1554480"/>
            <a:ext cx="3840480" cy="1188720"/>
          </a:xfrm>
          <a:prstGeom prst="roundRect">
            <a:avLst>
              <a:gd name="adj" fmla="val 9231"/>
            </a:avLst>
          </a:prstGeom>
          <a:solidFill>
            <a:srgbClr val="FFFFFF"/>
          </a:solidFill>
          <a:ln w="25400">
            <a:solidFill>
              <a:srgbClr val="2F3C7E"/>
            </a:solidFill>
            <a:prstDash val="solid"/>
          </a:ln>
        </p:spPr>
      </p:sp>
      <p:sp>
        <p:nvSpPr>
          <p:cNvPr id="4" name="Shape 2"/>
          <p:cNvSpPr/>
          <p:nvPr/>
        </p:nvSpPr>
        <p:spPr>
          <a:xfrm>
            <a:off x="1051560" y="2697480"/>
            <a:ext cx="109728" cy="91440"/>
          </a:xfrm>
          <a:prstGeom prst="ellipse">
            <a:avLst/>
          </a:prstGeom>
          <a:solidFill>
            <a:srgbClr val="FFFFFF"/>
          </a:solidFill>
          <a:ln w="25400">
            <a:solidFill>
              <a:srgbClr val="2F3C7E"/>
            </a:solidFill>
            <a:prstDash val="solid"/>
          </a:ln>
        </p:spPr>
      </p:sp>
      <p:sp>
        <p:nvSpPr>
          <p:cNvPr id="5" name="Text 3"/>
          <p:cNvSpPr/>
          <p:nvPr/>
        </p:nvSpPr>
        <p:spPr>
          <a:xfrm>
            <a:off x="1024128" y="1554480"/>
            <a:ext cx="3621024" cy="1188720"/>
          </a:xfrm>
          <a:prstGeom prst="rect">
            <a:avLst/>
          </a:prstGeom>
          <a:noFill/>
          <a:ln/>
        </p:spPr>
        <p:txBody>
          <a:bodyPr wrap="square" lIns="0" tIns="0" rIns="0" bIns="0" rtlCol="0" anchor="ctr"/>
          <a:lstStyle/>
          <a:p>
            <a:pPr algn="ctr" indent="0" marL="0">
              <a:buNone/>
            </a:pPr>
            <a:r>
              <a:rPr lang="en-US" sz="1300" b="1" dirty="0">
                <a:solidFill>
                  <a:srgbClr val="2B2B2B"/>
                </a:solidFill>
                <a:latin typeface="Calibri" pitchFamily="34" charset="0"/>
                <a:ea typeface="Calibri" pitchFamily="34" charset="-122"/>
                <a:cs typeface="Calibri" pitchFamily="34" charset="-120"/>
              </a:rPr>
              <a:t>“Here's exactly what to do:</a:t>
            </a:r>
            <a:endParaRPr lang="en-US" sz="1300" dirty="0"/>
          </a:p>
          <a:p>
            <a:pPr algn="ctr" indent="0" marL="0">
              <a:buNone/>
            </a:pPr>
            <a:r>
              <a:rPr lang="en-US" sz="1300" b="1" dirty="0">
                <a:solidFill>
                  <a:srgbClr val="2B2B2B"/>
                </a:solidFill>
                <a:latin typeface="Calibri" pitchFamily="34" charset="0"/>
                <a:ea typeface="Calibri" pitchFamily="34" charset="-122"/>
                <a:cs typeface="Calibri" pitchFamily="34" charset="-120"/>
              </a:rPr>
              <a:t>1. ... 2. ... 3. ...”</a:t>
            </a:r>
            <a:endParaRPr lang="en-US" sz="1300" dirty="0"/>
          </a:p>
        </p:txBody>
      </p:sp>
      <p:sp>
        <p:nvSpPr>
          <p:cNvPr id="6" name="Shape 4"/>
          <p:cNvSpPr/>
          <p:nvPr/>
        </p:nvSpPr>
        <p:spPr>
          <a:xfrm>
            <a:off x="1536192" y="3017520"/>
            <a:ext cx="768096" cy="768096"/>
          </a:xfrm>
          <a:prstGeom prst="ellipse">
            <a:avLst/>
          </a:prstGeom>
          <a:solidFill>
            <a:srgbClr val="F9E795"/>
          </a:solidFill>
          <a:ln w="28575">
            <a:solidFill>
              <a:srgbClr val="2F3C7E"/>
            </a:solidFill>
            <a:prstDash val="solid"/>
          </a:ln>
        </p:spPr>
      </p:sp>
      <p:sp>
        <p:nvSpPr>
          <p:cNvPr id="7" name="Shape 5"/>
          <p:cNvSpPr/>
          <p:nvPr/>
        </p:nvSpPr>
        <p:spPr>
          <a:xfrm>
            <a:off x="1920240" y="3739896"/>
            <a:ext cx="0" cy="914400"/>
          </a:xfrm>
          <a:prstGeom prst="line">
            <a:avLst/>
          </a:prstGeom>
          <a:noFill/>
          <a:ln w="38100">
            <a:solidFill>
              <a:srgbClr val="2F3C7E"/>
            </a:solidFill>
            <a:prstDash val="solid"/>
          </a:ln>
        </p:spPr>
      </p:sp>
      <p:sp>
        <p:nvSpPr>
          <p:cNvPr id="8" name="Shape 6"/>
          <p:cNvSpPr/>
          <p:nvPr/>
        </p:nvSpPr>
        <p:spPr>
          <a:xfrm flipV="1">
            <a:off x="1417320" y="3877056"/>
            <a:ext cx="502920" cy="320040"/>
          </a:xfrm>
          <a:prstGeom prst="line">
            <a:avLst/>
          </a:prstGeom>
          <a:noFill/>
          <a:ln w="38100">
            <a:solidFill>
              <a:srgbClr val="2F3C7E"/>
            </a:solidFill>
            <a:prstDash val="solid"/>
          </a:ln>
        </p:spPr>
      </p:sp>
      <p:sp>
        <p:nvSpPr>
          <p:cNvPr id="9" name="Shape 7"/>
          <p:cNvSpPr/>
          <p:nvPr/>
        </p:nvSpPr>
        <p:spPr>
          <a:xfrm>
            <a:off x="1920240" y="3877056"/>
            <a:ext cx="502920" cy="320040"/>
          </a:xfrm>
          <a:prstGeom prst="line">
            <a:avLst/>
          </a:prstGeom>
          <a:noFill/>
          <a:ln w="38100">
            <a:solidFill>
              <a:srgbClr val="2F3C7E"/>
            </a:solidFill>
            <a:prstDash val="solid"/>
          </a:ln>
        </p:spPr>
      </p:sp>
      <p:sp>
        <p:nvSpPr>
          <p:cNvPr id="10" name="Shape 8"/>
          <p:cNvSpPr/>
          <p:nvPr/>
        </p:nvSpPr>
        <p:spPr>
          <a:xfrm flipV="1">
            <a:off x="1554480" y="4654296"/>
            <a:ext cx="365760" cy="457200"/>
          </a:xfrm>
          <a:prstGeom prst="line">
            <a:avLst/>
          </a:prstGeom>
          <a:noFill/>
          <a:ln w="38100">
            <a:solidFill>
              <a:srgbClr val="2F3C7E"/>
            </a:solidFill>
            <a:prstDash val="solid"/>
          </a:ln>
        </p:spPr>
      </p:sp>
      <p:sp>
        <p:nvSpPr>
          <p:cNvPr id="11" name="Shape 9"/>
          <p:cNvSpPr/>
          <p:nvPr/>
        </p:nvSpPr>
        <p:spPr>
          <a:xfrm>
            <a:off x="1920240" y="4654296"/>
            <a:ext cx="365760" cy="457200"/>
          </a:xfrm>
          <a:prstGeom prst="line">
            <a:avLst/>
          </a:prstGeom>
          <a:noFill/>
          <a:ln w="38100">
            <a:solidFill>
              <a:srgbClr val="2F3C7E"/>
            </a:solidFill>
            <a:prstDash val="solid"/>
          </a:ln>
        </p:spPr>
      </p:sp>
      <p:sp>
        <p:nvSpPr>
          <p:cNvPr id="12" name="Text 10"/>
          <p:cNvSpPr/>
          <p:nvPr/>
        </p:nvSpPr>
        <p:spPr>
          <a:xfrm>
            <a:off x="548640" y="4846320"/>
            <a:ext cx="2926080" cy="457200"/>
          </a:xfrm>
          <a:prstGeom prst="rect">
            <a:avLst/>
          </a:prstGeom>
          <a:noFill/>
          <a:ln/>
        </p:spPr>
        <p:txBody>
          <a:bodyPr wrap="square" lIns="0" tIns="0" rIns="0" bIns="0" rtlCol="0" anchor="ctr"/>
          <a:lstStyle/>
          <a:p>
            <a:pPr algn="ctr" indent="0" marL="0">
              <a:buNone/>
            </a:pPr>
            <a:r>
              <a:rPr lang="en-US" sz="1500" dirty="0">
                <a:solidFill>
                  <a:srgbClr val="2B2B2B"/>
                </a:solidFill>
                <a:latin typeface="Calibri" pitchFamily="34" charset="0"/>
                <a:ea typeface="Calibri" pitchFamily="34" charset="-122"/>
                <a:cs typeface="Calibri" pitchFamily="34" charset="-120"/>
              </a:rPr>
              <a:t>The AI answers perfectly.</a:t>
            </a:r>
            <a:endParaRPr lang="en-US" sz="1500" dirty="0"/>
          </a:p>
        </p:txBody>
      </p:sp>
      <p:sp>
        <p:nvSpPr>
          <p:cNvPr id="13" name="Shape 11"/>
          <p:cNvSpPr/>
          <p:nvPr/>
        </p:nvSpPr>
        <p:spPr>
          <a:xfrm>
            <a:off x="5120640" y="3291840"/>
            <a:ext cx="1463040" cy="0"/>
          </a:xfrm>
          <a:prstGeom prst="line">
            <a:avLst/>
          </a:prstGeom>
          <a:noFill/>
          <a:ln w="38100">
            <a:solidFill>
              <a:srgbClr val="2F3C7E"/>
            </a:solidFill>
            <a:prstDash val="solid"/>
            <a:tailEnd type="triangle"/>
          </a:ln>
        </p:spPr>
      </p:sp>
      <p:sp>
        <p:nvSpPr>
          <p:cNvPr id="14" name="Text 12"/>
          <p:cNvSpPr/>
          <p:nvPr/>
        </p:nvSpPr>
        <p:spPr>
          <a:xfrm>
            <a:off x="5120640" y="2788920"/>
            <a:ext cx="1463040" cy="365760"/>
          </a:xfrm>
          <a:prstGeom prst="rect">
            <a:avLst/>
          </a:prstGeom>
          <a:noFill/>
          <a:ln/>
        </p:spPr>
        <p:txBody>
          <a:bodyPr wrap="square" lIns="0" tIns="0" rIns="0" bIns="0" rtlCol="0" anchor="ctr"/>
          <a:lstStyle/>
          <a:p>
            <a:pPr algn="ctr" indent="0" marL="0">
              <a:buNone/>
            </a:pPr>
            <a:r>
              <a:rPr lang="en-US" sz="1300" i="1" dirty="0">
                <a:solidFill>
                  <a:srgbClr val="2F3C7E"/>
                </a:solidFill>
                <a:latin typeface="Calibri" pitchFamily="34" charset="0"/>
                <a:ea typeface="Calibri" pitchFamily="34" charset="-122"/>
                <a:cs typeface="Calibri" pitchFamily="34" charset="-120"/>
              </a:rPr>
              <a:t>but then...</a:t>
            </a:r>
            <a:endParaRPr lang="en-US" sz="1300" dirty="0"/>
          </a:p>
        </p:txBody>
      </p:sp>
      <p:sp>
        <p:nvSpPr>
          <p:cNvPr id="15" name="Shape 13"/>
          <p:cNvSpPr/>
          <p:nvPr/>
        </p:nvSpPr>
        <p:spPr>
          <a:xfrm>
            <a:off x="7898587" y="2377440"/>
            <a:ext cx="844906" cy="844906"/>
          </a:xfrm>
          <a:prstGeom prst="ellipse">
            <a:avLst/>
          </a:prstGeom>
          <a:solidFill>
            <a:srgbClr val="F96167"/>
          </a:solidFill>
          <a:ln w="28575">
            <a:solidFill>
              <a:srgbClr val="2F3C7E"/>
            </a:solidFill>
            <a:prstDash val="solid"/>
          </a:ln>
        </p:spPr>
      </p:sp>
      <p:sp>
        <p:nvSpPr>
          <p:cNvPr id="16" name="Shape 14"/>
          <p:cNvSpPr/>
          <p:nvPr/>
        </p:nvSpPr>
        <p:spPr>
          <a:xfrm>
            <a:off x="8321040" y="3172054"/>
            <a:ext cx="0" cy="1005840"/>
          </a:xfrm>
          <a:prstGeom prst="line">
            <a:avLst/>
          </a:prstGeom>
          <a:noFill/>
          <a:ln w="38100">
            <a:solidFill>
              <a:srgbClr val="2F3C7E"/>
            </a:solidFill>
            <a:prstDash val="solid"/>
          </a:ln>
        </p:spPr>
      </p:sp>
      <p:sp>
        <p:nvSpPr>
          <p:cNvPr id="17" name="Shape 15"/>
          <p:cNvSpPr/>
          <p:nvPr/>
        </p:nvSpPr>
        <p:spPr>
          <a:xfrm flipV="1">
            <a:off x="7767828" y="3322930"/>
            <a:ext cx="553212" cy="352044"/>
          </a:xfrm>
          <a:prstGeom prst="line">
            <a:avLst/>
          </a:prstGeom>
          <a:noFill/>
          <a:ln w="38100">
            <a:solidFill>
              <a:srgbClr val="2F3C7E"/>
            </a:solidFill>
            <a:prstDash val="solid"/>
          </a:ln>
        </p:spPr>
      </p:sp>
      <p:sp>
        <p:nvSpPr>
          <p:cNvPr id="18" name="Shape 16"/>
          <p:cNvSpPr/>
          <p:nvPr/>
        </p:nvSpPr>
        <p:spPr>
          <a:xfrm>
            <a:off x="8321040" y="3322930"/>
            <a:ext cx="553212" cy="352044"/>
          </a:xfrm>
          <a:prstGeom prst="line">
            <a:avLst/>
          </a:prstGeom>
          <a:noFill/>
          <a:ln w="38100">
            <a:solidFill>
              <a:srgbClr val="2F3C7E"/>
            </a:solidFill>
            <a:prstDash val="solid"/>
          </a:ln>
        </p:spPr>
      </p:sp>
      <p:sp>
        <p:nvSpPr>
          <p:cNvPr id="19" name="Shape 17"/>
          <p:cNvSpPr/>
          <p:nvPr/>
        </p:nvSpPr>
        <p:spPr>
          <a:xfrm flipV="1">
            <a:off x="7918704" y="4177894"/>
            <a:ext cx="402336" cy="502920"/>
          </a:xfrm>
          <a:prstGeom prst="line">
            <a:avLst/>
          </a:prstGeom>
          <a:noFill/>
          <a:ln w="38100">
            <a:solidFill>
              <a:srgbClr val="2F3C7E"/>
            </a:solidFill>
            <a:prstDash val="solid"/>
          </a:ln>
        </p:spPr>
      </p:sp>
      <p:sp>
        <p:nvSpPr>
          <p:cNvPr id="20" name="Shape 18"/>
          <p:cNvSpPr/>
          <p:nvPr/>
        </p:nvSpPr>
        <p:spPr>
          <a:xfrm>
            <a:off x="8321040" y="4177894"/>
            <a:ext cx="402336" cy="502920"/>
          </a:xfrm>
          <a:prstGeom prst="line">
            <a:avLst/>
          </a:prstGeom>
          <a:noFill/>
          <a:ln w="38100">
            <a:solidFill>
              <a:srgbClr val="2F3C7E"/>
            </a:solidFill>
            <a:prstDash val="solid"/>
          </a:ln>
        </p:spPr>
      </p:sp>
      <p:sp>
        <p:nvSpPr>
          <p:cNvPr id="21" name="Shape 19"/>
          <p:cNvSpPr/>
          <p:nvPr/>
        </p:nvSpPr>
        <p:spPr>
          <a:xfrm>
            <a:off x="7680960" y="3708806"/>
            <a:ext cx="1069848" cy="713232"/>
          </a:xfrm>
          <a:prstGeom prst="rect">
            <a:avLst/>
          </a:prstGeom>
          <a:solidFill>
            <a:srgbClr val="F9E795"/>
          </a:solidFill>
          <a:ln w="25400">
            <a:solidFill>
              <a:srgbClr val="2F3C7E"/>
            </a:solidFill>
            <a:prstDash val="solid"/>
          </a:ln>
        </p:spPr>
      </p:sp>
      <p:sp>
        <p:nvSpPr>
          <p:cNvPr id="22" name="Shape 20"/>
          <p:cNvSpPr/>
          <p:nvPr/>
        </p:nvSpPr>
        <p:spPr>
          <a:xfrm>
            <a:off x="7680960" y="3566160"/>
            <a:ext cx="475488" cy="190195"/>
          </a:xfrm>
          <a:prstGeom prst="rect">
            <a:avLst/>
          </a:prstGeom>
          <a:solidFill>
            <a:srgbClr val="F9E795"/>
          </a:solidFill>
          <a:ln w="25400">
            <a:solidFill>
              <a:srgbClr val="2F3C7E"/>
            </a:solidFill>
            <a:prstDash val="solid"/>
          </a:ln>
        </p:spPr>
      </p:sp>
      <p:sp>
        <p:nvSpPr>
          <p:cNvPr id="23" name="Shape 21"/>
          <p:cNvSpPr/>
          <p:nvPr/>
        </p:nvSpPr>
        <p:spPr>
          <a:xfrm>
            <a:off x="8503920" y="3824021"/>
            <a:ext cx="905256" cy="603504"/>
          </a:xfrm>
          <a:prstGeom prst="rect">
            <a:avLst/>
          </a:prstGeom>
          <a:solidFill>
            <a:srgbClr val="F9E795"/>
          </a:solidFill>
          <a:ln w="25400">
            <a:solidFill>
              <a:srgbClr val="2F3C7E"/>
            </a:solidFill>
            <a:prstDash val="solid"/>
          </a:ln>
        </p:spPr>
      </p:sp>
      <p:sp>
        <p:nvSpPr>
          <p:cNvPr id="24" name="Shape 22"/>
          <p:cNvSpPr/>
          <p:nvPr/>
        </p:nvSpPr>
        <p:spPr>
          <a:xfrm>
            <a:off x="8503920" y="3703320"/>
            <a:ext cx="402336" cy="160934"/>
          </a:xfrm>
          <a:prstGeom prst="rect">
            <a:avLst/>
          </a:prstGeom>
          <a:solidFill>
            <a:srgbClr val="F9E795"/>
          </a:solidFill>
          <a:ln w="25400">
            <a:solidFill>
              <a:srgbClr val="2F3C7E"/>
            </a:solidFill>
            <a:prstDash val="solid"/>
          </a:ln>
        </p:spPr>
      </p:sp>
      <p:sp>
        <p:nvSpPr>
          <p:cNvPr id="25" name="Text 23"/>
          <p:cNvSpPr/>
          <p:nvPr/>
        </p:nvSpPr>
        <p:spPr>
          <a:xfrm>
            <a:off x="6766560" y="4846320"/>
            <a:ext cx="3291840" cy="731520"/>
          </a:xfrm>
          <a:prstGeom prst="rect">
            <a:avLst/>
          </a:prstGeom>
          <a:noFill/>
          <a:ln/>
        </p:spPr>
        <p:txBody>
          <a:bodyPr wrap="square" lIns="0" tIns="0" rIns="0" bIns="0" rtlCol="0" anchor="ctr"/>
          <a:lstStyle/>
          <a:p>
            <a:pPr algn="ctr" indent="0" marL="0">
              <a:buNone/>
            </a:pPr>
            <a:r>
              <a:rPr lang="en-US" sz="1500" dirty="0">
                <a:solidFill>
                  <a:srgbClr val="2B2B2B"/>
                </a:solidFill>
                <a:latin typeface="Calibri" pitchFamily="34" charset="0"/>
                <a:ea typeface="Calibri" pitchFamily="34" charset="-122"/>
                <a:cs typeface="Calibri" pitchFamily="34" charset="-120"/>
              </a:rPr>
              <a:t>You still do all the clicking, typing, and</a:t>
            </a:r>
            <a:endParaRPr lang="en-US" sz="1500" dirty="0"/>
          </a:p>
          <a:p>
            <a:pPr algn="ctr" indent="0" marL="0">
              <a:buNone/>
            </a:pPr>
            <a:r>
              <a:rPr lang="en-US" sz="1500" dirty="0">
                <a:solidFill>
                  <a:srgbClr val="2B2B2B"/>
                </a:solidFill>
                <a:latin typeface="Calibri" pitchFamily="34" charset="0"/>
                <a:ea typeface="Calibri" pitchFamily="34" charset="-122"/>
                <a:cs typeface="Calibri" pitchFamily="34" charset="-120"/>
              </a:rPr>
              <a:t>follow-up — by hand.</a:t>
            </a:r>
            <a:endParaRPr lang="en-US" sz="1500" dirty="0"/>
          </a:p>
        </p:txBody>
      </p:sp>
      <p:sp>
        <p:nvSpPr>
          <p:cNvPr id="26" name="Text 24"/>
          <p:cNvSpPr/>
          <p:nvPr/>
        </p:nvSpPr>
        <p:spPr>
          <a:xfrm>
            <a:off x="548640" y="5989320"/>
            <a:ext cx="11064240" cy="548640"/>
          </a:xfrm>
          <a:prstGeom prst="rect">
            <a:avLst/>
          </a:prstGeom>
          <a:noFill/>
          <a:ln/>
        </p:spPr>
        <p:txBody>
          <a:bodyPr wrap="square" lIns="0" tIns="0" rIns="0" bIns="0" rtlCol="0" anchor="ctr"/>
          <a:lstStyle/>
          <a:p>
            <a:pPr algn="l" indent="0" marL="0">
              <a:buNone/>
            </a:pPr>
            <a:r>
              <a:rPr lang="en-US" sz="1800" i="1" dirty="0">
                <a:solidFill>
                  <a:srgbClr val="2B2B2B"/>
                </a:solidFill>
                <a:latin typeface="Calibri" pitchFamily="34" charset="0"/>
                <a:ea typeface="Calibri" pitchFamily="34" charset="-122"/>
                <a:cs typeface="Calibri" pitchFamily="34" charset="-120"/>
              </a:rPr>
              <a:t>“Agent” is the word for closing that gap — AI that acts, not just answers.</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822960"/>
          </a:xfrm>
          <a:prstGeom prst="rect">
            <a:avLst/>
          </a:prstGeom>
          <a:noFill/>
          <a:ln/>
        </p:spPr>
        <p:txBody>
          <a:bodyPr wrap="square" lIns="0" tIns="0" rIns="0" bIns="0" rtlCol="0" anchor="ctr"/>
          <a:lstStyle/>
          <a:p>
            <a:pPr algn="l" indent="0" marL="0">
              <a:buNone/>
            </a:pPr>
            <a:r>
              <a:rPr lang="en-US" sz="3200" b="1" dirty="0">
                <a:solidFill>
                  <a:srgbClr val="2F3C7E"/>
                </a:solidFill>
                <a:latin typeface="Cambria" pitchFamily="34" charset="0"/>
                <a:ea typeface="Cambria" pitchFamily="34" charset="-122"/>
                <a:cs typeface="Cambria" pitchFamily="34" charset="-120"/>
              </a:rPr>
              <a:t>A MODEL: a brain that only answers</a:t>
            </a:r>
            <a:endParaRPr lang="en-US" sz="3200" dirty="0"/>
          </a:p>
        </p:txBody>
      </p:sp>
      <p:sp>
        <p:nvSpPr>
          <p:cNvPr id="3" name="Shape 1"/>
          <p:cNvSpPr/>
          <p:nvPr/>
        </p:nvSpPr>
        <p:spPr>
          <a:xfrm>
            <a:off x="2286000" y="1463040"/>
            <a:ext cx="1280160" cy="256032"/>
          </a:xfrm>
          <a:prstGeom prst="roundRect">
            <a:avLst>
              <a:gd name="adj" fmla="val 17857"/>
            </a:avLst>
          </a:prstGeom>
          <a:solidFill>
            <a:srgbClr val="2F3C7E"/>
          </a:solidFill>
          <a:ln/>
        </p:spPr>
      </p:sp>
      <p:sp>
        <p:nvSpPr>
          <p:cNvPr id="4" name="Shape 2"/>
          <p:cNvSpPr/>
          <p:nvPr/>
        </p:nvSpPr>
        <p:spPr>
          <a:xfrm>
            <a:off x="2011680" y="1691640"/>
            <a:ext cx="1828800" cy="2194560"/>
          </a:xfrm>
          <a:prstGeom prst="roundRect">
            <a:avLst>
              <a:gd name="adj" fmla="val 9000"/>
            </a:avLst>
          </a:prstGeom>
          <a:solidFill>
            <a:srgbClr val="FFFFFF">
              <a:alpha val="85000"/>
            </a:srgbClr>
          </a:solidFill>
          <a:ln w="38100">
            <a:solidFill>
              <a:srgbClr val="2F3C7E"/>
            </a:solidFill>
            <a:prstDash val="solid"/>
          </a:ln>
        </p:spPr>
      </p:sp>
      <p:sp>
        <p:nvSpPr>
          <p:cNvPr id="5" name="Shape 3"/>
          <p:cNvSpPr/>
          <p:nvPr/>
        </p:nvSpPr>
        <p:spPr>
          <a:xfrm>
            <a:off x="2229993" y="2130552"/>
            <a:ext cx="720090" cy="576072"/>
          </a:xfrm>
          <a:prstGeom prst="ellipse">
            <a:avLst/>
          </a:prstGeom>
          <a:solidFill>
            <a:srgbClr val="F9E795"/>
          </a:solidFill>
          <a:ln w="28575">
            <a:solidFill>
              <a:srgbClr val="2F3C7E"/>
            </a:solidFill>
            <a:prstDash val="solid"/>
          </a:ln>
        </p:spPr>
      </p:sp>
      <p:sp>
        <p:nvSpPr>
          <p:cNvPr id="6" name="Shape 4"/>
          <p:cNvSpPr/>
          <p:nvPr/>
        </p:nvSpPr>
        <p:spPr>
          <a:xfrm>
            <a:off x="2902077" y="2130552"/>
            <a:ext cx="720090" cy="576072"/>
          </a:xfrm>
          <a:prstGeom prst="ellipse">
            <a:avLst/>
          </a:prstGeom>
          <a:solidFill>
            <a:srgbClr val="F9E795"/>
          </a:solidFill>
          <a:ln w="28575">
            <a:solidFill>
              <a:srgbClr val="2F3C7E"/>
            </a:solidFill>
            <a:prstDash val="solid"/>
          </a:ln>
        </p:spPr>
      </p:sp>
      <p:sp>
        <p:nvSpPr>
          <p:cNvPr id="7" name="Shape 5"/>
          <p:cNvSpPr/>
          <p:nvPr/>
        </p:nvSpPr>
        <p:spPr>
          <a:xfrm>
            <a:off x="2398014" y="2394585"/>
            <a:ext cx="1056132" cy="528066"/>
          </a:xfrm>
          <a:prstGeom prst="ellipse">
            <a:avLst/>
          </a:prstGeom>
          <a:solidFill>
            <a:srgbClr val="F9E795"/>
          </a:solidFill>
          <a:ln w="28575">
            <a:solidFill>
              <a:srgbClr val="2F3C7E"/>
            </a:solidFill>
            <a:prstDash val="solid"/>
          </a:ln>
        </p:spPr>
      </p:sp>
      <p:sp>
        <p:nvSpPr>
          <p:cNvPr id="8" name="Shape 6"/>
          <p:cNvSpPr/>
          <p:nvPr/>
        </p:nvSpPr>
        <p:spPr>
          <a:xfrm>
            <a:off x="4206240" y="1737360"/>
            <a:ext cx="2377440" cy="914400"/>
          </a:xfrm>
          <a:prstGeom prst="roundRect">
            <a:avLst>
              <a:gd name="adj" fmla="val 12000"/>
            </a:avLst>
          </a:prstGeom>
          <a:solidFill>
            <a:srgbClr val="FFFFFF"/>
          </a:solidFill>
          <a:ln w="25400">
            <a:solidFill>
              <a:srgbClr val="2F3C7E"/>
            </a:solidFill>
            <a:prstDash val="solid"/>
          </a:ln>
        </p:spPr>
      </p:sp>
      <p:sp>
        <p:nvSpPr>
          <p:cNvPr id="9" name="Shape 7"/>
          <p:cNvSpPr/>
          <p:nvPr/>
        </p:nvSpPr>
        <p:spPr>
          <a:xfrm>
            <a:off x="4343400" y="2606040"/>
            <a:ext cx="109728" cy="91440"/>
          </a:xfrm>
          <a:prstGeom prst="ellipse">
            <a:avLst/>
          </a:prstGeom>
          <a:solidFill>
            <a:srgbClr val="FFFFFF"/>
          </a:solidFill>
          <a:ln w="25400">
            <a:solidFill>
              <a:srgbClr val="2F3C7E"/>
            </a:solidFill>
            <a:prstDash val="solid"/>
          </a:ln>
        </p:spPr>
      </p:sp>
      <p:sp>
        <p:nvSpPr>
          <p:cNvPr id="10" name="Text 8"/>
          <p:cNvSpPr/>
          <p:nvPr/>
        </p:nvSpPr>
        <p:spPr>
          <a:xfrm>
            <a:off x="4315968" y="1737360"/>
            <a:ext cx="2157984" cy="914400"/>
          </a:xfrm>
          <a:prstGeom prst="rect">
            <a:avLst/>
          </a:prstGeom>
          <a:noFill/>
          <a:ln/>
        </p:spPr>
        <p:txBody>
          <a:bodyPr wrap="square" lIns="0" tIns="0" rIns="0" bIns="0" rtlCol="0" anchor="ctr"/>
          <a:lstStyle/>
          <a:p>
            <a:pPr algn="ctr" indent="0" marL="0">
              <a:buNone/>
            </a:pPr>
            <a:r>
              <a:rPr lang="en-US" sz="1300" dirty="0">
                <a:solidFill>
                  <a:srgbClr val="2B2B2B"/>
                </a:solidFill>
                <a:latin typeface="Calibri" pitchFamily="34" charset="0"/>
                <a:ea typeface="Calibri" pitchFamily="34" charset="-122"/>
                <a:cs typeface="Calibri" pitchFamily="34" charset="-120"/>
              </a:rPr>
              <a:t>“The answer is 42.”</a:t>
            </a:r>
            <a:endParaRPr lang="en-US" sz="1300" dirty="0"/>
          </a:p>
        </p:txBody>
      </p:sp>
      <p:sp>
        <p:nvSpPr>
          <p:cNvPr id="11" name="Shape 9"/>
          <p:cNvSpPr/>
          <p:nvPr/>
        </p:nvSpPr>
        <p:spPr>
          <a:xfrm>
            <a:off x="1828800" y="3794760"/>
            <a:ext cx="2194560" cy="502920"/>
          </a:xfrm>
          <a:prstGeom prst="roundRect">
            <a:avLst>
              <a:gd name="adj" fmla="val 50909"/>
            </a:avLst>
          </a:prstGeom>
          <a:solidFill>
            <a:srgbClr val="2F3C7E"/>
          </a:solidFill>
          <a:ln/>
        </p:spPr>
      </p:sp>
      <p:sp>
        <p:nvSpPr>
          <p:cNvPr id="12" name="Text 10"/>
          <p:cNvSpPr/>
          <p:nvPr/>
        </p:nvSpPr>
        <p:spPr>
          <a:xfrm>
            <a:off x="1828800" y="3794760"/>
            <a:ext cx="21945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MODEL</a:t>
            </a:r>
            <a:endParaRPr lang="en-US" sz="1800" dirty="0"/>
          </a:p>
        </p:txBody>
      </p:sp>
      <p:sp>
        <p:nvSpPr>
          <p:cNvPr id="13" name="Text 11"/>
          <p:cNvSpPr/>
          <p:nvPr/>
        </p:nvSpPr>
        <p:spPr>
          <a:xfrm>
            <a:off x="6949440" y="1463040"/>
            <a:ext cx="4663440" cy="457200"/>
          </a:xfrm>
          <a:prstGeom prst="rect">
            <a:avLst/>
          </a:prstGeom>
          <a:noFill/>
          <a:ln/>
        </p:spPr>
        <p:txBody>
          <a:bodyPr wrap="square" lIns="0" tIns="0" rIns="0" bIns="0" rtlCol="0" anchor="ctr"/>
          <a:lstStyle/>
          <a:p>
            <a:pPr indent="0" marL="0">
              <a:buNone/>
            </a:pPr>
            <a:r>
              <a:rPr lang="en-US" sz="1800" b="1" dirty="0">
                <a:solidFill>
                  <a:srgbClr val="2F3C7E"/>
                </a:solidFill>
                <a:latin typeface="Calibri" pitchFamily="34" charset="0"/>
                <a:ea typeface="Calibri" pitchFamily="34" charset="-122"/>
                <a:cs typeface="Calibri" pitchFamily="34" charset="-120"/>
              </a:rPr>
              <a:t>Like Word's spell-check:</a:t>
            </a:r>
            <a:endParaRPr lang="en-US" sz="1800" dirty="0"/>
          </a:p>
        </p:txBody>
      </p:sp>
      <p:sp>
        <p:nvSpPr>
          <p:cNvPr id="14" name="Text 12"/>
          <p:cNvSpPr/>
          <p:nvPr/>
        </p:nvSpPr>
        <p:spPr>
          <a:xfrm>
            <a:off x="6949440" y="1965960"/>
            <a:ext cx="4663440" cy="146304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it looks at what you typed and answers ONE question — “is this right?” — and never touches anything else on your computer.</a:t>
            </a:r>
            <a:endParaRPr lang="en-US" sz="1600" dirty="0"/>
          </a:p>
        </p:txBody>
      </p:sp>
      <p:sp>
        <p:nvSpPr>
          <p:cNvPr id="15" name="Text 13"/>
          <p:cNvSpPr/>
          <p:nvPr/>
        </p:nvSpPr>
        <p:spPr>
          <a:xfrm>
            <a:off x="548640" y="5989320"/>
            <a:ext cx="11064240" cy="548640"/>
          </a:xfrm>
          <a:prstGeom prst="rect">
            <a:avLst/>
          </a:prstGeom>
          <a:noFill/>
          <a:ln/>
        </p:spPr>
        <p:txBody>
          <a:bodyPr wrap="square" lIns="0" tIns="0" rIns="0" bIns="0" rtlCol="0" anchor="ctr"/>
          <a:lstStyle/>
          <a:p>
            <a:pPr algn="l" indent="0" marL="0">
              <a:buNone/>
            </a:pPr>
            <a:r>
              <a:rPr lang="en-US" sz="1800" i="1" dirty="0">
                <a:solidFill>
                  <a:srgbClr val="2B2B2B"/>
                </a:solidFill>
                <a:latin typeface="Calibri" pitchFamily="34" charset="0"/>
                <a:ea typeface="Calibri" pitchFamily="34" charset="-122"/>
                <a:cs typeface="Calibri" pitchFamily="34" charset="-120"/>
              </a:rPr>
              <a:t>A MODEL only thinks and answers. It has no hands — it can't act.</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822960"/>
          </a:xfrm>
          <a:prstGeom prst="rect">
            <a:avLst/>
          </a:prstGeom>
          <a:noFill/>
          <a:ln/>
        </p:spPr>
        <p:txBody>
          <a:bodyPr wrap="square" lIns="0" tIns="0" rIns="0" bIns="0" rtlCol="0" anchor="ctr"/>
          <a:lstStyle/>
          <a:p>
            <a:pPr algn="l" indent="0" marL="0">
              <a:buNone/>
            </a:pPr>
            <a:r>
              <a:rPr lang="en-US" sz="3200" b="1" dirty="0">
                <a:solidFill>
                  <a:srgbClr val="2F3C7E"/>
                </a:solidFill>
                <a:latin typeface="Cambria" pitchFamily="34" charset="0"/>
                <a:ea typeface="Cambria" pitchFamily="34" charset="-122"/>
                <a:cs typeface="Cambria" pitchFamily="34" charset="-120"/>
              </a:rPr>
              <a:t>An AGENT: that brain, given hands</a:t>
            </a:r>
            <a:endParaRPr lang="en-US" sz="3200" dirty="0"/>
          </a:p>
        </p:txBody>
      </p:sp>
      <p:sp>
        <p:nvSpPr>
          <p:cNvPr id="3" name="Shape 1"/>
          <p:cNvSpPr/>
          <p:nvPr/>
        </p:nvSpPr>
        <p:spPr>
          <a:xfrm>
            <a:off x="2392985" y="1371600"/>
            <a:ext cx="883310" cy="883310"/>
          </a:xfrm>
          <a:prstGeom prst="ellipse">
            <a:avLst/>
          </a:prstGeom>
          <a:solidFill>
            <a:srgbClr val="F9E795"/>
          </a:solidFill>
          <a:ln w="28575">
            <a:solidFill>
              <a:srgbClr val="2F3C7E"/>
            </a:solidFill>
            <a:prstDash val="solid"/>
          </a:ln>
        </p:spPr>
      </p:sp>
      <p:sp>
        <p:nvSpPr>
          <p:cNvPr id="4" name="Shape 2"/>
          <p:cNvSpPr/>
          <p:nvPr/>
        </p:nvSpPr>
        <p:spPr>
          <a:xfrm>
            <a:off x="2834640" y="2202332"/>
            <a:ext cx="0" cy="1051560"/>
          </a:xfrm>
          <a:prstGeom prst="line">
            <a:avLst/>
          </a:prstGeom>
          <a:noFill/>
          <a:ln w="38100">
            <a:solidFill>
              <a:srgbClr val="2F3C7E"/>
            </a:solidFill>
            <a:prstDash val="solid"/>
          </a:ln>
        </p:spPr>
      </p:sp>
      <p:sp>
        <p:nvSpPr>
          <p:cNvPr id="5" name="Shape 3"/>
          <p:cNvSpPr/>
          <p:nvPr/>
        </p:nvSpPr>
        <p:spPr>
          <a:xfrm flipV="1">
            <a:off x="2256282" y="2360066"/>
            <a:ext cx="578358" cy="368046"/>
          </a:xfrm>
          <a:prstGeom prst="line">
            <a:avLst/>
          </a:prstGeom>
          <a:noFill/>
          <a:ln w="38100">
            <a:solidFill>
              <a:srgbClr val="2F3C7E"/>
            </a:solidFill>
            <a:prstDash val="solid"/>
          </a:ln>
        </p:spPr>
      </p:sp>
      <p:sp>
        <p:nvSpPr>
          <p:cNvPr id="6" name="Shape 4"/>
          <p:cNvSpPr/>
          <p:nvPr/>
        </p:nvSpPr>
        <p:spPr>
          <a:xfrm>
            <a:off x="2834640" y="2360066"/>
            <a:ext cx="578358" cy="368046"/>
          </a:xfrm>
          <a:prstGeom prst="line">
            <a:avLst/>
          </a:prstGeom>
          <a:noFill/>
          <a:ln w="38100">
            <a:solidFill>
              <a:srgbClr val="2F3C7E"/>
            </a:solidFill>
            <a:prstDash val="solid"/>
          </a:ln>
        </p:spPr>
      </p:sp>
      <p:sp>
        <p:nvSpPr>
          <p:cNvPr id="7" name="Shape 5"/>
          <p:cNvSpPr/>
          <p:nvPr/>
        </p:nvSpPr>
        <p:spPr>
          <a:xfrm flipV="1">
            <a:off x="2414016" y="3253892"/>
            <a:ext cx="420624" cy="525780"/>
          </a:xfrm>
          <a:prstGeom prst="line">
            <a:avLst/>
          </a:prstGeom>
          <a:noFill/>
          <a:ln w="38100">
            <a:solidFill>
              <a:srgbClr val="2F3C7E"/>
            </a:solidFill>
            <a:prstDash val="solid"/>
          </a:ln>
        </p:spPr>
      </p:sp>
      <p:sp>
        <p:nvSpPr>
          <p:cNvPr id="8" name="Shape 6"/>
          <p:cNvSpPr/>
          <p:nvPr/>
        </p:nvSpPr>
        <p:spPr>
          <a:xfrm>
            <a:off x="2834640" y="3253892"/>
            <a:ext cx="420624" cy="525780"/>
          </a:xfrm>
          <a:prstGeom prst="line">
            <a:avLst/>
          </a:prstGeom>
          <a:noFill/>
          <a:ln w="38100">
            <a:solidFill>
              <a:srgbClr val="2F3C7E"/>
            </a:solidFill>
            <a:prstDash val="solid"/>
          </a:ln>
        </p:spPr>
      </p:sp>
      <p:sp>
        <p:nvSpPr>
          <p:cNvPr id="9" name="Shape 7"/>
          <p:cNvSpPr/>
          <p:nvPr/>
        </p:nvSpPr>
        <p:spPr>
          <a:xfrm>
            <a:off x="2357323" y="1549908"/>
            <a:ext cx="493776" cy="395021"/>
          </a:xfrm>
          <a:prstGeom prst="ellipse">
            <a:avLst/>
          </a:prstGeom>
          <a:solidFill>
            <a:srgbClr val="F9E795"/>
          </a:solidFill>
          <a:ln w="28575">
            <a:solidFill>
              <a:srgbClr val="2F3C7E"/>
            </a:solidFill>
            <a:prstDash val="solid"/>
          </a:ln>
        </p:spPr>
      </p:sp>
      <p:sp>
        <p:nvSpPr>
          <p:cNvPr id="10" name="Shape 8"/>
          <p:cNvSpPr/>
          <p:nvPr/>
        </p:nvSpPr>
        <p:spPr>
          <a:xfrm>
            <a:off x="2818181" y="1549908"/>
            <a:ext cx="493776" cy="395021"/>
          </a:xfrm>
          <a:prstGeom prst="ellipse">
            <a:avLst/>
          </a:prstGeom>
          <a:solidFill>
            <a:srgbClr val="F9E795"/>
          </a:solidFill>
          <a:ln w="28575">
            <a:solidFill>
              <a:srgbClr val="2F3C7E"/>
            </a:solidFill>
            <a:prstDash val="solid"/>
          </a:ln>
        </p:spPr>
      </p:sp>
      <p:sp>
        <p:nvSpPr>
          <p:cNvPr id="11" name="Shape 9"/>
          <p:cNvSpPr/>
          <p:nvPr/>
        </p:nvSpPr>
        <p:spPr>
          <a:xfrm>
            <a:off x="2472538" y="1730959"/>
            <a:ext cx="724205" cy="362102"/>
          </a:xfrm>
          <a:prstGeom prst="ellipse">
            <a:avLst/>
          </a:prstGeom>
          <a:solidFill>
            <a:srgbClr val="F9E795"/>
          </a:solidFill>
          <a:ln w="28575">
            <a:solidFill>
              <a:srgbClr val="2F3C7E"/>
            </a:solidFill>
            <a:prstDash val="solid"/>
          </a:ln>
        </p:spPr>
      </p:sp>
      <p:sp>
        <p:nvSpPr>
          <p:cNvPr id="12" name="Shape 10"/>
          <p:cNvSpPr/>
          <p:nvPr/>
        </p:nvSpPr>
        <p:spPr>
          <a:xfrm>
            <a:off x="2011680" y="3756812"/>
            <a:ext cx="502920" cy="384048"/>
          </a:xfrm>
          <a:prstGeom prst="roundRect">
            <a:avLst>
              <a:gd name="adj" fmla="val 9524"/>
            </a:avLst>
          </a:prstGeom>
          <a:solidFill>
            <a:srgbClr val="FFFFFF"/>
          </a:solidFill>
          <a:ln w="25400">
            <a:solidFill>
              <a:srgbClr val="2F3C7E"/>
            </a:solidFill>
            <a:prstDash val="solid"/>
          </a:ln>
        </p:spPr>
      </p:sp>
      <p:sp>
        <p:nvSpPr>
          <p:cNvPr id="13" name="Shape 11"/>
          <p:cNvSpPr/>
          <p:nvPr/>
        </p:nvSpPr>
        <p:spPr>
          <a:xfrm>
            <a:off x="2011680" y="3875684"/>
            <a:ext cx="502920" cy="0"/>
          </a:xfrm>
          <a:prstGeom prst="line">
            <a:avLst/>
          </a:prstGeom>
          <a:noFill/>
          <a:ln w="19050">
            <a:solidFill>
              <a:srgbClr val="2F3C7E"/>
            </a:solidFill>
            <a:prstDash val="solid"/>
          </a:ln>
        </p:spPr>
      </p:sp>
      <p:sp>
        <p:nvSpPr>
          <p:cNvPr id="14" name="Shape 12"/>
          <p:cNvSpPr/>
          <p:nvPr/>
        </p:nvSpPr>
        <p:spPr>
          <a:xfrm>
            <a:off x="2606040" y="3756812"/>
            <a:ext cx="502920" cy="384048"/>
          </a:xfrm>
          <a:prstGeom prst="rect">
            <a:avLst/>
          </a:prstGeom>
          <a:solidFill>
            <a:srgbClr val="FFFFFF"/>
          </a:solidFill>
          <a:ln w="25400">
            <a:solidFill>
              <a:srgbClr val="2F3C7E"/>
            </a:solidFill>
            <a:prstDash val="solid"/>
          </a:ln>
        </p:spPr>
      </p:sp>
      <p:sp>
        <p:nvSpPr>
          <p:cNvPr id="15" name="Shape 13"/>
          <p:cNvSpPr/>
          <p:nvPr/>
        </p:nvSpPr>
        <p:spPr>
          <a:xfrm>
            <a:off x="2606040" y="3756812"/>
            <a:ext cx="251460" cy="192024"/>
          </a:xfrm>
          <a:prstGeom prst="line">
            <a:avLst/>
          </a:prstGeom>
          <a:noFill/>
          <a:ln w="19050">
            <a:solidFill>
              <a:srgbClr val="2F3C7E"/>
            </a:solidFill>
            <a:prstDash val="solid"/>
          </a:ln>
        </p:spPr>
      </p:sp>
      <p:sp>
        <p:nvSpPr>
          <p:cNvPr id="16" name="Shape 14"/>
          <p:cNvSpPr/>
          <p:nvPr/>
        </p:nvSpPr>
        <p:spPr>
          <a:xfrm flipH="1">
            <a:off x="2857500" y="3756812"/>
            <a:ext cx="251460" cy="192024"/>
          </a:xfrm>
          <a:prstGeom prst="line">
            <a:avLst/>
          </a:prstGeom>
          <a:noFill/>
          <a:ln w="19050">
            <a:solidFill>
              <a:srgbClr val="2F3C7E"/>
            </a:solidFill>
            <a:prstDash val="solid"/>
          </a:ln>
        </p:spPr>
      </p:sp>
      <p:sp>
        <p:nvSpPr>
          <p:cNvPr id="17" name="Shape 15"/>
          <p:cNvSpPr/>
          <p:nvPr/>
        </p:nvSpPr>
        <p:spPr>
          <a:xfrm>
            <a:off x="3200400" y="3756812"/>
            <a:ext cx="502920" cy="384048"/>
          </a:xfrm>
          <a:prstGeom prst="rect">
            <a:avLst/>
          </a:prstGeom>
          <a:solidFill>
            <a:srgbClr val="FFFFFF"/>
          </a:solidFill>
          <a:ln w="25400">
            <a:solidFill>
              <a:srgbClr val="2F3C7E"/>
            </a:solidFill>
            <a:prstDash val="solid"/>
          </a:ln>
        </p:spPr>
      </p:sp>
      <p:sp>
        <p:nvSpPr>
          <p:cNvPr id="18" name="Shape 16"/>
          <p:cNvSpPr/>
          <p:nvPr/>
        </p:nvSpPr>
        <p:spPr>
          <a:xfrm>
            <a:off x="3273552" y="3839108"/>
            <a:ext cx="356616" cy="0"/>
          </a:xfrm>
          <a:prstGeom prst="line">
            <a:avLst/>
          </a:prstGeom>
          <a:noFill/>
          <a:ln w="15875">
            <a:solidFill>
              <a:srgbClr val="2F3C7E"/>
            </a:solidFill>
            <a:prstDash val="solid"/>
          </a:ln>
        </p:spPr>
      </p:sp>
      <p:sp>
        <p:nvSpPr>
          <p:cNvPr id="19" name="Shape 17"/>
          <p:cNvSpPr/>
          <p:nvPr/>
        </p:nvSpPr>
        <p:spPr>
          <a:xfrm>
            <a:off x="3273552" y="3948836"/>
            <a:ext cx="356616" cy="0"/>
          </a:xfrm>
          <a:prstGeom prst="line">
            <a:avLst/>
          </a:prstGeom>
          <a:noFill/>
          <a:ln w="15875">
            <a:solidFill>
              <a:srgbClr val="2F3C7E"/>
            </a:solidFill>
            <a:prstDash val="solid"/>
          </a:ln>
        </p:spPr>
      </p:sp>
      <p:sp>
        <p:nvSpPr>
          <p:cNvPr id="20" name="Shape 18"/>
          <p:cNvSpPr/>
          <p:nvPr/>
        </p:nvSpPr>
        <p:spPr>
          <a:xfrm>
            <a:off x="3273552" y="4058564"/>
            <a:ext cx="356616" cy="0"/>
          </a:xfrm>
          <a:prstGeom prst="line">
            <a:avLst/>
          </a:prstGeom>
          <a:noFill/>
          <a:ln w="15875">
            <a:solidFill>
              <a:srgbClr val="2F3C7E"/>
            </a:solidFill>
            <a:prstDash val="solid"/>
          </a:ln>
        </p:spPr>
      </p:sp>
      <p:sp>
        <p:nvSpPr>
          <p:cNvPr id="21" name="Shape 19"/>
          <p:cNvSpPr/>
          <p:nvPr/>
        </p:nvSpPr>
        <p:spPr>
          <a:xfrm>
            <a:off x="1737360" y="4892040"/>
            <a:ext cx="2194560" cy="502920"/>
          </a:xfrm>
          <a:prstGeom prst="roundRect">
            <a:avLst>
              <a:gd name="adj" fmla="val 50909"/>
            </a:avLst>
          </a:prstGeom>
          <a:solidFill>
            <a:srgbClr val="F96167"/>
          </a:solidFill>
          <a:ln/>
        </p:spPr>
      </p:sp>
      <p:sp>
        <p:nvSpPr>
          <p:cNvPr id="22" name="Text 20"/>
          <p:cNvSpPr/>
          <p:nvPr/>
        </p:nvSpPr>
        <p:spPr>
          <a:xfrm>
            <a:off x="1737360" y="4892040"/>
            <a:ext cx="21945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AGENT</a:t>
            </a:r>
            <a:endParaRPr lang="en-US" sz="1800" dirty="0"/>
          </a:p>
        </p:txBody>
      </p:sp>
      <p:sp>
        <p:nvSpPr>
          <p:cNvPr id="23" name="Text 21"/>
          <p:cNvSpPr/>
          <p:nvPr/>
        </p:nvSpPr>
        <p:spPr>
          <a:xfrm>
            <a:off x="6400800" y="1371600"/>
            <a:ext cx="5212080" cy="457200"/>
          </a:xfrm>
          <a:prstGeom prst="rect">
            <a:avLst/>
          </a:prstGeom>
          <a:noFill/>
          <a:ln/>
        </p:spPr>
        <p:txBody>
          <a:bodyPr wrap="square" lIns="0" tIns="0" rIns="0" bIns="0" rtlCol="0" anchor="ctr"/>
          <a:lstStyle/>
          <a:p>
            <a:pPr indent="0" marL="0">
              <a:buNone/>
            </a:pPr>
            <a:r>
              <a:rPr lang="en-US" sz="1800" b="1" dirty="0">
                <a:solidFill>
                  <a:srgbClr val="2F3C7E"/>
                </a:solidFill>
                <a:latin typeface="Calibri" pitchFamily="34" charset="0"/>
                <a:ea typeface="Calibri" pitchFamily="34" charset="-122"/>
                <a:cs typeface="Calibri" pitchFamily="34" charset="-120"/>
              </a:rPr>
              <a:t>Like an assistant with a laptop open:</a:t>
            </a:r>
            <a:endParaRPr lang="en-US" sz="1800" dirty="0"/>
          </a:p>
        </p:txBody>
      </p:sp>
      <p:sp>
        <p:nvSpPr>
          <p:cNvPr id="24" name="Shape 22"/>
          <p:cNvSpPr/>
          <p:nvPr/>
        </p:nvSpPr>
        <p:spPr>
          <a:xfrm>
            <a:off x="6400800" y="2057400"/>
            <a:ext cx="457200" cy="457200"/>
          </a:xfrm>
          <a:prstGeom prst="ellipse">
            <a:avLst/>
          </a:prstGeom>
          <a:solidFill>
            <a:srgbClr val="2F3C7E"/>
          </a:solidFill>
          <a:ln/>
        </p:spPr>
      </p:sp>
      <p:sp>
        <p:nvSpPr>
          <p:cNvPr id="25" name="Text 23"/>
          <p:cNvSpPr/>
          <p:nvPr/>
        </p:nvSpPr>
        <p:spPr>
          <a:xfrm>
            <a:off x="6400800" y="20574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26" name="Text 24"/>
          <p:cNvSpPr/>
          <p:nvPr/>
        </p:nvSpPr>
        <p:spPr>
          <a:xfrm>
            <a:off x="6995160" y="2011680"/>
            <a:ext cx="2926080" cy="548640"/>
          </a:xfrm>
          <a:prstGeom prst="rect">
            <a:avLst/>
          </a:prstGeom>
          <a:noFill/>
          <a:ln/>
        </p:spPr>
        <p:txBody>
          <a:bodyPr wrap="square" lIns="0" tIns="0" rIns="0" bIns="0" rtlCol="0" anchor="ctr"/>
          <a:lstStyle/>
          <a:p>
            <a:pPr indent="0" marL="0">
              <a:buNone/>
            </a:pPr>
            <a:r>
              <a:rPr lang="en-US" sz="1400" dirty="0">
                <a:solidFill>
                  <a:srgbClr val="2B2B2B"/>
                </a:solidFill>
                <a:latin typeface="Calibri" pitchFamily="34" charset="0"/>
                <a:ea typeface="Calibri" pitchFamily="34" charset="-122"/>
                <a:cs typeface="Calibri" pitchFamily="34" charset="-120"/>
              </a:rPr>
              <a:t>Browser, email, and a checklist are its tools</a:t>
            </a:r>
            <a:endParaRPr lang="en-US" sz="1400" dirty="0"/>
          </a:p>
        </p:txBody>
      </p:sp>
      <p:sp>
        <p:nvSpPr>
          <p:cNvPr id="27" name="Shape 25"/>
          <p:cNvSpPr/>
          <p:nvPr/>
        </p:nvSpPr>
        <p:spPr>
          <a:xfrm>
            <a:off x="6400800" y="2788920"/>
            <a:ext cx="457200" cy="457200"/>
          </a:xfrm>
          <a:prstGeom prst="ellipse">
            <a:avLst/>
          </a:prstGeom>
          <a:solidFill>
            <a:srgbClr val="2F3C7E"/>
          </a:solidFill>
          <a:ln/>
        </p:spPr>
      </p:sp>
      <p:sp>
        <p:nvSpPr>
          <p:cNvPr id="28" name="Text 26"/>
          <p:cNvSpPr/>
          <p:nvPr/>
        </p:nvSpPr>
        <p:spPr>
          <a:xfrm>
            <a:off x="6400800" y="2788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29" name="Text 27"/>
          <p:cNvSpPr/>
          <p:nvPr/>
        </p:nvSpPr>
        <p:spPr>
          <a:xfrm>
            <a:off x="6995160" y="2743200"/>
            <a:ext cx="2926080" cy="548640"/>
          </a:xfrm>
          <a:prstGeom prst="rect">
            <a:avLst/>
          </a:prstGeom>
          <a:noFill/>
          <a:ln/>
        </p:spPr>
        <p:txBody>
          <a:bodyPr wrap="square" lIns="0" tIns="0" rIns="0" bIns="0" rtlCol="0" anchor="ctr"/>
          <a:lstStyle/>
          <a:p>
            <a:pPr indent="0" marL="0">
              <a:buNone/>
            </a:pPr>
            <a:r>
              <a:rPr lang="en-US" sz="1400" dirty="0">
                <a:solidFill>
                  <a:srgbClr val="2B2B2B"/>
                </a:solidFill>
                <a:latin typeface="Calibri" pitchFamily="34" charset="0"/>
                <a:ea typeface="Calibri" pitchFamily="34" charset="-122"/>
                <a:cs typeface="Calibri" pitchFamily="34" charset="-120"/>
              </a:rPr>
              <a:t>You give it a GOAL, not a question</a:t>
            </a:r>
            <a:endParaRPr lang="en-US" sz="1400" dirty="0"/>
          </a:p>
        </p:txBody>
      </p:sp>
      <p:sp>
        <p:nvSpPr>
          <p:cNvPr id="30" name="Shape 28"/>
          <p:cNvSpPr/>
          <p:nvPr/>
        </p:nvSpPr>
        <p:spPr>
          <a:xfrm>
            <a:off x="6400800" y="3520440"/>
            <a:ext cx="457200" cy="457200"/>
          </a:xfrm>
          <a:prstGeom prst="ellipse">
            <a:avLst/>
          </a:prstGeom>
          <a:solidFill>
            <a:srgbClr val="2F3C7E"/>
          </a:solidFill>
          <a:ln/>
        </p:spPr>
      </p:sp>
      <p:sp>
        <p:nvSpPr>
          <p:cNvPr id="31" name="Text 29"/>
          <p:cNvSpPr/>
          <p:nvPr/>
        </p:nvSpPr>
        <p:spPr>
          <a:xfrm>
            <a:off x="6400800"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32" name="Text 30"/>
          <p:cNvSpPr/>
          <p:nvPr/>
        </p:nvSpPr>
        <p:spPr>
          <a:xfrm>
            <a:off x="6995160" y="3474720"/>
            <a:ext cx="2926080" cy="548640"/>
          </a:xfrm>
          <a:prstGeom prst="rect">
            <a:avLst/>
          </a:prstGeom>
          <a:noFill/>
          <a:ln/>
        </p:spPr>
        <p:txBody>
          <a:bodyPr wrap="square" lIns="0" tIns="0" rIns="0" bIns="0" rtlCol="0" anchor="ctr"/>
          <a:lstStyle/>
          <a:p>
            <a:pPr indent="0" marL="0">
              <a:buNone/>
            </a:pPr>
            <a:r>
              <a:rPr lang="en-US" sz="1400" dirty="0">
                <a:solidFill>
                  <a:srgbClr val="2B2B2B"/>
                </a:solidFill>
                <a:latin typeface="Calibri" pitchFamily="34" charset="0"/>
                <a:ea typeface="Calibri" pitchFamily="34" charset="-122"/>
                <a:cs typeface="Calibri" pitchFamily="34" charset="-120"/>
              </a:rPr>
              <a:t>It decides the steps and does them itself</a:t>
            </a:r>
            <a:endParaRPr lang="en-US" sz="1400" dirty="0"/>
          </a:p>
        </p:txBody>
      </p:sp>
      <p:sp>
        <p:nvSpPr>
          <p:cNvPr id="33" name="Text 31"/>
          <p:cNvSpPr/>
          <p:nvPr/>
        </p:nvSpPr>
        <p:spPr>
          <a:xfrm>
            <a:off x="548640" y="5989320"/>
            <a:ext cx="11064240" cy="548640"/>
          </a:xfrm>
          <a:prstGeom prst="rect">
            <a:avLst/>
          </a:prstGeom>
          <a:noFill/>
          <a:ln/>
        </p:spPr>
        <p:txBody>
          <a:bodyPr wrap="square" lIns="0" tIns="0" rIns="0" bIns="0" rtlCol="0" anchor="ctr"/>
          <a:lstStyle/>
          <a:p>
            <a:pPr algn="l" indent="0" marL="0">
              <a:buNone/>
            </a:pPr>
            <a:r>
              <a:rPr lang="en-US" sz="1800" i="1" dirty="0">
                <a:solidFill>
                  <a:srgbClr val="2B2B2B"/>
                </a:solidFill>
                <a:latin typeface="Calibri" pitchFamily="34" charset="0"/>
                <a:ea typeface="Calibri" pitchFamily="34" charset="-122"/>
                <a:cs typeface="Calibri" pitchFamily="34" charset="-120"/>
              </a:rPr>
              <a:t>An AGENT = a model + tools + a goal. It can act, not just answer.</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822960"/>
          </a:xfrm>
          <a:prstGeom prst="rect">
            <a:avLst/>
          </a:prstGeom>
          <a:noFill/>
          <a:ln/>
        </p:spPr>
        <p:txBody>
          <a:bodyPr wrap="square" lIns="0" tIns="0" rIns="0" bIns="0" rtlCol="0" anchor="ctr"/>
          <a:lstStyle/>
          <a:p>
            <a:pPr algn="l" indent="0" marL="0">
              <a:buNone/>
            </a:pPr>
            <a:r>
              <a:rPr lang="en-US" sz="3200" b="1" dirty="0">
                <a:solidFill>
                  <a:srgbClr val="2F3C7E"/>
                </a:solidFill>
                <a:latin typeface="Cambria" pitchFamily="34" charset="0"/>
                <a:ea typeface="Cambria" pitchFamily="34" charset="-122"/>
                <a:cs typeface="Cambria" pitchFamily="34" charset="-120"/>
              </a:rPr>
              <a:t>The trick that makes it work: a loop</a:t>
            </a:r>
            <a:endParaRPr lang="en-US" sz="3200" dirty="0"/>
          </a:p>
        </p:txBody>
      </p:sp>
      <p:sp>
        <p:nvSpPr>
          <p:cNvPr id="3" name="Shape 1"/>
          <p:cNvSpPr/>
          <p:nvPr/>
        </p:nvSpPr>
        <p:spPr>
          <a:xfrm>
            <a:off x="5394960" y="1371600"/>
            <a:ext cx="1371600" cy="914400"/>
          </a:xfrm>
          <a:prstGeom prst="ellipse">
            <a:avLst/>
          </a:prstGeom>
          <a:solidFill>
            <a:srgbClr val="FFFFFF"/>
          </a:solidFill>
          <a:ln w="31750">
            <a:solidFill>
              <a:srgbClr val="2F3C7E"/>
            </a:solidFill>
            <a:prstDash val="solid"/>
          </a:ln>
        </p:spPr>
      </p:sp>
      <p:sp>
        <p:nvSpPr>
          <p:cNvPr id="4" name="Text 2"/>
          <p:cNvSpPr/>
          <p:nvPr/>
        </p:nvSpPr>
        <p:spPr>
          <a:xfrm>
            <a:off x="5394960" y="1371600"/>
            <a:ext cx="1371600" cy="914400"/>
          </a:xfrm>
          <a:prstGeom prst="rect">
            <a:avLst/>
          </a:prstGeom>
          <a:noFill/>
          <a:ln/>
        </p:spPr>
        <p:txBody>
          <a:bodyPr wrap="square" lIns="0" tIns="0" rIns="0" bIns="0" rtlCol="0" anchor="ctr"/>
          <a:lstStyle/>
          <a:p>
            <a:pPr algn="ctr" indent="0" marL="0">
              <a:buNone/>
            </a:pPr>
            <a:r>
              <a:rPr lang="en-US" sz="1500" b="1" dirty="0">
                <a:solidFill>
                  <a:srgbClr val="2F3C7E"/>
                </a:solidFill>
                <a:latin typeface="Calibri" pitchFamily="34" charset="0"/>
                <a:ea typeface="Calibri" pitchFamily="34" charset="-122"/>
                <a:cs typeface="Calibri" pitchFamily="34" charset="-120"/>
              </a:rPr>
              <a:t>THINK</a:t>
            </a:r>
            <a:endParaRPr lang="en-US" sz="1500" dirty="0"/>
          </a:p>
        </p:txBody>
      </p:sp>
      <p:sp>
        <p:nvSpPr>
          <p:cNvPr id="5" name="Shape 3"/>
          <p:cNvSpPr/>
          <p:nvPr/>
        </p:nvSpPr>
        <p:spPr>
          <a:xfrm>
            <a:off x="6899558" y="3977640"/>
            <a:ext cx="1371600" cy="914400"/>
          </a:xfrm>
          <a:prstGeom prst="ellipse">
            <a:avLst/>
          </a:prstGeom>
          <a:solidFill>
            <a:srgbClr val="FFFFFF"/>
          </a:solidFill>
          <a:ln w="31750">
            <a:solidFill>
              <a:srgbClr val="2F3C7E"/>
            </a:solidFill>
            <a:prstDash val="solid"/>
          </a:ln>
        </p:spPr>
      </p:sp>
      <p:sp>
        <p:nvSpPr>
          <p:cNvPr id="6" name="Text 4"/>
          <p:cNvSpPr/>
          <p:nvPr/>
        </p:nvSpPr>
        <p:spPr>
          <a:xfrm>
            <a:off x="6899558" y="3977640"/>
            <a:ext cx="1371600" cy="914400"/>
          </a:xfrm>
          <a:prstGeom prst="rect">
            <a:avLst/>
          </a:prstGeom>
          <a:noFill/>
          <a:ln/>
        </p:spPr>
        <p:txBody>
          <a:bodyPr wrap="square" lIns="0" tIns="0" rIns="0" bIns="0" rtlCol="0" anchor="ctr"/>
          <a:lstStyle/>
          <a:p>
            <a:pPr algn="ctr" indent="0" marL="0">
              <a:buNone/>
            </a:pPr>
            <a:r>
              <a:rPr lang="en-US" sz="1500" b="1" dirty="0">
                <a:solidFill>
                  <a:srgbClr val="2F3C7E"/>
                </a:solidFill>
                <a:latin typeface="Calibri" pitchFamily="34" charset="0"/>
                <a:ea typeface="Calibri" pitchFamily="34" charset="-122"/>
                <a:cs typeface="Calibri" pitchFamily="34" charset="-120"/>
              </a:rPr>
              <a:t>ACT</a:t>
            </a:r>
            <a:endParaRPr lang="en-US" sz="1500" dirty="0"/>
          </a:p>
        </p:txBody>
      </p:sp>
      <p:sp>
        <p:nvSpPr>
          <p:cNvPr id="7" name="Shape 5"/>
          <p:cNvSpPr/>
          <p:nvPr/>
        </p:nvSpPr>
        <p:spPr>
          <a:xfrm>
            <a:off x="3890362" y="3977640"/>
            <a:ext cx="1371600" cy="914400"/>
          </a:xfrm>
          <a:prstGeom prst="ellipse">
            <a:avLst/>
          </a:prstGeom>
          <a:solidFill>
            <a:srgbClr val="FFFFFF"/>
          </a:solidFill>
          <a:ln w="31750">
            <a:solidFill>
              <a:srgbClr val="2F3C7E"/>
            </a:solidFill>
            <a:prstDash val="solid"/>
          </a:ln>
        </p:spPr>
      </p:sp>
      <p:sp>
        <p:nvSpPr>
          <p:cNvPr id="8" name="Text 6"/>
          <p:cNvSpPr/>
          <p:nvPr/>
        </p:nvSpPr>
        <p:spPr>
          <a:xfrm>
            <a:off x="3890362" y="3977640"/>
            <a:ext cx="1371600" cy="914400"/>
          </a:xfrm>
          <a:prstGeom prst="rect">
            <a:avLst/>
          </a:prstGeom>
          <a:noFill/>
          <a:ln/>
        </p:spPr>
        <p:txBody>
          <a:bodyPr wrap="square" lIns="0" tIns="0" rIns="0" bIns="0" rtlCol="0" anchor="ctr"/>
          <a:lstStyle/>
          <a:p>
            <a:pPr algn="ctr" indent="0" marL="0">
              <a:buNone/>
            </a:pPr>
            <a:r>
              <a:rPr lang="en-US" sz="1500" b="1" dirty="0">
                <a:solidFill>
                  <a:srgbClr val="2F3C7E"/>
                </a:solidFill>
                <a:latin typeface="Calibri" pitchFamily="34" charset="0"/>
                <a:ea typeface="Calibri" pitchFamily="34" charset="-122"/>
                <a:cs typeface="Calibri" pitchFamily="34" charset="-120"/>
              </a:rPr>
              <a:t>CHECK</a:t>
            </a:r>
            <a:endParaRPr lang="en-US" sz="1500" dirty="0"/>
          </a:p>
        </p:txBody>
      </p:sp>
      <p:sp>
        <p:nvSpPr>
          <p:cNvPr id="9" name="Shape 7"/>
          <p:cNvSpPr/>
          <p:nvPr/>
        </p:nvSpPr>
        <p:spPr>
          <a:xfrm>
            <a:off x="6080760" y="1828800"/>
            <a:ext cx="1504598" cy="2606040"/>
          </a:xfrm>
          <a:prstGeom prst="line">
            <a:avLst/>
          </a:prstGeom>
          <a:noFill/>
          <a:ln w="31750">
            <a:solidFill>
              <a:srgbClr val="F96167"/>
            </a:solidFill>
            <a:prstDash val="solid"/>
            <a:tailEnd type="triangle"/>
          </a:ln>
        </p:spPr>
      </p:sp>
      <p:sp>
        <p:nvSpPr>
          <p:cNvPr id="10" name="Shape 8"/>
          <p:cNvSpPr/>
          <p:nvPr/>
        </p:nvSpPr>
        <p:spPr>
          <a:xfrm flipH="1">
            <a:off x="4576162" y="4434840"/>
            <a:ext cx="3009196" cy="0"/>
          </a:xfrm>
          <a:prstGeom prst="line">
            <a:avLst/>
          </a:prstGeom>
          <a:noFill/>
          <a:ln w="31750">
            <a:solidFill>
              <a:srgbClr val="F96167"/>
            </a:solidFill>
            <a:prstDash val="solid"/>
            <a:tailEnd type="triangle"/>
          </a:ln>
        </p:spPr>
      </p:sp>
      <p:sp>
        <p:nvSpPr>
          <p:cNvPr id="11" name="Shape 9"/>
          <p:cNvSpPr/>
          <p:nvPr/>
        </p:nvSpPr>
        <p:spPr>
          <a:xfrm flipV="1">
            <a:off x="4576162" y="1828800"/>
            <a:ext cx="1504598" cy="2606040"/>
          </a:xfrm>
          <a:prstGeom prst="line">
            <a:avLst/>
          </a:prstGeom>
          <a:noFill/>
          <a:ln w="31750">
            <a:solidFill>
              <a:srgbClr val="F96167"/>
            </a:solidFill>
            <a:prstDash val="solid"/>
            <a:tailEnd type="triangle"/>
          </a:ln>
        </p:spPr>
      </p:sp>
      <p:sp>
        <p:nvSpPr>
          <p:cNvPr id="12" name="Shape 10"/>
          <p:cNvSpPr/>
          <p:nvPr/>
        </p:nvSpPr>
        <p:spPr>
          <a:xfrm>
            <a:off x="5869534" y="1417320"/>
            <a:ext cx="422453" cy="422453"/>
          </a:xfrm>
          <a:prstGeom prst="ellipse">
            <a:avLst/>
          </a:prstGeom>
          <a:solidFill>
            <a:srgbClr val="F9E795"/>
          </a:solidFill>
          <a:ln w="28575">
            <a:solidFill>
              <a:srgbClr val="2F3C7E"/>
            </a:solidFill>
            <a:prstDash val="solid"/>
          </a:ln>
        </p:spPr>
      </p:sp>
      <p:sp>
        <p:nvSpPr>
          <p:cNvPr id="13" name="Shape 11"/>
          <p:cNvSpPr/>
          <p:nvPr/>
        </p:nvSpPr>
        <p:spPr>
          <a:xfrm>
            <a:off x="6080760" y="1814627"/>
            <a:ext cx="0" cy="502920"/>
          </a:xfrm>
          <a:prstGeom prst="line">
            <a:avLst/>
          </a:prstGeom>
          <a:noFill/>
          <a:ln w="38100">
            <a:solidFill>
              <a:srgbClr val="2F3C7E"/>
            </a:solidFill>
            <a:prstDash val="solid"/>
          </a:ln>
        </p:spPr>
      </p:sp>
      <p:sp>
        <p:nvSpPr>
          <p:cNvPr id="14" name="Shape 12"/>
          <p:cNvSpPr/>
          <p:nvPr/>
        </p:nvSpPr>
        <p:spPr>
          <a:xfrm flipV="1">
            <a:off x="5804154" y="1890065"/>
            <a:ext cx="276606" cy="176022"/>
          </a:xfrm>
          <a:prstGeom prst="line">
            <a:avLst/>
          </a:prstGeom>
          <a:noFill/>
          <a:ln w="38100">
            <a:solidFill>
              <a:srgbClr val="2F3C7E"/>
            </a:solidFill>
            <a:prstDash val="solid"/>
          </a:ln>
        </p:spPr>
      </p:sp>
      <p:sp>
        <p:nvSpPr>
          <p:cNvPr id="15" name="Shape 13"/>
          <p:cNvSpPr/>
          <p:nvPr/>
        </p:nvSpPr>
        <p:spPr>
          <a:xfrm>
            <a:off x="6080760" y="1890065"/>
            <a:ext cx="276606" cy="176022"/>
          </a:xfrm>
          <a:prstGeom prst="line">
            <a:avLst/>
          </a:prstGeom>
          <a:noFill/>
          <a:ln w="38100">
            <a:solidFill>
              <a:srgbClr val="2F3C7E"/>
            </a:solidFill>
            <a:prstDash val="solid"/>
          </a:ln>
        </p:spPr>
      </p:sp>
      <p:sp>
        <p:nvSpPr>
          <p:cNvPr id="16" name="Shape 14"/>
          <p:cNvSpPr/>
          <p:nvPr/>
        </p:nvSpPr>
        <p:spPr>
          <a:xfrm flipV="1">
            <a:off x="5879592" y="2317547"/>
            <a:ext cx="201168" cy="251460"/>
          </a:xfrm>
          <a:prstGeom prst="line">
            <a:avLst/>
          </a:prstGeom>
          <a:noFill/>
          <a:ln w="38100">
            <a:solidFill>
              <a:srgbClr val="2F3C7E"/>
            </a:solidFill>
            <a:prstDash val="solid"/>
          </a:ln>
        </p:spPr>
      </p:sp>
      <p:sp>
        <p:nvSpPr>
          <p:cNvPr id="17" name="Shape 15"/>
          <p:cNvSpPr/>
          <p:nvPr/>
        </p:nvSpPr>
        <p:spPr>
          <a:xfrm>
            <a:off x="6080760" y="2317547"/>
            <a:ext cx="201168" cy="251460"/>
          </a:xfrm>
          <a:prstGeom prst="line">
            <a:avLst/>
          </a:prstGeom>
          <a:noFill/>
          <a:ln w="38100">
            <a:solidFill>
              <a:srgbClr val="2F3C7E"/>
            </a:solidFill>
            <a:prstDash val="solid"/>
          </a:ln>
        </p:spPr>
      </p:sp>
      <p:sp>
        <p:nvSpPr>
          <p:cNvPr id="18" name="Text 16"/>
          <p:cNvSpPr/>
          <p:nvPr/>
        </p:nvSpPr>
        <p:spPr>
          <a:xfrm>
            <a:off x="4023360" y="5577840"/>
            <a:ext cx="4114800" cy="457200"/>
          </a:xfrm>
          <a:prstGeom prst="rect">
            <a:avLst/>
          </a:prstGeom>
          <a:noFill/>
          <a:ln/>
        </p:spPr>
        <p:txBody>
          <a:bodyPr wrap="square" lIns="0" tIns="0" rIns="0" bIns="0" rtlCol="0" anchor="ctr"/>
          <a:lstStyle/>
          <a:p>
            <a:pPr algn="ctr" indent="0" marL="0">
              <a:buNone/>
            </a:pPr>
            <a:r>
              <a:rPr lang="en-US" sz="1400" i="1" dirty="0">
                <a:solidFill>
                  <a:srgbClr val="2B2B2B"/>
                </a:solidFill>
                <a:latin typeface="Calibri" pitchFamily="34" charset="0"/>
                <a:ea typeface="Calibri" pitchFamily="34" charset="-122"/>
                <a:cs typeface="Calibri" pitchFamily="34" charset="-120"/>
              </a:rPr>
              <a:t>keeps going around the loop until the goal is really done</a:t>
            </a:r>
            <a:endParaRPr lang="en-US" sz="1400" dirty="0"/>
          </a:p>
        </p:txBody>
      </p:sp>
      <p:sp>
        <p:nvSpPr>
          <p:cNvPr id="19" name="Text 17"/>
          <p:cNvSpPr/>
          <p:nvPr/>
        </p:nvSpPr>
        <p:spPr>
          <a:xfrm>
            <a:off x="548640" y="5989320"/>
            <a:ext cx="11064240" cy="548640"/>
          </a:xfrm>
          <a:prstGeom prst="rect">
            <a:avLst/>
          </a:prstGeom>
          <a:noFill/>
          <a:ln/>
        </p:spPr>
        <p:txBody>
          <a:bodyPr wrap="square" lIns="0" tIns="0" rIns="0" bIns="0" rtlCol="0" anchor="ctr"/>
          <a:lstStyle/>
          <a:p>
            <a:pPr algn="l" indent="0" marL="0">
              <a:buNone/>
            </a:pPr>
            <a:r>
              <a:rPr lang="en-US" sz="1800" i="1" dirty="0">
                <a:solidFill>
                  <a:srgbClr val="2B2B2B"/>
                </a:solidFill>
                <a:latin typeface="Calibri" pitchFamily="34" charset="0"/>
                <a:ea typeface="Calibri" pitchFamily="34" charset="-122"/>
                <a:cs typeface="Calibri" pitchFamily="34" charset="-120"/>
              </a:rPr>
              <a:t>THINK a step → ACT on it → CHECK if it worked → repeat until finished.</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822960"/>
          </a:xfrm>
          <a:prstGeom prst="rect">
            <a:avLst/>
          </a:prstGeom>
          <a:noFill/>
          <a:ln/>
        </p:spPr>
        <p:txBody>
          <a:bodyPr wrap="square" lIns="0" tIns="0" rIns="0" bIns="0" rtlCol="0" anchor="ctr"/>
          <a:lstStyle/>
          <a:p>
            <a:pPr algn="l" indent="0" marL="0">
              <a:buNone/>
            </a:pPr>
            <a:r>
              <a:rPr lang="en-US" sz="3200" b="1" dirty="0">
                <a:solidFill>
                  <a:srgbClr val="2F3C7E"/>
                </a:solidFill>
                <a:latin typeface="Cambria" pitchFamily="34" charset="0"/>
                <a:ea typeface="Cambria" pitchFamily="34" charset="-122"/>
                <a:cs typeface="Cambria" pitchFamily="34" charset="-120"/>
              </a:rPr>
              <a:t>Ask a question vs. give a goal</a:t>
            </a:r>
            <a:endParaRPr lang="en-US" sz="3200" dirty="0"/>
          </a:p>
        </p:txBody>
      </p:sp>
      <p:sp>
        <p:nvSpPr>
          <p:cNvPr id="3" name="Shape 1"/>
          <p:cNvSpPr/>
          <p:nvPr/>
        </p:nvSpPr>
        <p:spPr>
          <a:xfrm>
            <a:off x="548640" y="1371600"/>
            <a:ext cx="5394960" cy="4572000"/>
          </a:xfrm>
          <a:prstGeom prst="roundRect">
            <a:avLst>
              <a:gd name="adj" fmla="val 2400"/>
            </a:avLst>
          </a:prstGeom>
          <a:solidFill>
            <a:srgbClr val="FFFFFF"/>
          </a:solidFill>
          <a:ln w="25400">
            <a:solidFill>
              <a:srgbClr val="2F3C7E"/>
            </a:solidFill>
            <a:prstDash val="solid"/>
          </a:ln>
        </p:spPr>
      </p:sp>
      <p:sp>
        <p:nvSpPr>
          <p:cNvPr id="4" name="Text 2"/>
          <p:cNvSpPr/>
          <p:nvPr/>
        </p:nvSpPr>
        <p:spPr>
          <a:xfrm>
            <a:off x="548640" y="1554480"/>
            <a:ext cx="5394960" cy="457200"/>
          </a:xfrm>
          <a:prstGeom prst="rect">
            <a:avLst/>
          </a:prstGeom>
          <a:noFill/>
          <a:ln/>
        </p:spPr>
        <p:txBody>
          <a:bodyPr wrap="square" lIns="0" tIns="0" rIns="0" bIns="0" rtlCol="0" anchor="ctr"/>
          <a:lstStyle/>
          <a:p>
            <a:pPr algn="ctr" indent="0" marL="0">
              <a:buNone/>
            </a:pPr>
            <a:r>
              <a:rPr lang="en-US" sz="1800" b="1" dirty="0">
                <a:solidFill>
                  <a:srgbClr val="2F3C7E"/>
                </a:solidFill>
                <a:latin typeface="Calibri" pitchFamily="34" charset="0"/>
                <a:ea typeface="Calibri" pitchFamily="34" charset="-122"/>
                <a:cs typeface="Calibri" pitchFamily="34" charset="-120"/>
              </a:rPr>
              <a:t>ASK A MODEL</a:t>
            </a:r>
            <a:endParaRPr lang="en-US" sz="1800" dirty="0"/>
          </a:p>
        </p:txBody>
      </p:sp>
      <p:sp>
        <p:nvSpPr>
          <p:cNvPr id="5" name="Shape 3"/>
          <p:cNvSpPr/>
          <p:nvPr/>
        </p:nvSpPr>
        <p:spPr>
          <a:xfrm>
            <a:off x="2919679" y="2194560"/>
            <a:ext cx="652882" cy="652882"/>
          </a:xfrm>
          <a:prstGeom prst="ellipse">
            <a:avLst/>
          </a:prstGeom>
          <a:solidFill>
            <a:srgbClr val="F9E795"/>
          </a:solidFill>
          <a:ln w="28575">
            <a:solidFill>
              <a:srgbClr val="2F3C7E"/>
            </a:solidFill>
            <a:prstDash val="solid"/>
          </a:ln>
        </p:spPr>
      </p:sp>
      <p:sp>
        <p:nvSpPr>
          <p:cNvPr id="6" name="Shape 4"/>
          <p:cNvSpPr/>
          <p:nvPr/>
        </p:nvSpPr>
        <p:spPr>
          <a:xfrm>
            <a:off x="3246120" y="2808580"/>
            <a:ext cx="0" cy="777240"/>
          </a:xfrm>
          <a:prstGeom prst="line">
            <a:avLst/>
          </a:prstGeom>
          <a:noFill/>
          <a:ln w="38100">
            <a:solidFill>
              <a:srgbClr val="2F3C7E"/>
            </a:solidFill>
            <a:prstDash val="solid"/>
          </a:ln>
        </p:spPr>
      </p:sp>
      <p:sp>
        <p:nvSpPr>
          <p:cNvPr id="7" name="Shape 5"/>
          <p:cNvSpPr/>
          <p:nvPr/>
        </p:nvSpPr>
        <p:spPr>
          <a:xfrm flipV="1">
            <a:off x="2818638" y="2925166"/>
            <a:ext cx="427482" cy="272034"/>
          </a:xfrm>
          <a:prstGeom prst="line">
            <a:avLst/>
          </a:prstGeom>
          <a:noFill/>
          <a:ln w="38100">
            <a:solidFill>
              <a:srgbClr val="2F3C7E"/>
            </a:solidFill>
            <a:prstDash val="solid"/>
          </a:ln>
        </p:spPr>
      </p:sp>
      <p:sp>
        <p:nvSpPr>
          <p:cNvPr id="8" name="Shape 6"/>
          <p:cNvSpPr/>
          <p:nvPr/>
        </p:nvSpPr>
        <p:spPr>
          <a:xfrm>
            <a:off x="3246120" y="2925166"/>
            <a:ext cx="427482" cy="272034"/>
          </a:xfrm>
          <a:prstGeom prst="line">
            <a:avLst/>
          </a:prstGeom>
          <a:noFill/>
          <a:ln w="38100">
            <a:solidFill>
              <a:srgbClr val="2F3C7E"/>
            </a:solidFill>
            <a:prstDash val="solid"/>
          </a:ln>
        </p:spPr>
      </p:sp>
      <p:sp>
        <p:nvSpPr>
          <p:cNvPr id="9" name="Shape 7"/>
          <p:cNvSpPr/>
          <p:nvPr/>
        </p:nvSpPr>
        <p:spPr>
          <a:xfrm flipV="1">
            <a:off x="2935224" y="3585820"/>
            <a:ext cx="310896" cy="388620"/>
          </a:xfrm>
          <a:prstGeom prst="line">
            <a:avLst/>
          </a:prstGeom>
          <a:noFill/>
          <a:ln w="38100">
            <a:solidFill>
              <a:srgbClr val="2F3C7E"/>
            </a:solidFill>
            <a:prstDash val="solid"/>
          </a:ln>
        </p:spPr>
      </p:sp>
      <p:sp>
        <p:nvSpPr>
          <p:cNvPr id="10" name="Shape 8"/>
          <p:cNvSpPr/>
          <p:nvPr/>
        </p:nvSpPr>
        <p:spPr>
          <a:xfrm>
            <a:off x="3246120" y="3585820"/>
            <a:ext cx="310896" cy="388620"/>
          </a:xfrm>
          <a:prstGeom prst="line">
            <a:avLst/>
          </a:prstGeom>
          <a:noFill/>
          <a:ln w="38100">
            <a:solidFill>
              <a:srgbClr val="2F3C7E"/>
            </a:solidFill>
            <a:prstDash val="solid"/>
          </a:ln>
        </p:spPr>
      </p:sp>
      <p:sp>
        <p:nvSpPr>
          <p:cNvPr id="11" name="Shape 9"/>
          <p:cNvSpPr/>
          <p:nvPr/>
        </p:nvSpPr>
        <p:spPr>
          <a:xfrm>
            <a:off x="2286000" y="3657600"/>
            <a:ext cx="1920240" cy="685800"/>
          </a:xfrm>
          <a:prstGeom prst="roundRect">
            <a:avLst>
              <a:gd name="adj" fmla="val 16000"/>
            </a:avLst>
          </a:prstGeom>
          <a:solidFill>
            <a:srgbClr val="FFFFFF"/>
          </a:solidFill>
          <a:ln w="25400">
            <a:solidFill>
              <a:srgbClr val="2F3C7E"/>
            </a:solidFill>
            <a:prstDash val="solid"/>
          </a:ln>
        </p:spPr>
      </p:sp>
      <p:sp>
        <p:nvSpPr>
          <p:cNvPr id="12" name="Shape 10"/>
          <p:cNvSpPr/>
          <p:nvPr/>
        </p:nvSpPr>
        <p:spPr>
          <a:xfrm>
            <a:off x="2423160" y="4297680"/>
            <a:ext cx="109728" cy="91440"/>
          </a:xfrm>
          <a:prstGeom prst="ellipse">
            <a:avLst/>
          </a:prstGeom>
          <a:solidFill>
            <a:srgbClr val="FFFFFF"/>
          </a:solidFill>
          <a:ln w="25400">
            <a:solidFill>
              <a:srgbClr val="2F3C7E"/>
            </a:solidFill>
            <a:prstDash val="solid"/>
          </a:ln>
        </p:spPr>
      </p:sp>
      <p:sp>
        <p:nvSpPr>
          <p:cNvPr id="13" name="Text 11"/>
          <p:cNvSpPr/>
          <p:nvPr/>
        </p:nvSpPr>
        <p:spPr>
          <a:xfrm>
            <a:off x="2395728" y="3657600"/>
            <a:ext cx="1700784" cy="685800"/>
          </a:xfrm>
          <a:prstGeom prst="rect">
            <a:avLst/>
          </a:prstGeom>
          <a:noFill/>
          <a:ln/>
        </p:spPr>
        <p:txBody>
          <a:bodyPr wrap="square" lIns="0" tIns="0" rIns="0" bIns="0" rtlCol="0" anchor="ctr"/>
          <a:lstStyle/>
          <a:p>
            <a:pPr algn="ctr" indent="0" marL="0">
              <a:buNone/>
            </a:pPr>
            <a:r>
              <a:rPr lang="en-US" sz="1200" dirty="0">
                <a:solidFill>
                  <a:srgbClr val="2B2B2B"/>
                </a:solidFill>
                <a:latin typeface="Calibri" pitchFamily="34" charset="0"/>
                <a:ea typeface="Calibri" pitchFamily="34" charset="-122"/>
                <a:cs typeface="Calibri" pitchFamily="34" charset="-120"/>
              </a:rPr>
              <a:t>What's the capital</a:t>
            </a:r>
            <a:endParaRPr lang="en-US" sz="1200" dirty="0"/>
          </a:p>
          <a:p>
            <a:pPr algn="ctr" indent="0" marL="0">
              <a:buNone/>
            </a:pPr>
            <a:r>
              <a:rPr lang="en-US" sz="1200" dirty="0">
                <a:solidFill>
                  <a:srgbClr val="2B2B2B"/>
                </a:solidFill>
                <a:latin typeface="Calibri" pitchFamily="34" charset="0"/>
                <a:ea typeface="Calibri" pitchFamily="34" charset="-122"/>
                <a:cs typeface="Calibri" pitchFamily="34" charset="-120"/>
              </a:rPr>
              <a:t>of France?</a:t>
            </a:r>
            <a:endParaRPr lang="en-US" sz="1200" dirty="0"/>
          </a:p>
        </p:txBody>
      </p:sp>
      <p:sp>
        <p:nvSpPr>
          <p:cNvPr id="14" name="Shape 12"/>
          <p:cNvSpPr/>
          <p:nvPr/>
        </p:nvSpPr>
        <p:spPr>
          <a:xfrm>
            <a:off x="2286000" y="4526280"/>
            <a:ext cx="1920240" cy="548640"/>
          </a:xfrm>
          <a:prstGeom prst="roundRect">
            <a:avLst>
              <a:gd name="adj" fmla="val 20000"/>
            </a:avLst>
          </a:prstGeom>
          <a:solidFill>
            <a:srgbClr val="FFFFFF"/>
          </a:solidFill>
          <a:ln w="25400">
            <a:solidFill>
              <a:srgbClr val="2F3C7E"/>
            </a:solidFill>
            <a:prstDash val="solid"/>
          </a:ln>
        </p:spPr>
      </p:sp>
      <p:sp>
        <p:nvSpPr>
          <p:cNvPr id="15" name="Shape 13"/>
          <p:cNvSpPr/>
          <p:nvPr/>
        </p:nvSpPr>
        <p:spPr>
          <a:xfrm>
            <a:off x="2423160" y="5029200"/>
            <a:ext cx="109728" cy="91440"/>
          </a:xfrm>
          <a:prstGeom prst="ellipse">
            <a:avLst/>
          </a:prstGeom>
          <a:solidFill>
            <a:srgbClr val="FFFFFF"/>
          </a:solidFill>
          <a:ln w="25400">
            <a:solidFill>
              <a:srgbClr val="2F3C7E"/>
            </a:solidFill>
            <a:prstDash val="solid"/>
          </a:ln>
        </p:spPr>
      </p:sp>
      <p:sp>
        <p:nvSpPr>
          <p:cNvPr id="16" name="Text 14"/>
          <p:cNvSpPr/>
          <p:nvPr/>
        </p:nvSpPr>
        <p:spPr>
          <a:xfrm>
            <a:off x="2395728" y="4526280"/>
            <a:ext cx="1700784" cy="548640"/>
          </a:xfrm>
          <a:prstGeom prst="rect">
            <a:avLst/>
          </a:prstGeom>
          <a:noFill/>
          <a:ln/>
        </p:spPr>
        <p:txBody>
          <a:bodyPr wrap="square" lIns="0" tIns="0" rIns="0" bIns="0" rtlCol="0" anchor="ctr"/>
          <a:lstStyle/>
          <a:p>
            <a:pPr algn="ctr" indent="0" marL="0">
              <a:buNone/>
            </a:pPr>
            <a:r>
              <a:rPr lang="en-US" sz="1300" b="1" dirty="0">
                <a:solidFill>
                  <a:srgbClr val="2B2B2B"/>
                </a:solidFill>
                <a:latin typeface="Calibri" pitchFamily="34" charset="0"/>
                <a:ea typeface="Calibri" pitchFamily="34" charset="-122"/>
                <a:cs typeface="Calibri" pitchFamily="34" charset="-120"/>
              </a:rPr>
              <a:t>Paris.</a:t>
            </a:r>
            <a:endParaRPr lang="en-US" sz="1300" dirty="0"/>
          </a:p>
        </p:txBody>
      </p:sp>
      <p:sp>
        <p:nvSpPr>
          <p:cNvPr id="17" name="Text 15"/>
          <p:cNvSpPr/>
          <p:nvPr/>
        </p:nvSpPr>
        <p:spPr>
          <a:xfrm>
            <a:off x="548640" y="5257800"/>
            <a:ext cx="5394960" cy="457200"/>
          </a:xfrm>
          <a:prstGeom prst="rect">
            <a:avLst/>
          </a:prstGeom>
          <a:noFill/>
          <a:ln/>
        </p:spPr>
        <p:txBody>
          <a:bodyPr wrap="square" lIns="0" tIns="0" rIns="0" bIns="0" rtlCol="0" anchor="ctr"/>
          <a:lstStyle/>
          <a:p>
            <a:pPr algn="ctr" indent="0" marL="0">
              <a:buNone/>
            </a:pPr>
            <a:r>
              <a:rPr lang="en-US" sz="1400" i="1" dirty="0">
                <a:solidFill>
                  <a:srgbClr val="2B2B2B"/>
                </a:solidFill>
                <a:latin typeface="Calibri" pitchFamily="34" charset="0"/>
                <a:ea typeface="Calibri" pitchFamily="34" charset="-122"/>
                <a:cs typeface="Calibri" pitchFamily="34" charset="-120"/>
              </a:rPr>
              <a:t>→ you get an ANSWER</a:t>
            </a:r>
            <a:endParaRPr lang="en-US" sz="1400" dirty="0"/>
          </a:p>
        </p:txBody>
      </p:sp>
      <p:sp>
        <p:nvSpPr>
          <p:cNvPr id="18" name="Shape 16"/>
          <p:cNvSpPr/>
          <p:nvPr/>
        </p:nvSpPr>
        <p:spPr>
          <a:xfrm>
            <a:off x="6217920" y="1371600"/>
            <a:ext cx="5394960" cy="4572000"/>
          </a:xfrm>
          <a:prstGeom prst="roundRect">
            <a:avLst>
              <a:gd name="adj" fmla="val 2400"/>
            </a:avLst>
          </a:prstGeom>
          <a:solidFill>
            <a:srgbClr val="FFFFFF"/>
          </a:solidFill>
          <a:ln w="31750">
            <a:solidFill>
              <a:srgbClr val="F96167"/>
            </a:solidFill>
            <a:prstDash val="solid"/>
          </a:ln>
        </p:spPr>
      </p:sp>
      <p:sp>
        <p:nvSpPr>
          <p:cNvPr id="19" name="Text 17"/>
          <p:cNvSpPr/>
          <p:nvPr/>
        </p:nvSpPr>
        <p:spPr>
          <a:xfrm>
            <a:off x="6217920" y="1554480"/>
            <a:ext cx="5394960" cy="457200"/>
          </a:xfrm>
          <a:prstGeom prst="rect">
            <a:avLst/>
          </a:prstGeom>
          <a:noFill/>
          <a:ln/>
        </p:spPr>
        <p:txBody>
          <a:bodyPr wrap="square" lIns="0" tIns="0" rIns="0" bIns="0" rtlCol="0" anchor="ctr"/>
          <a:lstStyle/>
          <a:p>
            <a:pPr algn="ctr" indent="0" marL="0">
              <a:buNone/>
            </a:pPr>
            <a:r>
              <a:rPr lang="en-US" sz="1800" b="1" dirty="0">
                <a:solidFill>
                  <a:srgbClr val="F96167"/>
                </a:solidFill>
                <a:latin typeface="Calibri" pitchFamily="34" charset="0"/>
                <a:ea typeface="Calibri" pitchFamily="34" charset="-122"/>
                <a:cs typeface="Calibri" pitchFamily="34" charset="-120"/>
              </a:rPr>
              <a:t>GIVE AN AGENT A GOAL</a:t>
            </a:r>
            <a:endParaRPr lang="en-US" sz="1800" dirty="0"/>
          </a:p>
        </p:txBody>
      </p:sp>
      <p:sp>
        <p:nvSpPr>
          <p:cNvPr id="20" name="Shape 18"/>
          <p:cNvSpPr/>
          <p:nvPr/>
        </p:nvSpPr>
        <p:spPr>
          <a:xfrm>
            <a:off x="8588959" y="2194560"/>
            <a:ext cx="652882" cy="652882"/>
          </a:xfrm>
          <a:prstGeom prst="ellipse">
            <a:avLst/>
          </a:prstGeom>
          <a:solidFill>
            <a:srgbClr val="F96167"/>
          </a:solidFill>
          <a:ln w="28575">
            <a:solidFill>
              <a:srgbClr val="2F3C7E"/>
            </a:solidFill>
            <a:prstDash val="solid"/>
          </a:ln>
        </p:spPr>
      </p:sp>
      <p:sp>
        <p:nvSpPr>
          <p:cNvPr id="21" name="Shape 19"/>
          <p:cNvSpPr/>
          <p:nvPr/>
        </p:nvSpPr>
        <p:spPr>
          <a:xfrm>
            <a:off x="8915400" y="2808580"/>
            <a:ext cx="0" cy="777240"/>
          </a:xfrm>
          <a:prstGeom prst="line">
            <a:avLst/>
          </a:prstGeom>
          <a:noFill/>
          <a:ln w="38100">
            <a:solidFill>
              <a:srgbClr val="2F3C7E"/>
            </a:solidFill>
            <a:prstDash val="solid"/>
          </a:ln>
        </p:spPr>
      </p:sp>
      <p:sp>
        <p:nvSpPr>
          <p:cNvPr id="22" name="Shape 20"/>
          <p:cNvSpPr/>
          <p:nvPr/>
        </p:nvSpPr>
        <p:spPr>
          <a:xfrm flipV="1">
            <a:off x="8487918" y="2925166"/>
            <a:ext cx="427482" cy="272034"/>
          </a:xfrm>
          <a:prstGeom prst="line">
            <a:avLst/>
          </a:prstGeom>
          <a:noFill/>
          <a:ln w="38100">
            <a:solidFill>
              <a:srgbClr val="2F3C7E"/>
            </a:solidFill>
            <a:prstDash val="solid"/>
          </a:ln>
        </p:spPr>
      </p:sp>
      <p:sp>
        <p:nvSpPr>
          <p:cNvPr id="23" name="Shape 21"/>
          <p:cNvSpPr/>
          <p:nvPr/>
        </p:nvSpPr>
        <p:spPr>
          <a:xfrm>
            <a:off x="8915400" y="2925166"/>
            <a:ext cx="427482" cy="272034"/>
          </a:xfrm>
          <a:prstGeom prst="line">
            <a:avLst/>
          </a:prstGeom>
          <a:noFill/>
          <a:ln w="38100">
            <a:solidFill>
              <a:srgbClr val="2F3C7E"/>
            </a:solidFill>
            <a:prstDash val="solid"/>
          </a:ln>
        </p:spPr>
      </p:sp>
      <p:sp>
        <p:nvSpPr>
          <p:cNvPr id="24" name="Shape 22"/>
          <p:cNvSpPr/>
          <p:nvPr/>
        </p:nvSpPr>
        <p:spPr>
          <a:xfrm flipV="1">
            <a:off x="8604504" y="3585820"/>
            <a:ext cx="310896" cy="388620"/>
          </a:xfrm>
          <a:prstGeom prst="line">
            <a:avLst/>
          </a:prstGeom>
          <a:noFill/>
          <a:ln w="38100">
            <a:solidFill>
              <a:srgbClr val="2F3C7E"/>
            </a:solidFill>
            <a:prstDash val="solid"/>
          </a:ln>
        </p:spPr>
      </p:sp>
      <p:sp>
        <p:nvSpPr>
          <p:cNvPr id="25" name="Shape 23"/>
          <p:cNvSpPr/>
          <p:nvPr/>
        </p:nvSpPr>
        <p:spPr>
          <a:xfrm>
            <a:off x="8915400" y="3585820"/>
            <a:ext cx="310896" cy="388620"/>
          </a:xfrm>
          <a:prstGeom prst="line">
            <a:avLst/>
          </a:prstGeom>
          <a:noFill/>
          <a:ln w="38100">
            <a:solidFill>
              <a:srgbClr val="2F3C7E"/>
            </a:solidFill>
            <a:prstDash val="solid"/>
          </a:ln>
        </p:spPr>
      </p:sp>
      <p:sp>
        <p:nvSpPr>
          <p:cNvPr id="26" name="Shape 24"/>
          <p:cNvSpPr/>
          <p:nvPr/>
        </p:nvSpPr>
        <p:spPr>
          <a:xfrm>
            <a:off x="7955280" y="3657600"/>
            <a:ext cx="1920240" cy="685800"/>
          </a:xfrm>
          <a:prstGeom prst="roundRect">
            <a:avLst>
              <a:gd name="adj" fmla="val 16000"/>
            </a:avLst>
          </a:prstGeom>
          <a:solidFill>
            <a:srgbClr val="FFFFFF"/>
          </a:solidFill>
          <a:ln w="25400">
            <a:solidFill>
              <a:srgbClr val="2F3C7E"/>
            </a:solidFill>
            <a:prstDash val="solid"/>
          </a:ln>
        </p:spPr>
      </p:sp>
      <p:sp>
        <p:nvSpPr>
          <p:cNvPr id="27" name="Shape 25"/>
          <p:cNvSpPr/>
          <p:nvPr/>
        </p:nvSpPr>
        <p:spPr>
          <a:xfrm>
            <a:off x="8092440" y="4297680"/>
            <a:ext cx="109728" cy="91440"/>
          </a:xfrm>
          <a:prstGeom prst="ellipse">
            <a:avLst/>
          </a:prstGeom>
          <a:solidFill>
            <a:srgbClr val="FFFFFF"/>
          </a:solidFill>
          <a:ln w="25400">
            <a:solidFill>
              <a:srgbClr val="2F3C7E"/>
            </a:solidFill>
            <a:prstDash val="solid"/>
          </a:ln>
        </p:spPr>
      </p:sp>
      <p:sp>
        <p:nvSpPr>
          <p:cNvPr id="28" name="Text 26"/>
          <p:cNvSpPr/>
          <p:nvPr/>
        </p:nvSpPr>
        <p:spPr>
          <a:xfrm>
            <a:off x="8065008" y="3657600"/>
            <a:ext cx="1700784" cy="685800"/>
          </a:xfrm>
          <a:prstGeom prst="rect">
            <a:avLst/>
          </a:prstGeom>
          <a:noFill/>
          <a:ln/>
        </p:spPr>
        <p:txBody>
          <a:bodyPr wrap="square" lIns="0" tIns="0" rIns="0" bIns="0" rtlCol="0" anchor="ctr"/>
          <a:lstStyle/>
          <a:p>
            <a:pPr algn="ctr" indent="0" marL="0">
              <a:buNone/>
            </a:pPr>
            <a:r>
              <a:rPr lang="en-US" sz="1200" dirty="0">
                <a:solidFill>
                  <a:srgbClr val="2B2B2B"/>
                </a:solidFill>
                <a:latin typeface="Calibri" pitchFamily="34" charset="0"/>
                <a:ea typeface="Calibri" pitchFamily="34" charset="-122"/>
                <a:cs typeface="Calibri" pitchFamily="34" charset="-120"/>
              </a:rPr>
              <a:t>Book my flight &amp;</a:t>
            </a:r>
            <a:endParaRPr lang="en-US" sz="1200" dirty="0"/>
          </a:p>
          <a:p>
            <a:pPr algn="ctr" indent="0" marL="0">
              <a:buNone/>
            </a:pPr>
            <a:r>
              <a:rPr lang="en-US" sz="1200" dirty="0">
                <a:solidFill>
                  <a:srgbClr val="2B2B2B"/>
                </a:solidFill>
                <a:latin typeface="Calibri" pitchFamily="34" charset="0"/>
                <a:ea typeface="Calibri" pitchFamily="34" charset="-122"/>
                <a:cs typeface="Calibri" pitchFamily="34" charset="-120"/>
              </a:rPr>
              <a:t>email the itinerary</a:t>
            </a:r>
            <a:endParaRPr lang="en-US" sz="1200" dirty="0"/>
          </a:p>
        </p:txBody>
      </p:sp>
      <p:sp>
        <p:nvSpPr>
          <p:cNvPr id="29" name="Shape 27"/>
          <p:cNvSpPr/>
          <p:nvPr/>
        </p:nvSpPr>
        <p:spPr>
          <a:xfrm>
            <a:off x="8549640" y="4657954"/>
            <a:ext cx="987552" cy="658368"/>
          </a:xfrm>
          <a:prstGeom prst="rect">
            <a:avLst/>
          </a:prstGeom>
          <a:solidFill>
            <a:srgbClr val="F9E795"/>
          </a:solidFill>
          <a:ln w="25400">
            <a:solidFill>
              <a:srgbClr val="2F3C7E"/>
            </a:solidFill>
            <a:prstDash val="solid"/>
          </a:ln>
        </p:spPr>
      </p:sp>
      <p:sp>
        <p:nvSpPr>
          <p:cNvPr id="30" name="Shape 28"/>
          <p:cNvSpPr/>
          <p:nvPr/>
        </p:nvSpPr>
        <p:spPr>
          <a:xfrm>
            <a:off x="8549640" y="4526280"/>
            <a:ext cx="438912" cy="175565"/>
          </a:xfrm>
          <a:prstGeom prst="rect">
            <a:avLst/>
          </a:prstGeom>
          <a:solidFill>
            <a:srgbClr val="F9E795"/>
          </a:solidFill>
          <a:ln w="25400">
            <a:solidFill>
              <a:srgbClr val="2F3C7E"/>
            </a:solidFill>
            <a:prstDash val="solid"/>
          </a:ln>
        </p:spPr>
      </p:sp>
      <p:sp>
        <p:nvSpPr>
          <p:cNvPr id="31" name="Text 29"/>
          <p:cNvSpPr/>
          <p:nvPr/>
        </p:nvSpPr>
        <p:spPr>
          <a:xfrm>
            <a:off x="6217920" y="5257800"/>
            <a:ext cx="5394960" cy="457200"/>
          </a:xfrm>
          <a:prstGeom prst="rect">
            <a:avLst/>
          </a:prstGeom>
          <a:noFill/>
          <a:ln/>
        </p:spPr>
        <p:txBody>
          <a:bodyPr wrap="square" lIns="0" tIns="0" rIns="0" bIns="0" rtlCol="0" anchor="ctr"/>
          <a:lstStyle/>
          <a:p>
            <a:pPr algn="ctr" indent="0" marL="0">
              <a:buNone/>
            </a:pPr>
            <a:r>
              <a:rPr lang="en-US" sz="1400" i="1" dirty="0">
                <a:solidFill>
                  <a:srgbClr val="2B2B2B"/>
                </a:solidFill>
                <a:latin typeface="Calibri" pitchFamily="34" charset="0"/>
                <a:ea typeface="Calibri" pitchFamily="34" charset="-122"/>
                <a:cs typeface="Calibri" pitchFamily="34" charset="-120"/>
              </a:rPr>
              <a:t>→ you get a FINISHED TASK</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822960"/>
          </a:xfrm>
          <a:prstGeom prst="rect">
            <a:avLst/>
          </a:prstGeom>
          <a:noFill/>
          <a:ln/>
        </p:spPr>
        <p:txBody>
          <a:bodyPr wrap="square" lIns="0" tIns="0" rIns="0" bIns="0" rtlCol="0" anchor="ctr"/>
          <a:lstStyle/>
          <a:p>
            <a:pPr algn="l" indent="0" marL="0">
              <a:buNone/>
            </a:pPr>
            <a:r>
              <a:rPr lang="en-US" sz="3200" b="1" dirty="0">
                <a:solidFill>
                  <a:srgbClr val="2F3C7E"/>
                </a:solidFill>
                <a:latin typeface="Cambria" pitchFamily="34" charset="0"/>
                <a:ea typeface="Cambria" pitchFamily="34" charset="-122"/>
                <a:cs typeface="Cambria" pitchFamily="34" charset="-120"/>
              </a:rPr>
              <a:t>A real example: Mistral Studio</a:t>
            </a:r>
            <a:endParaRPr lang="en-US" sz="3200" dirty="0"/>
          </a:p>
        </p:txBody>
      </p:sp>
      <p:sp>
        <p:nvSpPr>
          <p:cNvPr id="3" name="Shape 1"/>
          <p:cNvSpPr/>
          <p:nvPr/>
        </p:nvSpPr>
        <p:spPr>
          <a:xfrm>
            <a:off x="731520" y="1828800"/>
            <a:ext cx="2286000" cy="1554480"/>
          </a:xfrm>
          <a:prstGeom prst="roundRect">
            <a:avLst>
              <a:gd name="adj" fmla="val 4706"/>
            </a:avLst>
          </a:prstGeom>
          <a:solidFill>
            <a:srgbClr val="FFFFFF"/>
          </a:solidFill>
          <a:ln w="31750">
            <a:solidFill>
              <a:srgbClr val="2F3C7E"/>
            </a:solidFill>
            <a:prstDash val="solid"/>
          </a:ln>
        </p:spPr>
      </p:sp>
      <p:sp>
        <p:nvSpPr>
          <p:cNvPr id="4" name="Text 2"/>
          <p:cNvSpPr/>
          <p:nvPr/>
        </p:nvSpPr>
        <p:spPr>
          <a:xfrm>
            <a:off x="731520" y="2999232"/>
            <a:ext cx="2286000" cy="365760"/>
          </a:xfrm>
          <a:prstGeom prst="rect">
            <a:avLst/>
          </a:prstGeom>
          <a:noFill/>
          <a:ln/>
        </p:spPr>
        <p:txBody>
          <a:bodyPr wrap="square" lIns="0" tIns="0" rIns="0" bIns="0" rtlCol="0" anchor="ctr"/>
          <a:lstStyle/>
          <a:p>
            <a:pPr algn="ctr" indent="0" marL="0">
              <a:buNone/>
            </a:pPr>
            <a:r>
              <a:rPr lang="en-US" sz="1300" b="1" dirty="0">
                <a:solidFill>
                  <a:srgbClr val="2F3C7E"/>
                </a:solidFill>
                <a:latin typeface="Calibri" pitchFamily="34" charset="0"/>
                <a:ea typeface="Calibri" pitchFamily="34" charset="-122"/>
                <a:cs typeface="Calibri" pitchFamily="34" charset="-120"/>
              </a:rPr>
              <a:t>MODELS</a:t>
            </a:r>
            <a:endParaRPr lang="en-US" sz="1300" dirty="0"/>
          </a:p>
        </p:txBody>
      </p:sp>
      <p:sp>
        <p:nvSpPr>
          <p:cNvPr id="5" name="Shape 3"/>
          <p:cNvSpPr/>
          <p:nvPr/>
        </p:nvSpPr>
        <p:spPr>
          <a:xfrm>
            <a:off x="3017520" y="2606040"/>
            <a:ext cx="228600" cy="0"/>
          </a:xfrm>
          <a:prstGeom prst="line">
            <a:avLst/>
          </a:prstGeom>
          <a:noFill/>
          <a:ln w="38100">
            <a:solidFill>
              <a:srgbClr val="F96167"/>
            </a:solidFill>
            <a:prstDash val="solid"/>
            <a:tailEnd type="triangle"/>
          </a:ln>
        </p:spPr>
      </p:sp>
      <p:sp>
        <p:nvSpPr>
          <p:cNvPr id="6" name="Shape 4"/>
          <p:cNvSpPr/>
          <p:nvPr/>
        </p:nvSpPr>
        <p:spPr>
          <a:xfrm>
            <a:off x="3246120" y="1828800"/>
            <a:ext cx="2286000" cy="1554480"/>
          </a:xfrm>
          <a:prstGeom prst="roundRect">
            <a:avLst>
              <a:gd name="adj" fmla="val 4706"/>
            </a:avLst>
          </a:prstGeom>
          <a:solidFill>
            <a:srgbClr val="FFFFFF"/>
          </a:solidFill>
          <a:ln w="31750">
            <a:solidFill>
              <a:srgbClr val="2F3C7E"/>
            </a:solidFill>
            <a:prstDash val="solid"/>
          </a:ln>
        </p:spPr>
      </p:sp>
      <p:sp>
        <p:nvSpPr>
          <p:cNvPr id="7" name="Text 5"/>
          <p:cNvSpPr/>
          <p:nvPr/>
        </p:nvSpPr>
        <p:spPr>
          <a:xfrm>
            <a:off x="3246120" y="2999232"/>
            <a:ext cx="2286000" cy="365760"/>
          </a:xfrm>
          <a:prstGeom prst="rect">
            <a:avLst/>
          </a:prstGeom>
          <a:noFill/>
          <a:ln/>
        </p:spPr>
        <p:txBody>
          <a:bodyPr wrap="square" lIns="0" tIns="0" rIns="0" bIns="0" rtlCol="0" anchor="ctr"/>
          <a:lstStyle/>
          <a:p>
            <a:pPr algn="ctr" indent="0" marL="0">
              <a:buNone/>
            </a:pPr>
            <a:r>
              <a:rPr lang="en-US" sz="1300" b="1" dirty="0">
                <a:solidFill>
                  <a:srgbClr val="2F3C7E"/>
                </a:solidFill>
                <a:latin typeface="Calibri" pitchFamily="34" charset="0"/>
                <a:ea typeface="Calibri" pitchFamily="34" charset="-122"/>
                <a:cs typeface="Calibri" pitchFamily="34" charset="-120"/>
              </a:rPr>
              <a:t>AGENTS</a:t>
            </a:r>
            <a:endParaRPr lang="en-US" sz="1300" dirty="0"/>
          </a:p>
        </p:txBody>
      </p:sp>
      <p:sp>
        <p:nvSpPr>
          <p:cNvPr id="8" name="Shape 6"/>
          <p:cNvSpPr/>
          <p:nvPr/>
        </p:nvSpPr>
        <p:spPr>
          <a:xfrm>
            <a:off x="5532120" y="2606040"/>
            <a:ext cx="228600" cy="0"/>
          </a:xfrm>
          <a:prstGeom prst="line">
            <a:avLst/>
          </a:prstGeom>
          <a:noFill/>
          <a:ln w="38100">
            <a:solidFill>
              <a:srgbClr val="F96167"/>
            </a:solidFill>
            <a:prstDash val="solid"/>
            <a:tailEnd type="triangle"/>
          </a:ln>
        </p:spPr>
      </p:sp>
      <p:sp>
        <p:nvSpPr>
          <p:cNvPr id="9" name="Shape 7"/>
          <p:cNvSpPr/>
          <p:nvPr/>
        </p:nvSpPr>
        <p:spPr>
          <a:xfrm>
            <a:off x="5760720" y="1828800"/>
            <a:ext cx="2286000" cy="1554480"/>
          </a:xfrm>
          <a:prstGeom prst="roundRect">
            <a:avLst>
              <a:gd name="adj" fmla="val 4706"/>
            </a:avLst>
          </a:prstGeom>
          <a:solidFill>
            <a:srgbClr val="FFFFFF"/>
          </a:solidFill>
          <a:ln w="31750">
            <a:solidFill>
              <a:srgbClr val="2F3C7E"/>
            </a:solidFill>
            <a:prstDash val="solid"/>
          </a:ln>
        </p:spPr>
      </p:sp>
      <p:sp>
        <p:nvSpPr>
          <p:cNvPr id="10" name="Text 8"/>
          <p:cNvSpPr/>
          <p:nvPr/>
        </p:nvSpPr>
        <p:spPr>
          <a:xfrm>
            <a:off x="5760720" y="2999232"/>
            <a:ext cx="2286000" cy="365760"/>
          </a:xfrm>
          <a:prstGeom prst="rect">
            <a:avLst/>
          </a:prstGeom>
          <a:noFill/>
          <a:ln/>
        </p:spPr>
        <p:txBody>
          <a:bodyPr wrap="square" lIns="0" tIns="0" rIns="0" bIns="0" rtlCol="0" anchor="ctr"/>
          <a:lstStyle/>
          <a:p>
            <a:pPr algn="ctr" indent="0" marL="0">
              <a:buNone/>
            </a:pPr>
            <a:r>
              <a:rPr lang="en-US" sz="1300" b="1" dirty="0">
                <a:solidFill>
                  <a:srgbClr val="2F3C7E"/>
                </a:solidFill>
                <a:latin typeface="Calibri" pitchFamily="34" charset="0"/>
                <a:ea typeface="Calibri" pitchFamily="34" charset="-122"/>
                <a:cs typeface="Calibri" pitchFamily="34" charset="-120"/>
              </a:rPr>
              <a:t>SKILLS</a:t>
            </a:r>
            <a:endParaRPr lang="en-US" sz="1300" dirty="0"/>
          </a:p>
        </p:txBody>
      </p:sp>
      <p:sp>
        <p:nvSpPr>
          <p:cNvPr id="11" name="Shape 9"/>
          <p:cNvSpPr/>
          <p:nvPr/>
        </p:nvSpPr>
        <p:spPr>
          <a:xfrm>
            <a:off x="8046720" y="2606040"/>
            <a:ext cx="228600" cy="0"/>
          </a:xfrm>
          <a:prstGeom prst="line">
            <a:avLst/>
          </a:prstGeom>
          <a:noFill/>
          <a:ln w="38100">
            <a:solidFill>
              <a:srgbClr val="F96167"/>
            </a:solidFill>
            <a:prstDash val="solid"/>
            <a:tailEnd type="triangle"/>
          </a:ln>
        </p:spPr>
      </p:sp>
      <p:sp>
        <p:nvSpPr>
          <p:cNvPr id="12" name="Shape 10"/>
          <p:cNvSpPr/>
          <p:nvPr/>
        </p:nvSpPr>
        <p:spPr>
          <a:xfrm>
            <a:off x="8275320" y="1828800"/>
            <a:ext cx="2286000" cy="1554480"/>
          </a:xfrm>
          <a:prstGeom prst="roundRect">
            <a:avLst>
              <a:gd name="adj" fmla="val 4706"/>
            </a:avLst>
          </a:prstGeom>
          <a:solidFill>
            <a:srgbClr val="FFFFFF"/>
          </a:solidFill>
          <a:ln w="31750">
            <a:solidFill>
              <a:srgbClr val="2F3C7E"/>
            </a:solidFill>
            <a:prstDash val="solid"/>
          </a:ln>
        </p:spPr>
      </p:sp>
      <p:sp>
        <p:nvSpPr>
          <p:cNvPr id="13" name="Text 11"/>
          <p:cNvSpPr/>
          <p:nvPr/>
        </p:nvSpPr>
        <p:spPr>
          <a:xfrm>
            <a:off x="8275320" y="2999232"/>
            <a:ext cx="2286000" cy="365760"/>
          </a:xfrm>
          <a:prstGeom prst="rect">
            <a:avLst/>
          </a:prstGeom>
          <a:noFill/>
          <a:ln/>
        </p:spPr>
        <p:txBody>
          <a:bodyPr wrap="square" lIns="0" tIns="0" rIns="0" bIns="0" rtlCol="0" anchor="ctr"/>
          <a:lstStyle/>
          <a:p>
            <a:pPr algn="ctr" indent="0" marL="0">
              <a:buNone/>
            </a:pPr>
            <a:r>
              <a:rPr lang="en-US" sz="1300" b="1" dirty="0">
                <a:solidFill>
                  <a:srgbClr val="2F3C7E"/>
                </a:solidFill>
                <a:latin typeface="Calibri" pitchFamily="34" charset="0"/>
                <a:ea typeface="Calibri" pitchFamily="34" charset="-122"/>
                <a:cs typeface="Calibri" pitchFamily="34" charset="-120"/>
              </a:rPr>
              <a:t>WORKFLOWS</a:t>
            </a:r>
            <a:endParaRPr lang="en-US" sz="1300" dirty="0"/>
          </a:p>
        </p:txBody>
      </p:sp>
      <p:sp>
        <p:nvSpPr>
          <p:cNvPr id="14" name="Text 12"/>
          <p:cNvSpPr/>
          <p:nvPr/>
        </p:nvSpPr>
        <p:spPr>
          <a:xfrm>
            <a:off x="731520" y="3749040"/>
            <a:ext cx="10698480" cy="155448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Mistral Studio keeps these as separate, connected building blocks in its catalog: a Model is the raw reasoning engine; an Agent wraps a Model with instructions and tools — web search, code execution, a document library — so it can plan and act on its own; Agents can even hand work off to other Agents inside a Workflow.</a:t>
            </a:r>
            <a:endParaRPr lang="en-US" sz="1600" dirty="0"/>
          </a:p>
        </p:txBody>
      </p:sp>
      <p:sp>
        <p:nvSpPr>
          <p:cNvPr id="15" name="Text 13"/>
          <p:cNvSpPr/>
          <p:nvPr/>
        </p:nvSpPr>
        <p:spPr>
          <a:xfrm>
            <a:off x="548640" y="5989320"/>
            <a:ext cx="11064240" cy="548640"/>
          </a:xfrm>
          <a:prstGeom prst="rect">
            <a:avLst/>
          </a:prstGeom>
          <a:noFill/>
          <a:ln/>
        </p:spPr>
        <p:txBody>
          <a:bodyPr wrap="square" lIns="0" tIns="0" rIns="0" bIns="0" rtlCol="0" anchor="ctr"/>
          <a:lstStyle/>
          <a:p>
            <a:pPr algn="l" indent="0" marL="0">
              <a:buNone/>
            </a:pPr>
            <a:r>
              <a:rPr lang="en-US" sz="1800" i="1" dirty="0">
                <a:solidFill>
                  <a:srgbClr val="2B2B2B"/>
                </a:solidFill>
                <a:latin typeface="Calibri" pitchFamily="34" charset="0"/>
                <a:ea typeface="Calibri" pitchFamily="34" charset="-122"/>
                <a:cs typeface="Calibri" pitchFamily="34" charset="-120"/>
              </a:rPr>
              <a:t>Source: Mistral Studio product page &amp; Agents docs (mistral.ai/products/studio), checked July 2026.</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822960"/>
          </a:xfrm>
          <a:prstGeom prst="rect">
            <a:avLst/>
          </a:prstGeom>
          <a:noFill/>
          <a:ln/>
        </p:spPr>
        <p:txBody>
          <a:bodyPr wrap="square" lIns="0" tIns="0" rIns="0" bIns="0" rtlCol="0" anchor="ctr"/>
          <a:lstStyle/>
          <a:p>
            <a:pPr algn="l" indent="0" marL="0">
              <a:buNone/>
            </a:pPr>
            <a:r>
              <a:rPr lang="en-US" sz="3200" b="1" dirty="0">
                <a:solidFill>
                  <a:srgbClr val="2F3C7E"/>
                </a:solidFill>
                <a:latin typeface="Cambria" pitchFamily="34" charset="0"/>
                <a:ea typeface="Cambria" pitchFamily="34" charset="-122"/>
                <a:cs typeface="Cambria" pitchFamily="34" charset="-120"/>
              </a:rPr>
              <a:t>Recap: same brain, different job</a:t>
            </a:r>
            <a:endParaRPr lang="en-US" sz="3200" dirty="0"/>
          </a:p>
        </p:txBody>
      </p:sp>
      <p:sp>
        <p:nvSpPr>
          <p:cNvPr id="3" name="Shape 1"/>
          <p:cNvSpPr/>
          <p:nvPr/>
        </p:nvSpPr>
        <p:spPr>
          <a:xfrm>
            <a:off x="2011680" y="2194560"/>
            <a:ext cx="7772400" cy="54864"/>
          </a:xfrm>
          <a:prstGeom prst="rect">
            <a:avLst/>
          </a:prstGeom>
          <a:solidFill>
            <a:srgbClr val="2F3C7E"/>
          </a:solidFill>
          <a:ln/>
        </p:spPr>
      </p:sp>
      <p:sp>
        <p:nvSpPr>
          <p:cNvPr id="4" name="Shape 2"/>
          <p:cNvSpPr/>
          <p:nvPr/>
        </p:nvSpPr>
        <p:spPr>
          <a:xfrm>
            <a:off x="1508760" y="1975104"/>
            <a:ext cx="457200" cy="457200"/>
          </a:xfrm>
          <a:prstGeom prst="ellipse">
            <a:avLst/>
          </a:prstGeom>
          <a:solidFill>
            <a:srgbClr val="F96167"/>
          </a:solidFill>
          <a:ln w="25400">
            <a:solidFill>
              <a:srgbClr val="2F3C7E"/>
            </a:solidFill>
            <a:prstDash val="solid"/>
          </a:ln>
        </p:spPr>
      </p:sp>
      <p:sp>
        <p:nvSpPr>
          <p:cNvPr id="5" name="Text 3"/>
          <p:cNvSpPr/>
          <p:nvPr/>
        </p:nvSpPr>
        <p:spPr>
          <a:xfrm>
            <a:off x="1508760" y="197510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2240280" y="1874520"/>
            <a:ext cx="7498080" cy="548640"/>
          </a:xfrm>
          <a:prstGeom prst="rect">
            <a:avLst/>
          </a:prstGeom>
          <a:noFill/>
          <a:ln/>
        </p:spPr>
        <p:txBody>
          <a:bodyPr wrap="square" lIns="0" tIns="0" rIns="0" bIns="0" rtlCol="0" anchor="ctr"/>
          <a:lstStyle/>
          <a:p>
            <a:pPr indent="0" marL="0">
              <a:buNone/>
            </a:pPr>
            <a:r>
              <a:rPr lang="en-US" sz="1500" dirty="0">
                <a:solidFill>
                  <a:srgbClr val="2B2B2B"/>
                </a:solidFill>
                <a:latin typeface="Calibri" pitchFamily="34" charset="0"/>
                <a:ea typeface="Calibri" pitchFamily="34" charset="-122"/>
                <a:cs typeface="Calibri" pitchFamily="34" charset="-120"/>
              </a:rPr>
              <a:t>MODEL = the brain. It only answers.</a:t>
            </a:r>
            <a:endParaRPr lang="en-US" sz="1500" dirty="0"/>
          </a:p>
        </p:txBody>
      </p:sp>
      <p:sp>
        <p:nvSpPr>
          <p:cNvPr id="7" name="Shape 5"/>
          <p:cNvSpPr/>
          <p:nvPr/>
        </p:nvSpPr>
        <p:spPr>
          <a:xfrm>
            <a:off x="2011680" y="3383280"/>
            <a:ext cx="7772400" cy="54864"/>
          </a:xfrm>
          <a:prstGeom prst="rect">
            <a:avLst/>
          </a:prstGeom>
          <a:solidFill>
            <a:srgbClr val="2F3C7E"/>
          </a:solidFill>
          <a:ln/>
        </p:spPr>
      </p:sp>
      <p:sp>
        <p:nvSpPr>
          <p:cNvPr id="8" name="Shape 6"/>
          <p:cNvSpPr/>
          <p:nvPr/>
        </p:nvSpPr>
        <p:spPr>
          <a:xfrm>
            <a:off x="1508760" y="3163824"/>
            <a:ext cx="457200" cy="457200"/>
          </a:xfrm>
          <a:prstGeom prst="ellipse">
            <a:avLst/>
          </a:prstGeom>
          <a:solidFill>
            <a:srgbClr val="F96167"/>
          </a:solidFill>
          <a:ln w="25400">
            <a:solidFill>
              <a:srgbClr val="2F3C7E"/>
            </a:solidFill>
            <a:prstDash val="solid"/>
          </a:ln>
        </p:spPr>
      </p:sp>
      <p:sp>
        <p:nvSpPr>
          <p:cNvPr id="9" name="Text 7"/>
          <p:cNvSpPr/>
          <p:nvPr/>
        </p:nvSpPr>
        <p:spPr>
          <a:xfrm>
            <a:off x="1508760" y="316382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2240280" y="3063240"/>
            <a:ext cx="7498080" cy="548640"/>
          </a:xfrm>
          <a:prstGeom prst="rect">
            <a:avLst/>
          </a:prstGeom>
          <a:noFill/>
          <a:ln/>
        </p:spPr>
        <p:txBody>
          <a:bodyPr wrap="square" lIns="0" tIns="0" rIns="0" bIns="0" rtlCol="0" anchor="ctr"/>
          <a:lstStyle/>
          <a:p>
            <a:pPr indent="0" marL="0">
              <a:buNone/>
            </a:pPr>
            <a:r>
              <a:rPr lang="en-US" sz="1500" dirty="0">
                <a:solidFill>
                  <a:srgbClr val="2B2B2B"/>
                </a:solidFill>
                <a:latin typeface="Calibri" pitchFamily="34" charset="0"/>
                <a:ea typeface="Calibri" pitchFamily="34" charset="-122"/>
                <a:cs typeface="Calibri" pitchFamily="34" charset="-120"/>
              </a:rPr>
              <a:t>AGENT = brain + hands + a goal. It acts.</a:t>
            </a:r>
            <a:endParaRPr lang="en-US" sz="1500" dirty="0"/>
          </a:p>
        </p:txBody>
      </p:sp>
      <p:sp>
        <p:nvSpPr>
          <p:cNvPr id="11" name="Shape 9"/>
          <p:cNvSpPr/>
          <p:nvPr/>
        </p:nvSpPr>
        <p:spPr>
          <a:xfrm>
            <a:off x="2011680" y="4572000"/>
            <a:ext cx="7772400" cy="54864"/>
          </a:xfrm>
          <a:prstGeom prst="rect">
            <a:avLst/>
          </a:prstGeom>
          <a:solidFill>
            <a:srgbClr val="2F3C7E"/>
          </a:solidFill>
          <a:ln/>
        </p:spPr>
      </p:sp>
      <p:sp>
        <p:nvSpPr>
          <p:cNvPr id="12" name="Shape 10"/>
          <p:cNvSpPr/>
          <p:nvPr/>
        </p:nvSpPr>
        <p:spPr>
          <a:xfrm>
            <a:off x="1508760" y="4352544"/>
            <a:ext cx="457200" cy="457200"/>
          </a:xfrm>
          <a:prstGeom prst="ellipse">
            <a:avLst/>
          </a:prstGeom>
          <a:solidFill>
            <a:srgbClr val="F96167"/>
          </a:solidFill>
          <a:ln w="25400">
            <a:solidFill>
              <a:srgbClr val="2F3C7E"/>
            </a:solidFill>
            <a:prstDash val="solid"/>
          </a:ln>
        </p:spPr>
      </p:sp>
      <p:sp>
        <p:nvSpPr>
          <p:cNvPr id="13" name="Text 11"/>
          <p:cNvSpPr/>
          <p:nvPr/>
        </p:nvSpPr>
        <p:spPr>
          <a:xfrm>
            <a:off x="1508760" y="435254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2240280" y="4251960"/>
            <a:ext cx="7498080" cy="548640"/>
          </a:xfrm>
          <a:prstGeom prst="rect">
            <a:avLst/>
          </a:prstGeom>
          <a:noFill/>
          <a:ln/>
        </p:spPr>
        <p:txBody>
          <a:bodyPr wrap="square" lIns="0" tIns="0" rIns="0" bIns="0" rtlCol="0" anchor="ctr"/>
          <a:lstStyle/>
          <a:p>
            <a:pPr indent="0" marL="0">
              <a:buNone/>
            </a:pPr>
            <a:r>
              <a:rPr lang="en-US" sz="1500" dirty="0">
                <a:solidFill>
                  <a:srgbClr val="2B2B2B"/>
                </a:solidFill>
                <a:latin typeface="Calibri" pitchFamily="34" charset="0"/>
                <a:ea typeface="Calibri" pitchFamily="34" charset="-122"/>
                <a:cs typeface="Calibri" pitchFamily="34" charset="-120"/>
              </a:rPr>
              <a:t>WORKFLOW = many agents working together.</a:t>
            </a:r>
            <a:endParaRPr lang="en-US" sz="1500" dirty="0"/>
          </a:p>
        </p:txBody>
      </p:sp>
      <p:sp>
        <p:nvSpPr>
          <p:cNvPr id="15" name="Text 13"/>
          <p:cNvSpPr/>
          <p:nvPr/>
        </p:nvSpPr>
        <p:spPr>
          <a:xfrm>
            <a:off x="548640" y="5989320"/>
            <a:ext cx="11064240" cy="548640"/>
          </a:xfrm>
          <a:prstGeom prst="rect">
            <a:avLst/>
          </a:prstGeom>
          <a:noFill/>
          <a:ln/>
        </p:spPr>
        <p:txBody>
          <a:bodyPr wrap="square" lIns="0" tIns="0" rIns="0" bIns="0" rtlCol="0" anchor="ctr"/>
          <a:lstStyle/>
          <a:p>
            <a:pPr algn="l" indent="0" marL="0">
              <a:buNone/>
            </a:pPr>
            <a:r>
              <a:rPr lang="en-US" sz="1800" i="1" dirty="0">
                <a:solidFill>
                  <a:srgbClr val="2B2B2B"/>
                </a:solidFill>
                <a:latin typeface="Calibri" pitchFamily="34" charset="0"/>
                <a:ea typeface="Calibri" pitchFamily="34" charset="-122"/>
                <a:cs typeface="Calibri" pitchFamily="34" charset="-120"/>
              </a:rPr>
              <a:t>Next time you hear “AI agent,” picture the intern handed a laptop, a toolbox, and a to-do list.</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F3C7E"/>
        </a:solidFill>
      </p:bgPr>
    </p:bg>
    <p:spTree>
      <p:nvGrpSpPr>
        <p:cNvPr id="1" name=""/>
        <p:cNvGrpSpPr/>
        <p:nvPr/>
      </p:nvGrpSpPr>
      <p:grpSpPr>
        <a:xfrm>
          <a:off x="0" y="0"/>
          <a:ext cx="0" cy="0"/>
          <a:chOff x="0" y="0"/>
          <a:chExt cx="0" cy="0"/>
        </a:xfrm>
      </p:grpSpPr>
      <p:sp>
        <p:nvSpPr>
          <p:cNvPr id="2" name="Text 0"/>
          <p:cNvSpPr/>
          <p:nvPr/>
        </p:nvSpPr>
        <p:spPr>
          <a:xfrm>
            <a:off x="822960" y="914400"/>
            <a:ext cx="5029200" cy="457200"/>
          </a:xfrm>
          <a:prstGeom prst="rect">
            <a:avLst/>
          </a:prstGeom>
          <a:noFill/>
          <a:ln/>
        </p:spPr>
        <p:txBody>
          <a:bodyPr wrap="square" lIns="0" tIns="0" rIns="0" bIns="0" rtlCol="0" anchor="ctr"/>
          <a:lstStyle/>
          <a:p>
            <a:pPr indent="0" marL="0">
              <a:buNone/>
            </a:pPr>
            <a:r>
              <a:rPr lang="en-US" sz="1600" dirty="0">
                <a:solidFill>
                  <a:srgbClr val="F9E795"/>
                </a:solidFill>
                <a:latin typeface="Calibri" pitchFamily="34" charset="0"/>
                <a:ea typeface="Calibri" pitchFamily="34" charset="-122"/>
                <a:cs typeface="Calibri" pitchFamily="34" charset="-120"/>
              </a:rPr>
              <a:t>Covered so far</a:t>
            </a:r>
            <a:endParaRPr lang="en-US" sz="1600" dirty="0"/>
          </a:p>
        </p:txBody>
      </p:sp>
      <p:sp>
        <p:nvSpPr>
          <p:cNvPr id="3" name="Text 1"/>
          <p:cNvSpPr/>
          <p:nvPr/>
        </p:nvSpPr>
        <p:spPr>
          <a:xfrm>
            <a:off x="822960" y="1371600"/>
            <a:ext cx="5029200" cy="54864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 Agent  (Lesson 1)</a:t>
            </a:r>
            <a:endParaRPr lang="en-US" sz="2400" dirty="0"/>
          </a:p>
        </p:txBody>
      </p:sp>
      <p:sp>
        <p:nvSpPr>
          <p:cNvPr id="4" name="Text 2"/>
          <p:cNvSpPr/>
          <p:nvPr/>
        </p:nvSpPr>
        <p:spPr>
          <a:xfrm>
            <a:off x="822960" y="2560320"/>
            <a:ext cx="5029200" cy="457200"/>
          </a:xfrm>
          <a:prstGeom prst="rect">
            <a:avLst/>
          </a:prstGeom>
          <a:noFill/>
          <a:ln/>
        </p:spPr>
        <p:txBody>
          <a:bodyPr wrap="square" lIns="0" tIns="0" rIns="0" bIns="0" rtlCol="0" anchor="ctr"/>
          <a:lstStyle/>
          <a:p>
            <a:pPr indent="0" marL="0">
              <a:buNone/>
            </a:pPr>
            <a:r>
              <a:rPr lang="en-US" sz="1600" dirty="0">
                <a:solidFill>
                  <a:srgbClr val="F9E795"/>
                </a:solidFill>
                <a:latin typeface="Calibri" pitchFamily="34" charset="0"/>
                <a:ea typeface="Calibri" pitchFamily="34" charset="-122"/>
                <a:cs typeface="Calibri" pitchFamily="34" charset="-120"/>
              </a:rPr>
              <a:t>Up next — Lesson 2</a:t>
            </a:r>
            <a:endParaRPr lang="en-US" sz="1600" dirty="0"/>
          </a:p>
        </p:txBody>
      </p:sp>
      <p:sp>
        <p:nvSpPr>
          <p:cNvPr id="5" name="Text 3"/>
          <p:cNvSpPr/>
          <p:nvPr/>
        </p:nvSpPr>
        <p:spPr>
          <a:xfrm>
            <a:off x="822960" y="3017520"/>
            <a:ext cx="5029200" cy="731520"/>
          </a:xfrm>
          <a:prstGeom prst="rect">
            <a:avLst/>
          </a:prstGeom>
          <a:noFill/>
          <a:ln/>
        </p:spPr>
        <p:txBody>
          <a:bodyPr wrap="square" lIns="0" tIns="0" rIns="0" bIns="0" rtlCol="0" anchor="ctr"/>
          <a:lstStyle/>
          <a:p>
            <a:pPr indent="0" marL="0">
              <a:buNone/>
            </a:pPr>
            <a:r>
              <a:rPr lang="en-US" sz="3400" b="1" dirty="0">
                <a:solidFill>
                  <a:srgbClr val="F96167"/>
                </a:solidFill>
                <a:latin typeface="Cambria" pitchFamily="34" charset="0"/>
                <a:ea typeface="Cambria" pitchFamily="34" charset="-122"/>
                <a:cs typeface="Cambria" pitchFamily="34" charset="-120"/>
              </a:rPr>
              <a:t>Memory</a:t>
            </a:r>
            <a:endParaRPr lang="en-US" sz="3400" dirty="0"/>
          </a:p>
        </p:txBody>
      </p:sp>
      <p:sp>
        <p:nvSpPr>
          <p:cNvPr id="6" name="Text 4"/>
          <p:cNvSpPr/>
          <p:nvPr/>
        </p:nvSpPr>
        <p:spPr>
          <a:xfrm>
            <a:off x="822960" y="3794760"/>
            <a:ext cx="5120640" cy="118872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How does an agent remember what happened five minutes ago — the way Word remembers your last 20 actions in Undo history?</a:t>
            </a:r>
            <a:endParaRPr lang="en-US" sz="1500" dirty="0"/>
          </a:p>
        </p:txBody>
      </p:sp>
      <p:sp>
        <p:nvSpPr>
          <p:cNvPr id="7" name="Text 5"/>
          <p:cNvSpPr/>
          <p:nvPr/>
        </p:nvSpPr>
        <p:spPr>
          <a:xfrm>
            <a:off x="6583680" y="914400"/>
            <a:ext cx="4754880" cy="457200"/>
          </a:xfrm>
          <a:prstGeom prst="rect">
            <a:avLst/>
          </a:prstGeom>
          <a:noFill/>
          <a:ln/>
        </p:spPr>
        <p:txBody>
          <a:bodyPr wrap="square" lIns="0" tIns="0" rIns="0" bIns="0" rtlCol="0" anchor="ctr"/>
          <a:lstStyle/>
          <a:p>
            <a:pPr indent="0" marL="0">
              <a:buNone/>
            </a:pPr>
            <a:r>
              <a:rPr lang="en-US" sz="1600" dirty="0">
                <a:solidFill>
                  <a:srgbClr val="F9E795"/>
                </a:solidFill>
                <a:latin typeface="Calibri" pitchFamily="34" charset="0"/>
                <a:ea typeface="Calibri" pitchFamily="34" charset="-122"/>
                <a:cs typeface="Calibri" pitchFamily="34" charset="-120"/>
              </a:rPr>
              <a:t>Later in the series</a:t>
            </a:r>
            <a:endParaRPr lang="en-US" sz="1600" dirty="0"/>
          </a:p>
        </p:txBody>
      </p:sp>
      <p:sp>
        <p:nvSpPr>
          <p:cNvPr id="8" name="Text 6"/>
          <p:cNvSpPr/>
          <p:nvPr/>
        </p:nvSpPr>
        <p:spPr>
          <a:xfrm>
            <a:off x="6583680" y="1371600"/>
            <a:ext cx="4754880" cy="41148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 Skill</a:t>
            </a:r>
            <a:endParaRPr lang="en-US" sz="1600" dirty="0"/>
          </a:p>
        </p:txBody>
      </p:sp>
      <p:sp>
        <p:nvSpPr>
          <p:cNvPr id="9" name="Text 7"/>
          <p:cNvSpPr/>
          <p:nvPr/>
        </p:nvSpPr>
        <p:spPr>
          <a:xfrm>
            <a:off x="6583680" y="1828800"/>
            <a:ext cx="4754880" cy="41148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 Hook</a:t>
            </a:r>
            <a:endParaRPr lang="en-US" sz="1600" dirty="0"/>
          </a:p>
        </p:txBody>
      </p:sp>
      <p:sp>
        <p:nvSpPr>
          <p:cNvPr id="10" name="Text 8"/>
          <p:cNvSpPr/>
          <p:nvPr/>
        </p:nvSpPr>
        <p:spPr>
          <a:xfrm>
            <a:off x="6583680" y="2286000"/>
            <a:ext cx="4754880" cy="41148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 Model (deeper dive)</a:t>
            </a:r>
            <a:endParaRPr lang="en-US" sz="1600" dirty="0"/>
          </a:p>
        </p:txBody>
      </p:sp>
      <p:sp>
        <p:nvSpPr>
          <p:cNvPr id="11" name="Text 9"/>
          <p:cNvSpPr/>
          <p:nvPr/>
        </p:nvSpPr>
        <p:spPr>
          <a:xfrm>
            <a:off x="6583680" y="2743200"/>
            <a:ext cx="4754880" cy="41148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 Workflow</a:t>
            </a:r>
            <a:endParaRPr lang="en-US" sz="1600" dirty="0"/>
          </a:p>
        </p:txBody>
      </p:sp>
      <p:sp>
        <p:nvSpPr>
          <p:cNvPr id="12" name="Text 10"/>
          <p:cNvSpPr/>
          <p:nvPr/>
        </p:nvSpPr>
        <p:spPr>
          <a:xfrm>
            <a:off x="6583680" y="3200400"/>
            <a:ext cx="4754880" cy="41148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 JSON</a:t>
            </a:r>
            <a:endParaRPr lang="en-US" sz="1600" dirty="0"/>
          </a:p>
        </p:txBody>
      </p:sp>
      <p:sp>
        <p:nvSpPr>
          <p:cNvPr id="13" name="Text 11"/>
          <p:cNvSpPr/>
          <p:nvPr/>
        </p:nvSpPr>
        <p:spPr>
          <a:xfrm>
            <a:off x="6583680" y="3657600"/>
            <a:ext cx="4754880" cy="41148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 Python</a:t>
            </a:r>
            <a:endParaRPr lang="en-US" sz="1600" dirty="0"/>
          </a:p>
        </p:txBody>
      </p:sp>
      <p:sp>
        <p:nvSpPr>
          <p:cNvPr id="14" name="Shape 12"/>
          <p:cNvSpPr/>
          <p:nvPr/>
        </p:nvSpPr>
        <p:spPr>
          <a:xfrm>
            <a:off x="9346997" y="4663440"/>
            <a:ext cx="691286" cy="691286"/>
          </a:xfrm>
          <a:prstGeom prst="ellipse">
            <a:avLst/>
          </a:prstGeom>
          <a:solidFill>
            <a:srgbClr val="F9E795"/>
          </a:solidFill>
          <a:ln w="28575">
            <a:solidFill>
              <a:srgbClr val="2F3C7E"/>
            </a:solidFill>
            <a:prstDash val="solid"/>
          </a:ln>
        </p:spPr>
      </p:sp>
      <p:sp>
        <p:nvSpPr>
          <p:cNvPr id="15" name="Shape 13"/>
          <p:cNvSpPr/>
          <p:nvPr/>
        </p:nvSpPr>
        <p:spPr>
          <a:xfrm>
            <a:off x="9692640" y="5313578"/>
            <a:ext cx="0" cy="822960"/>
          </a:xfrm>
          <a:prstGeom prst="line">
            <a:avLst/>
          </a:prstGeom>
          <a:noFill/>
          <a:ln w="38100">
            <a:solidFill>
              <a:srgbClr val="2F3C7E"/>
            </a:solidFill>
            <a:prstDash val="solid"/>
          </a:ln>
        </p:spPr>
      </p:sp>
      <p:sp>
        <p:nvSpPr>
          <p:cNvPr id="16" name="Shape 14"/>
          <p:cNvSpPr/>
          <p:nvPr/>
        </p:nvSpPr>
        <p:spPr>
          <a:xfrm flipV="1">
            <a:off x="9240012" y="5437022"/>
            <a:ext cx="452628" cy="288036"/>
          </a:xfrm>
          <a:prstGeom prst="line">
            <a:avLst/>
          </a:prstGeom>
          <a:noFill/>
          <a:ln w="38100">
            <a:solidFill>
              <a:srgbClr val="2F3C7E"/>
            </a:solidFill>
            <a:prstDash val="solid"/>
          </a:ln>
        </p:spPr>
      </p:sp>
      <p:sp>
        <p:nvSpPr>
          <p:cNvPr id="17" name="Shape 15"/>
          <p:cNvSpPr/>
          <p:nvPr/>
        </p:nvSpPr>
        <p:spPr>
          <a:xfrm>
            <a:off x="9692640" y="5437022"/>
            <a:ext cx="452628" cy="288036"/>
          </a:xfrm>
          <a:prstGeom prst="line">
            <a:avLst/>
          </a:prstGeom>
          <a:noFill/>
          <a:ln w="38100">
            <a:solidFill>
              <a:srgbClr val="2F3C7E"/>
            </a:solidFill>
            <a:prstDash val="solid"/>
          </a:ln>
        </p:spPr>
      </p:sp>
      <p:sp>
        <p:nvSpPr>
          <p:cNvPr id="18" name="Shape 16"/>
          <p:cNvSpPr/>
          <p:nvPr/>
        </p:nvSpPr>
        <p:spPr>
          <a:xfrm flipV="1">
            <a:off x="9363456" y="6136538"/>
            <a:ext cx="329184" cy="411480"/>
          </a:xfrm>
          <a:prstGeom prst="line">
            <a:avLst/>
          </a:prstGeom>
          <a:noFill/>
          <a:ln w="38100">
            <a:solidFill>
              <a:srgbClr val="2F3C7E"/>
            </a:solidFill>
            <a:prstDash val="solid"/>
          </a:ln>
        </p:spPr>
      </p:sp>
      <p:sp>
        <p:nvSpPr>
          <p:cNvPr id="19" name="Shape 17"/>
          <p:cNvSpPr/>
          <p:nvPr/>
        </p:nvSpPr>
        <p:spPr>
          <a:xfrm>
            <a:off x="9692640" y="6136538"/>
            <a:ext cx="329184" cy="411480"/>
          </a:xfrm>
          <a:prstGeom prst="line">
            <a:avLst/>
          </a:prstGeom>
          <a:noFill/>
          <a:ln w="38100">
            <a:solidFill>
              <a:srgbClr val="2F3C7E"/>
            </a:solidFill>
            <a:prstDash val="solid"/>
          </a:ln>
        </p:spPr>
      </p:sp>
      <p:sp>
        <p:nvSpPr>
          <p:cNvPr id="20" name="Shape 18"/>
          <p:cNvSpPr/>
          <p:nvPr/>
        </p:nvSpPr>
        <p:spPr>
          <a:xfrm>
            <a:off x="8595360" y="3749040"/>
            <a:ext cx="2194560" cy="685800"/>
          </a:xfrm>
          <a:prstGeom prst="roundRect">
            <a:avLst>
              <a:gd name="adj" fmla="val 16000"/>
            </a:avLst>
          </a:prstGeom>
          <a:solidFill>
            <a:srgbClr val="FFFFFF"/>
          </a:solidFill>
          <a:ln w="25400">
            <a:solidFill>
              <a:srgbClr val="2F3C7E"/>
            </a:solidFill>
            <a:prstDash val="solid"/>
          </a:ln>
        </p:spPr>
      </p:sp>
      <p:sp>
        <p:nvSpPr>
          <p:cNvPr id="21" name="Shape 19"/>
          <p:cNvSpPr/>
          <p:nvPr/>
        </p:nvSpPr>
        <p:spPr>
          <a:xfrm>
            <a:off x="8732520" y="4389120"/>
            <a:ext cx="109728" cy="91440"/>
          </a:xfrm>
          <a:prstGeom prst="ellipse">
            <a:avLst/>
          </a:prstGeom>
          <a:solidFill>
            <a:srgbClr val="FFFFFF"/>
          </a:solidFill>
          <a:ln w="25400">
            <a:solidFill>
              <a:srgbClr val="2F3C7E"/>
            </a:solidFill>
            <a:prstDash val="solid"/>
          </a:ln>
        </p:spPr>
      </p:sp>
      <p:sp>
        <p:nvSpPr>
          <p:cNvPr id="22" name="Text 20"/>
          <p:cNvSpPr/>
          <p:nvPr/>
        </p:nvSpPr>
        <p:spPr>
          <a:xfrm>
            <a:off x="8705088" y="3749040"/>
            <a:ext cx="1975104" cy="685800"/>
          </a:xfrm>
          <a:prstGeom prst="rect">
            <a:avLst/>
          </a:prstGeom>
          <a:noFill/>
          <a:ln/>
        </p:spPr>
        <p:txBody>
          <a:bodyPr wrap="square" lIns="0" tIns="0" rIns="0" bIns="0" rtlCol="0" anchor="ctr"/>
          <a:lstStyle/>
          <a:p>
            <a:pPr algn="ctr" indent="0" marL="0">
              <a:buNone/>
            </a:pPr>
            <a:r>
              <a:rPr lang="en-US" sz="1200" dirty="0">
                <a:solidFill>
                  <a:srgbClr val="2B2B2B"/>
                </a:solidFill>
                <a:latin typeface="Calibri" pitchFamily="34" charset="0"/>
                <a:ea typeface="Calibri" pitchFamily="34" charset="-122"/>
                <a:cs typeface="Calibri" pitchFamily="34" charset="-120"/>
              </a:rPr>
              <a:t>What happened</a:t>
            </a:r>
            <a:endParaRPr lang="en-US" sz="1200" dirty="0"/>
          </a:p>
          <a:p>
            <a:pPr algn="ctr" indent="0" marL="0">
              <a:buNone/>
            </a:pPr>
            <a:r>
              <a:rPr lang="en-US" sz="1200" dirty="0">
                <a:solidFill>
                  <a:srgbClr val="2B2B2B"/>
                </a:solidFill>
                <a:latin typeface="Calibri" pitchFamily="34" charset="0"/>
                <a:ea typeface="Calibri" pitchFamily="34" charset="-122"/>
                <a:cs typeface="Calibri" pitchFamily="34" charset="-120"/>
              </a:rPr>
              <a:t>5 minutes ago?</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2026-07-17T15:15:42Z</dcterms:created>
  <dcterms:modified xsi:type="dcterms:W3CDTF">2026-07-17T15:15:42Z</dcterms:modified>
</cp:coreProperties>
</file>