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lesson we talked about 'agents' — AI that can act, not just answer. But every agent needs an engine under the hood. That engine has a name: the model. Let's open the hood.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model is a giant pattern-matcher. Feed it text, and it predicts the most likely next words, over and over, until it's written a full answer. That's it — no file access, no memory of yesterday, no buttons to click. Just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of Excel's calculation engine: give it a formula, it gives you a number. It doesn't know what a budget is. It just calculates. A model is the same — pure computation, no context beyond what you hand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all models are the same size. A small model is fast and cheap, like a pocket calculator — great for quick, simple jobs. A large model is slower and pricier, but handles nuance and reasoning, like a full scientific calculator. Picking a model is picking how much brainpower — and cost — a task actually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So: a model is the engine, not the car. It predicts text — nothing more. Everything that makes AI feel useful — remembering, acting, using tools — is the vehicle engineers built around that engine, which is exactly what an agent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Mistral Studio, this choice is literal: when you build an agent, you pick which model powers it — a small model for quick, high-volume tasks, a larger or reasoning-focused model like Magistral for multi-step logic and math. The model is a setting you choose. The agent is everything built around whichever model you picked — its tools, instructions, and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So: a model is the engine, not the car. Everything that makes AI feel useful is the vehicle built around that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time: how does that vehicle remember where it's been? That's 'memory' — see you in Lesson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96167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937760"/>
            <a:ext cx="3291840" cy="3291840"/>
          </a:xfrm>
          <a:prstGeom prst="ellipse">
            <a:avLst/>
          </a:prstGeom>
          <a:solidFill>
            <a:srgbClr val="F9E795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Explained, Plain and Simple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2: What Is a “Model”?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2–5 minute lesson · script, slides, and doodles · Sourov Deb ·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is the engine under the hood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3840480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38100">
            <a:solidFill>
              <a:srgbClr val="2F3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538728" y="294436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11080" y="3493960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61488" y="372160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11896" y="3493960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84248" y="294436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11896" y="2394776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1488" y="216712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1080" y="2394776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51710" y="2434590"/>
            <a:ext cx="1165860" cy="1165860"/>
          </a:xfrm>
          <a:prstGeom prst="ellipse">
            <a:avLst/>
          </a:prstGeom>
          <a:solidFill>
            <a:srgbClr val="F9E795"/>
          </a:solidFill>
          <a:ln w="31750">
            <a:solidFill>
              <a:srgbClr val="2F3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51710" y="2852928"/>
            <a:ext cx="11658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800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wheels. No seats. No steering wheel — just the engine.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1645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model, on its own: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35040" y="233172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2286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open or save a file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30632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60350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3017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remember yesterday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37947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29400" y="37490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buttons to click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35040" y="452628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29400" y="4480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predicts the next words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the engine. On its own, it doesn't go anywhere.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it text. It predicts the next text.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37744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3337560"/>
            <a:ext cx="109728" cy="91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377440"/>
            <a:ext cx="3072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=SUM(A1:A10)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06240" y="2880360"/>
            <a:ext cx="14630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287768" y="280720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33338" y="342145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19088" y="367588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4838" y="342145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50408" y="280720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4838" y="219295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088" y="193852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33338" y="219295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40730" y="2228850"/>
            <a:ext cx="1303020" cy="1303020"/>
          </a:xfrm>
          <a:prstGeom prst="ellipse">
            <a:avLst/>
          </a:prstGeom>
          <a:solidFill>
            <a:srgbClr val="F9E795"/>
          </a:solidFill>
          <a:ln w="31750">
            <a:solidFill>
              <a:srgbClr val="2F3C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40730" y="2715768"/>
            <a:ext cx="1303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52360" y="2880360"/>
            <a:ext cx="146304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052560" y="2377440"/>
            <a:ext cx="21945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9720" y="3337560"/>
            <a:ext cx="109728" cy="914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62288" y="2377440"/>
            <a:ext cx="1975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whole job: formula (or question) in, best-guess answer out.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Bigger model = more power, more cost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88720" y="2011680"/>
            <a:ext cx="1207008" cy="160934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31750">
            <a:solidFill>
              <a:srgbClr val="2F3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9421" y="2132381"/>
            <a:ext cx="965606" cy="321869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9596" y="2564892"/>
            <a:ext cx="251460" cy="221285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1348" y="2564892"/>
            <a:ext cx="251460" cy="221285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43100" y="2564892"/>
            <a:ext cx="251460" cy="221285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9596" y="2846527"/>
            <a:ext cx="251460" cy="221285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1348" y="2846527"/>
            <a:ext cx="251460" cy="221285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3100" y="2846527"/>
            <a:ext cx="251460" cy="221285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39596" y="3128162"/>
            <a:ext cx="251460" cy="221285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1348" y="3128162"/>
            <a:ext cx="251460" cy="221285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43100" y="3128162"/>
            <a:ext cx="251460" cy="221285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977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cheap · simple jobs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3291840"/>
            <a:ext cx="4572000" cy="-54864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/ COST  ⇄  POWER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78240" y="1463040"/>
            <a:ext cx="1865376" cy="248716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31750">
            <a:solidFill>
              <a:srgbClr val="2F3C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4778" y="1649578"/>
            <a:ext cx="1492301" cy="49743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11412" y="2318004"/>
            <a:ext cx="388620" cy="341986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77756" y="2318004"/>
            <a:ext cx="388620" cy="341986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44100" y="2318004"/>
            <a:ext cx="388620" cy="341986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11412" y="2753258"/>
            <a:ext cx="388620" cy="341986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77756" y="2753258"/>
            <a:ext cx="388620" cy="341986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944100" y="2753258"/>
            <a:ext cx="388620" cy="341986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11412" y="3188513"/>
            <a:ext cx="388620" cy="341986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77756" y="3188513"/>
            <a:ext cx="388620" cy="341986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44100" y="3188513"/>
            <a:ext cx="388620" cy="341986"/>
          </a:xfrm>
          <a:prstGeom prst="rect">
            <a:avLst/>
          </a:prstGeom>
          <a:solidFill>
            <a:srgbClr val="FFFFFF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MODEL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0" y="4343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· pricier · handles nuance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a model = picking how much brainpower (and cost) a task actually needs.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Bolt the engine into a body — that's an AGENT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1828800"/>
            <a:ext cx="512064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38100">
            <a:solidFill>
              <a:srgbClr val="2F3C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37560" y="3931920"/>
            <a:ext cx="640080" cy="640080"/>
          </a:xfrm>
          <a:prstGeom prst="ellipse">
            <a:avLst/>
          </a:prstGeom>
          <a:solidFill>
            <a:srgbClr val="2B2B2B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20440" y="41148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543800" y="3931920"/>
            <a:ext cx="640080" cy="640080"/>
          </a:xfrm>
          <a:prstGeom prst="ellipse">
            <a:avLst/>
          </a:prstGeom>
          <a:solidFill>
            <a:srgbClr val="2B2B2B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41148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327648" y="276148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0173" y="3214093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7568" y="340156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34963" y="3214093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47488" y="276148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34963" y="2308883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87568" y="2121408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0173" y="2308883"/>
            <a:ext cx="146304" cy="146304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80660" y="2354580"/>
            <a:ext cx="960120" cy="960120"/>
          </a:xfrm>
          <a:prstGeom prst="ellipse">
            <a:avLst/>
          </a:prstGeom>
          <a:solidFill>
            <a:srgbClr val="F9E795"/>
          </a:solidFill>
          <a:ln w="31750">
            <a:solidFill>
              <a:srgbClr val="2F3C7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0660" y="26700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36592" y="1234440"/>
            <a:ext cx="585216" cy="585216"/>
          </a:xfrm>
          <a:prstGeom prst="ellipse">
            <a:avLst/>
          </a:prstGeom>
          <a:solidFill>
            <a:srgbClr val="F96167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792224"/>
            <a:ext cx="0" cy="502920"/>
          </a:xfrm>
          <a:prstGeom prst="line">
            <a:avLst/>
          </a:prstGeom>
          <a:noFill/>
          <a:ln w="31750">
            <a:solidFill>
              <a:srgbClr val="2F3C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4709160"/>
            <a:ext cx="3657600" cy="502920"/>
          </a:xfrm>
          <a:prstGeom prst="roundRect">
            <a:avLst>
              <a:gd name="adj" fmla="val 50909"/>
            </a:avLst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4297680" y="4709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the vehicle built around the model — tools, memory, a goal, a driver.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example: Mistral Studio's model picker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34747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31750">
            <a:solidFill>
              <a:srgbClr val="2F3C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645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Magistral — reasoning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34747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— fast, cheap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347472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97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balanced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3474720" cy="502920"/>
          </a:xfrm>
          <a:prstGeom prst="rect">
            <a:avLst/>
          </a:prstGeom>
          <a:solidFill>
            <a:srgbClr val="F9E795"/>
          </a:solidFill>
          <a:ln w="19050">
            <a:solidFill>
              <a:srgbClr val="2F3C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Magistral — reasoning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2651760"/>
            <a:ext cx="128016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0" y="21945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9E795"/>
          </a:solidFill>
          <a:ln w="31750">
            <a:solidFill>
              <a:srgbClr val="2F3C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2194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840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build an agent in Mistral Studio's Agent Builder, you pick which model powers it — a small model for quick, high-volume tasks, or a larger reasoning model like Magistral for multi-step logic and math. The model is a setting you choose. The agent is everything built around it.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Mistral “Which models can I use with my Agent?” help article &amp; Studio Agents docs, checked July 2026.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engine vs. vehicle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011680" y="2560320"/>
            <a:ext cx="777240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" name="Shape 2"/>
          <p:cNvSpPr/>
          <p:nvPr/>
        </p:nvSpPr>
        <p:spPr>
          <a:xfrm>
            <a:off x="1508760" y="2340864"/>
            <a:ext cx="457200" cy="45720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08760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40280" y="2240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= the engine. Predicts text — nothing more.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11680" y="3840480"/>
            <a:ext cx="777240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3621024"/>
            <a:ext cx="457200" cy="457200"/>
          </a:xfrm>
          <a:prstGeom prst="ellipse">
            <a:avLst/>
          </a:prstGeom>
          <a:solidFill>
            <a:srgbClr val="F96167"/>
          </a:solidFill>
          <a:ln w="25400">
            <a:solidFill>
              <a:srgbClr val="2F3C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40280" y="3520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the vehicle built around it: tools, memory, a goal.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engine isn't always the answer — pick the model that fits the task.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so far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Agent (L1)  →  ✓ Model (L2)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vehicle remember where it's been — the way Word remembers your last 20 actions in Undo history?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0" y="914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in the series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0" y="1371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Skill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Hook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Workflow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JSON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3200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2026-07-17T15:22:14Z</dcterms:created>
  <dcterms:modified xsi:type="dcterms:W3CDTF">2026-07-17T15:22:14Z</dcterms:modified>
</cp:coreProperties>
</file>