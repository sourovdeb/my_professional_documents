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interdisciplinary tour. Over the next ten slides we'll move through five domains that shape how minds, language, matter, and machines behave, and close with a real case study that shows every concept operating in one connected life. The goal is accessibility for a first-time audience without losing what makes each idea genuinely surprising.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processes roughly eleven million bits of sensory data per second, but only about forty reach conscious awareness — that gap is why productivity systems exist at all. Chunking and interleaving work with this bottleneck rather than against it, and the Zeigarnik Effect explains why simply starting a task creates the mental pull to finish it. For ADHD thinkers, the same neurology that scatters attention also enables intense hyperfocus, which is why externalized structure works better than willpower.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Evolutionary psychology explains cognitive biases as adaptations to tribal life, not defects — but those same shortcuts now let modern institutions fail vulnerable people while feeling entirely reasonable inside. Many disability and equality laws require anticipatory adjustments, meaning support must be built in before anyone asks. Evolved brains, by contrast, default to waiting until asked, which is exactly where these four biases do their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language has its own inventory of phonemes, and English's roughly forty-four sounds are the reason spelling feels so inconsistent with pronunciation. Minimal pairs like ship and sheep show exactly where those sound contrasts carry meaning, which is why mispronouncing a single vowel can change what a listener understands. This is also why phonology gets dedicated training hours in programs like CELTA — it is easy to teach vocabulary and grammar while quietly neglecting the sound system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bouba/kiki effect, first noticed by Wolfgang Köhler in 1929, shows that the link between sound and meaning is not entirely arbitrary the way linguists once assumed. Rounded vowels and soft consonants consistently read as gentle and premium, while sharp, plosive sounds read as fast and energetic, and brand namers exploit this constantly, whether or not they can name the mechanism. It is one explanation for why some brand names feel instantly trustworthy or exciting before a single fact about the product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do not understand language the way people do — they learn to predict the statistical continuation of text, but at sufficient scale that prediction produces startlingly capable behavior. The pipeline runs from pretraining on raw text, to fine-tuning on curated examples, to alignment with human feedback, and only then do emergent abilities like multi-step reasoning show up, seemingly out of nowhere. The alignment problem is the catch: a model faithfully optimizes the objective it was given, which is not always the objective its creators actually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mechanics breaks classical intuition: the double-slit experiment shows that unobserved particles behave like waves, producing an interference pattern, while measured particles behave like discrete points instead. Superposition and entanglement are not analogies — they are measured, repeatable properties of real systems. Quantum tunneling is the most underrated of these: it is the literal reason nuclear fusion happens inside the sun, since protons could never classically overcome their mutual repulsion.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cognition borrows the math of quantum probability because it fits human decision data better than classical probability does — people's choices genuinely violate the axioms classical models assume. This is not a claim that brains are literal quantum computers; it is a claim that framing, order, and context change outcomes the way measurement changes a quantum system. That reframing becomes very useful in the next slide, where an institution's slow, contradictory response to a disclosed need looks a lot like a system stuck in superposition until forced to collapse into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concept from this deck shows up in one real, ongoing story: a migration from Bangladesh to Australia and then France, a marriage and naturalization process, a workplace conflict serious enough to involve France's occupational-health system, and a mid-career teacher-training disclosure that tested whether anticipatory disability duties are enforced in practice or only on paper. Layered on top is a still-unresolved family visa process for a parent, which turns evolutionary in-group and status-quo bias into lived bureaucratic friction. The point of pairing theory with a real case is that these are not abstract academic ideas — they are the exact forces shaping outcomes for one person navigating three countries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unifying thread across psychology, linguistics, AI, physics, and the case study is that every one of these systems is trying to manage complexity with limited resources, whether that resource is working memory, phonemes, training data, or a barrier to tunnel through. The rare skill on display is not knowing more isolated facts about each field — it is noticing when two distant fields are quietly describing the same underlying shape. That noticing is exactly what turned a personal, three-continent story into a case study that teaches five disciplines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B4D"/>
          </a:solidFill>
          <a:ln/>
        </p:spPr>
      </p:sp>
      <p:sp>
        <p:nvSpPr>
          <p:cNvPr id="3" name="Shape 1"/>
          <p:cNvSpPr/>
          <p:nvPr/>
        </p:nvSpPr>
        <p:spPr>
          <a:xfrm>
            <a:off x="9692640" y="-1097280"/>
            <a:ext cx="4114800" cy="4114800"/>
          </a:xfrm>
          <a:prstGeom prst="ellipse">
            <a:avLst/>
          </a:prstGeom>
          <a:solidFill>
            <a:srgbClr val="273180"/>
          </a:solidFill>
          <a:ln/>
        </p:spPr>
      </p:sp>
      <p:sp>
        <p:nvSpPr>
          <p:cNvPr id="4" name="Shape 2"/>
          <p:cNvSpPr/>
          <p:nvPr/>
        </p:nvSpPr>
        <p:spPr>
          <a:xfrm>
            <a:off x="640080" y="548640"/>
            <a:ext cx="822960" cy="822960"/>
          </a:xfrm>
          <a:prstGeom prst="ellipse">
            <a:avLst/>
          </a:prstGeom>
          <a:solidFill>
            <a:srgbClr val="E8A33D"/>
          </a:solidFill>
          <a:ln/>
        </p:spPr>
      </p:sp>
      <p:pic>
        <p:nvPicPr>
          <p:cNvPr id="5" name="Image 0" descr="/tmp/claude-0/-home-user-my-professional-documents/107395ae-e5a3-5f7a-a9f4-90ee3859e49c/scratchpad/pptx_build/icons/puzzle.png">    </p:cNvPr>
          <p:cNvPicPr>
            <a:picLocks noChangeAspect="1"/>
          </p:cNvPicPr>
          <p:nvPr/>
        </p:nvPicPr>
        <p:blipFill>
          <a:blip r:embed="rId1"/>
          <a:stretch>
            <a:fillRect/>
          </a:stretch>
        </p:blipFill>
        <p:spPr>
          <a:xfrm>
            <a:off x="738835" y="647395"/>
            <a:ext cx="625450" cy="625450"/>
          </a:xfrm>
          <a:prstGeom prst="rect">
            <a:avLst/>
          </a:prstGeom>
        </p:spPr>
      </p:pic>
      <p:sp>
        <p:nvSpPr>
          <p:cNvPr id="6" name="Text 3"/>
          <p:cNvSpPr/>
          <p:nvPr/>
        </p:nvSpPr>
        <p:spPr>
          <a:xfrm>
            <a:off x="640080" y="1554480"/>
            <a:ext cx="548640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FIVE DOMAINS · ONE CASE STUDY</a:t>
            </a:r>
            <a:endParaRPr lang="en-US" sz="1200" dirty="0"/>
          </a:p>
        </p:txBody>
      </p:sp>
      <p:sp>
        <p:nvSpPr>
          <p:cNvPr id="7" name="Text 4"/>
          <p:cNvSpPr/>
          <p:nvPr/>
        </p:nvSpPr>
        <p:spPr>
          <a:xfrm>
            <a:off x="594360" y="187452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Interdisciplinary Insights</a:t>
            </a:r>
            <a:endParaRPr lang="en-US" sz="4400" dirty="0"/>
          </a:p>
        </p:txBody>
      </p:sp>
      <p:sp>
        <p:nvSpPr>
          <p:cNvPr id="8" name="Text 5"/>
          <p:cNvSpPr/>
          <p:nvPr/>
        </p:nvSpPr>
        <p:spPr>
          <a:xfrm>
            <a:off x="594360" y="3017520"/>
            <a:ext cx="9875520" cy="1005840"/>
          </a:xfrm>
          <a:prstGeom prst="rect">
            <a:avLst/>
          </a:prstGeom>
          <a:noFill/>
          <a:ln/>
        </p:spPr>
        <p:txBody>
          <a:bodyPr wrap="square" lIns="0" tIns="0" rIns="0" bIns="0" rtlCol="0" anchor="ctr"/>
          <a:lstStyle/>
          <a:p>
            <a:pPr indent="0" marL="0">
              <a:lnSpc>
                <a:spcPct val="125000"/>
              </a:lnSpc>
              <a:buNone/>
            </a:pPr>
            <a:r>
              <a:rPr lang="en-US" sz="1800" i="1" dirty="0">
                <a:solidFill>
                  <a:srgbClr val="CADCFC"/>
                </a:solidFill>
                <a:latin typeface="Calibri" pitchFamily="34" charset="0"/>
                <a:ea typeface="Calibri" pitchFamily="34" charset="-122"/>
                <a:cs typeface="Calibri" pitchFamily="34" charset="-120"/>
              </a:rPr>
              <a:t>Minds, Sounds, Matter, and Machines — Traced Through One Life</a:t>
            </a:r>
            <a:endParaRPr lang="en-US" sz="1800" dirty="0"/>
          </a:p>
          <a:p>
            <a:pPr indent="0" marL="0">
              <a:lnSpc>
                <a:spcPct val="125000"/>
              </a:lnSpc>
              <a:buNone/>
            </a:pPr>
            <a:r>
              <a:rPr lang="en-US" sz="1800" i="1" dirty="0">
                <a:solidFill>
                  <a:srgbClr val="CADCFC"/>
                </a:solidFill>
                <a:latin typeface="Calibri" pitchFamily="34" charset="0"/>
                <a:ea typeface="Calibri" pitchFamily="34" charset="-122"/>
                <a:cs typeface="Calibri" pitchFamily="34" charset="-120"/>
              </a:rPr>
              <a:t>Across Bangladesh, Australia, and France</a:t>
            </a:r>
            <a:endParaRPr lang="en-US" sz="1800" dirty="0"/>
          </a:p>
        </p:txBody>
      </p:sp>
      <p:sp>
        <p:nvSpPr>
          <p:cNvPr id="9" name="Text 6"/>
          <p:cNvSpPr/>
          <p:nvPr/>
        </p:nvSpPr>
        <p:spPr>
          <a:xfrm>
            <a:off x="594360" y="5989320"/>
            <a:ext cx="10515600" cy="365760"/>
          </a:xfrm>
          <a:prstGeom prst="rect">
            <a:avLst/>
          </a:prstGeom>
          <a:noFill/>
          <a:ln/>
        </p:spPr>
        <p:txBody>
          <a:bodyPr wrap="square" lIns="0" tIns="0" rIns="0" bIns="0" rtlCol="0" anchor="ctr"/>
          <a:lstStyle/>
          <a:p>
            <a:pPr indent="0" marL="0">
              <a:buNone/>
            </a:pPr>
            <a:r>
              <a:rPr lang="en-US" sz="1300" dirty="0">
                <a:solidFill>
                  <a:srgbClr val="8C97C9"/>
                </a:solidFill>
                <a:latin typeface="Calibri" pitchFamily="34" charset="0"/>
                <a:ea typeface="Calibri" pitchFamily="34" charset="-122"/>
                <a:cs typeface="Calibri" pitchFamily="34" charset="-120"/>
              </a:rPr>
              <a:t>Psychology  •  Linguistics  •  Artificial Intelligence  •  Physics  •  A Personal Case Study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brain.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PSYCHOLOGY</a:t>
            </a:r>
            <a:endParaRPr lang="en-US" sz="1200" dirty="0"/>
          </a:p>
        </p:txBody>
      </p:sp>
      <p:sp>
        <p:nvSpPr>
          <p:cNvPr id="5" name="Text 2"/>
          <p:cNvSpPr/>
          <p:nvPr/>
        </p:nvSpPr>
        <p:spPr>
          <a:xfrm>
            <a:off x="1508760" y="786384"/>
            <a:ext cx="6949440" cy="64008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The Architecture of Attention</a:t>
            </a:r>
            <a:endParaRPr lang="en-US" sz="3000" dirty="0"/>
          </a:p>
        </p:txBody>
      </p:sp>
      <p:sp>
        <p:nvSpPr>
          <p:cNvPr id="6" name="Text 3"/>
          <p:cNvSpPr/>
          <p:nvPr/>
        </p:nvSpPr>
        <p:spPr>
          <a:xfrm>
            <a:off x="594360" y="1600200"/>
            <a:ext cx="6858000" cy="4297680"/>
          </a:xfrm>
          <a:prstGeom prst="rect">
            <a:avLst/>
          </a:prstGeom>
          <a:noFill/>
          <a:ln/>
        </p:spPr>
        <p:txBody>
          <a:bodyPr wrap="square" rtlCol="0" anchor="t"/>
          <a:lstStyle/>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Working memory holds roughly 4–7 chunks — the hard ceiling every productivity method is designed around</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Chunking (Miller, 1956) and interleaving compress complexity into learnable units</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The Zeigarnik Effect: unfinished tasks occupy mental space until closed — the science behind the “two-minute rule”</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For ADHD brains: externalized memory, visual timers, and body doubling replace willpower with structure</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Hyperfocus is a feature, not only a bug — the wiring that scatters attention can also lock onto one problem for hours</a:t>
            </a:r>
            <a:endParaRPr lang="en-US" sz="1500" dirty="0"/>
          </a:p>
        </p:txBody>
      </p:sp>
      <p:sp>
        <p:nvSpPr>
          <p:cNvPr id="7" name="Shape 4"/>
          <p:cNvSpPr/>
          <p:nvPr/>
        </p:nvSpPr>
        <p:spPr>
          <a:xfrm>
            <a:off x="7818120" y="1600200"/>
            <a:ext cx="3749040" cy="4297680"/>
          </a:xfrm>
          <a:prstGeom prst="roundRect">
            <a:avLst>
              <a:gd name="adj" fmla="val 2927"/>
            </a:avLst>
          </a:prstGeom>
          <a:solidFill>
            <a:srgbClr val="F4F6FC"/>
          </a:solidFill>
          <a:ln/>
          <a:effectLst>
            <a:outerShdw sx="100000" sy="100000" kx="0" ky="0" algn="bl" rotWithShape="0" blurRad="76200" dist="25400" dir="5400000">
              <a:srgbClr val="141B4D">
                <a:alpha val="25000"/>
              </a:srgbClr>
            </a:outerShdw>
          </a:effectLst>
        </p:spPr>
      </p:sp>
      <p:sp>
        <p:nvSpPr>
          <p:cNvPr id="8" name="Text 5"/>
          <p:cNvSpPr/>
          <p:nvPr/>
        </p:nvSpPr>
        <p:spPr>
          <a:xfrm>
            <a:off x="8001000" y="1874520"/>
            <a:ext cx="3383280" cy="914400"/>
          </a:xfrm>
          <a:prstGeom prst="rect">
            <a:avLst/>
          </a:prstGeom>
          <a:noFill/>
          <a:ln/>
        </p:spPr>
        <p:txBody>
          <a:bodyPr wrap="square" lIns="0" tIns="0" rIns="0" bIns="0" rtlCol="0" anchor="ctr"/>
          <a:lstStyle/>
          <a:p>
            <a:pPr algn="ctr" indent="0" marL="0">
              <a:buNone/>
            </a:pPr>
            <a:r>
              <a:rPr lang="en-US" sz="4600" b="1" dirty="0">
                <a:solidFill>
                  <a:srgbClr val="1E2761"/>
                </a:solidFill>
                <a:latin typeface="Cambria" pitchFamily="34" charset="0"/>
                <a:ea typeface="Cambria" pitchFamily="34" charset="-122"/>
                <a:cs typeface="Cambria" pitchFamily="34" charset="-120"/>
              </a:rPr>
              <a:t>40 bits</a:t>
            </a:r>
            <a:endParaRPr lang="en-US" sz="4600" dirty="0"/>
          </a:p>
        </p:txBody>
      </p:sp>
      <p:sp>
        <p:nvSpPr>
          <p:cNvPr id="9" name="Text 6"/>
          <p:cNvSpPr/>
          <p:nvPr/>
        </p:nvSpPr>
        <p:spPr>
          <a:xfrm>
            <a:off x="8092440" y="2697480"/>
            <a:ext cx="3200400" cy="548640"/>
          </a:xfrm>
          <a:prstGeom prst="rect">
            <a:avLst/>
          </a:prstGeom>
          <a:noFill/>
          <a:ln/>
        </p:spPr>
        <p:txBody>
          <a:bodyPr wrap="square" lIns="0" tIns="0" rIns="0" bIns="0" rtlCol="0" anchor="ctr"/>
          <a:lstStyle/>
          <a:p>
            <a:pPr algn="ctr" indent="0" marL="0">
              <a:buNone/>
            </a:pPr>
            <a:r>
              <a:rPr lang="en-US" sz="1200" dirty="0">
                <a:solidFill>
                  <a:srgbClr val="5B6088"/>
                </a:solidFill>
                <a:latin typeface="Calibri" pitchFamily="34" charset="0"/>
                <a:ea typeface="Calibri" pitchFamily="34" charset="-122"/>
                <a:cs typeface="Calibri" pitchFamily="34" charset="-120"/>
              </a:rPr>
              <a:t>reach conscious awareness per second</a:t>
            </a:r>
            <a:endParaRPr lang="en-US" sz="1200" dirty="0"/>
          </a:p>
        </p:txBody>
      </p:sp>
      <p:sp>
        <p:nvSpPr>
          <p:cNvPr id="10" name="Shape 7"/>
          <p:cNvSpPr/>
          <p:nvPr/>
        </p:nvSpPr>
        <p:spPr>
          <a:xfrm>
            <a:off x="8366760" y="3383280"/>
            <a:ext cx="2651760" cy="0"/>
          </a:xfrm>
          <a:prstGeom prst="line">
            <a:avLst/>
          </a:prstGeom>
          <a:noFill/>
          <a:ln w="12700">
            <a:solidFill>
              <a:srgbClr val="D7DCEE"/>
            </a:solidFill>
            <a:prstDash val="solid"/>
          </a:ln>
        </p:spPr>
      </p:sp>
      <p:sp>
        <p:nvSpPr>
          <p:cNvPr id="11" name="Text 8"/>
          <p:cNvSpPr/>
          <p:nvPr/>
        </p:nvSpPr>
        <p:spPr>
          <a:xfrm>
            <a:off x="8001000" y="3520440"/>
            <a:ext cx="3383280" cy="777240"/>
          </a:xfrm>
          <a:prstGeom prst="rect">
            <a:avLst/>
          </a:prstGeom>
          <a:noFill/>
          <a:ln/>
        </p:spPr>
        <p:txBody>
          <a:bodyPr wrap="square" lIns="0" tIns="0" rIns="0" bIns="0" rtlCol="0" anchor="ctr"/>
          <a:lstStyle/>
          <a:p>
            <a:pPr algn="ctr" indent="0" marL="0">
              <a:buNone/>
            </a:pPr>
            <a:r>
              <a:rPr lang="en-US" sz="3800" b="1" dirty="0">
                <a:solidFill>
                  <a:srgbClr val="E8A33D"/>
                </a:solidFill>
                <a:latin typeface="Cambria" pitchFamily="34" charset="0"/>
                <a:ea typeface="Cambria" pitchFamily="34" charset="-122"/>
                <a:cs typeface="Cambria" pitchFamily="34" charset="-120"/>
              </a:rPr>
              <a:t>11 million</a:t>
            </a:r>
            <a:endParaRPr lang="en-US" sz="3800" dirty="0"/>
          </a:p>
        </p:txBody>
      </p:sp>
      <p:sp>
        <p:nvSpPr>
          <p:cNvPr id="12" name="Text 9"/>
          <p:cNvSpPr/>
          <p:nvPr/>
        </p:nvSpPr>
        <p:spPr>
          <a:xfrm>
            <a:off x="8092440" y="4251960"/>
            <a:ext cx="3200400" cy="640080"/>
          </a:xfrm>
          <a:prstGeom prst="rect">
            <a:avLst/>
          </a:prstGeom>
          <a:noFill/>
          <a:ln/>
        </p:spPr>
        <p:txBody>
          <a:bodyPr wrap="square" lIns="0" tIns="0" rIns="0" bIns="0" rtlCol="0" anchor="ctr"/>
          <a:lstStyle/>
          <a:p>
            <a:pPr algn="ctr" indent="0" marL="0">
              <a:buNone/>
            </a:pPr>
            <a:r>
              <a:rPr lang="en-US" sz="1200" dirty="0">
                <a:solidFill>
                  <a:srgbClr val="5B6088"/>
                </a:solidFill>
                <a:latin typeface="Calibri" pitchFamily="34" charset="0"/>
                <a:ea typeface="Calibri" pitchFamily="34" charset="-122"/>
                <a:cs typeface="Calibri" pitchFamily="34" charset="-120"/>
              </a:rPr>
              <a:t>bits per second processed outside awareness</a:t>
            </a:r>
            <a:endParaRPr lang="en-US" sz="1200" dirty="0"/>
          </a:p>
        </p:txBody>
      </p:sp>
      <p:sp>
        <p:nvSpPr>
          <p:cNvPr id="13" name="Text 10"/>
          <p:cNvSpPr/>
          <p:nvPr/>
        </p:nvSpPr>
        <p:spPr>
          <a:xfrm>
            <a:off x="8001000" y="5074920"/>
            <a:ext cx="3383280" cy="685800"/>
          </a:xfrm>
          <a:prstGeom prst="rect">
            <a:avLst/>
          </a:prstGeom>
          <a:noFill/>
          <a:ln/>
        </p:spPr>
        <p:txBody>
          <a:bodyPr wrap="square" lIns="0" tIns="0" rIns="0" bIns="0" rtlCol="0" anchor="ctr"/>
          <a:lstStyle/>
          <a:p>
            <a:pPr algn="ctr" indent="0" marL="0">
              <a:buNone/>
            </a:pPr>
            <a:r>
              <a:rPr lang="en-US" sz="1150" i="1" dirty="0">
                <a:solidFill>
                  <a:srgbClr val="1E2761"/>
                </a:solidFill>
                <a:latin typeface="Calibri" pitchFamily="34" charset="0"/>
                <a:ea typeface="Calibri" pitchFamily="34" charset="-122"/>
                <a:cs typeface="Calibri" pitchFamily="34" charset="-120"/>
              </a:rPr>
              <a:t>Every productivity protocol is a workaround for this bottleneck.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scale.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PSYCHOLOGY</a:t>
            </a:r>
            <a:endParaRPr lang="en-US" sz="1200" dirty="0"/>
          </a:p>
        </p:txBody>
      </p:sp>
      <p:sp>
        <p:nvSpPr>
          <p:cNvPr id="5" name="Text 2"/>
          <p:cNvSpPr/>
          <p:nvPr/>
        </p:nvSpPr>
        <p:spPr>
          <a:xfrm>
            <a:off x="1508760" y="786384"/>
            <a:ext cx="9601200" cy="640080"/>
          </a:xfrm>
          <a:prstGeom prst="rect">
            <a:avLst/>
          </a:prstGeom>
          <a:noFill/>
          <a:ln/>
        </p:spPr>
        <p:txBody>
          <a:bodyPr wrap="square" lIns="0" tIns="0" rIns="0" bIns="0"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Why Smart Institutions Still Get It Wrong</a:t>
            </a:r>
            <a:endParaRPr lang="en-US" sz="2800" dirty="0"/>
          </a:p>
        </p:txBody>
      </p:sp>
      <p:sp>
        <p:nvSpPr>
          <p:cNvPr id="6" name="Shape 3"/>
          <p:cNvSpPr/>
          <p:nvPr/>
        </p:nvSpPr>
        <p:spPr>
          <a:xfrm>
            <a:off x="594360" y="1691640"/>
            <a:ext cx="5394960" cy="1874520"/>
          </a:xfrm>
          <a:prstGeom prst="roundRect">
            <a:avLst>
              <a:gd name="adj" fmla="val 4878"/>
            </a:avLst>
          </a:prstGeom>
          <a:solidFill>
            <a:srgbClr val="F4F6FC"/>
          </a:solidFill>
          <a:ln/>
          <a:effectLst>
            <a:outerShdw sx="100000" sy="100000" kx="0" ky="0" algn="bl" rotWithShape="0" blurRad="76200" dist="25400" dir="5400000">
              <a:srgbClr val="141B4D">
                <a:alpha val="25000"/>
              </a:srgbClr>
            </a:outerShdw>
          </a:effectLst>
        </p:spPr>
      </p:sp>
      <p:sp>
        <p:nvSpPr>
          <p:cNvPr id="7" name="Text 4"/>
          <p:cNvSpPr/>
          <p:nvPr/>
        </p:nvSpPr>
        <p:spPr>
          <a:xfrm>
            <a:off x="868680" y="1874520"/>
            <a:ext cx="48463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Confirmation Bias</a:t>
            </a:r>
            <a:endParaRPr lang="en-US" sz="1700" dirty="0"/>
          </a:p>
        </p:txBody>
      </p:sp>
      <p:sp>
        <p:nvSpPr>
          <p:cNvPr id="8" name="Text 5"/>
          <p:cNvSpPr/>
          <p:nvPr/>
        </p:nvSpPr>
        <p:spPr>
          <a:xfrm>
            <a:off x="868680" y="2377440"/>
            <a:ext cx="4846320" cy="1051560"/>
          </a:xfrm>
          <a:prstGeom prst="rect">
            <a:avLst/>
          </a:prstGeom>
          <a:noFill/>
          <a:ln/>
        </p:spPr>
        <p:txBody>
          <a:bodyPr wrap="square" lIns="0" tIns="0" rIns="0" bIns="0" rtlCol="0" anchor="ctr"/>
          <a:lstStyle/>
          <a:p>
            <a:pPr indent="0" marL="0">
              <a:lnSpc>
                <a:spcPct val="115000"/>
              </a:lnSpc>
              <a:buNone/>
            </a:pPr>
            <a:r>
              <a:rPr lang="en-US" sz="1250" dirty="0">
                <a:solidFill>
                  <a:srgbClr val="1B1F3B"/>
                </a:solidFill>
                <a:latin typeface="Calibri" pitchFamily="34" charset="0"/>
                <a:ea typeface="Calibri" pitchFamily="34" charset="-122"/>
                <a:cs typeface="Calibri" pitchFamily="34" charset="-120"/>
              </a:rPr>
              <a:t>Gathering evidence for what an institution already believes about a person, and discounting the rest</a:t>
            </a:r>
            <a:endParaRPr lang="en-US" sz="1250" dirty="0"/>
          </a:p>
        </p:txBody>
      </p:sp>
      <p:sp>
        <p:nvSpPr>
          <p:cNvPr id="9" name="Shape 6"/>
          <p:cNvSpPr/>
          <p:nvPr/>
        </p:nvSpPr>
        <p:spPr>
          <a:xfrm>
            <a:off x="6172200" y="1691640"/>
            <a:ext cx="5394960" cy="1874520"/>
          </a:xfrm>
          <a:prstGeom prst="roundRect">
            <a:avLst>
              <a:gd name="adj" fmla="val 4878"/>
            </a:avLst>
          </a:prstGeom>
          <a:solidFill>
            <a:srgbClr val="F4F6FC"/>
          </a:solidFill>
          <a:ln/>
          <a:effectLst>
            <a:outerShdw sx="100000" sy="100000" kx="0" ky="0" algn="bl" rotWithShape="0" blurRad="76200" dist="25400" dir="5400000">
              <a:srgbClr val="141B4D">
                <a:alpha val="25000"/>
              </a:srgbClr>
            </a:outerShdw>
          </a:effectLst>
        </p:spPr>
      </p:sp>
      <p:sp>
        <p:nvSpPr>
          <p:cNvPr id="10" name="Text 7"/>
          <p:cNvSpPr/>
          <p:nvPr/>
        </p:nvSpPr>
        <p:spPr>
          <a:xfrm>
            <a:off x="6446520" y="1874520"/>
            <a:ext cx="48463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In-Group Bias</a:t>
            </a:r>
            <a:endParaRPr lang="en-US" sz="1700" dirty="0"/>
          </a:p>
        </p:txBody>
      </p:sp>
      <p:sp>
        <p:nvSpPr>
          <p:cNvPr id="11" name="Text 8"/>
          <p:cNvSpPr/>
          <p:nvPr/>
        </p:nvSpPr>
        <p:spPr>
          <a:xfrm>
            <a:off x="6446520" y="2377440"/>
            <a:ext cx="4846320" cy="1051560"/>
          </a:xfrm>
          <a:prstGeom prst="rect">
            <a:avLst/>
          </a:prstGeom>
          <a:noFill/>
          <a:ln/>
        </p:spPr>
        <p:txBody>
          <a:bodyPr wrap="square" lIns="0" tIns="0" rIns="0" bIns="0" rtlCol="0" anchor="ctr"/>
          <a:lstStyle/>
          <a:p>
            <a:pPr indent="0" marL="0">
              <a:lnSpc>
                <a:spcPct val="115000"/>
              </a:lnSpc>
              <a:buNone/>
            </a:pPr>
            <a:r>
              <a:rPr lang="en-US" sz="1250" dirty="0">
                <a:solidFill>
                  <a:srgbClr val="1B1F3B"/>
                </a:solidFill>
                <a:latin typeface="Calibri" pitchFamily="34" charset="0"/>
                <a:ea typeface="Calibri" pitchFamily="34" charset="-122"/>
                <a:cs typeface="Calibri" pitchFamily="34" charset="-120"/>
              </a:rPr>
              <a:t>Faster accommodation for people who already resemble the existing template of “normal”</a:t>
            </a:r>
            <a:endParaRPr lang="en-US" sz="1250" dirty="0"/>
          </a:p>
        </p:txBody>
      </p:sp>
      <p:sp>
        <p:nvSpPr>
          <p:cNvPr id="12" name="Shape 9"/>
          <p:cNvSpPr/>
          <p:nvPr/>
        </p:nvSpPr>
        <p:spPr>
          <a:xfrm>
            <a:off x="594360" y="3794760"/>
            <a:ext cx="5394960" cy="1874520"/>
          </a:xfrm>
          <a:prstGeom prst="roundRect">
            <a:avLst>
              <a:gd name="adj" fmla="val 4878"/>
            </a:avLst>
          </a:prstGeom>
          <a:solidFill>
            <a:srgbClr val="F4F6FC"/>
          </a:solidFill>
          <a:ln/>
          <a:effectLst>
            <a:outerShdw sx="100000" sy="100000" kx="0" ky="0" algn="bl" rotWithShape="0" blurRad="76200" dist="25400" dir="5400000">
              <a:srgbClr val="141B4D">
                <a:alpha val="25000"/>
              </a:srgbClr>
            </a:outerShdw>
          </a:effectLst>
        </p:spPr>
      </p:sp>
      <p:sp>
        <p:nvSpPr>
          <p:cNvPr id="13" name="Text 10"/>
          <p:cNvSpPr/>
          <p:nvPr/>
        </p:nvSpPr>
        <p:spPr>
          <a:xfrm>
            <a:off x="868680" y="3977640"/>
            <a:ext cx="48463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Status-Quo Bias</a:t>
            </a:r>
            <a:endParaRPr lang="en-US" sz="1700" dirty="0"/>
          </a:p>
        </p:txBody>
      </p:sp>
      <p:sp>
        <p:nvSpPr>
          <p:cNvPr id="14" name="Text 11"/>
          <p:cNvSpPr/>
          <p:nvPr/>
        </p:nvSpPr>
        <p:spPr>
          <a:xfrm>
            <a:off x="868680" y="4480560"/>
            <a:ext cx="4846320" cy="1051560"/>
          </a:xfrm>
          <a:prstGeom prst="rect">
            <a:avLst/>
          </a:prstGeom>
          <a:noFill/>
          <a:ln/>
        </p:spPr>
        <p:txBody>
          <a:bodyPr wrap="square" lIns="0" tIns="0" rIns="0" bIns="0" rtlCol="0" anchor="ctr"/>
          <a:lstStyle/>
          <a:p>
            <a:pPr indent="0" marL="0">
              <a:lnSpc>
                <a:spcPct val="115000"/>
              </a:lnSpc>
              <a:buNone/>
            </a:pPr>
            <a:r>
              <a:rPr lang="en-US" sz="1250" dirty="0">
                <a:solidFill>
                  <a:srgbClr val="1B1F3B"/>
                </a:solidFill>
                <a:latin typeface="Calibri" pitchFamily="34" charset="0"/>
                <a:ea typeface="Calibri" pitchFamily="34" charset="-122"/>
                <a:cs typeface="Calibri" pitchFamily="34" charset="-120"/>
              </a:rPr>
              <a:t>Existing procedure keeps outweighing a newly triggered legal duty</a:t>
            </a:r>
            <a:endParaRPr lang="en-US" sz="1250" dirty="0"/>
          </a:p>
        </p:txBody>
      </p:sp>
      <p:sp>
        <p:nvSpPr>
          <p:cNvPr id="15" name="Shape 12"/>
          <p:cNvSpPr/>
          <p:nvPr/>
        </p:nvSpPr>
        <p:spPr>
          <a:xfrm>
            <a:off x="6172200" y="3794760"/>
            <a:ext cx="5394960" cy="1874520"/>
          </a:xfrm>
          <a:prstGeom prst="roundRect">
            <a:avLst>
              <a:gd name="adj" fmla="val 4878"/>
            </a:avLst>
          </a:prstGeom>
          <a:solidFill>
            <a:srgbClr val="F4F6FC"/>
          </a:solidFill>
          <a:ln/>
          <a:effectLst>
            <a:outerShdw sx="100000" sy="100000" kx="0" ky="0" algn="bl" rotWithShape="0" blurRad="76200" dist="25400" dir="5400000">
              <a:srgbClr val="141B4D">
                <a:alpha val="25000"/>
              </a:srgbClr>
            </a:outerShdw>
          </a:effectLst>
        </p:spPr>
      </p:sp>
      <p:sp>
        <p:nvSpPr>
          <p:cNvPr id="16" name="Text 13"/>
          <p:cNvSpPr/>
          <p:nvPr/>
        </p:nvSpPr>
        <p:spPr>
          <a:xfrm>
            <a:off x="6446520" y="3977640"/>
            <a:ext cx="48463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Loss Aversion</a:t>
            </a:r>
            <a:endParaRPr lang="en-US" sz="1700" dirty="0"/>
          </a:p>
        </p:txBody>
      </p:sp>
      <p:sp>
        <p:nvSpPr>
          <p:cNvPr id="17" name="Text 14"/>
          <p:cNvSpPr/>
          <p:nvPr/>
        </p:nvSpPr>
        <p:spPr>
          <a:xfrm>
            <a:off x="6446520" y="4480560"/>
            <a:ext cx="4846320" cy="1051560"/>
          </a:xfrm>
          <a:prstGeom prst="rect">
            <a:avLst/>
          </a:prstGeom>
          <a:noFill/>
          <a:ln/>
        </p:spPr>
        <p:txBody>
          <a:bodyPr wrap="square" lIns="0" tIns="0" rIns="0" bIns="0" rtlCol="0" anchor="ctr"/>
          <a:lstStyle/>
          <a:p>
            <a:pPr indent="0" marL="0">
              <a:lnSpc>
                <a:spcPct val="115000"/>
              </a:lnSpc>
              <a:buNone/>
            </a:pPr>
            <a:r>
              <a:rPr lang="en-US" sz="1250" dirty="0">
                <a:solidFill>
                  <a:srgbClr val="1B1F3B"/>
                </a:solidFill>
                <a:latin typeface="Calibri" pitchFamily="34" charset="0"/>
                <a:ea typeface="Calibri" pitchFamily="34" charset="-122"/>
                <a:cs typeface="Calibri" pitchFamily="34" charset="-120"/>
              </a:rPr>
              <a:t>The feared cost of changing a process outweighs the real cost of excluding someone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volume.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LINGUISTICS</a:t>
            </a:r>
            <a:endParaRPr lang="en-US" sz="1200" dirty="0"/>
          </a:p>
        </p:txBody>
      </p:sp>
      <p:sp>
        <p:nvSpPr>
          <p:cNvPr id="5" name="Text 2"/>
          <p:cNvSpPr/>
          <p:nvPr/>
        </p:nvSpPr>
        <p:spPr>
          <a:xfrm>
            <a:off x="1508760" y="786384"/>
            <a:ext cx="7498080" cy="640080"/>
          </a:xfrm>
          <a:prstGeom prst="rect">
            <a:avLst/>
          </a:prstGeom>
          <a:noFill/>
          <a:ln/>
        </p:spPr>
        <p:txBody>
          <a:bodyPr wrap="square" lIns="0" tIns="0" rIns="0" bIns="0"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The Sound System Behind Every Word</a:t>
            </a:r>
            <a:endParaRPr lang="en-US" sz="2800" dirty="0"/>
          </a:p>
        </p:txBody>
      </p:sp>
      <p:sp>
        <p:nvSpPr>
          <p:cNvPr id="6" name="Text 3"/>
          <p:cNvSpPr/>
          <p:nvPr/>
        </p:nvSpPr>
        <p:spPr>
          <a:xfrm>
            <a:off x="594360" y="1600200"/>
            <a:ext cx="6675120" cy="4297680"/>
          </a:xfrm>
          <a:prstGeom prst="rect">
            <a:avLst/>
          </a:prstGeom>
          <a:noFill/>
          <a:ln/>
        </p:spPr>
        <p:txBody>
          <a:bodyPr wrap="square" rtlCol="0" anchor="t"/>
          <a:lstStyle/>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Phonemes: about 44 distinct sound units carried by only 26 letters in written English</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Allophones: variant pronunciations of the same phoneme that never change meaning</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Prosody — stress, rhythm, intonation — carries as much meaning as the words themselves</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Coarticulation: sounds bleed into their neighbors — speech is a smear, not a row of separate blocks</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CELTA teacher-training devotes dedicated hours to phonology precisely because it is the most overlooked skill in language teaching</a:t>
            </a:r>
            <a:endParaRPr lang="en-US" sz="1500" dirty="0"/>
          </a:p>
        </p:txBody>
      </p:sp>
      <p:sp>
        <p:nvSpPr>
          <p:cNvPr id="7" name="Shape 4"/>
          <p:cNvSpPr/>
          <p:nvPr/>
        </p:nvSpPr>
        <p:spPr>
          <a:xfrm>
            <a:off x="7635240" y="1737360"/>
            <a:ext cx="3931920" cy="2743200"/>
          </a:xfrm>
          <a:prstGeom prst="roundRect">
            <a:avLst>
              <a:gd name="adj" fmla="val 4000"/>
            </a:avLst>
          </a:prstGeom>
          <a:solidFill>
            <a:srgbClr val="1E2761"/>
          </a:solidFill>
          <a:ln/>
          <a:effectLst>
            <a:outerShdw sx="100000" sy="100000" kx="0" ky="0" algn="bl" rotWithShape="0" blurRad="76200" dist="25400" dir="5400000">
              <a:srgbClr val="141B4D">
                <a:alpha val="25000"/>
              </a:srgbClr>
            </a:outerShdw>
          </a:effectLst>
        </p:spPr>
      </p:sp>
      <p:sp>
        <p:nvSpPr>
          <p:cNvPr id="8" name="Text 5"/>
          <p:cNvSpPr/>
          <p:nvPr/>
        </p:nvSpPr>
        <p:spPr>
          <a:xfrm>
            <a:off x="7863840" y="1965960"/>
            <a:ext cx="3474720" cy="365760"/>
          </a:xfrm>
          <a:prstGeom prst="rect">
            <a:avLst/>
          </a:prstGeom>
          <a:noFill/>
          <a:ln/>
        </p:spPr>
        <p:txBody>
          <a:bodyPr wrap="square" lIns="0" tIns="0" rIns="0" bIns="0" rtlCol="0" anchor="ctr"/>
          <a:lstStyle/>
          <a:p>
            <a:pPr indent="0" marL="0">
              <a:buNone/>
            </a:pPr>
            <a:r>
              <a:rPr lang="en-US" sz="1200" b="1" spc="100" kern="0" dirty="0">
                <a:solidFill>
                  <a:srgbClr val="CADCFC"/>
                </a:solidFill>
                <a:latin typeface="Calibri" pitchFamily="34" charset="0"/>
                <a:ea typeface="Calibri" pitchFamily="34" charset="-122"/>
                <a:cs typeface="Calibri" pitchFamily="34" charset="-120"/>
              </a:rPr>
              <a:t>Minimal Pair</a:t>
            </a:r>
            <a:endParaRPr lang="en-US" sz="1200" dirty="0"/>
          </a:p>
        </p:txBody>
      </p:sp>
      <p:sp>
        <p:nvSpPr>
          <p:cNvPr id="9" name="Text 6"/>
          <p:cNvSpPr/>
          <p:nvPr/>
        </p:nvSpPr>
        <p:spPr>
          <a:xfrm>
            <a:off x="7863840" y="2331720"/>
            <a:ext cx="34747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ship / sheep</a:t>
            </a:r>
            <a:endParaRPr lang="en-US" sz="3000" dirty="0"/>
          </a:p>
        </p:txBody>
      </p:sp>
      <p:sp>
        <p:nvSpPr>
          <p:cNvPr id="10" name="Text 7"/>
          <p:cNvSpPr/>
          <p:nvPr/>
        </p:nvSpPr>
        <p:spPr>
          <a:xfrm>
            <a:off x="7863840" y="3108960"/>
            <a:ext cx="3520440" cy="1188720"/>
          </a:xfrm>
          <a:prstGeom prst="rect">
            <a:avLst/>
          </a:prstGeom>
          <a:noFill/>
          <a:ln/>
        </p:spPr>
        <p:txBody>
          <a:bodyPr wrap="square" lIns="0" tIns="0" rIns="0" bIns="0" rtlCol="0" anchor="ctr"/>
          <a:lstStyle/>
          <a:p>
            <a:pPr indent="0" marL="0">
              <a:lnSpc>
                <a:spcPct val="120000"/>
              </a:lnSpc>
              <a:buNone/>
            </a:pPr>
            <a:r>
              <a:rPr lang="en-US" sz="1250" i="1" dirty="0">
                <a:solidFill>
                  <a:srgbClr val="CADCFC"/>
                </a:solidFill>
                <a:latin typeface="Calibri" pitchFamily="34" charset="0"/>
                <a:ea typeface="Calibri" pitchFamily="34" charset="-122"/>
                <a:cs typeface="Calibri" pitchFamily="34" charset="-120"/>
              </a:rPr>
              <a:t>One vowel — /ɪ/ vs /iː/ — is the entire difference between the two words. Miss it, and meaning changes completely.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bullhorn.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LINGUISTICS × MARKETING</a:t>
            </a:r>
            <a:endParaRPr lang="en-US" sz="1200" dirty="0"/>
          </a:p>
        </p:txBody>
      </p:sp>
      <p:sp>
        <p:nvSpPr>
          <p:cNvPr id="5" name="Text 2"/>
          <p:cNvSpPr/>
          <p:nvPr/>
        </p:nvSpPr>
        <p:spPr>
          <a:xfrm>
            <a:off x="1508760" y="786384"/>
            <a:ext cx="7589520" cy="640080"/>
          </a:xfrm>
          <a:prstGeom prst="rect">
            <a:avLst/>
          </a:prstGeom>
          <a:noFill/>
          <a:ln/>
        </p:spPr>
        <p:txBody>
          <a:bodyPr wrap="square" lIns="0" tIns="0" rIns="0" bIns="0" rtlCol="0" anchor="ctr"/>
          <a:lstStyle/>
          <a:p>
            <a:pPr indent="0" marL="0">
              <a:buNone/>
            </a:pPr>
            <a:r>
              <a:rPr lang="en-US" sz="2700" b="1" dirty="0">
                <a:solidFill>
                  <a:srgbClr val="1B1F3B"/>
                </a:solidFill>
                <a:latin typeface="Cambria" pitchFamily="34" charset="0"/>
                <a:ea typeface="Cambria" pitchFamily="34" charset="-122"/>
                <a:cs typeface="Cambria" pitchFamily="34" charset="-120"/>
              </a:rPr>
              <a:t>Bouba, Kiki, and the Sound of a Brand</a:t>
            </a:r>
            <a:endParaRPr lang="en-US" sz="2700" dirty="0"/>
          </a:p>
        </p:txBody>
      </p:sp>
      <p:sp>
        <p:nvSpPr>
          <p:cNvPr id="6" name="Text 3"/>
          <p:cNvSpPr/>
          <p:nvPr/>
        </p:nvSpPr>
        <p:spPr>
          <a:xfrm>
            <a:off x="594360" y="1691640"/>
            <a:ext cx="6858000" cy="3931920"/>
          </a:xfrm>
          <a:prstGeom prst="rect">
            <a:avLst/>
          </a:prstGeom>
          <a:noFill/>
          <a:ln/>
        </p:spPr>
        <p:txBody>
          <a:bodyPr wrap="square" rtlCol="0" anchor="t"/>
          <a:lstStyle/>
          <a:p>
            <a:pPr marL="342900" indent="-342900">
              <a:lnSpc>
                <a:spcPct val="110000"/>
              </a:lnSpc>
              <a:spcAft>
                <a:spcPts val="1500"/>
              </a:spcAft>
              <a:buSzPct val="100000"/>
              <a:buChar char="●"/>
            </a:pPr>
            <a:r>
              <a:rPr lang="en-US" sz="1500" dirty="0">
                <a:solidFill>
                  <a:srgbClr val="1B1F3B"/>
                </a:solidFill>
                <a:latin typeface="Calibri" pitchFamily="34" charset="0"/>
                <a:ea typeface="Calibri" pitchFamily="34" charset="-122"/>
                <a:cs typeface="Calibri" pitchFamily="34" charset="-120"/>
              </a:rPr>
              <a:t>The Bouba/Kiki effect: people match “bouba” to round shapes and “kiki” to spiky ones — across cultures and even in toddlers</a:t>
            </a:r>
            <a:endParaRPr lang="en-US" sz="1500" dirty="0"/>
          </a:p>
          <a:p>
            <a:pPr marL="342900" indent="-342900">
              <a:lnSpc>
                <a:spcPct val="110000"/>
              </a:lnSpc>
              <a:spcAft>
                <a:spcPts val="1500"/>
              </a:spcAft>
              <a:buSzPct val="100000"/>
              <a:buChar char="●"/>
            </a:pPr>
            <a:r>
              <a:rPr lang="en-US" sz="1500" dirty="0">
                <a:solidFill>
                  <a:srgbClr val="1B1F3B"/>
                </a:solidFill>
                <a:latin typeface="Calibri" pitchFamily="34" charset="0"/>
                <a:ea typeface="Calibri" pitchFamily="34" charset="-122"/>
                <a:cs typeface="Calibri" pitchFamily="34" charset="-120"/>
              </a:rPr>
              <a:t>Phonaesthesia: “glitter,” “slime,” and “hiss” sound like what they mean, in language after language</a:t>
            </a:r>
            <a:endParaRPr lang="en-US" sz="1500" dirty="0"/>
          </a:p>
          <a:p>
            <a:pPr marL="342900" indent="-342900">
              <a:lnSpc>
                <a:spcPct val="110000"/>
              </a:lnSpc>
              <a:spcAft>
                <a:spcPts val="1500"/>
              </a:spcAft>
              <a:buSzPct val="100000"/>
              <a:buChar char="●"/>
            </a:pPr>
            <a:r>
              <a:rPr lang="en-US" sz="1500" dirty="0">
                <a:solidFill>
                  <a:srgbClr val="1B1F3B"/>
                </a:solidFill>
                <a:latin typeface="Calibri" pitchFamily="34" charset="0"/>
                <a:ea typeface="Calibri" pitchFamily="34" charset="-122"/>
                <a:cs typeface="Calibri" pitchFamily="34" charset="-120"/>
              </a:rPr>
              <a:t>Rounded, sonorant sounds (m, o, l) read as soft and premium — think of names built to feel smooth</a:t>
            </a:r>
            <a:endParaRPr lang="en-US" sz="1500" dirty="0"/>
          </a:p>
          <a:p>
            <a:pPr marL="342900" indent="-342900">
              <a:lnSpc>
                <a:spcPct val="110000"/>
              </a:lnSpc>
              <a:spcAft>
                <a:spcPts val="1500"/>
              </a:spcAft>
              <a:buSzPct val="100000"/>
              <a:buChar char="●"/>
            </a:pPr>
            <a:r>
              <a:rPr lang="en-US" sz="1500" dirty="0">
                <a:solidFill>
                  <a:srgbClr val="1B1F3B"/>
                </a:solidFill>
                <a:latin typeface="Calibri" pitchFamily="34" charset="0"/>
                <a:ea typeface="Calibri" pitchFamily="34" charset="-122"/>
                <a:cs typeface="Calibri" pitchFamily="34" charset="-120"/>
              </a:rPr>
              <a:t>Sharp plosives and front vowels (k, t, i) read as fast and energetic — think of names built to feel punchy</a:t>
            </a:r>
            <a:endParaRPr lang="en-US" sz="1500" dirty="0"/>
          </a:p>
        </p:txBody>
      </p:sp>
      <p:sp>
        <p:nvSpPr>
          <p:cNvPr id="7" name="Shape 4"/>
          <p:cNvSpPr/>
          <p:nvPr/>
        </p:nvSpPr>
        <p:spPr>
          <a:xfrm>
            <a:off x="7818120" y="1691640"/>
            <a:ext cx="3749040" cy="3977640"/>
          </a:xfrm>
          <a:prstGeom prst="roundRect">
            <a:avLst>
              <a:gd name="adj" fmla="val 2927"/>
            </a:avLst>
          </a:prstGeom>
          <a:solidFill>
            <a:srgbClr val="F4F6FC"/>
          </a:solidFill>
          <a:ln/>
          <a:effectLst>
            <a:outerShdw sx="100000" sy="100000" kx="0" ky="0" algn="bl" rotWithShape="0" blurRad="76200" dist="25400" dir="5400000">
              <a:srgbClr val="141B4D">
                <a:alpha val="25000"/>
              </a:srgbClr>
            </a:outerShdw>
          </a:effectLst>
        </p:spPr>
      </p:sp>
      <p:sp>
        <p:nvSpPr>
          <p:cNvPr id="8" name="Text 5"/>
          <p:cNvSpPr/>
          <p:nvPr/>
        </p:nvSpPr>
        <p:spPr>
          <a:xfrm>
            <a:off x="8001000" y="2057400"/>
            <a:ext cx="3383280" cy="1005840"/>
          </a:xfrm>
          <a:prstGeom prst="rect">
            <a:avLst/>
          </a:prstGeom>
          <a:noFill/>
          <a:ln/>
        </p:spPr>
        <p:txBody>
          <a:bodyPr wrap="square" lIns="0" tIns="0" rIns="0" bIns="0" rtlCol="0" anchor="ctr"/>
          <a:lstStyle/>
          <a:p>
            <a:pPr algn="ctr" indent="0" marL="0">
              <a:buNone/>
            </a:pPr>
            <a:r>
              <a:rPr lang="en-US" sz="4800" b="1" dirty="0">
                <a:solidFill>
                  <a:srgbClr val="E8A33D"/>
                </a:solidFill>
                <a:latin typeface="Cambria" pitchFamily="34" charset="0"/>
                <a:ea typeface="Cambria" pitchFamily="34" charset="-122"/>
                <a:cs typeface="Cambria" pitchFamily="34" charset="-120"/>
              </a:rPr>
              <a:t>95–98%</a:t>
            </a:r>
            <a:endParaRPr lang="en-US" sz="4800" dirty="0"/>
          </a:p>
        </p:txBody>
      </p:sp>
      <p:sp>
        <p:nvSpPr>
          <p:cNvPr id="9" name="Text 6"/>
          <p:cNvSpPr/>
          <p:nvPr/>
        </p:nvSpPr>
        <p:spPr>
          <a:xfrm>
            <a:off x="8092440" y="3063240"/>
            <a:ext cx="3200400" cy="685800"/>
          </a:xfrm>
          <a:prstGeom prst="rect">
            <a:avLst/>
          </a:prstGeom>
          <a:noFill/>
          <a:ln/>
        </p:spPr>
        <p:txBody>
          <a:bodyPr wrap="square" lIns="0" tIns="0" rIns="0" bIns="0" rtlCol="0" anchor="ctr"/>
          <a:lstStyle/>
          <a:p>
            <a:pPr algn="ctr" indent="0" marL="0">
              <a:buNone/>
            </a:pPr>
            <a:r>
              <a:rPr lang="en-US" sz="1250" dirty="0">
                <a:solidFill>
                  <a:srgbClr val="5B6088"/>
                </a:solidFill>
                <a:latin typeface="Calibri" pitchFamily="34" charset="0"/>
                <a:ea typeface="Calibri" pitchFamily="34" charset="-122"/>
                <a:cs typeface="Calibri" pitchFamily="34" charset="-120"/>
              </a:rPr>
              <a:t>of people worldwide make the same bouba / kiki match</a:t>
            </a:r>
            <a:endParaRPr lang="en-US" sz="1250" dirty="0"/>
          </a:p>
        </p:txBody>
      </p:sp>
      <p:sp>
        <p:nvSpPr>
          <p:cNvPr id="10" name="Shape 7"/>
          <p:cNvSpPr/>
          <p:nvPr/>
        </p:nvSpPr>
        <p:spPr>
          <a:xfrm>
            <a:off x="8366760" y="3886200"/>
            <a:ext cx="2651760" cy="0"/>
          </a:xfrm>
          <a:prstGeom prst="line">
            <a:avLst/>
          </a:prstGeom>
          <a:noFill/>
          <a:ln w="12700">
            <a:solidFill>
              <a:srgbClr val="D7DCEE"/>
            </a:solidFill>
            <a:prstDash val="solid"/>
          </a:ln>
        </p:spPr>
      </p:sp>
      <p:sp>
        <p:nvSpPr>
          <p:cNvPr id="11" name="Text 8"/>
          <p:cNvSpPr/>
          <p:nvPr/>
        </p:nvSpPr>
        <p:spPr>
          <a:xfrm>
            <a:off x="8001000" y="4114800"/>
            <a:ext cx="3383280" cy="1463040"/>
          </a:xfrm>
          <a:prstGeom prst="rect">
            <a:avLst/>
          </a:prstGeom>
          <a:noFill/>
          <a:ln/>
        </p:spPr>
        <p:txBody>
          <a:bodyPr wrap="square" lIns="0" tIns="0" rIns="0" bIns="0" rtlCol="0" anchor="ctr"/>
          <a:lstStyle/>
          <a:p>
            <a:pPr algn="ctr" indent="0" marL="0">
              <a:lnSpc>
                <a:spcPct val="120000"/>
              </a:lnSpc>
              <a:buNone/>
            </a:pPr>
            <a:r>
              <a:rPr lang="en-US" sz="1250" i="1" dirty="0">
                <a:solidFill>
                  <a:srgbClr val="1E2761"/>
                </a:solidFill>
                <a:latin typeface="Calibri" pitchFamily="34" charset="0"/>
                <a:ea typeface="Calibri" pitchFamily="34" charset="-122"/>
                <a:cs typeface="Calibri" pitchFamily="34" charset="-120"/>
              </a:rPr>
              <a:t>This is why a made-up brand name can feel instantly “right” before anyone explains what it means — sound symbolism is doing the persuading.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robot.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ARTIFICIAL INTELLIGENCE</a:t>
            </a:r>
            <a:endParaRPr lang="en-US" sz="1200" dirty="0"/>
          </a:p>
        </p:txBody>
      </p:sp>
      <p:sp>
        <p:nvSpPr>
          <p:cNvPr id="5" name="Text 2"/>
          <p:cNvSpPr/>
          <p:nvPr/>
        </p:nvSpPr>
        <p:spPr>
          <a:xfrm>
            <a:off x="1508760" y="786384"/>
            <a:ext cx="8686800" cy="640080"/>
          </a:xfrm>
          <a:prstGeom prst="rect">
            <a:avLst/>
          </a:prstGeom>
          <a:noFill/>
          <a:ln/>
        </p:spPr>
        <p:txBody>
          <a:bodyPr wrap="square" lIns="0" tIns="0" rIns="0" bIns="0"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How a Language Model Actually Works</a:t>
            </a:r>
            <a:endParaRPr lang="en-US" sz="2800" dirty="0"/>
          </a:p>
        </p:txBody>
      </p:sp>
      <p:sp>
        <p:nvSpPr>
          <p:cNvPr id="6" name="Text 3"/>
          <p:cNvSpPr/>
          <p:nvPr/>
        </p:nvSpPr>
        <p:spPr>
          <a:xfrm>
            <a:off x="594360" y="1645920"/>
            <a:ext cx="10972800" cy="2377440"/>
          </a:xfrm>
          <a:prstGeom prst="rect">
            <a:avLst/>
          </a:prstGeom>
          <a:noFill/>
          <a:ln/>
        </p:spPr>
        <p:txBody>
          <a:bodyPr wrap="square" rtlCol="0" anchor="t"/>
          <a:lstStyle/>
          <a:p>
            <a:pPr marL="342900" indent="-342900">
              <a:lnSpc>
                <a:spcPct val="108000"/>
              </a:lnSpc>
              <a:spcAft>
                <a:spcPts val="1300"/>
              </a:spcAft>
              <a:buSzPct val="100000"/>
              <a:buChar char="●"/>
            </a:pPr>
            <a:r>
              <a:rPr lang="en-US" sz="1500" dirty="0">
                <a:solidFill>
                  <a:srgbClr val="1B1F3B"/>
                </a:solidFill>
                <a:latin typeface="Calibri" pitchFamily="34" charset="0"/>
                <a:ea typeface="Calibri" pitchFamily="34" charset="-122"/>
                <a:cs typeface="Calibri" pitchFamily="34" charset="-120"/>
              </a:rPr>
              <a:t>Transformers use self-attention to weigh every word against every other word, in parallel</a:t>
            </a:r>
            <a:endParaRPr lang="en-US" sz="1500" dirty="0"/>
          </a:p>
          <a:p>
            <a:pPr marL="342900" indent="-342900">
              <a:lnSpc>
                <a:spcPct val="108000"/>
              </a:lnSpc>
              <a:spcAft>
                <a:spcPts val="1300"/>
              </a:spcAft>
              <a:buSzPct val="100000"/>
              <a:buChar char="●"/>
            </a:pPr>
            <a:r>
              <a:rPr lang="en-US" sz="1500" dirty="0">
                <a:solidFill>
                  <a:srgbClr val="1B1F3B"/>
                </a:solidFill>
                <a:latin typeface="Calibri" pitchFamily="34" charset="0"/>
                <a:ea typeface="Calibri" pitchFamily="34" charset="-122"/>
                <a:cs typeface="Calibri" pitchFamily="34" charset="-120"/>
              </a:rPr>
              <a:t>Pretraining compresses statistical patterns from trillions of words into billions of parameters</a:t>
            </a:r>
            <a:endParaRPr lang="en-US" sz="1500" dirty="0"/>
          </a:p>
          <a:p>
            <a:pPr marL="342900" indent="-342900">
              <a:lnSpc>
                <a:spcPct val="108000"/>
              </a:lnSpc>
              <a:spcAft>
                <a:spcPts val="1300"/>
              </a:spcAft>
              <a:buSzPct val="100000"/>
              <a:buChar char="●"/>
            </a:pPr>
            <a:r>
              <a:rPr lang="en-US" sz="1500" dirty="0">
                <a:solidFill>
                  <a:srgbClr val="1B1F3B"/>
                </a:solidFill>
                <a:latin typeface="Calibri" pitchFamily="34" charset="0"/>
                <a:ea typeface="Calibri" pitchFamily="34" charset="-122"/>
                <a:cs typeface="Calibri" pitchFamily="34" charset="-120"/>
              </a:rPr>
              <a:t>Fine-tuning and human feedback steer a raw pattern-completer toward helpful, safe behavior</a:t>
            </a:r>
            <a:endParaRPr lang="en-US" sz="1500" dirty="0"/>
          </a:p>
          <a:p>
            <a:pPr marL="342900" indent="-342900">
              <a:lnSpc>
                <a:spcPct val="108000"/>
              </a:lnSpc>
              <a:spcAft>
                <a:spcPts val="1300"/>
              </a:spcAft>
              <a:buSzPct val="100000"/>
              <a:buChar char="●"/>
            </a:pPr>
            <a:r>
              <a:rPr lang="en-US" sz="1500" dirty="0">
                <a:solidFill>
                  <a:srgbClr val="1B1F3B"/>
                </a:solidFill>
                <a:latin typeface="Calibri" pitchFamily="34" charset="0"/>
                <a:ea typeface="Calibri" pitchFamily="34" charset="-122"/>
                <a:cs typeface="Calibri" pitchFamily="34" charset="-120"/>
              </a:rPr>
              <a:t>Emergent abilities — reasoning, arithmetic, theory of mind — appear suddenly at scale, not gradually</a:t>
            </a:r>
            <a:endParaRPr lang="en-US" sz="1500" dirty="0"/>
          </a:p>
          <a:p>
            <a:pPr marL="342900" indent="-342900">
              <a:lnSpc>
                <a:spcPct val="108000"/>
              </a:lnSpc>
              <a:spcAft>
                <a:spcPts val="1300"/>
              </a:spcAft>
              <a:buSzPct val="100000"/>
              <a:buChar char="●"/>
            </a:pPr>
            <a:r>
              <a:rPr lang="en-US" sz="1500" dirty="0">
                <a:solidFill>
                  <a:srgbClr val="1B1F3B"/>
                </a:solidFill>
                <a:latin typeface="Calibri" pitchFamily="34" charset="0"/>
                <a:ea typeface="Calibri" pitchFamily="34" charset="-122"/>
                <a:cs typeface="Calibri" pitchFamily="34" charset="-120"/>
              </a:rPr>
              <a:t>The alignment problem: a model optimizes exactly what you specify, not necessarily what you meant</a:t>
            </a:r>
            <a:endParaRPr lang="en-US" sz="1500" dirty="0"/>
          </a:p>
        </p:txBody>
      </p:sp>
      <p:sp>
        <p:nvSpPr>
          <p:cNvPr id="7" name="Shape 4"/>
          <p:cNvSpPr/>
          <p:nvPr/>
        </p:nvSpPr>
        <p:spPr>
          <a:xfrm>
            <a:off x="594360" y="4434840"/>
            <a:ext cx="2514600" cy="1234440"/>
          </a:xfrm>
          <a:prstGeom prst="roundRect">
            <a:avLst>
              <a:gd name="adj" fmla="val 7407"/>
            </a:avLst>
          </a:prstGeom>
          <a:solidFill>
            <a:srgbClr val="1E2761"/>
          </a:solidFill>
          <a:ln/>
          <a:effectLst>
            <a:outerShdw sx="100000" sy="100000" kx="0" ky="0" algn="bl" rotWithShape="0" blurRad="76200" dist="25400" dir="5400000">
              <a:srgbClr val="141B4D">
                <a:alpha val="25000"/>
              </a:srgbClr>
            </a:outerShdw>
          </a:effectLst>
        </p:spPr>
      </p:sp>
      <p:sp>
        <p:nvSpPr>
          <p:cNvPr id="8" name="Text 5"/>
          <p:cNvSpPr/>
          <p:nvPr/>
        </p:nvSpPr>
        <p:spPr>
          <a:xfrm>
            <a:off x="777240" y="4544568"/>
            <a:ext cx="54864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777240" y="4937760"/>
            <a:ext cx="21488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Pretrain</a:t>
            </a:r>
            <a:endParaRPr lang="en-US" sz="1600" dirty="0"/>
          </a:p>
        </p:txBody>
      </p:sp>
      <p:sp>
        <p:nvSpPr>
          <p:cNvPr id="10" name="Text 7"/>
          <p:cNvSpPr/>
          <p:nvPr/>
        </p:nvSpPr>
        <p:spPr>
          <a:xfrm>
            <a:off x="3108960" y="4754880"/>
            <a:ext cx="320040" cy="548640"/>
          </a:xfrm>
          <a:prstGeom prst="rect">
            <a:avLst/>
          </a:prstGeom>
          <a:noFill/>
          <a:ln/>
        </p:spPr>
        <p:txBody>
          <a:bodyPr wrap="square" lIns="0" tIns="0" rIns="0" bIns="0" rtlCol="0" anchor="ctr"/>
          <a:lstStyle/>
          <a:p>
            <a:pPr algn="ctr" indent="0" marL="0">
              <a:buNone/>
            </a:pPr>
            <a:r>
              <a:rPr lang="en-US" sz="2000" dirty="0">
                <a:solidFill>
                  <a:srgbClr val="5B6088"/>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429000" y="4434840"/>
            <a:ext cx="2514600" cy="1234440"/>
          </a:xfrm>
          <a:prstGeom prst="roundRect">
            <a:avLst>
              <a:gd name="adj" fmla="val 7407"/>
            </a:avLst>
          </a:prstGeom>
          <a:solidFill>
            <a:srgbClr val="2B357E"/>
          </a:solidFill>
          <a:ln/>
          <a:effectLst>
            <a:outerShdw sx="100000" sy="100000" kx="0" ky="0" algn="bl" rotWithShape="0" blurRad="76200" dist="25400" dir="5400000">
              <a:srgbClr val="141B4D">
                <a:alpha val="25000"/>
              </a:srgbClr>
            </a:outerShdw>
          </a:effectLst>
        </p:spPr>
      </p:sp>
      <p:sp>
        <p:nvSpPr>
          <p:cNvPr id="12" name="Text 9"/>
          <p:cNvSpPr/>
          <p:nvPr/>
        </p:nvSpPr>
        <p:spPr>
          <a:xfrm>
            <a:off x="3611880" y="4544568"/>
            <a:ext cx="54864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2</a:t>
            </a:r>
            <a:endParaRPr lang="en-US" sz="1600" dirty="0"/>
          </a:p>
        </p:txBody>
      </p:sp>
      <p:sp>
        <p:nvSpPr>
          <p:cNvPr id="13" name="Text 10"/>
          <p:cNvSpPr/>
          <p:nvPr/>
        </p:nvSpPr>
        <p:spPr>
          <a:xfrm>
            <a:off x="3611880" y="4937760"/>
            <a:ext cx="21488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Fine-tune</a:t>
            </a:r>
            <a:endParaRPr lang="en-US" sz="1600" dirty="0"/>
          </a:p>
        </p:txBody>
      </p:sp>
      <p:sp>
        <p:nvSpPr>
          <p:cNvPr id="14" name="Text 11"/>
          <p:cNvSpPr/>
          <p:nvPr/>
        </p:nvSpPr>
        <p:spPr>
          <a:xfrm>
            <a:off x="5943600" y="4754880"/>
            <a:ext cx="320040" cy="548640"/>
          </a:xfrm>
          <a:prstGeom prst="rect">
            <a:avLst/>
          </a:prstGeom>
          <a:noFill/>
          <a:ln/>
        </p:spPr>
        <p:txBody>
          <a:bodyPr wrap="square" lIns="0" tIns="0" rIns="0" bIns="0" rtlCol="0" anchor="ctr"/>
          <a:lstStyle/>
          <a:p>
            <a:pPr algn="ctr" indent="0" marL="0">
              <a:buNone/>
            </a:pPr>
            <a:r>
              <a:rPr lang="en-US" sz="2000" dirty="0">
                <a:solidFill>
                  <a:srgbClr val="5B6088"/>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6263640" y="4434840"/>
            <a:ext cx="2514600" cy="1234440"/>
          </a:xfrm>
          <a:prstGeom prst="roundRect">
            <a:avLst>
              <a:gd name="adj" fmla="val 7407"/>
            </a:avLst>
          </a:prstGeom>
          <a:solidFill>
            <a:srgbClr val="1E2761"/>
          </a:solidFill>
          <a:ln/>
          <a:effectLst>
            <a:outerShdw sx="100000" sy="100000" kx="0" ky="0" algn="bl" rotWithShape="0" blurRad="76200" dist="25400" dir="5400000">
              <a:srgbClr val="141B4D">
                <a:alpha val="25000"/>
              </a:srgbClr>
            </a:outerShdw>
          </a:effectLst>
        </p:spPr>
      </p:sp>
      <p:sp>
        <p:nvSpPr>
          <p:cNvPr id="16" name="Text 13"/>
          <p:cNvSpPr/>
          <p:nvPr/>
        </p:nvSpPr>
        <p:spPr>
          <a:xfrm>
            <a:off x="6446520" y="4544568"/>
            <a:ext cx="54864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3</a:t>
            </a:r>
            <a:endParaRPr lang="en-US" sz="1600" dirty="0"/>
          </a:p>
        </p:txBody>
      </p:sp>
      <p:sp>
        <p:nvSpPr>
          <p:cNvPr id="17" name="Text 14"/>
          <p:cNvSpPr/>
          <p:nvPr/>
        </p:nvSpPr>
        <p:spPr>
          <a:xfrm>
            <a:off x="6446520" y="4937760"/>
            <a:ext cx="21488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Align</a:t>
            </a:r>
            <a:endParaRPr lang="en-US" sz="1600" dirty="0"/>
          </a:p>
        </p:txBody>
      </p:sp>
      <p:sp>
        <p:nvSpPr>
          <p:cNvPr id="18" name="Text 15"/>
          <p:cNvSpPr/>
          <p:nvPr/>
        </p:nvSpPr>
        <p:spPr>
          <a:xfrm>
            <a:off x="8778240" y="4754880"/>
            <a:ext cx="320040" cy="548640"/>
          </a:xfrm>
          <a:prstGeom prst="rect">
            <a:avLst/>
          </a:prstGeom>
          <a:noFill/>
          <a:ln/>
        </p:spPr>
        <p:txBody>
          <a:bodyPr wrap="square" lIns="0" tIns="0" rIns="0" bIns="0" rtlCol="0" anchor="ctr"/>
          <a:lstStyle/>
          <a:p>
            <a:pPr algn="ctr" indent="0" marL="0">
              <a:buNone/>
            </a:pPr>
            <a:r>
              <a:rPr lang="en-US" sz="2000" dirty="0">
                <a:solidFill>
                  <a:srgbClr val="5B6088"/>
                </a:solidFill>
                <a:latin typeface="Calibri" pitchFamily="34" charset="0"/>
                <a:ea typeface="Calibri" pitchFamily="34" charset="-122"/>
                <a:cs typeface="Calibri" pitchFamily="34" charset="-120"/>
              </a:rPr>
              <a:t>→</a:t>
            </a:r>
            <a:endParaRPr lang="en-US" sz="2000" dirty="0"/>
          </a:p>
        </p:txBody>
      </p:sp>
      <p:sp>
        <p:nvSpPr>
          <p:cNvPr id="19" name="Shape 16"/>
          <p:cNvSpPr/>
          <p:nvPr/>
        </p:nvSpPr>
        <p:spPr>
          <a:xfrm>
            <a:off x="9098280" y="4434840"/>
            <a:ext cx="2514600" cy="1234440"/>
          </a:xfrm>
          <a:prstGeom prst="roundRect">
            <a:avLst>
              <a:gd name="adj" fmla="val 7407"/>
            </a:avLst>
          </a:prstGeom>
          <a:solidFill>
            <a:srgbClr val="2B357E"/>
          </a:solidFill>
          <a:ln/>
          <a:effectLst>
            <a:outerShdw sx="100000" sy="100000" kx="0" ky="0" algn="bl" rotWithShape="0" blurRad="76200" dist="25400" dir="5400000">
              <a:srgbClr val="141B4D">
                <a:alpha val="25000"/>
              </a:srgbClr>
            </a:outerShdw>
          </a:effectLst>
        </p:spPr>
      </p:sp>
      <p:sp>
        <p:nvSpPr>
          <p:cNvPr id="20" name="Text 17"/>
          <p:cNvSpPr/>
          <p:nvPr/>
        </p:nvSpPr>
        <p:spPr>
          <a:xfrm>
            <a:off x="9281160" y="4544568"/>
            <a:ext cx="54864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4</a:t>
            </a:r>
            <a:endParaRPr lang="en-US" sz="1600" dirty="0"/>
          </a:p>
        </p:txBody>
      </p:sp>
      <p:sp>
        <p:nvSpPr>
          <p:cNvPr id="21" name="Text 18"/>
          <p:cNvSpPr/>
          <p:nvPr/>
        </p:nvSpPr>
        <p:spPr>
          <a:xfrm>
            <a:off x="9281160" y="4937760"/>
            <a:ext cx="21488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Emerge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atom.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PHYSICS</a:t>
            </a:r>
            <a:endParaRPr lang="en-US" sz="1200" dirty="0"/>
          </a:p>
        </p:txBody>
      </p:sp>
      <p:sp>
        <p:nvSpPr>
          <p:cNvPr id="5" name="Text 2"/>
          <p:cNvSpPr/>
          <p:nvPr/>
        </p:nvSpPr>
        <p:spPr>
          <a:xfrm>
            <a:off x="1508760" y="786384"/>
            <a:ext cx="7315200" cy="640080"/>
          </a:xfrm>
          <a:prstGeom prst="rect">
            <a:avLst/>
          </a:prstGeom>
          <a:noFill/>
          <a:ln/>
        </p:spPr>
        <p:txBody>
          <a:bodyPr wrap="square" lIns="0" tIns="0" rIns="0" bIns="0" rtlCol="0" anchor="ctr"/>
          <a:lstStyle/>
          <a:p>
            <a:pPr indent="0" marL="0">
              <a:buNone/>
            </a:pPr>
            <a:r>
              <a:rPr lang="en-US" sz="2900" b="1" dirty="0">
                <a:solidFill>
                  <a:srgbClr val="1B1F3B"/>
                </a:solidFill>
                <a:latin typeface="Cambria" pitchFamily="34" charset="0"/>
                <a:ea typeface="Cambria" pitchFamily="34" charset="-122"/>
                <a:cs typeface="Cambria" pitchFamily="34" charset="-120"/>
              </a:rPr>
              <a:t>Reality Before It Is Measured</a:t>
            </a:r>
            <a:endParaRPr lang="en-US" sz="2900" dirty="0"/>
          </a:p>
        </p:txBody>
      </p:sp>
      <p:sp>
        <p:nvSpPr>
          <p:cNvPr id="6" name="Text 3"/>
          <p:cNvSpPr/>
          <p:nvPr/>
        </p:nvSpPr>
        <p:spPr>
          <a:xfrm>
            <a:off x="594360" y="1600200"/>
            <a:ext cx="6858000" cy="4297680"/>
          </a:xfrm>
          <a:prstGeom prst="rect">
            <a:avLst/>
          </a:prstGeom>
          <a:noFill/>
          <a:ln/>
        </p:spPr>
        <p:txBody>
          <a:bodyPr wrap="square" rtlCol="0" anchor="t"/>
          <a:lstStyle/>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Superposition: a quantum system holds multiple possible states at once, until it is measured</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The double-slit experiment: unobserved, particles behave like waves; observed, they behave like particles</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Entanglement links particles' states across any distance, instantaneously</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The Uncertainty Principle: position and momentum can never both be known precisely</a:t>
            </a:r>
            <a:endParaRPr lang="en-US" sz="1500" dirty="0"/>
          </a:p>
          <a:p>
            <a:pPr marL="342900" indent="-342900">
              <a:lnSpc>
                <a:spcPct val="108000"/>
              </a:lnSpc>
              <a:spcAft>
                <a:spcPts val="1400"/>
              </a:spcAft>
              <a:buSzPct val="100000"/>
              <a:buChar char="●"/>
            </a:pPr>
            <a:r>
              <a:rPr lang="en-US" sz="1500" dirty="0">
                <a:solidFill>
                  <a:srgbClr val="1B1F3B"/>
                </a:solidFill>
                <a:latin typeface="Calibri" pitchFamily="34" charset="0"/>
                <a:ea typeface="Calibri" pitchFamily="34" charset="-122"/>
                <a:cs typeface="Calibri" pitchFamily="34" charset="-120"/>
              </a:rPr>
              <a:t>Quantum tunneling lets particles pass through barriers classical physics forbids</a:t>
            </a:r>
            <a:endParaRPr lang="en-US" sz="1500" dirty="0"/>
          </a:p>
        </p:txBody>
      </p:sp>
      <p:sp>
        <p:nvSpPr>
          <p:cNvPr id="7" name="Shape 4"/>
          <p:cNvSpPr/>
          <p:nvPr/>
        </p:nvSpPr>
        <p:spPr>
          <a:xfrm>
            <a:off x="7818120" y="1600200"/>
            <a:ext cx="3749040" cy="4297680"/>
          </a:xfrm>
          <a:prstGeom prst="roundRect">
            <a:avLst>
              <a:gd name="adj" fmla="val 2927"/>
            </a:avLst>
          </a:prstGeom>
          <a:solidFill>
            <a:srgbClr val="1E2761"/>
          </a:solidFill>
          <a:ln/>
          <a:effectLst>
            <a:outerShdw sx="100000" sy="100000" kx="0" ky="0" algn="bl" rotWithShape="0" blurRad="76200" dist="25400" dir="5400000">
              <a:srgbClr val="141B4D">
                <a:alpha val="25000"/>
              </a:srgbClr>
            </a:outerShdw>
          </a:effectLst>
        </p:spPr>
      </p:sp>
      <p:sp>
        <p:nvSpPr>
          <p:cNvPr id="8" name="Shape 5"/>
          <p:cNvSpPr/>
          <p:nvPr/>
        </p:nvSpPr>
        <p:spPr>
          <a:xfrm>
            <a:off x="8138160" y="1874520"/>
            <a:ext cx="822960" cy="822960"/>
          </a:xfrm>
          <a:prstGeom prst="ellipse">
            <a:avLst/>
          </a:prstGeom>
          <a:solidFill>
            <a:srgbClr val="E8A33D"/>
          </a:solidFill>
          <a:ln/>
        </p:spPr>
      </p:sp>
      <p:pic>
        <p:nvPicPr>
          <p:cNvPr id="9" name="Image 1" descr="/tmp/claude-0/-home-user-my-professional-documents/107395ae-e5a3-5f7a-a9f4-90ee3859e49c/scratchpad/pptx_build/icons/atom.png">    </p:cNvPr>
          <p:cNvPicPr>
            <a:picLocks noChangeAspect="1"/>
          </p:cNvPicPr>
          <p:nvPr/>
        </p:nvPicPr>
        <p:blipFill>
          <a:blip r:embed="rId2"/>
          <a:stretch>
            <a:fillRect/>
          </a:stretch>
        </p:blipFill>
        <p:spPr>
          <a:xfrm>
            <a:off x="8236915" y="1973275"/>
            <a:ext cx="625450" cy="625450"/>
          </a:xfrm>
          <a:prstGeom prst="rect">
            <a:avLst/>
          </a:prstGeom>
        </p:spPr>
      </p:pic>
      <p:sp>
        <p:nvSpPr>
          <p:cNvPr id="10" name="Text 6"/>
          <p:cNvSpPr/>
          <p:nvPr/>
        </p:nvSpPr>
        <p:spPr>
          <a:xfrm>
            <a:off x="8046720" y="2880360"/>
            <a:ext cx="3383280" cy="1005840"/>
          </a:xfrm>
          <a:prstGeom prst="rect">
            <a:avLst/>
          </a:prstGeom>
          <a:noFill/>
          <a:ln/>
        </p:spPr>
        <p:txBody>
          <a:bodyPr wrap="square" lIns="0" tIns="0" rIns="0" bIns="0" rtlCol="0" anchor="ctr"/>
          <a:lstStyle/>
          <a:p>
            <a:pPr algn="ctr" indent="0" marL="0">
              <a:lnSpc>
                <a:spcPct val="115000"/>
              </a:lnSpc>
              <a:buNone/>
            </a:pPr>
            <a:r>
              <a:rPr lang="en-US" sz="1900" b="1" dirty="0">
                <a:solidFill>
                  <a:srgbClr val="FFFFFF"/>
                </a:solidFill>
                <a:latin typeface="Cambria" pitchFamily="34" charset="0"/>
                <a:ea typeface="Cambria" pitchFamily="34" charset="-122"/>
                <a:cs typeface="Cambria" pitchFamily="34" charset="-120"/>
              </a:rPr>
              <a:t>Without quantum tunneling, the sun would not shine.</a:t>
            </a:r>
            <a:endParaRPr lang="en-US" sz="1900" dirty="0"/>
          </a:p>
        </p:txBody>
      </p:sp>
      <p:sp>
        <p:nvSpPr>
          <p:cNvPr id="11" name="Text 7"/>
          <p:cNvSpPr/>
          <p:nvPr/>
        </p:nvSpPr>
        <p:spPr>
          <a:xfrm>
            <a:off x="8001000" y="4023360"/>
            <a:ext cx="3474720" cy="1737360"/>
          </a:xfrm>
          <a:prstGeom prst="rect">
            <a:avLst/>
          </a:prstGeom>
          <a:noFill/>
          <a:ln/>
        </p:spPr>
        <p:txBody>
          <a:bodyPr wrap="square" lIns="0" tIns="0" rIns="0" bIns="0" rtlCol="0" anchor="ctr"/>
          <a:lstStyle/>
          <a:p>
            <a:pPr algn="ctr" indent="0" marL="0">
              <a:lnSpc>
                <a:spcPct val="120000"/>
              </a:lnSpc>
              <a:buNone/>
            </a:pPr>
            <a:r>
              <a:rPr lang="en-US" sz="1200" i="1" dirty="0">
                <a:solidFill>
                  <a:srgbClr val="CADCFC"/>
                </a:solidFill>
                <a:latin typeface="Calibri" pitchFamily="34" charset="0"/>
                <a:ea typeface="Calibri" pitchFamily="34" charset="-122"/>
                <a:cs typeface="Calibri" pitchFamily="34" charset="-120"/>
              </a:rPr>
              <a:t>Protons in its core overcome electrostatic repulsion only by tunneling through an energy barrier classical physics says is impossible — the same effect behind flash memory and the microscopes that image single atoms.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tmp/claude-0/-home-user-my-professional-documents/107395ae-e5a3-5f7a-a9f4-90ee3859e49c/scratchpad/pptx_build/icons/yinyang.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8A5A00"/>
                </a:solidFill>
                <a:latin typeface="Calibri" pitchFamily="34" charset="0"/>
                <a:ea typeface="Calibri" pitchFamily="34" charset="-122"/>
                <a:cs typeface="Calibri" pitchFamily="34" charset="-120"/>
              </a:rPr>
              <a:t>THE BRIDGE</a:t>
            </a:r>
            <a:endParaRPr lang="en-US" sz="1200" dirty="0"/>
          </a:p>
        </p:txBody>
      </p:sp>
      <p:sp>
        <p:nvSpPr>
          <p:cNvPr id="5" name="Text 2"/>
          <p:cNvSpPr/>
          <p:nvPr/>
        </p:nvSpPr>
        <p:spPr>
          <a:xfrm>
            <a:off x="1508760" y="786384"/>
            <a:ext cx="7772400" cy="64008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When Physics Meets the Mind</a:t>
            </a:r>
            <a:endParaRPr lang="en-US" sz="2900" dirty="0"/>
          </a:p>
        </p:txBody>
      </p:sp>
      <p:sp>
        <p:nvSpPr>
          <p:cNvPr id="6" name="Text 3"/>
          <p:cNvSpPr/>
          <p:nvPr/>
        </p:nvSpPr>
        <p:spPr>
          <a:xfrm>
            <a:off x="1508760" y="1325880"/>
            <a:ext cx="9601200" cy="502920"/>
          </a:xfrm>
          <a:prstGeom prst="rect">
            <a:avLst/>
          </a:prstGeom>
          <a:noFill/>
          <a:ln/>
        </p:spPr>
        <p:txBody>
          <a:bodyPr wrap="square" lIns="0" tIns="0" rIns="0" bIns="0" rtlCol="0" anchor="ctr"/>
          <a:lstStyle/>
          <a:p>
            <a:pPr indent="0" marL="0">
              <a:buNone/>
            </a:pPr>
            <a:r>
              <a:rPr lang="en-US" sz="1350" i="1" dirty="0">
                <a:solidFill>
                  <a:srgbClr val="5B6088"/>
                </a:solidFill>
                <a:latin typeface="Calibri" pitchFamily="34" charset="0"/>
                <a:ea typeface="Calibri" pitchFamily="34" charset="-122"/>
                <a:cs typeface="Calibri" pitchFamily="34" charset="-120"/>
              </a:rPr>
              <a:t>Quantum cognition applies the mathematics of quantum probability — not literal quantum physics — to how people actually decide.</a:t>
            </a:r>
            <a:endParaRPr lang="en-US" sz="1350" dirty="0"/>
          </a:p>
        </p:txBody>
      </p:sp>
      <p:sp>
        <p:nvSpPr>
          <p:cNvPr id="7" name="Shape 4"/>
          <p:cNvSpPr/>
          <p:nvPr/>
        </p:nvSpPr>
        <p:spPr>
          <a:xfrm>
            <a:off x="594360" y="2057400"/>
            <a:ext cx="10972800" cy="914400"/>
          </a:xfrm>
          <a:prstGeom prst="roundRect">
            <a:avLst>
              <a:gd name="adj" fmla="val 8000"/>
            </a:avLst>
          </a:prstGeom>
          <a:solidFill>
            <a:srgbClr val="FFFFFF"/>
          </a:solidFill>
          <a:ln/>
          <a:effectLst>
            <a:outerShdw sx="100000" sy="100000" kx="0" ky="0" algn="bl" rotWithShape="0" blurRad="76200" dist="25400" dir="5400000">
              <a:srgbClr val="141B4D">
                <a:alpha val="25000"/>
              </a:srgbClr>
            </a:outerShdw>
          </a:effectLst>
        </p:spPr>
      </p:sp>
      <p:sp>
        <p:nvSpPr>
          <p:cNvPr id="8" name="Shape 5"/>
          <p:cNvSpPr/>
          <p:nvPr/>
        </p:nvSpPr>
        <p:spPr>
          <a:xfrm>
            <a:off x="594360" y="2057400"/>
            <a:ext cx="3017520" cy="914400"/>
          </a:xfrm>
          <a:prstGeom prst="roundRect">
            <a:avLst>
              <a:gd name="adj" fmla="val 8000"/>
            </a:avLst>
          </a:prstGeom>
          <a:solidFill>
            <a:srgbClr val="1E2761"/>
          </a:solidFill>
          <a:ln/>
        </p:spPr>
      </p:sp>
      <p:sp>
        <p:nvSpPr>
          <p:cNvPr id="9" name="Text 6"/>
          <p:cNvSpPr/>
          <p:nvPr/>
        </p:nvSpPr>
        <p:spPr>
          <a:xfrm>
            <a:off x="822960" y="2194560"/>
            <a:ext cx="2651760"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Superposition</a:t>
            </a:r>
            <a:endParaRPr lang="en-US" sz="1600" dirty="0"/>
          </a:p>
        </p:txBody>
      </p:sp>
      <p:sp>
        <p:nvSpPr>
          <p:cNvPr id="10" name="Text 7"/>
          <p:cNvSpPr/>
          <p:nvPr/>
        </p:nvSpPr>
        <p:spPr>
          <a:xfrm>
            <a:off x="3840480" y="2148840"/>
            <a:ext cx="7543800" cy="731520"/>
          </a:xfrm>
          <a:prstGeom prst="rect">
            <a:avLst/>
          </a:prstGeom>
          <a:noFill/>
          <a:ln/>
        </p:spPr>
        <p:txBody>
          <a:bodyPr wrap="square" lIns="0" tIns="0" rIns="0" bIns="0" rtlCol="0" anchor="ctr"/>
          <a:lstStyle/>
          <a:p>
            <a:pPr indent="0" marL="0">
              <a:lnSpc>
                <a:spcPct val="110000"/>
              </a:lnSpc>
              <a:buNone/>
            </a:pPr>
            <a:r>
              <a:rPr lang="en-US" sz="1350" dirty="0">
                <a:solidFill>
                  <a:srgbClr val="1B1F3B"/>
                </a:solidFill>
                <a:latin typeface="Calibri" pitchFamily="34" charset="0"/>
                <a:ea typeface="Calibri" pitchFamily="34" charset="-122"/>
                <a:cs typeface="Calibri" pitchFamily="34" charset="-120"/>
              </a:rPr>
              <a:t>Holding contradictory beliefs at once, until a decision forces a single answer</a:t>
            </a:r>
            <a:endParaRPr lang="en-US" sz="1350" dirty="0"/>
          </a:p>
        </p:txBody>
      </p:sp>
      <p:sp>
        <p:nvSpPr>
          <p:cNvPr id="11" name="Shape 8"/>
          <p:cNvSpPr/>
          <p:nvPr/>
        </p:nvSpPr>
        <p:spPr>
          <a:xfrm>
            <a:off x="594360" y="3136392"/>
            <a:ext cx="10972800" cy="914400"/>
          </a:xfrm>
          <a:prstGeom prst="roundRect">
            <a:avLst>
              <a:gd name="adj" fmla="val 8000"/>
            </a:avLst>
          </a:prstGeom>
          <a:solidFill>
            <a:srgbClr val="FFFFFF"/>
          </a:solidFill>
          <a:ln/>
          <a:effectLst>
            <a:outerShdw sx="100000" sy="100000" kx="0" ky="0" algn="bl" rotWithShape="0" blurRad="76200" dist="25400" dir="5400000">
              <a:srgbClr val="141B4D">
                <a:alpha val="25000"/>
              </a:srgbClr>
            </a:outerShdw>
          </a:effectLst>
        </p:spPr>
      </p:sp>
      <p:sp>
        <p:nvSpPr>
          <p:cNvPr id="12" name="Shape 9"/>
          <p:cNvSpPr/>
          <p:nvPr/>
        </p:nvSpPr>
        <p:spPr>
          <a:xfrm>
            <a:off x="594360" y="3136392"/>
            <a:ext cx="3017520" cy="914400"/>
          </a:xfrm>
          <a:prstGeom prst="roundRect">
            <a:avLst>
              <a:gd name="adj" fmla="val 8000"/>
            </a:avLst>
          </a:prstGeom>
          <a:solidFill>
            <a:srgbClr val="1E2761"/>
          </a:solidFill>
          <a:ln/>
        </p:spPr>
      </p:sp>
      <p:sp>
        <p:nvSpPr>
          <p:cNvPr id="13" name="Text 10"/>
          <p:cNvSpPr/>
          <p:nvPr/>
        </p:nvSpPr>
        <p:spPr>
          <a:xfrm>
            <a:off x="822960" y="3273552"/>
            <a:ext cx="2651760"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Observer Effect</a:t>
            </a:r>
            <a:endParaRPr lang="en-US" sz="1600" dirty="0"/>
          </a:p>
        </p:txBody>
      </p:sp>
      <p:sp>
        <p:nvSpPr>
          <p:cNvPr id="14" name="Text 11"/>
          <p:cNvSpPr/>
          <p:nvPr/>
        </p:nvSpPr>
        <p:spPr>
          <a:xfrm>
            <a:off x="3840480" y="3227832"/>
            <a:ext cx="7543800" cy="731520"/>
          </a:xfrm>
          <a:prstGeom prst="rect">
            <a:avLst/>
          </a:prstGeom>
          <a:noFill/>
          <a:ln/>
        </p:spPr>
        <p:txBody>
          <a:bodyPr wrap="square" lIns="0" tIns="0" rIns="0" bIns="0" rtlCol="0" anchor="ctr"/>
          <a:lstStyle/>
          <a:p>
            <a:pPr indent="0" marL="0">
              <a:lnSpc>
                <a:spcPct val="110000"/>
              </a:lnSpc>
              <a:buNone/>
            </a:pPr>
            <a:r>
              <a:rPr lang="en-US" sz="1350" dirty="0">
                <a:solidFill>
                  <a:srgbClr val="1B1F3B"/>
                </a:solidFill>
                <a:latin typeface="Calibri" pitchFamily="34" charset="0"/>
                <a:ea typeface="Calibri" pitchFamily="34" charset="-122"/>
                <a:cs typeface="Calibri" pitchFamily="34" charset="-120"/>
              </a:rPr>
              <a:t>Disclosing a need does not just reveal a fact — it forces an institution to choose a response</a:t>
            </a:r>
            <a:endParaRPr lang="en-US" sz="1350" dirty="0"/>
          </a:p>
        </p:txBody>
      </p:sp>
      <p:sp>
        <p:nvSpPr>
          <p:cNvPr id="15" name="Shape 12"/>
          <p:cNvSpPr/>
          <p:nvPr/>
        </p:nvSpPr>
        <p:spPr>
          <a:xfrm>
            <a:off x="594360" y="4215384"/>
            <a:ext cx="10972800" cy="914400"/>
          </a:xfrm>
          <a:prstGeom prst="roundRect">
            <a:avLst>
              <a:gd name="adj" fmla="val 8000"/>
            </a:avLst>
          </a:prstGeom>
          <a:solidFill>
            <a:srgbClr val="FFFFFF"/>
          </a:solidFill>
          <a:ln/>
          <a:effectLst>
            <a:outerShdw sx="100000" sy="100000" kx="0" ky="0" algn="bl" rotWithShape="0" blurRad="76200" dist="25400" dir="5400000">
              <a:srgbClr val="141B4D">
                <a:alpha val="25000"/>
              </a:srgbClr>
            </a:outerShdw>
          </a:effectLst>
        </p:spPr>
      </p:sp>
      <p:sp>
        <p:nvSpPr>
          <p:cNvPr id="16" name="Shape 13"/>
          <p:cNvSpPr/>
          <p:nvPr/>
        </p:nvSpPr>
        <p:spPr>
          <a:xfrm>
            <a:off x="594360" y="4215384"/>
            <a:ext cx="3017520" cy="914400"/>
          </a:xfrm>
          <a:prstGeom prst="roundRect">
            <a:avLst>
              <a:gd name="adj" fmla="val 8000"/>
            </a:avLst>
          </a:prstGeom>
          <a:solidFill>
            <a:srgbClr val="1E2761"/>
          </a:solidFill>
          <a:ln/>
        </p:spPr>
      </p:sp>
      <p:sp>
        <p:nvSpPr>
          <p:cNvPr id="17" name="Text 14"/>
          <p:cNvSpPr/>
          <p:nvPr/>
        </p:nvSpPr>
        <p:spPr>
          <a:xfrm>
            <a:off x="822960" y="4352544"/>
            <a:ext cx="2651760"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Entanglement</a:t>
            </a:r>
            <a:endParaRPr lang="en-US" sz="1600" dirty="0"/>
          </a:p>
        </p:txBody>
      </p:sp>
      <p:sp>
        <p:nvSpPr>
          <p:cNvPr id="18" name="Text 15"/>
          <p:cNvSpPr/>
          <p:nvPr/>
        </p:nvSpPr>
        <p:spPr>
          <a:xfrm>
            <a:off x="3840480" y="4306824"/>
            <a:ext cx="7543800" cy="731520"/>
          </a:xfrm>
          <a:prstGeom prst="rect">
            <a:avLst/>
          </a:prstGeom>
          <a:noFill/>
          <a:ln/>
        </p:spPr>
        <p:txBody>
          <a:bodyPr wrap="square" lIns="0" tIns="0" rIns="0" bIns="0" rtlCol="0" anchor="ctr"/>
          <a:lstStyle/>
          <a:p>
            <a:pPr indent="0" marL="0">
              <a:lnSpc>
                <a:spcPct val="110000"/>
              </a:lnSpc>
              <a:buNone/>
            </a:pPr>
            <a:r>
              <a:rPr lang="en-US" sz="1350" dirty="0">
                <a:solidFill>
                  <a:srgbClr val="1B1F3B"/>
                </a:solidFill>
                <a:latin typeface="Calibri" pitchFamily="34" charset="0"/>
                <a:ea typeface="Calibri" pitchFamily="34" charset="-122"/>
                <a:cs typeface="Calibri" pitchFamily="34" charset="-120"/>
              </a:rPr>
              <a:t>Two ideas so linked that recalling one automatically activates the other</a:t>
            </a:r>
            <a:endParaRPr lang="en-US" sz="1350" dirty="0"/>
          </a:p>
        </p:txBody>
      </p:sp>
      <p:sp>
        <p:nvSpPr>
          <p:cNvPr id="19" name="Shape 16"/>
          <p:cNvSpPr/>
          <p:nvPr/>
        </p:nvSpPr>
        <p:spPr>
          <a:xfrm>
            <a:off x="594360" y="5294376"/>
            <a:ext cx="10972800" cy="914400"/>
          </a:xfrm>
          <a:prstGeom prst="roundRect">
            <a:avLst>
              <a:gd name="adj" fmla="val 8000"/>
            </a:avLst>
          </a:prstGeom>
          <a:solidFill>
            <a:srgbClr val="FFFFFF"/>
          </a:solidFill>
          <a:ln/>
          <a:effectLst>
            <a:outerShdw sx="100000" sy="100000" kx="0" ky="0" algn="bl" rotWithShape="0" blurRad="76200" dist="25400" dir="5400000">
              <a:srgbClr val="141B4D">
                <a:alpha val="25000"/>
              </a:srgbClr>
            </a:outerShdw>
          </a:effectLst>
        </p:spPr>
      </p:sp>
      <p:sp>
        <p:nvSpPr>
          <p:cNvPr id="20" name="Shape 17"/>
          <p:cNvSpPr/>
          <p:nvPr/>
        </p:nvSpPr>
        <p:spPr>
          <a:xfrm>
            <a:off x="594360" y="5294376"/>
            <a:ext cx="3017520" cy="914400"/>
          </a:xfrm>
          <a:prstGeom prst="roundRect">
            <a:avLst>
              <a:gd name="adj" fmla="val 8000"/>
            </a:avLst>
          </a:prstGeom>
          <a:solidFill>
            <a:srgbClr val="1E2761"/>
          </a:solidFill>
          <a:ln/>
        </p:spPr>
      </p:sp>
      <p:sp>
        <p:nvSpPr>
          <p:cNvPr id="21" name="Text 18"/>
          <p:cNvSpPr/>
          <p:nvPr/>
        </p:nvSpPr>
        <p:spPr>
          <a:xfrm>
            <a:off x="822960" y="5431536"/>
            <a:ext cx="2651760"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Interference</a:t>
            </a:r>
            <a:endParaRPr lang="en-US" sz="1600" dirty="0"/>
          </a:p>
        </p:txBody>
      </p:sp>
      <p:sp>
        <p:nvSpPr>
          <p:cNvPr id="22" name="Text 19"/>
          <p:cNvSpPr/>
          <p:nvPr/>
        </p:nvSpPr>
        <p:spPr>
          <a:xfrm>
            <a:off x="3840480" y="5385816"/>
            <a:ext cx="7543800" cy="731520"/>
          </a:xfrm>
          <a:prstGeom prst="rect">
            <a:avLst/>
          </a:prstGeom>
          <a:noFill/>
          <a:ln/>
        </p:spPr>
        <p:txBody>
          <a:bodyPr wrap="square" lIns="0" tIns="0" rIns="0" bIns="0" rtlCol="0" anchor="ctr"/>
          <a:lstStyle/>
          <a:p>
            <a:pPr indent="0" marL="0">
              <a:lnSpc>
                <a:spcPct val="110000"/>
              </a:lnSpc>
              <a:buNone/>
            </a:pPr>
            <a:r>
              <a:rPr lang="en-US" sz="1350" dirty="0">
                <a:solidFill>
                  <a:srgbClr val="1B1F3B"/>
                </a:solidFill>
                <a:latin typeface="Calibri" pitchFamily="34" charset="0"/>
                <a:ea typeface="Calibri" pitchFamily="34" charset="-122"/>
                <a:cs typeface="Calibri" pitchFamily="34" charset="-120"/>
              </a:rPr>
              <a:t>Context changes a decision's outcome in ways classical probability cannot explain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E8A33D"/>
          </a:solidFill>
          <a:ln/>
        </p:spPr>
      </p:sp>
      <p:pic>
        <p:nvPicPr>
          <p:cNvPr id="3" name="Image 0" descr="/tmp/claude-0/-home-user-my-professional-documents/107395ae-e5a3-5f7a-a9f4-90ee3859e49c/scratchpad/pptx_build/icons/globe.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CASE STUDY — SOUROV DEB</a:t>
            </a:r>
            <a:endParaRPr lang="en-US" sz="1200" dirty="0"/>
          </a:p>
        </p:txBody>
      </p:sp>
      <p:sp>
        <p:nvSpPr>
          <p:cNvPr id="5" name="Text 2"/>
          <p:cNvSpPr/>
          <p:nvPr/>
        </p:nvSpPr>
        <p:spPr>
          <a:xfrm>
            <a:off x="1508760" y="786384"/>
            <a:ext cx="987552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One Life, Three Continents, Every Concept Above</a:t>
            </a:r>
            <a:endParaRPr lang="en-US" sz="2600" dirty="0"/>
          </a:p>
        </p:txBody>
      </p:sp>
      <p:sp>
        <p:nvSpPr>
          <p:cNvPr id="6" name="Shape 3"/>
          <p:cNvSpPr/>
          <p:nvPr/>
        </p:nvSpPr>
        <p:spPr>
          <a:xfrm>
            <a:off x="594360" y="1691640"/>
            <a:ext cx="1691640" cy="758952"/>
          </a:xfrm>
          <a:prstGeom prst="roundRect">
            <a:avLst>
              <a:gd name="adj" fmla="val 9639"/>
            </a:avLst>
          </a:prstGeom>
          <a:solidFill>
            <a:srgbClr val="E8A33D"/>
          </a:solidFill>
          <a:ln/>
        </p:spPr>
      </p:sp>
      <p:sp>
        <p:nvSpPr>
          <p:cNvPr id="7" name="Text 4"/>
          <p:cNvSpPr/>
          <p:nvPr/>
        </p:nvSpPr>
        <p:spPr>
          <a:xfrm>
            <a:off x="594360" y="1691640"/>
            <a:ext cx="1691640" cy="758952"/>
          </a:xfrm>
          <a:prstGeom prst="rect">
            <a:avLst/>
          </a:prstGeom>
          <a:noFill/>
          <a:ln/>
        </p:spPr>
        <p:txBody>
          <a:bodyPr wrap="square" lIns="0" tIns="0" rIns="0" bIns="0"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2005</a:t>
            </a:r>
            <a:endParaRPr lang="en-US" sz="1250" dirty="0"/>
          </a:p>
        </p:txBody>
      </p:sp>
      <p:sp>
        <p:nvSpPr>
          <p:cNvPr id="8" name="Text 5"/>
          <p:cNvSpPr/>
          <p:nvPr/>
        </p:nvSpPr>
        <p:spPr>
          <a:xfrm>
            <a:off x="2423160" y="1645920"/>
            <a:ext cx="3246120" cy="896112"/>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Bangladesh → Australia</a:t>
            </a:r>
            <a:endParaRPr lang="en-US" sz="1500" dirty="0"/>
          </a:p>
        </p:txBody>
      </p:sp>
      <p:sp>
        <p:nvSpPr>
          <p:cNvPr id="9" name="Text 6"/>
          <p:cNvSpPr/>
          <p:nvPr/>
        </p:nvSpPr>
        <p:spPr>
          <a:xfrm>
            <a:off x="5806440" y="1645920"/>
            <a:ext cx="5760720" cy="896112"/>
          </a:xfrm>
          <a:prstGeom prst="rect">
            <a:avLst/>
          </a:prstGeom>
          <a:noFill/>
          <a:ln/>
        </p:spPr>
        <p:txBody>
          <a:bodyPr wrap="square" lIns="0" tIns="0" rIns="0" bIns="0" rtlCol="0" anchor="ctr"/>
          <a:lstStyle/>
          <a:p>
            <a:pPr indent="0" marL="0">
              <a:lnSpc>
                <a:spcPct val="112000"/>
              </a:lnSpc>
              <a:buNone/>
            </a:pPr>
            <a:r>
              <a:rPr lang="en-US" sz="1200" dirty="0">
                <a:solidFill>
                  <a:srgbClr val="CADCFC"/>
                </a:solidFill>
                <a:latin typeface="Calibri" pitchFamily="34" charset="0"/>
                <a:ea typeface="Calibri" pitchFamily="34" charset="-122"/>
                <a:cs typeface="Calibri" pitchFamily="34" charset="-120"/>
              </a:rPr>
              <a:t>A first attempt to outrun conflict simply by changing geography — distance alone did not resolve it</a:t>
            </a:r>
            <a:endParaRPr lang="en-US" sz="1200" dirty="0"/>
          </a:p>
        </p:txBody>
      </p:sp>
      <p:sp>
        <p:nvSpPr>
          <p:cNvPr id="10" name="Shape 7"/>
          <p:cNvSpPr/>
          <p:nvPr/>
        </p:nvSpPr>
        <p:spPr>
          <a:xfrm>
            <a:off x="594360" y="2660904"/>
            <a:ext cx="1691640" cy="758952"/>
          </a:xfrm>
          <a:prstGeom prst="roundRect">
            <a:avLst>
              <a:gd name="adj" fmla="val 9639"/>
            </a:avLst>
          </a:prstGeom>
          <a:solidFill>
            <a:srgbClr val="E8A33D"/>
          </a:solidFill>
          <a:ln/>
        </p:spPr>
      </p:sp>
      <p:sp>
        <p:nvSpPr>
          <p:cNvPr id="11" name="Text 8"/>
          <p:cNvSpPr/>
          <p:nvPr/>
        </p:nvSpPr>
        <p:spPr>
          <a:xfrm>
            <a:off x="594360" y="2660904"/>
            <a:ext cx="1691640" cy="758952"/>
          </a:xfrm>
          <a:prstGeom prst="rect">
            <a:avLst/>
          </a:prstGeom>
          <a:noFill/>
          <a:ln/>
        </p:spPr>
        <p:txBody>
          <a:bodyPr wrap="square" lIns="0" tIns="0" rIns="0" bIns="0"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France &amp; Réunion</a:t>
            </a:r>
            <a:endParaRPr lang="en-US" sz="1250" dirty="0"/>
          </a:p>
        </p:txBody>
      </p:sp>
      <p:sp>
        <p:nvSpPr>
          <p:cNvPr id="12" name="Text 9"/>
          <p:cNvSpPr/>
          <p:nvPr/>
        </p:nvSpPr>
        <p:spPr>
          <a:xfrm>
            <a:off x="2423160" y="2615184"/>
            <a:ext cx="3246120" cy="896112"/>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Marriage &amp; Naturalization</a:t>
            </a:r>
            <a:endParaRPr lang="en-US" sz="1500" dirty="0"/>
          </a:p>
        </p:txBody>
      </p:sp>
      <p:sp>
        <p:nvSpPr>
          <p:cNvPr id="13" name="Text 10"/>
          <p:cNvSpPr/>
          <p:nvPr/>
        </p:nvSpPr>
        <p:spPr>
          <a:xfrm>
            <a:off x="5806440" y="2615184"/>
            <a:ext cx="5760720" cy="896112"/>
          </a:xfrm>
          <a:prstGeom prst="rect">
            <a:avLst/>
          </a:prstGeom>
          <a:noFill/>
          <a:ln/>
        </p:spPr>
        <p:txBody>
          <a:bodyPr wrap="square" lIns="0" tIns="0" rIns="0" bIns="0" rtlCol="0" anchor="ctr"/>
          <a:lstStyle/>
          <a:p>
            <a:pPr indent="0" marL="0">
              <a:lnSpc>
                <a:spcPct val="112000"/>
              </a:lnSpc>
              <a:buNone/>
            </a:pPr>
            <a:r>
              <a:rPr lang="en-US" sz="1200" dirty="0">
                <a:solidFill>
                  <a:srgbClr val="CADCFC"/>
                </a:solidFill>
                <a:latin typeface="Calibri" pitchFamily="34" charset="0"/>
                <a:ea typeface="Calibri" pitchFamily="34" charset="-122"/>
                <a:cs typeface="Calibri" pitchFamily="34" charset="-120"/>
              </a:rPr>
              <a:t>Four years of residency, language requirements, and integration tests on the path to French citizenship</a:t>
            </a:r>
            <a:endParaRPr lang="en-US" sz="1200" dirty="0"/>
          </a:p>
        </p:txBody>
      </p:sp>
      <p:sp>
        <p:nvSpPr>
          <p:cNvPr id="14" name="Shape 11"/>
          <p:cNvSpPr/>
          <p:nvPr/>
        </p:nvSpPr>
        <p:spPr>
          <a:xfrm>
            <a:off x="594360" y="3630168"/>
            <a:ext cx="1691640" cy="758952"/>
          </a:xfrm>
          <a:prstGeom prst="roundRect">
            <a:avLst>
              <a:gd name="adj" fmla="val 9639"/>
            </a:avLst>
          </a:prstGeom>
          <a:solidFill>
            <a:srgbClr val="E8A33D"/>
          </a:solidFill>
          <a:ln/>
        </p:spPr>
      </p:sp>
      <p:sp>
        <p:nvSpPr>
          <p:cNvPr id="15" name="Text 12"/>
          <p:cNvSpPr/>
          <p:nvPr/>
        </p:nvSpPr>
        <p:spPr>
          <a:xfrm>
            <a:off x="594360" y="3630168"/>
            <a:ext cx="1691640" cy="758952"/>
          </a:xfrm>
          <a:prstGeom prst="rect">
            <a:avLst/>
          </a:prstGeom>
          <a:noFill/>
          <a:ln/>
        </p:spPr>
        <p:txBody>
          <a:bodyPr wrap="square" lIns="0" tIns="0" rIns="0" bIns="0"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Workplace</a:t>
            </a:r>
            <a:endParaRPr lang="en-US" sz="1250" dirty="0"/>
          </a:p>
        </p:txBody>
      </p:sp>
      <p:sp>
        <p:nvSpPr>
          <p:cNvPr id="16" name="Text 13"/>
          <p:cNvSpPr/>
          <p:nvPr/>
        </p:nvSpPr>
        <p:spPr>
          <a:xfrm>
            <a:off x="2423160" y="3584448"/>
            <a:ext cx="3246120" cy="896112"/>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Médecin du Travail</a:t>
            </a:r>
            <a:endParaRPr lang="en-US" sz="1500" dirty="0"/>
          </a:p>
        </p:txBody>
      </p:sp>
      <p:sp>
        <p:nvSpPr>
          <p:cNvPr id="17" name="Text 14"/>
          <p:cNvSpPr/>
          <p:nvPr/>
        </p:nvSpPr>
        <p:spPr>
          <a:xfrm>
            <a:off x="5806440" y="3584448"/>
            <a:ext cx="5760720" cy="896112"/>
          </a:xfrm>
          <a:prstGeom prst="rect">
            <a:avLst/>
          </a:prstGeom>
          <a:noFill/>
          <a:ln/>
        </p:spPr>
        <p:txBody>
          <a:bodyPr wrap="square" lIns="0" tIns="0" rIns="0" bIns="0" rtlCol="0" anchor="ctr"/>
          <a:lstStyle/>
          <a:p>
            <a:pPr indent="0" marL="0">
              <a:lnSpc>
                <a:spcPct val="112000"/>
              </a:lnSpc>
              <a:buNone/>
            </a:pPr>
            <a:r>
              <a:rPr lang="en-US" sz="1200" dirty="0">
                <a:solidFill>
                  <a:srgbClr val="CADCFC"/>
                </a:solidFill>
                <a:latin typeface="Calibri" pitchFamily="34" charset="0"/>
                <a:ea typeface="Calibri" pitchFamily="34" charset="-122"/>
                <a:cs typeface="Calibri" pitchFamily="34" charset="-120"/>
              </a:rPr>
              <a:t>An escalating conflict with a manager routed through France's occupational-health physician as workload and wellbeing collided</a:t>
            </a:r>
            <a:endParaRPr lang="en-US" sz="1200" dirty="0"/>
          </a:p>
        </p:txBody>
      </p:sp>
      <p:sp>
        <p:nvSpPr>
          <p:cNvPr id="18" name="Shape 15"/>
          <p:cNvSpPr/>
          <p:nvPr/>
        </p:nvSpPr>
        <p:spPr>
          <a:xfrm>
            <a:off x="594360" y="4599432"/>
            <a:ext cx="1691640" cy="758952"/>
          </a:xfrm>
          <a:prstGeom prst="roundRect">
            <a:avLst>
              <a:gd name="adj" fmla="val 9639"/>
            </a:avLst>
          </a:prstGeom>
          <a:solidFill>
            <a:srgbClr val="E8A33D"/>
          </a:solidFill>
          <a:ln/>
        </p:spPr>
      </p:sp>
      <p:sp>
        <p:nvSpPr>
          <p:cNvPr id="19" name="Text 16"/>
          <p:cNvSpPr/>
          <p:nvPr/>
        </p:nvSpPr>
        <p:spPr>
          <a:xfrm>
            <a:off x="594360" y="4599432"/>
            <a:ext cx="1691640" cy="758952"/>
          </a:xfrm>
          <a:prstGeom prst="rect">
            <a:avLst/>
          </a:prstGeom>
          <a:noFill/>
          <a:ln/>
        </p:spPr>
        <p:txBody>
          <a:bodyPr wrap="square" lIns="0" tIns="0" rIns="0" bIns="0"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2026</a:t>
            </a:r>
            <a:endParaRPr lang="en-US" sz="1250" dirty="0"/>
          </a:p>
        </p:txBody>
      </p:sp>
      <p:sp>
        <p:nvSpPr>
          <p:cNvPr id="20" name="Text 17"/>
          <p:cNvSpPr/>
          <p:nvPr/>
        </p:nvSpPr>
        <p:spPr>
          <a:xfrm>
            <a:off x="2423160" y="4553712"/>
            <a:ext cx="3246120" cy="896112"/>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CELTA &amp; Disability Disclosure</a:t>
            </a:r>
            <a:endParaRPr lang="en-US" sz="1500" dirty="0"/>
          </a:p>
        </p:txBody>
      </p:sp>
      <p:sp>
        <p:nvSpPr>
          <p:cNvPr id="21" name="Text 18"/>
          <p:cNvSpPr/>
          <p:nvPr/>
        </p:nvSpPr>
        <p:spPr>
          <a:xfrm>
            <a:off x="5806440" y="4553712"/>
            <a:ext cx="5760720" cy="896112"/>
          </a:xfrm>
          <a:prstGeom prst="rect">
            <a:avLst/>
          </a:prstGeom>
          <a:noFill/>
          <a:ln/>
        </p:spPr>
        <p:txBody>
          <a:bodyPr wrap="square" lIns="0" tIns="0" rIns="0" bIns="0" rtlCol="0" anchor="ctr"/>
          <a:lstStyle/>
          <a:p>
            <a:pPr indent="0" marL="0">
              <a:lnSpc>
                <a:spcPct val="112000"/>
              </a:lnSpc>
              <a:buNone/>
            </a:pPr>
            <a:r>
              <a:rPr lang="en-US" sz="1200" dirty="0">
                <a:solidFill>
                  <a:srgbClr val="CADCFC"/>
                </a:solidFill>
                <a:latin typeface="Calibri" pitchFamily="34" charset="0"/>
                <a:ea typeface="Calibri" pitchFamily="34" charset="-122"/>
                <a:cs typeface="Calibri" pitchFamily="34" charset="-120"/>
              </a:rPr>
              <a:t>Disclosing ADHD and depression mid-course, then testing whether “anticipatory duty” under disability law is real or theoretical</a:t>
            </a:r>
            <a:endParaRPr lang="en-US" sz="1200" dirty="0"/>
          </a:p>
        </p:txBody>
      </p:sp>
      <p:sp>
        <p:nvSpPr>
          <p:cNvPr id="22" name="Shape 19"/>
          <p:cNvSpPr/>
          <p:nvPr/>
        </p:nvSpPr>
        <p:spPr>
          <a:xfrm>
            <a:off x="594360" y="5568696"/>
            <a:ext cx="1691640" cy="758952"/>
          </a:xfrm>
          <a:prstGeom prst="roundRect">
            <a:avLst>
              <a:gd name="adj" fmla="val 9639"/>
            </a:avLst>
          </a:prstGeom>
          <a:solidFill>
            <a:srgbClr val="E8A33D"/>
          </a:solidFill>
          <a:ln/>
        </p:spPr>
      </p:sp>
      <p:sp>
        <p:nvSpPr>
          <p:cNvPr id="23" name="Text 20"/>
          <p:cNvSpPr/>
          <p:nvPr/>
        </p:nvSpPr>
        <p:spPr>
          <a:xfrm>
            <a:off x="594360" y="5568696"/>
            <a:ext cx="1691640" cy="758952"/>
          </a:xfrm>
          <a:prstGeom prst="rect">
            <a:avLst/>
          </a:prstGeom>
          <a:noFill/>
          <a:ln/>
        </p:spPr>
        <p:txBody>
          <a:bodyPr wrap="square" lIns="0" tIns="0" rIns="0" bIns="0"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Ongoing</a:t>
            </a:r>
            <a:endParaRPr lang="en-US" sz="1250" dirty="0"/>
          </a:p>
        </p:txBody>
      </p:sp>
      <p:sp>
        <p:nvSpPr>
          <p:cNvPr id="24" name="Text 21"/>
          <p:cNvSpPr/>
          <p:nvPr/>
        </p:nvSpPr>
        <p:spPr>
          <a:xfrm>
            <a:off x="2423160" y="5522976"/>
            <a:ext cx="3246120" cy="896112"/>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Family Reunification</a:t>
            </a:r>
            <a:endParaRPr lang="en-US" sz="1500" dirty="0"/>
          </a:p>
        </p:txBody>
      </p:sp>
      <p:sp>
        <p:nvSpPr>
          <p:cNvPr id="25" name="Text 22"/>
          <p:cNvSpPr/>
          <p:nvPr/>
        </p:nvSpPr>
        <p:spPr>
          <a:xfrm>
            <a:off x="5806440" y="5522976"/>
            <a:ext cx="5760720" cy="896112"/>
          </a:xfrm>
          <a:prstGeom prst="rect">
            <a:avLst/>
          </a:prstGeom>
          <a:noFill/>
          <a:ln/>
        </p:spPr>
        <p:txBody>
          <a:bodyPr wrap="square" lIns="0" tIns="0" rIns="0" bIns="0" rtlCol="0" anchor="ctr"/>
          <a:lstStyle/>
          <a:p>
            <a:pPr indent="0" marL="0">
              <a:lnSpc>
                <a:spcPct val="112000"/>
              </a:lnSpc>
              <a:buNone/>
            </a:pPr>
            <a:r>
              <a:rPr lang="en-US" sz="1200" dirty="0">
                <a:solidFill>
                  <a:srgbClr val="CADCFC"/>
                </a:solidFill>
                <a:latin typeface="Calibri" pitchFamily="34" charset="0"/>
                <a:ea typeface="Calibri" pitchFamily="34" charset="-122"/>
                <a:cs typeface="Calibri" pitchFamily="34" charset="-120"/>
              </a:rPr>
              <a:t>Navigating a mother's visa process from Bangladesh — in-group and status-quo bias, playing out as paperwork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3840480"/>
            <a:ext cx="5943600" cy="5943600"/>
          </a:xfrm>
          <a:prstGeom prst="ellipse">
            <a:avLst/>
          </a:prstGeom>
          <a:solidFill>
            <a:srgbClr val="141B4D"/>
          </a:solidFill>
          <a:ln/>
        </p:spPr>
      </p:sp>
      <p:sp>
        <p:nvSpPr>
          <p:cNvPr id="3" name="Shape 1"/>
          <p:cNvSpPr/>
          <p:nvPr/>
        </p:nvSpPr>
        <p:spPr>
          <a:xfrm>
            <a:off x="548640" y="457200"/>
            <a:ext cx="777240" cy="777240"/>
          </a:xfrm>
          <a:prstGeom prst="ellipse">
            <a:avLst/>
          </a:prstGeom>
          <a:solidFill>
            <a:srgbClr val="E8A33D"/>
          </a:solidFill>
          <a:ln/>
        </p:spPr>
      </p:sp>
      <p:pic>
        <p:nvPicPr>
          <p:cNvPr id="4" name="Image 0" descr="/tmp/claude-0/-home-user-my-professional-documents/107395ae-e5a3-5f7a-a9f4-90ee3859e49c/scratchpad/pptx_build/icons/puzzle.png">    </p:cNvPr>
          <p:cNvPicPr>
            <a:picLocks noChangeAspect="1"/>
          </p:cNvPicPr>
          <p:nvPr/>
        </p:nvPicPr>
        <p:blipFill>
          <a:blip r:embed="rId1"/>
          <a:stretch>
            <a:fillRect/>
          </a:stretch>
        </p:blipFill>
        <p:spPr>
          <a:xfrm>
            <a:off x="641909" y="550469"/>
            <a:ext cx="590702" cy="590702"/>
          </a:xfrm>
          <a:prstGeom prst="rect">
            <a:avLst/>
          </a:prstGeom>
        </p:spPr>
      </p:pic>
      <p:sp>
        <p:nvSpPr>
          <p:cNvPr id="5" name="Text 2"/>
          <p:cNvSpPr/>
          <p:nvPr/>
        </p:nvSpPr>
        <p:spPr>
          <a:xfrm>
            <a:off x="1508760" y="530352"/>
            <a:ext cx="548640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SYNTHESIS</a:t>
            </a:r>
            <a:endParaRPr lang="en-US" sz="1200" dirty="0"/>
          </a:p>
        </p:txBody>
      </p:sp>
      <p:sp>
        <p:nvSpPr>
          <p:cNvPr id="6" name="Text 3"/>
          <p:cNvSpPr/>
          <p:nvPr/>
        </p:nvSpPr>
        <p:spPr>
          <a:xfrm>
            <a:off x="1508760" y="786384"/>
            <a:ext cx="960120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Thread Connecting Every Field</a:t>
            </a:r>
            <a:endParaRPr lang="en-US" sz="2900" dirty="0"/>
          </a:p>
        </p:txBody>
      </p:sp>
      <p:sp>
        <p:nvSpPr>
          <p:cNvPr id="7" name="Text 4"/>
          <p:cNvSpPr/>
          <p:nvPr/>
        </p:nvSpPr>
        <p:spPr>
          <a:xfrm>
            <a:off x="594360" y="1600200"/>
            <a:ext cx="10607040" cy="2468880"/>
          </a:xfrm>
          <a:prstGeom prst="rect">
            <a:avLst/>
          </a:prstGeom>
          <a:noFill/>
          <a:ln/>
        </p:spPr>
        <p:txBody>
          <a:bodyPr wrap="square" rtlCol="0" anchor="t"/>
          <a:lstStyle/>
          <a:p>
            <a:pPr marL="342900" indent="-342900">
              <a:lnSpc>
                <a:spcPct val="110000"/>
              </a:lnSpc>
              <a:spcAft>
                <a:spcPts val="1300"/>
              </a:spcAft>
              <a:buSzPct val="100000"/>
              <a:buChar char="●"/>
            </a:pPr>
            <a:r>
              <a:rPr lang="en-US" sz="1550" dirty="0">
                <a:solidFill>
                  <a:srgbClr val="FFFFFF"/>
                </a:solidFill>
                <a:latin typeface="Calibri" pitchFamily="34" charset="0"/>
                <a:ea typeface="Calibri" pitchFamily="34" charset="-122"/>
                <a:cs typeface="Calibri" pitchFamily="34" charset="-120"/>
              </a:rPr>
              <a:t>Every domain here studies a system managing complexity with limited resources — a brain, a language, a particle, a model, a life</a:t>
            </a:r>
            <a:endParaRPr lang="en-US" sz="1550" dirty="0"/>
          </a:p>
          <a:p>
            <a:pPr marL="342900" indent="-342900">
              <a:lnSpc>
                <a:spcPct val="110000"/>
              </a:lnSpc>
              <a:spcAft>
                <a:spcPts val="1300"/>
              </a:spcAft>
              <a:buSzPct val="100000"/>
              <a:buChar char="●"/>
            </a:pPr>
            <a:r>
              <a:rPr lang="en-US" sz="1550" dirty="0">
                <a:solidFill>
                  <a:srgbClr val="FFFFFF"/>
                </a:solidFill>
                <a:latin typeface="Calibri" pitchFamily="34" charset="0"/>
                <a:ea typeface="Calibri" pitchFamily="34" charset="-122"/>
                <a:cs typeface="Calibri" pitchFamily="34" charset="-120"/>
              </a:rPr>
              <a:t>Patterns discovered in one field keep reappearing, renamed, in the next</a:t>
            </a:r>
            <a:endParaRPr lang="en-US" sz="1550" dirty="0"/>
          </a:p>
          <a:p>
            <a:pPr marL="342900" indent="-342900">
              <a:lnSpc>
                <a:spcPct val="110000"/>
              </a:lnSpc>
              <a:spcAft>
                <a:spcPts val="1300"/>
              </a:spcAft>
              <a:buSzPct val="100000"/>
              <a:buChar char="●"/>
            </a:pPr>
            <a:r>
              <a:rPr lang="en-US" sz="1550" dirty="0">
                <a:solidFill>
                  <a:srgbClr val="FFFFFF"/>
                </a:solidFill>
                <a:latin typeface="Calibri" pitchFamily="34" charset="0"/>
                <a:ea typeface="Calibri" pitchFamily="34" charset="-122"/>
                <a:cs typeface="Calibri" pitchFamily="34" charset="-120"/>
              </a:rPr>
              <a:t>Institutions and minds both default to the status quo until something forces a “measurement”</a:t>
            </a:r>
            <a:endParaRPr lang="en-US" sz="1550" dirty="0"/>
          </a:p>
          <a:p>
            <a:pPr marL="342900" indent="-342900">
              <a:lnSpc>
                <a:spcPct val="110000"/>
              </a:lnSpc>
              <a:spcAft>
                <a:spcPts val="1300"/>
              </a:spcAft>
              <a:buSzPct val="100000"/>
              <a:buChar char="●"/>
            </a:pPr>
            <a:r>
              <a:rPr lang="en-US" sz="1550" dirty="0">
                <a:solidFill>
                  <a:srgbClr val="FFFFFF"/>
                </a:solidFill>
                <a:latin typeface="Calibri" pitchFamily="34" charset="0"/>
                <a:ea typeface="Calibri" pitchFamily="34" charset="-122"/>
                <a:cs typeface="Calibri" pitchFamily="34" charset="-120"/>
              </a:rPr>
              <a:t>Advocacy is applied interdisciplinary thinking: linguistics for precision, psychology for insight, law for leverage, AI for scale</a:t>
            </a:r>
            <a:endParaRPr lang="en-US" sz="1550" dirty="0"/>
          </a:p>
        </p:txBody>
      </p:sp>
      <p:sp>
        <p:nvSpPr>
          <p:cNvPr id="8" name="Shape 5"/>
          <p:cNvSpPr/>
          <p:nvPr/>
        </p:nvSpPr>
        <p:spPr>
          <a:xfrm>
            <a:off x="594360" y="4343400"/>
            <a:ext cx="10881360" cy="1737360"/>
          </a:xfrm>
          <a:prstGeom prst="roundRect">
            <a:avLst>
              <a:gd name="adj" fmla="val 6316"/>
            </a:avLst>
          </a:prstGeom>
          <a:solidFill>
            <a:srgbClr val="273180"/>
          </a:solidFill>
          <a:ln/>
          <a:effectLst>
            <a:outerShdw sx="100000" sy="100000" kx="0" ky="0" algn="bl" rotWithShape="0" blurRad="76200" dist="25400" dir="5400000">
              <a:srgbClr val="141B4D">
                <a:alpha val="25000"/>
              </a:srgbClr>
            </a:outerShdw>
          </a:effectLst>
        </p:spPr>
      </p:sp>
      <p:sp>
        <p:nvSpPr>
          <p:cNvPr id="9" name="Shape 6"/>
          <p:cNvSpPr/>
          <p:nvPr/>
        </p:nvSpPr>
        <p:spPr>
          <a:xfrm>
            <a:off x="868680" y="4590288"/>
            <a:ext cx="502920" cy="502920"/>
          </a:xfrm>
          <a:prstGeom prst="ellipse">
            <a:avLst/>
          </a:prstGeom>
          <a:solidFill>
            <a:srgbClr val="E8A33D"/>
          </a:solidFill>
          <a:ln/>
        </p:spPr>
      </p:sp>
      <p:pic>
        <p:nvPicPr>
          <p:cNvPr id="10" name="Image 1" descr="/tmp/claude-0/-home-user-my-professional-documents/107395ae-e5a3-5f7a-a9f4-90ee3859e49c/scratchpad/pptx_build/icons/quote.png">    </p:cNvPr>
          <p:cNvPicPr>
            <a:picLocks noChangeAspect="1"/>
          </p:cNvPicPr>
          <p:nvPr/>
        </p:nvPicPr>
        <p:blipFill>
          <a:blip r:embed="rId2"/>
          <a:stretch>
            <a:fillRect/>
          </a:stretch>
        </p:blipFill>
        <p:spPr>
          <a:xfrm>
            <a:off x="929030" y="4650638"/>
            <a:ext cx="382219" cy="382219"/>
          </a:xfrm>
          <a:prstGeom prst="rect">
            <a:avLst/>
          </a:prstGeom>
        </p:spPr>
      </p:pic>
      <p:sp>
        <p:nvSpPr>
          <p:cNvPr id="11" name="Text 7"/>
          <p:cNvSpPr/>
          <p:nvPr/>
        </p:nvSpPr>
        <p:spPr>
          <a:xfrm>
            <a:off x="1600200" y="4572000"/>
            <a:ext cx="9509760" cy="777240"/>
          </a:xfrm>
          <a:prstGeom prst="rect">
            <a:avLst/>
          </a:prstGeom>
          <a:noFill/>
          <a:ln/>
        </p:spPr>
        <p:txBody>
          <a:bodyPr wrap="square" lIns="0" tIns="0" rIns="0" bIns="0" rtlCol="0" anchor="ctr"/>
          <a:lstStyle/>
          <a:p>
            <a:pPr indent="0" marL="0">
              <a:lnSpc>
                <a:spcPct val="115000"/>
              </a:lnSpc>
              <a:buNone/>
            </a:pPr>
            <a:r>
              <a:rPr lang="en-US" sz="1700" i="1" dirty="0">
                <a:solidFill>
                  <a:srgbClr val="FFFFFF"/>
                </a:solidFill>
                <a:latin typeface="Cambria" pitchFamily="34" charset="0"/>
                <a:ea typeface="Cambria" pitchFamily="34" charset="-122"/>
                <a:cs typeface="Cambria" pitchFamily="34" charset="-120"/>
              </a:rPr>
              <a:t>“The most beautiful thing we can experience is the mysterious. It is the source of all true art and all science.”</a:t>
            </a:r>
            <a:endParaRPr lang="en-US" sz="1700" dirty="0"/>
          </a:p>
        </p:txBody>
      </p:sp>
      <p:sp>
        <p:nvSpPr>
          <p:cNvPr id="12" name="Text 8"/>
          <p:cNvSpPr/>
          <p:nvPr/>
        </p:nvSpPr>
        <p:spPr>
          <a:xfrm>
            <a:off x="1600200" y="5349240"/>
            <a:ext cx="950976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Albert Einstein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Interdisciplinary Insights: Psychology, Linguistics, Physics &amp; AI</dc:title>
  <dc:subject>PptxGenJS Presentation</dc:subject>
  <dc:creator>Sourov Deb</dc:creator>
  <cp:lastModifiedBy>Sourov Deb</cp:lastModifiedBy>
  <cp:revision>1</cp:revision>
  <dcterms:created xsi:type="dcterms:W3CDTF">2026-07-16T15:14:36Z</dcterms:created>
  <dcterms:modified xsi:type="dcterms:W3CDTF">2026-07-16T15:14:36Z</dcterms:modified>
</cp:coreProperties>
</file>