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12191695" cy="2651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What’s an "AI Model"?</a:t>
            </a:r>
          </a:p>
          <a:p>
            <a:pPr algn="ctr">
              <a:spcAft>
                <a:spcPts val="600"/>
              </a:spcAft>
            </a:pPr>
            <a:r>
              <a:rPr sz="2600" b="0">
                <a:solidFill>
                  <a:srgbClr val="EAF2F5"/>
                </a:solidFill>
                <a:latin typeface="Calibri"/>
              </a:rPr>
              <a:t>Explained Simply — in about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C7293"/>
                </a:solidFill>
                <a:latin typeface="Calibri"/>
              </a:rPr>
              <a:t>AI Explained Simply · Episode 2  •  Anchor example: the Model dropdown in Mistral’s console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76"/>
                </a:solidFill>
                <a:latin typeface="Calibri"/>
              </a:rPr>
              <a:t>One core AI term · plain words · everyday analogies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1295C"/>
                </a:solidFill>
                <a:latin typeface="Calibri"/>
              </a:rPr>
              <a:t>The un-magic secret (What &amp; 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1">
                <a:solidFill>
                  <a:srgbClr val="065A82"/>
                </a:solidFill>
                <a:latin typeface="Calibri"/>
              </a:rPr>
              <a:t>A model = remembered DATA + computing MUSCLE + LANGUAGE skill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Data = your hard drive of files — but squeezed into patterns, not kept as files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Muscle = the same GPUs (graphics cards) that run your video games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Language = a fluent, multilingual talker bolted on top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Brilliant at MANAGING &amp; EXTRACTING what it has already seen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C7293"/>
                </a:solidFill>
                <a:latin typeface="Calibri"/>
              </a:rPr>
              <a:t>→ The dreaming — the genuinely new idea — is still yours. You bring the 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1295C"/>
                </a:solidFill>
                <a:latin typeface="Calibri"/>
              </a:rPr>
              <a:t>How does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1">
                <a:solidFill>
                  <a:srgbClr val="065A82"/>
                </a:solidFill>
                <a:latin typeface="Calibri"/>
              </a:rPr>
              <a:t>It does ONE thing on repeat: guess the next word.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"The cat sat on the ___"  →  mat (very likely), moon (not)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Pick one word, then guess the next — string them into a paragraph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The “layers of math” = millions of trained dials voting on the likely word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It’s your phone’s autocomplete, grown all the way up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B03A2E"/>
                </a:solidFill>
                <a:latin typeface="Calibri"/>
              </a:rPr>
              <a:t>⚠  Confident ≠ correct. It predicts — so always fact-check what it tells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Where in the Mistral console?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EAF2F5"/>
                </a:solidFill>
                <a:latin typeface="Calibri"/>
              </a:rPr>
              <a:t>Open console.mistral.ai → Le Chat or the API playground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▪  At the top of the screen: a dropdown menu labeled “Model”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▪  Options include Mistral Large (smart), Small (fast &amp; cheap), Medium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▪  That dropdown IS this lesson made clickable — each option is a brain to borrow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▪  Picking a model = choosing your print-quality setting before you print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1295C"/>
                </a:solidFill>
                <a:latin typeface="Calibri"/>
              </a:rPr>
              <a:t>Try it yourself!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1200"/>
              </a:spcAft>
            </a:pPr>
            <a:r>
              <a:rPr sz="2100" b="0">
                <a:solidFill>
                  <a:srgbClr val="16202A"/>
                </a:solidFill>
                <a:latin typeface="Calibri"/>
              </a:rPr>
              <a:t>Step 1  —  Click the “Model” dropdown and pick Mistral Large or Small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6202A"/>
                </a:solidFill>
                <a:latin typeface="Calibri"/>
              </a:rPr>
              <a:t>Step 2  —  Type: “Explain photosynthesis to a 7-year-old”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6202A"/>
                </a:solidFill>
                <a:latin typeface="Calibri"/>
              </a:rPr>
              <a:t>Step 3  —  Watch it type word-by-word — that’s next-word guessing, live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6202A"/>
                </a:solidFill>
                <a:latin typeface="Calibri"/>
              </a:rPr>
              <a:t>Bonus   —  Switch models, send the SAME question — different brain, different answer</a:t>
            </a:r>
          </a:p>
          <a:p>
            <a:pPr algn="l">
              <a:spcAft>
                <a:spcPts val="800"/>
              </a:spcAft>
            </a:pPr>
            <a:r>
              <a:rPr sz="2100" b="1">
                <a:solidFill>
                  <a:srgbClr val="1C7293"/>
                </a:solidFill>
                <a:latin typeface="Calibri"/>
              </a:rPr>
              <a:t>Takeaway: match the model to the job — don’t pay supercomputer prices for a to-do list.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B76"/>
                </a:solidFill>
                <a:latin typeface="Calibri"/>
              </a:rPr>
              <a:t>Next episode →  Prompt: how you actually talk to the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