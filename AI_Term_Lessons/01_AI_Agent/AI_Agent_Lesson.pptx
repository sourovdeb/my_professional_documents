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word is 'agent.' You've probably seen it everywhere lately. Let's make it simple, in under four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last time you ran a macro in Excel, or did a mail merge in Word. You clicked one button, and it did five steps for you automatically. That's automation. An agent is the next step up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agent is software that looks at a goal you give it, figures out the steps needed to get there, uses tools along the way, and checks its own results, without you spelling out every single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macro is a recipe card: it does the same fixed steps every time, and breaks if something's different. An agent is more like a helpful assistant, you describe what you want, and it works out how, adjusting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Mistral Studio is a real platform built for exactly this. Its Agent Runtime is the engine that actually runs an agent's steps, think of it as the motor under the hood. Its Judges feature checks the agent's work and scores it, a bit like spell-check, but for reasoning instead of spelling. And its AI Registry is like a filing cabinet that tracks every agent, model, and dataset a team has built, so nothing gets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clicking through ten menus yourself, you describe the outcome you want, and the agent works out how to get there. That's why teams use platforms like Mistral Studio: to build, test, and safely run agents like this at scale, instead of one-off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A macro follows fixed steps. An agent plans its own steps toward a goal. And Mistral Studio is a real, concrete place where agents like this get built, run,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'agent' in plain English. Next time, we'll cover 'model,' the brain the agent actually uses to think. See you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5362956" y="594360"/>
            <a:ext cx="1463040" cy="146304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5743346" y="974750"/>
            <a:ext cx="702259" cy="702259"/>
          </a:xfrm>
          <a:prstGeom prst="rect">
            <a:avLst/>
          </a:prstGeom>
        </p:spPr>
      </p:pic>
      <p:sp>
        <p:nvSpPr>
          <p:cNvPr id="4" name="Text 1"/>
          <p:cNvSpPr/>
          <p:nvPr/>
        </p:nvSpPr>
        <p:spPr>
          <a:xfrm>
            <a:off x="457200" y="2331720"/>
            <a:ext cx="11274552" cy="548640"/>
          </a:xfrm>
          <a:prstGeom prst="rect">
            <a:avLst/>
          </a:prstGeom>
          <a:noFill/>
          <a:ln/>
        </p:spPr>
        <p:txBody>
          <a:bodyPr wrap="square" rtlCol="0" anchor="ctr"/>
          <a:lstStyle/>
          <a:p>
            <a:pPr algn="ctr" indent="0" marL="0">
              <a:buNone/>
            </a:pPr>
            <a:r>
              <a:rPr lang="en-US" sz="1800" b="1" spc="200" kern="0" dirty="0">
                <a:solidFill>
                  <a:srgbClr val="1C7293"/>
                </a:solidFill>
                <a:latin typeface="Calibri" pitchFamily="34" charset="0"/>
                <a:ea typeface="Calibri" pitchFamily="34" charset="-122"/>
                <a:cs typeface="Calibri" pitchFamily="34" charset="-120"/>
              </a:rPr>
              <a:t>AI Terms in Plain English</a:t>
            </a:r>
            <a:endParaRPr lang="en-US" sz="1800" dirty="0"/>
          </a:p>
        </p:txBody>
      </p:sp>
      <p:sp>
        <p:nvSpPr>
          <p:cNvPr id="5" name="Text 2"/>
          <p:cNvSpPr/>
          <p:nvPr/>
        </p:nvSpPr>
        <p:spPr>
          <a:xfrm>
            <a:off x="457200" y="2834640"/>
            <a:ext cx="11274552" cy="118872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What's an AI Agent?</a:t>
            </a:r>
            <a:endParaRPr lang="en-US" sz="4400" dirty="0"/>
          </a:p>
        </p:txBody>
      </p:sp>
      <p:sp>
        <p:nvSpPr>
          <p:cNvPr id="6" name="Text 3"/>
          <p:cNvSpPr/>
          <p:nvPr/>
        </p:nvSpPr>
        <p:spPr>
          <a:xfrm>
            <a:off x="457200" y="4114800"/>
            <a:ext cx="11274552" cy="457200"/>
          </a:xfrm>
          <a:prstGeom prst="rect">
            <a:avLst/>
          </a:prstGeom>
          <a:noFill/>
          <a:ln/>
        </p:spPr>
        <p:txBody>
          <a:bodyPr wrap="square" rtlCol="0" anchor="ctr"/>
          <a:lstStyle/>
          <a:p>
            <a:pPr algn="ctr" indent="0" marL="0">
              <a:buNone/>
            </a:pPr>
            <a:r>
              <a:rPr lang="en-US" sz="1600" i="1" dirty="0">
                <a:solidFill>
                  <a:srgbClr val="EAF2F5"/>
                </a:solidFill>
                <a:latin typeface="Calibri" pitchFamily="34" charset="0"/>
                <a:ea typeface="Calibri" pitchFamily="34" charset="-122"/>
                <a:cs typeface="Calibri" pitchFamily="34" charset="-120"/>
              </a:rPr>
              <a:t>Episode 1 · featuring Mistral Studio</a:t>
            </a:r>
            <a:endParaRPr lang="en-US" sz="1600" dirty="0"/>
          </a:p>
        </p:txBody>
      </p:sp>
      <p:sp>
        <p:nvSpPr>
          <p:cNvPr id="7" name="Text 4"/>
          <p:cNvSpPr/>
          <p:nvPr/>
        </p:nvSpPr>
        <p:spPr>
          <a:xfrm>
            <a:off x="457200" y="6126480"/>
            <a:ext cx="11274552" cy="365760"/>
          </a:xfrm>
          <a:prstGeom prst="rect">
            <a:avLst/>
          </a:prstGeom>
          <a:noFill/>
          <a:ln/>
        </p:spPr>
        <p:txBody>
          <a:bodyPr wrap="square" rtlCol="0" anchor="ctr"/>
          <a:lstStyle/>
          <a:p>
            <a:pPr algn="ctr" indent="0" marL="0">
              <a:buNone/>
            </a:pPr>
            <a:r>
              <a:rPr lang="en-US" sz="1200" dirty="0">
                <a:solidFill>
                  <a:srgbClr val="5B6B76"/>
                </a:solidFill>
                <a:latin typeface="Calibri" pitchFamily="34" charset="0"/>
                <a:ea typeface="Calibri" pitchFamily="34" charset="-122"/>
                <a:cs typeface="Calibri" pitchFamily="34" charset="-120"/>
              </a:rPr>
              <a:t>A 2–5 minute plain-language lesson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You already know automation</a:t>
            </a:r>
            <a:endParaRPr lang="en-US" sz="3200" dirty="0"/>
          </a:p>
        </p:txBody>
      </p:sp>
      <p:sp>
        <p:nvSpPr>
          <p:cNvPr id="3" name="Shape 1"/>
          <p:cNvSpPr/>
          <p:nvPr/>
        </p:nvSpPr>
        <p:spPr>
          <a:xfrm>
            <a:off x="882396" y="1737360"/>
            <a:ext cx="4937760" cy="2926080"/>
          </a:xfrm>
          <a:prstGeom prst="roundRect">
            <a:avLst>
              <a:gd name="adj" fmla="val 3750"/>
            </a:avLst>
          </a:prstGeom>
          <a:solidFill>
            <a:srgbClr val="EAF2F5"/>
          </a:solidFill>
          <a:ln/>
          <a:effectLst>
            <a:outerShdw sx="100000" sy="100000" kx="0" ky="0" algn="bl" rotWithShape="0" blurRad="101600" dist="38100" dir="5400000">
              <a:srgbClr val="1E2761">
                <a:alpha val="18000"/>
              </a:srgbClr>
            </a:outerShdw>
          </a:effectLst>
        </p:spPr>
      </p:sp>
      <p:sp>
        <p:nvSpPr>
          <p:cNvPr id="4" name="Shape 2"/>
          <p:cNvSpPr/>
          <p:nvPr/>
        </p:nvSpPr>
        <p:spPr>
          <a:xfrm>
            <a:off x="2848356" y="2103120"/>
            <a:ext cx="1005840" cy="100584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3109874" y="2364638"/>
            <a:ext cx="482803" cy="482803"/>
          </a:xfrm>
          <a:prstGeom prst="rect">
            <a:avLst/>
          </a:prstGeom>
        </p:spPr>
      </p:pic>
      <p:sp>
        <p:nvSpPr>
          <p:cNvPr id="6" name="Text 3"/>
          <p:cNvSpPr/>
          <p:nvPr/>
        </p:nvSpPr>
        <p:spPr>
          <a:xfrm>
            <a:off x="1156716" y="3291840"/>
            <a:ext cx="4389120" cy="457200"/>
          </a:xfrm>
          <a:prstGeom prst="rect">
            <a:avLst/>
          </a:prstGeom>
          <a:noFill/>
          <a:ln/>
        </p:spPr>
        <p:txBody>
          <a:bodyPr wrap="square" rtlCol="0" anchor="ctr"/>
          <a:lstStyle/>
          <a:p>
            <a:pPr algn="ctr" indent="0" marL="0">
              <a:buNone/>
            </a:pPr>
            <a:r>
              <a:rPr lang="en-US" sz="2000" b="1" dirty="0">
                <a:solidFill>
                  <a:srgbClr val="21295C"/>
                </a:solidFill>
                <a:latin typeface="Cambria" pitchFamily="34" charset="0"/>
                <a:ea typeface="Cambria" pitchFamily="34" charset="-122"/>
                <a:cs typeface="Cambria" pitchFamily="34" charset="-120"/>
              </a:rPr>
              <a:t>Excel macro</a:t>
            </a:r>
            <a:endParaRPr lang="en-US" sz="2000" dirty="0"/>
          </a:p>
        </p:txBody>
      </p:sp>
      <p:sp>
        <p:nvSpPr>
          <p:cNvPr id="7" name="Text 4"/>
          <p:cNvSpPr/>
          <p:nvPr/>
        </p:nvSpPr>
        <p:spPr>
          <a:xfrm>
            <a:off x="1293876" y="3794760"/>
            <a:ext cx="4114800" cy="731520"/>
          </a:xfrm>
          <a:prstGeom prst="rect">
            <a:avLst/>
          </a:prstGeom>
          <a:noFill/>
          <a:ln/>
        </p:spPr>
        <p:txBody>
          <a:bodyPr wrap="square" rtlCol="0" anchor="ctr"/>
          <a:lstStyle/>
          <a:p>
            <a:pPr algn="ctr" indent="0" marL="0">
              <a:buNone/>
            </a:pPr>
            <a:r>
              <a:rPr lang="en-US" sz="1400" dirty="0">
                <a:solidFill>
                  <a:srgbClr val="16202A"/>
                </a:solidFill>
                <a:latin typeface="Calibri" pitchFamily="34" charset="0"/>
                <a:ea typeface="Calibri" pitchFamily="34" charset="-122"/>
                <a:cs typeface="Calibri" pitchFamily="34" charset="-120"/>
              </a:rPr>
              <a:t>One click runs five steps for you — same steps, every time.</a:t>
            </a:r>
            <a:endParaRPr lang="en-US" sz="1400" dirty="0"/>
          </a:p>
        </p:txBody>
      </p:sp>
      <p:sp>
        <p:nvSpPr>
          <p:cNvPr id="8" name="Shape 5"/>
          <p:cNvSpPr/>
          <p:nvPr/>
        </p:nvSpPr>
        <p:spPr>
          <a:xfrm>
            <a:off x="6368796" y="1737360"/>
            <a:ext cx="4937760" cy="2926080"/>
          </a:xfrm>
          <a:prstGeom prst="roundRect">
            <a:avLst>
              <a:gd name="adj" fmla="val 3750"/>
            </a:avLst>
          </a:prstGeom>
          <a:solidFill>
            <a:srgbClr val="EAF2F5"/>
          </a:solidFill>
          <a:ln/>
          <a:effectLst>
            <a:outerShdw sx="100000" sy="100000" kx="0" ky="0" algn="bl" rotWithShape="0" blurRad="101600" dist="38100" dir="5400000">
              <a:srgbClr val="1E2761">
                <a:alpha val="18000"/>
              </a:srgbClr>
            </a:outerShdw>
          </a:effectLst>
        </p:spPr>
      </p:sp>
      <p:sp>
        <p:nvSpPr>
          <p:cNvPr id="9" name="Shape 6"/>
          <p:cNvSpPr/>
          <p:nvPr/>
        </p:nvSpPr>
        <p:spPr>
          <a:xfrm>
            <a:off x="8334756" y="2103120"/>
            <a:ext cx="1005840" cy="1005840"/>
          </a:xfrm>
          <a:prstGeom prst="ellipse">
            <a:avLst/>
          </a:prstGeom>
          <a:solidFill>
            <a:srgbClr val="065A82"/>
          </a:solidFill>
          <a:ln/>
        </p:spPr>
      </p:sp>
      <p:pic>
        <p:nvPicPr>
          <p:cNvPr id="10" name="Image 1" descr="preencoded.png">    </p:cNvPr>
          <p:cNvPicPr>
            <a:picLocks noChangeAspect="1"/>
          </p:cNvPicPr>
          <p:nvPr/>
        </p:nvPicPr>
        <p:blipFill>
          <a:blip r:embed="rId2"/>
          <a:stretch>
            <a:fillRect/>
          </a:stretch>
        </p:blipFill>
        <p:spPr>
          <a:xfrm>
            <a:off x="8596274" y="2364638"/>
            <a:ext cx="482803" cy="482803"/>
          </a:xfrm>
          <a:prstGeom prst="rect">
            <a:avLst/>
          </a:prstGeom>
        </p:spPr>
      </p:pic>
      <p:sp>
        <p:nvSpPr>
          <p:cNvPr id="11" name="Text 7"/>
          <p:cNvSpPr/>
          <p:nvPr/>
        </p:nvSpPr>
        <p:spPr>
          <a:xfrm>
            <a:off x="6643116" y="3291840"/>
            <a:ext cx="4389120" cy="457200"/>
          </a:xfrm>
          <a:prstGeom prst="rect">
            <a:avLst/>
          </a:prstGeom>
          <a:noFill/>
          <a:ln/>
        </p:spPr>
        <p:txBody>
          <a:bodyPr wrap="square" rtlCol="0" anchor="ctr"/>
          <a:lstStyle/>
          <a:p>
            <a:pPr algn="ctr" indent="0" marL="0">
              <a:buNone/>
            </a:pPr>
            <a:r>
              <a:rPr lang="en-US" sz="2000" b="1" dirty="0">
                <a:solidFill>
                  <a:srgbClr val="21295C"/>
                </a:solidFill>
                <a:latin typeface="Cambria" pitchFamily="34" charset="0"/>
                <a:ea typeface="Cambria" pitchFamily="34" charset="-122"/>
                <a:cs typeface="Cambria" pitchFamily="34" charset="-120"/>
              </a:rPr>
              <a:t>Word mail merge</a:t>
            </a:r>
            <a:endParaRPr lang="en-US" sz="2000" dirty="0"/>
          </a:p>
        </p:txBody>
      </p:sp>
      <p:sp>
        <p:nvSpPr>
          <p:cNvPr id="12" name="Text 8"/>
          <p:cNvSpPr/>
          <p:nvPr/>
        </p:nvSpPr>
        <p:spPr>
          <a:xfrm>
            <a:off x="6780276" y="3794760"/>
            <a:ext cx="4114800" cy="731520"/>
          </a:xfrm>
          <a:prstGeom prst="rect">
            <a:avLst/>
          </a:prstGeom>
          <a:noFill/>
          <a:ln/>
        </p:spPr>
        <p:txBody>
          <a:bodyPr wrap="square" rtlCol="0" anchor="ctr"/>
          <a:lstStyle/>
          <a:p>
            <a:pPr algn="ctr" indent="0" marL="0">
              <a:buNone/>
            </a:pPr>
            <a:r>
              <a:rPr lang="en-US" sz="1400" dirty="0">
                <a:solidFill>
                  <a:srgbClr val="16202A"/>
                </a:solidFill>
                <a:latin typeface="Calibri" pitchFamily="34" charset="0"/>
                <a:ea typeface="Calibri" pitchFamily="34" charset="-122"/>
                <a:cs typeface="Calibri" pitchFamily="34" charset="-120"/>
              </a:rPr>
              <a:t>One click fills in a template for a whole list of names.</a:t>
            </a:r>
            <a:endParaRPr lang="en-US" sz="1400" dirty="0"/>
          </a:p>
        </p:txBody>
      </p:sp>
      <p:sp>
        <p:nvSpPr>
          <p:cNvPr id="13" name="Text 9"/>
          <p:cNvSpPr/>
          <p:nvPr/>
        </p:nvSpPr>
        <p:spPr>
          <a:xfrm>
            <a:off x="548640" y="5074920"/>
            <a:ext cx="11091672" cy="548640"/>
          </a:xfrm>
          <a:prstGeom prst="rect">
            <a:avLst/>
          </a:prstGeom>
          <a:noFill/>
          <a:ln/>
        </p:spPr>
        <p:txBody>
          <a:bodyPr wrap="square" rtlCol="0" anchor="ctr"/>
          <a:lstStyle/>
          <a:p>
            <a:pPr algn="ctr" indent="0" marL="0">
              <a:buNone/>
            </a:pPr>
            <a:r>
              <a:rPr lang="en-US" sz="1800" b="1" i="1" dirty="0">
                <a:solidFill>
                  <a:srgbClr val="1C7293"/>
                </a:solidFill>
                <a:latin typeface="Calibri" pitchFamily="34" charset="0"/>
                <a:ea typeface="Calibri" pitchFamily="34" charset="-122"/>
                <a:cs typeface="Calibri" pitchFamily="34" charset="-120"/>
              </a:rPr>
              <a:t>An “agent” is the next step up from this.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1179576" y="2688336"/>
            <a:ext cx="658368" cy="658368"/>
          </a:xfrm>
          <a:prstGeom prst="rect">
            <a:avLst/>
          </a:prstGeom>
        </p:spPr>
      </p:pic>
      <p:sp>
        <p:nvSpPr>
          <p:cNvPr id="4" name="Text 1"/>
          <p:cNvSpPr/>
          <p:nvPr/>
        </p:nvSpPr>
        <p:spPr>
          <a:xfrm>
            <a:off x="2560320" y="640080"/>
            <a:ext cx="9079992" cy="548640"/>
          </a:xfrm>
          <a:prstGeom prst="rect">
            <a:avLst/>
          </a:prstGeom>
          <a:noFill/>
          <a:ln/>
        </p:spPr>
        <p:txBody>
          <a:bodyPr wrap="square" rtlCol="0" anchor="ctr"/>
          <a:lstStyle/>
          <a:p>
            <a:pPr indent="0" marL="0">
              <a:buNone/>
            </a:pPr>
            <a:r>
              <a:rPr lang="en-US" sz="1800" b="1" spc="100" kern="0" dirty="0">
                <a:solidFill>
                  <a:srgbClr val="1C7293"/>
                </a:solidFill>
                <a:latin typeface="Calibri" pitchFamily="34" charset="0"/>
                <a:ea typeface="Calibri" pitchFamily="34" charset="-122"/>
                <a:cs typeface="Calibri" pitchFamily="34" charset="-120"/>
              </a:rPr>
              <a:t>The plain-English definition</a:t>
            </a:r>
            <a:endParaRPr lang="en-US" sz="1800" dirty="0"/>
          </a:p>
        </p:txBody>
      </p:sp>
      <p:sp>
        <p:nvSpPr>
          <p:cNvPr id="5" name="Text 2"/>
          <p:cNvSpPr/>
          <p:nvPr/>
        </p:nvSpPr>
        <p:spPr>
          <a:xfrm>
            <a:off x="2560320" y="1188720"/>
            <a:ext cx="8988552" cy="2926080"/>
          </a:xfrm>
          <a:prstGeom prst="rect">
            <a:avLst/>
          </a:prstGeom>
          <a:noFill/>
          <a:ln/>
        </p:spPr>
        <p:txBody>
          <a:bodyPr wrap="square" rtlCol="0" anchor="ctr"/>
          <a:lstStyle/>
          <a:p>
            <a:pPr indent="0" marL="0">
              <a:lnSpc>
                <a:spcPct val="125000"/>
              </a:lnSpc>
              <a:buNone/>
            </a:pPr>
            <a:r>
              <a:rPr lang="en-US" sz="2700" dirty="0">
                <a:solidFill>
                  <a:srgbClr val="FFFFFF"/>
                </a:solidFill>
                <a:latin typeface="Cambria" pitchFamily="34" charset="0"/>
                <a:ea typeface="Cambria" pitchFamily="34" charset="-122"/>
                <a:cs typeface="Cambria" pitchFamily="34" charset="-120"/>
              </a:rPr>
              <a:t>An AI agent is software that looks at a goal, figures out the steps to reach it, uses tools along the way, and checks its own results — without you spelling out every step.</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A macro vs. an agent</a:t>
            </a:r>
            <a:endParaRPr lang="en-US" sz="3200" dirty="0"/>
          </a:p>
        </p:txBody>
      </p:sp>
      <p:sp>
        <p:nvSpPr>
          <p:cNvPr id="3" name="Shape 1"/>
          <p:cNvSpPr/>
          <p:nvPr/>
        </p:nvSpPr>
        <p:spPr>
          <a:xfrm>
            <a:off x="882396" y="1463040"/>
            <a:ext cx="4937760" cy="4572000"/>
          </a:xfrm>
          <a:prstGeom prst="roundRect">
            <a:avLst>
              <a:gd name="adj" fmla="val 2400"/>
            </a:avLst>
          </a:prstGeom>
          <a:solidFill>
            <a:srgbClr val="F4F6F7"/>
          </a:solidFill>
          <a:ln/>
        </p:spPr>
      </p:sp>
      <p:sp>
        <p:nvSpPr>
          <p:cNvPr id="4" name="Text 2"/>
          <p:cNvSpPr/>
          <p:nvPr/>
        </p:nvSpPr>
        <p:spPr>
          <a:xfrm>
            <a:off x="1248156" y="1783080"/>
            <a:ext cx="4206240" cy="548640"/>
          </a:xfrm>
          <a:prstGeom prst="rect">
            <a:avLst/>
          </a:prstGeom>
          <a:noFill/>
          <a:ln/>
        </p:spPr>
        <p:txBody>
          <a:bodyPr wrap="square" rtlCol="0" anchor="ctr"/>
          <a:lstStyle/>
          <a:p>
            <a:pPr indent="0" marL="0">
              <a:buNone/>
            </a:pPr>
            <a:r>
              <a:rPr lang="en-US" sz="2000" b="1" dirty="0">
                <a:solidFill>
                  <a:srgbClr val="7C8A93"/>
                </a:solidFill>
                <a:latin typeface="Cambria" pitchFamily="34" charset="0"/>
                <a:ea typeface="Cambria" pitchFamily="34" charset="-122"/>
                <a:cs typeface="Cambria" pitchFamily="34" charset="-120"/>
              </a:rPr>
              <a:t>A Macro / Automation</a:t>
            </a:r>
            <a:endParaRPr lang="en-US" sz="2000" dirty="0"/>
          </a:p>
        </p:txBody>
      </p:sp>
      <p:sp>
        <p:nvSpPr>
          <p:cNvPr id="5" name="Text 3"/>
          <p:cNvSpPr/>
          <p:nvPr/>
        </p:nvSpPr>
        <p:spPr>
          <a:xfrm>
            <a:off x="1339596" y="2514600"/>
            <a:ext cx="4023360" cy="914400"/>
          </a:xfrm>
          <a:prstGeom prst="rect">
            <a:avLst/>
          </a:prstGeom>
          <a:noFill/>
          <a:ln/>
        </p:spPr>
        <p:txBody>
          <a:bodyPr wrap="square" rtlCol="0" anchor="t"/>
          <a:lstStyle/>
          <a:p>
            <a:pPr marL="342900" indent="-342900">
              <a:buSzPct val="100000"/>
              <a:buChar char="•"/>
            </a:pPr>
            <a:r>
              <a:rPr lang="en-US" sz="1500" dirty="0">
                <a:solidFill>
                  <a:srgbClr val="16202A"/>
                </a:solidFill>
                <a:latin typeface="Calibri" pitchFamily="34" charset="0"/>
                <a:ea typeface="Calibri" pitchFamily="34" charset="-122"/>
                <a:cs typeface="Calibri" pitchFamily="34" charset="-120"/>
              </a:rPr>
              <a:t>Follows exact, pre-written steps</a:t>
            </a:r>
            <a:endParaRPr lang="en-US" sz="1500" dirty="0"/>
          </a:p>
        </p:txBody>
      </p:sp>
      <p:sp>
        <p:nvSpPr>
          <p:cNvPr id="6" name="Text 4"/>
          <p:cNvSpPr/>
          <p:nvPr/>
        </p:nvSpPr>
        <p:spPr>
          <a:xfrm>
            <a:off x="1339596" y="3566160"/>
            <a:ext cx="4023360" cy="914400"/>
          </a:xfrm>
          <a:prstGeom prst="rect">
            <a:avLst/>
          </a:prstGeom>
          <a:noFill/>
          <a:ln/>
        </p:spPr>
        <p:txBody>
          <a:bodyPr wrap="square" rtlCol="0" anchor="t"/>
          <a:lstStyle/>
          <a:p>
            <a:pPr marL="342900" indent="-342900">
              <a:buSzPct val="100000"/>
              <a:buChar char="•"/>
            </a:pPr>
            <a:r>
              <a:rPr lang="en-US" sz="1500" dirty="0">
                <a:solidFill>
                  <a:srgbClr val="16202A"/>
                </a:solidFill>
                <a:latin typeface="Calibri" pitchFamily="34" charset="0"/>
                <a:ea typeface="Calibri" pitchFamily="34" charset="-122"/>
                <a:cs typeface="Calibri" pitchFamily="34" charset="-120"/>
              </a:rPr>
              <a:t>Like a recipe card</a:t>
            </a:r>
            <a:endParaRPr lang="en-US" sz="1500" dirty="0"/>
          </a:p>
        </p:txBody>
      </p:sp>
      <p:sp>
        <p:nvSpPr>
          <p:cNvPr id="7" name="Text 5"/>
          <p:cNvSpPr/>
          <p:nvPr/>
        </p:nvSpPr>
        <p:spPr>
          <a:xfrm>
            <a:off x="1339596" y="4617720"/>
            <a:ext cx="4023360" cy="914400"/>
          </a:xfrm>
          <a:prstGeom prst="rect">
            <a:avLst/>
          </a:prstGeom>
          <a:noFill/>
          <a:ln/>
        </p:spPr>
        <p:txBody>
          <a:bodyPr wrap="square" rtlCol="0" anchor="t"/>
          <a:lstStyle/>
          <a:p>
            <a:pPr marL="342900" indent="-342900">
              <a:buSzPct val="100000"/>
              <a:buChar char="•"/>
            </a:pPr>
            <a:r>
              <a:rPr lang="en-US" sz="1500" dirty="0">
                <a:solidFill>
                  <a:srgbClr val="16202A"/>
                </a:solidFill>
                <a:latin typeface="Calibri" pitchFamily="34" charset="0"/>
                <a:ea typeface="Calibri" pitchFamily="34" charset="-122"/>
                <a:cs typeface="Calibri" pitchFamily="34" charset="-120"/>
              </a:rPr>
              <a:t>Breaks if anything is different</a:t>
            </a:r>
            <a:endParaRPr lang="en-US" sz="1500" dirty="0"/>
          </a:p>
        </p:txBody>
      </p:sp>
      <p:sp>
        <p:nvSpPr>
          <p:cNvPr id="8" name="Shape 6"/>
          <p:cNvSpPr/>
          <p:nvPr/>
        </p:nvSpPr>
        <p:spPr>
          <a:xfrm>
            <a:off x="6368796" y="1463040"/>
            <a:ext cx="4937760" cy="4572000"/>
          </a:xfrm>
          <a:prstGeom prst="roundRect">
            <a:avLst>
              <a:gd name="adj" fmla="val 2400"/>
            </a:avLst>
          </a:prstGeom>
          <a:solidFill>
            <a:srgbClr val="EAF2F5"/>
          </a:solidFill>
          <a:ln/>
        </p:spPr>
      </p:sp>
      <p:sp>
        <p:nvSpPr>
          <p:cNvPr id="9" name="Text 7"/>
          <p:cNvSpPr/>
          <p:nvPr/>
        </p:nvSpPr>
        <p:spPr>
          <a:xfrm>
            <a:off x="6734556" y="1783080"/>
            <a:ext cx="4206240" cy="548640"/>
          </a:xfrm>
          <a:prstGeom prst="rect">
            <a:avLst/>
          </a:prstGeom>
          <a:noFill/>
          <a:ln/>
        </p:spPr>
        <p:txBody>
          <a:bodyPr wrap="square" rtlCol="0" anchor="ctr"/>
          <a:lstStyle/>
          <a:p>
            <a:pPr indent="0" marL="0">
              <a:buNone/>
            </a:pPr>
            <a:r>
              <a:rPr lang="en-US" sz="2000" b="1" dirty="0">
                <a:solidFill>
                  <a:srgbClr val="065A82"/>
                </a:solidFill>
                <a:latin typeface="Cambria" pitchFamily="34" charset="0"/>
                <a:ea typeface="Cambria" pitchFamily="34" charset="-122"/>
                <a:cs typeface="Cambria" pitchFamily="34" charset="-120"/>
              </a:rPr>
              <a:t>An AI Agent</a:t>
            </a:r>
            <a:endParaRPr lang="en-US" sz="2000" dirty="0"/>
          </a:p>
        </p:txBody>
      </p:sp>
      <p:sp>
        <p:nvSpPr>
          <p:cNvPr id="10" name="Text 8"/>
          <p:cNvSpPr/>
          <p:nvPr/>
        </p:nvSpPr>
        <p:spPr>
          <a:xfrm>
            <a:off x="6825996" y="2514600"/>
            <a:ext cx="4023360" cy="914400"/>
          </a:xfrm>
          <a:prstGeom prst="rect">
            <a:avLst/>
          </a:prstGeom>
          <a:noFill/>
          <a:ln/>
        </p:spPr>
        <p:txBody>
          <a:bodyPr wrap="square" rtlCol="0" anchor="t"/>
          <a:lstStyle/>
          <a:p>
            <a:pPr marL="342900" indent="-342900">
              <a:buSzPct val="100000"/>
              <a:buChar char="•"/>
            </a:pPr>
            <a:r>
              <a:rPr lang="en-US" sz="1500" dirty="0">
                <a:solidFill>
                  <a:srgbClr val="16202A"/>
                </a:solidFill>
                <a:latin typeface="Calibri" pitchFamily="34" charset="0"/>
                <a:ea typeface="Calibri" pitchFamily="34" charset="-122"/>
                <a:cs typeface="Calibri" pitchFamily="34" charset="-120"/>
              </a:rPr>
              <a:t>Decides its own steps toward a goal</a:t>
            </a:r>
            <a:endParaRPr lang="en-US" sz="1500" dirty="0"/>
          </a:p>
        </p:txBody>
      </p:sp>
      <p:sp>
        <p:nvSpPr>
          <p:cNvPr id="11" name="Text 9"/>
          <p:cNvSpPr/>
          <p:nvPr/>
        </p:nvSpPr>
        <p:spPr>
          <a:xfrm>
            <a:off x="6825996" y="3566160"/>
            <a:ext cx="4023360" cy="914400"/>
          </a:xfrm>
          <a:prstGeom prst="rect">
            <a:avLst/>
          </a:prstGeom>
          <a:noFill/>
          <a:ln/>
        </p:spPr>
        <p:txBody>
          <a:bodyPr wrap="square" rtlCol="0" anchor="t"/>
          <a:lstStyle/>
          <a:p>
            <a:pPr marL="342900" indent="-342900">
              <a:buSzPct val="100000"/>
              <a:buChar char="•"/>
            </a:pPr>
            <a:r>
              <a:rPr lang="en-US" sz="1500" dirty="0">
                <a:solidFill>
                  <a:srgbClr val="16202A"/>
                </a:solidFill>
                <a:latin typeface="Calibri" pitchFamily="34" charset="0"/>
                <a:ea typeface="Calibri" pitchFamily="34" charset="-122"/>
                <a:cs typeface="Calibri" pitchFamily="34" charset="-120"/>
              </a:rPr>
              <a:t>Like an assistant you hand a task to</a:t>
            </a:r>
            <a:endParaRPr lang="en-US" sz="1500" dirty="0"/>
          </a:p>
        </p:txBody>
      </p:sp>
      <p:sp>
        <p:nvSpPr>
          <p:cNvPr id="12" name="Text 10"/>
          <p:cNvSpPr/>
          <p:nvPr/>
        </p:nvSpPr>
        <p:spPr>
          <a:xfrm>
            <a:off x="6825996" y="4617720"/>
            <a:ext cx="4023360" cy="914400"/>
          </a:xfrm>
          <a:prstGeom prst="rect">
            <a:avLst/>
          </a:prstGeom>
          <a:noFill/>
          <a:ln/>
        </p:spPr>
        <p:txBody>
          <a:bodyPr wrap="square" rtlCol="0" anchor="t"/>
          <a:lstStyle/>
          <a:p>
            <a:pPr marL="342900" indent="-342900">
              <a:buSzPct val="100000"/>
              <a:buChar char="•"/>
            </a:pPr>
            <a:r>
              <a:rPr lang="en-US" sz="1500" dirty="0">
                <a:solidFill>
                  <a:srgbClr val="16202A"/>
                </a:solidFill>
                <a:latin typeface="Calibri" pitchFamily="34" charset="0"/>
                <a:ea typeface="Calibri" pitchFamily="34" charset="-122"/>
                <a:cs typeface="Calibri" pitchFamily="34" charset="-120"/>
              </a:rPr>
              <a:t>Adjusts the plan if something doesn't work</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5"/>
        </a:solidFill>
      </p:bgPr>
    </p:bg>
    <p:spTree>
      <p:nvGrpSpPr>
        <p:cNvPr id="1" name=""/>
        <p:cNvGrpSpPr/>
        <p:nvPr/>
      </p:nvGrpSpPr>
      <p:grpSpPr>
        <a:xfrm>
          <a:off x="0" y="0"/>
          <a:ext cx="0" cy="0"/>
          <a:chOff x="0" y="0"/>
          <a:chExt cx="0" cy="0"/>
        </a:xfrm>
      </p:grpSpPr>
      <p:sp>
        <p:nvSpPr>
          <p:cNvPr id="2" name="Text 0"/>
          <p:cNvSpPr/>
          <p:nvPr/>
        </p:nvSpPr>
        <p:spPr>
          <a:xfrm>
            <a:off x="548640" y="457200"/>
            <a:ext cx="11091672"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Seen in a real product: Mistral Studio</a:t>
            </a:r>
            <a:endParaRPr lang="en-US" sz="3000" dirty="0"/>
          </a:p>
        </p:txBody>
      </p:sp>
      <p:sp>
        <p:nvSpPr>
          <p:cNvPr id="3" name="Text 1"/>
          <p:cNvSpPr/>
          <p:nvPr/>
        </p:nvSpPr>
        <p:spPr>
          <a:xfrm>
            <a:off x="548640" y="1051560"/>
            <a:ext cx="11091672" cy="457200"/>
          </a:xfrm>
          <a:prstGeom prst="rect">
            <a:avLst/>
          </a:prstGeom>
          <a:noFill/>
          <a:ln/>
        </p:spPr>
        <p:txBody>
          <a:bodyPr wrap="square" rtlCol="0" anchor="ctr"/>
          <a:lstStyle/>
          <a:p>
            <a:pPr indent="0" marL="0">
              <a:buNone/>
            </a:pPr>
            <a:r>
              <a:rPr lang="en-US" sz="1500" i="1" dirty="0">
                <a:solidFill>
                  <a:srgbClr val="5B6B76"/>
                </a:solidFill>
                <a:latin typeface="Calibri" pitchFamily="34" charset="0"/>
                <a:ea typeface="Calibri" pitchFamily="34" charset="-122"/>
                <a:cs typeface="Calibri" pitchFamily="34" charset="-120"/>
              </a:rPr>
              <a:t>The platform where teams build, run, and check agents like this.</a:t>
            </a:r>
            <a:endParaRPr lang="en-US" sz="1500" dirty="0"/>
          </a:p>
        </p:txBody>
      </p:sp>
      <p:sp>
        <p:nvSpPr>
          <p:cNvPr id="4" name="Shape 2"/>
          <p:cNvSpPr/>
          <p:nvPr/>
        </p:nvSpPr>
        <p:spPr>
          <a:xfrm>
            <a:off x="640080" y="1828800"/>
            <a:ext cx="960120" cy="96012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889711" y="2078431"/>
            <a:ext cx="460858" cy="460858"/>
          </a:xfrm>
          <a:prstGeom prst="rect">
            <a:avLst/>
          </a:prstGeom>
        </p:spPr>
      </p:pic>
      <p:sp>
        <p:nvSpPr>
          <p:cNvPr id="6" name="Text 3"/>
          <p:cNvSpPr/>
          <p:nvPr/>
        </p:nvSpPr>
        <p:spPr>
          <a:xfrm>
            <a:off x="1828800" y="1783080"/>
            <a:ext cx="2743200" cy="960120"/>
          </a:xfrm>
          <a:prstGeom prst="rect">
            <a:avLst/>
          </a:prstGeom>
          <a:noFill/>
          <a:ln/>
        </p:spPr>
        <p:txBody>
          <a:bodyPr wrap="square"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Agent Runtime</a:t>
            </a:r>
            <a:endParaRPr lang="en-US" sz="1900" dirty="0"/>
          </a:p>
        </p:txBody>
      </p:sp>
      <p:sp>
        <p:nvSpPr>
          <p:cNvPr id="7" name="Text 4"/>
          <p:cNvSpPr/>
          <p:nvPr/>
        </p:nvSpPr>
        <p:spPr>
          <a:xfrm>
            <a:off x="4663440" y="1783080"/>
            <a:ext cx="6976872" cy="960120"/>
          </a:xfrm>
          <a:prstGeom prst="rect">
            <a:avLst/>
          </a:prstGeom>
          <a:noFill/>
          <a:ln/>
        </p:spPr>
        <p:txBody>
          <a:bodyPr wrap="square" rtlCol="0" anchor="ctr"/>
          <a:lstStyle/>
          <a:p>
            <a:pPr indent="0" marL="0">
              <a:buNone/>
            </a:pPr>
            <a:r>
              <a:rPr lang="en-US" sz="1500" dirty="0">
                <a:solidFill>
                  <a:srgbClr val="16202A"/>
                </a:solidFill>
                <a:latin typeface="Calibri" pitchFamily="34" charset="0"/>
                <a:ea typeface="Calibri" pitchFamily="34" charset="-122"/>
                <a:cs typeface="Calibri" pitchFamily="34" charset="-120"/>
              </a:rPr>
              <a:t>The engine that actually runs an agent's steps — the motor under the hood.</a:t>
            </a:r>
            <a:endParaRPr lang="en-US" sz="1500" dirty="0"/>
          </a:p>
        </p:txBody>
      </p:sp>
      <p:sp>
        <p:nvSpPr>
          <p:cNvPr id="8" name="Shape 5"/>
          <p:cNvSpPr/>
          <p:nvPr/>
        </p:nvSpPr>
        <p:spPr>
          <a:xfrm>
            <a:off x="640080" y="3246120"/>
            <a:ext cx="960120" cy="960120"/>
          </a:xfrm>
          <a:prstGeom prst="ellipse">
            <a:avLst/>
          </a:prstGeom>
          <a:solidFill>
            <a:srgbClr val="065A82"/>
          </a:solidFill>
          <a:ln/>
        </p:spPr>
      </p:sp>
      <p:pic>
        <p:nvPicPr>
          <p:cNvPr id="9" name="Image 1" descr="preencoded.png">    </p:cNvPr>
          <p:cNvPicPr>
            <a:picLocks noChangeAspect="1"/>
          </p:cNvPicPr>
          <p:nvPr/>
        </p:nvPicPr>
        <p:blipFill>
          <a:blip r:embed="rId2"/>
          <a:stretch>
            <a:fillRect/>
          </a:stretch>
        </p:blipFill>
        <p:spPr>
          <a:xfrm>
            <a:off x="889711" y="3495751"/>
            <a:ext cx="460858" cy="460858"/>
          </a:xfrm>
          <a:prstGeom prst="rect">
            <a:avLst/>
          </a:prstGeom>
        </p:spPr>
      </p:pic>
      <p:sp>
        <p:nvSpPr>
          <p:cNvPr id="10" name="Text 6"/>
          <p:cNvSpPr/>
          <p:nvPr/>
        </p:nvSpPr>
        <p:spPr>
          <a:xfrm>
            <a:off x="1828800" y="3200400"/>
            <a:ext cx="2743200" cy="960120"/>
          </a:xfrm>
          <a:prstGeom prst="rect">
            <a:avLst/>
          </a:prstGeom>
          <a:noFill/>
          <a:ln/>
        </p:spPr>
        <p:txBody>
          <a:bodyPr wrap="square"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Judges</a:t>
            </a:r>
            <a:endParaRPr lang="en-US" sz="1900" dirty="0"/>
          </a:p>
        </p:txBody>
      </p:sp>
      <p:sp>
        <p:nvSpPr>
          <p:cNvPr id="11" name="Text 7"/>
          <p:cNvSpPr/>
          <p:nvPr/>
        </p:nvSpPr>
        <p:spPr>
          <a:xfrm>
            <a:off x="4663440" y="3200400"/>
            <a:ext cx="6976872" cy="960120"/>
          </a:xfrm>
          <a:prstGeom prst="rect">
            <a:avLst/>
          </a:prstGeom>
          <a:noFill/>
          <a:ln/>
        </p:spPr>
        <p:txBody>
          <a:bodyPr wrap="square" rtlCol="0" anchor="ctr"/>
          <a:lstStyle/>
          <a:p>
            <a:pPr indent="0" marL="0">
              <a:buNone/>
            </a:pPr>
            <a:r>
              <a:rPr lang="en-US" sz="1500" dirty="0">
                <a:solidFill>
                  <a:srgbClr val="16202A"/>
                </a:solidFill>
                <a:latin typeface="Calibri" pitchFamily="34" charset="0"/>
                <a:ea typeface="Calibri" pitchFamily="34" charset="-122"/>
                <a:cs typeface="Calibri" pitchFamily="34" charset="-120"/>
              </a:rPr>
              <a:t>Checks the agent's work and scores it — like spell-check, but for reasoning.</a:t>
            </a:r>
            <a:endParaRPr lang="en-US" sz="1500" dirty="0"/>
          </a:p>
        </p:txBody>
      </p:sp>
      <p:sp>
        <p:nvSpPr>
          <p:cNvPr id="12" name="Shape 8"/>
          <p:cNvSpPr/>
          <p:nvPr/>
        </p:nvSpPr>
        <p:spPr>
          <a:xfrm>
            <a:off x="640080" y="4663440"/>
            <a:ext cx="960120" cy="960120"/>
          </a:xfrm>
          <a:prstGeom prst="ellipse">
            <a:avLst/>
          </a:prstGeom>
          <a:solidFill>
            <a:srgbClr val="065A82"/>
          </a:solidFill>
          <a:ln/>
        </p:spPr>
      </p:sp>
      <p:pic>
        <p:nvPicPr>
          <p:cNvPr id="13" name="Image 2" descr="preencoded.png">    </p:cNvPr>
          <p:cNvPicPr>
            <a:picLocks noChangeAspect="1"/>
          </p:cNvPicPr>
          <p:nvPr/>
        </p:nvPicPr>
        <p:blipFill>
          <a:blip r:embed="rId3"/>
          <a:stretch>
            <a:fillRect/>
          </a:stretch>
        </p:blipFill>
        <p:spPr>
          <a:xfrm>
            <a:off x="889711" y="4913071"/>
            <a:ext cx="460858" cy="460858"/>
          </a:xfrm>
          <a:prstGeom prst="rect">
            <a:avLst/>
          </a:prstGeom>
        </p:spPr>
      </p:pic>
      <p:sp>
        <p:nvSpPr>
          <p:cNvPr id="14" name="Text 9"/>
          <p:cNvSpPr/>
          <p:nvPr/>
        </p:nvSpPr>
        <p:spPr>
          <a:xfrm>
            <a:off x="1828800" y="4617720"/>
            <a:ext cx="2743200" cy="960120"/>
          </a:xfrm>
          <a:prstGeom prst="rect">
            <a:avLst/>
          </a:prstGeom>
          <a:noFill/>
          <a:ln/>
        </p:spPr>
        <p:txBody>
          <a:bodyPr wrap="square"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AI Registry</a:t>
            </a:r>
            <a:endParaRPr lang="en-US" sz="1900" dirty="0"/>
          </a:p>
        </p:txBody>
      </p:sp>
      <p:sp>
        <p:nvSpPr>
          <p:cNvPr id="15" name="Text 10"/>
          <p:cNvSpPr/>
          <p:nvPr/>
        </p:nvSpPr>
        <p:spPr>
          <a:xfrm>
            <a:off x="4663440" y="4617720"/>
            <a:ext cx="6976872" cy="960120"/>
          </a:xfrm>
          <a:prstGeom prst="rect">
            <a:avLst/>
          </a:prstGeom>
          <a:noFill/>
          <a:ln/>
        </p:spPr>
        <p:txBody>
          <a:bodyPr wrap="square" rtlCol="0" anchor="ctr"/>
          <a:lstStyle/>
          <a:p>
            <a:pPr indent="0" marL="0">
              <a:buNone/>
            </a:pPr>
            <a:r>
              <a:rPr lang="en-US" sz="1500" dirty="0">
                <a:solidFill>
                  <a:srgbClr val="16202A"/>
                </a:solidFill>
                <a:latin typeface="Calibri" pitchFamily="34" charset="0"/>
                <a:ea typeface="Calibri" pitchFamily="34" charset="-122"/>
                <a:cs typeface="Calibri" pitchFamily="34" charset="-120"/>
              </a:rPr>
              <a:t>A filing cabinet tracking every agent, model, and dataset a team has built.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548640"/>
            <a:ext cx="11091672" cy="548640"/>
          </a:xfrm>
          <a:prstGeom prst="rect">
            <a:avLst/>
          </a:prstGeom>
          <a:noFill/>
          <a:ln/>
        </p:spPr>
        <p:txBody>
          <a:bodyPr wrap="square" rtlCol="0" anchor="ctr"/>
          <a:lstStyle/>
          <a:p>
            <a:pPr indent="0" marL="0">
              <a:buNone/>
            </a:pPr>
            <a:r>
              <a:rPr lang="en-US" sz="1800" b="1" spc="100" kern="0" dirty="0">
                <a:solidFill>
                  <a:srgbClr val="1C7293"/>
                </a:solidFill>
                <a:latin typeface="Calibri" pitchFamily="34" charset="0"/>
                <a:ea typeface="Calibri" pitchFamily="34" charset="-122"/>
                <a:cs typeface="Calibri" pitchFamily="34" charset="-120"/>
              </a:rPr>
              <a:t>Why this matters</a:t>
            </a:r>
            <a:endParaRPr lang="en-US" sz="1800" dirty="0"/>
          </a:p>
        </p:txBody>
      </p:sp>
      <p:sp>
        <p:nvSpPr>
          <p:cNvPr id="3" name="Shape 1"/>
          <p:cNvSpPr/>
          <p:nvPr/>
        </p:nvSpPr>
        <p:spPr>
          <a:xfrm>
            <a:off x="1463040" y="2377440"/>
            <a:ext cx="1280160" cy="128016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1795882" y="2710282"/>
            <a:ext cx="614477" cy="614477"/>
          </a:xfrm>
          <a:prstGeom prst="rect">
            <a:avLst/>
          </a:prstGeom>
        </p:spPr>
      </p:pic>
      <p:pic>
        <p:nvPicPr>
          <p:cNvPr id="5" name="Image 1" descr="preencoded.png">    </p:cNvPr>
          <p:cNvPicPr>
            <a:picLocks noChangeAspect="1"/>
          </p:cNvPicPr>
          <p:nvPr/>
        </p:nvPicPr>
        <p:blipFill>
          <a:blip r:embed="rId2"/>
          <a:stretch>
            <a:fillRect/>
          </a:stretch>
        </p:blipFill>
        <p:spPr>
          <a:xfrm>
            <a:off x="4434840" y="2788920"/>
            <a:ext cx="640080" cy="457200"/>
          </a:xfrm>
          <a:prstGeom prst="rect">
            <a:avLst/>
          </a:prstGeom>
        </p:spPr>
      </p:pic>
      <p:sp>
        <p:nvSpPr>
          <p:cNvPr id="6" name="Shape 2"/>
          <p:cNvSpPr/>
          <p:nvPr/>
        </p:nvSpPr>
        <p:spPr>
          <a:xfrm>
            <a:off x="5760720" y="2377440"/>
            <a:ext cx="1280160" cy="1280160"/>
          </a:xfrm>
          <a:prstGeom prst="ellipse">
            <a:avLst/>
          </a:prstGeom>
          <a:solidFill>
            <a:srgbClr val="1C7293"/>
          </a:solidFill>
          <a:ln/>
        </p:spPr>
      </p:sp>
      <p:pic>
        <p:nvPicPr>
          <p:cNvPr id="7" name="Image 2" descr="preencoded.png">    </p:cNvPr>
          <p:cNvPicPr>
            <a:picLocks noChangeAspect="1"/>
          </p:cNvPicPr>
          <p:nvPr/>
        </p:nvPicPr>
        <p:blipFill>
          <a:blip r:embed="rId3"/>
          <a:stretch>
            <a:fillRect/>
          </a:stretch>
        </p:blipFill>
        <p:spPr>
          <a:xfrm>
            <a:off x="6093562" y="2710282"/>
            <a:ext cx="614477" cy="614477"/>
          </a:xfrm>
          <a:prstGeom prst="rect">
            <a:avLst/>
          </a:prstGeom>
        </p:spPr>
      </p:pic>
      <p:sp>
        <p:nvSpPr>
          <p:cNvPr id="8" name="Text 3"/>
          <p:cNvSpPr/>
          <p:nvPr/>
        </p:nvSpPr>
        <p:spPr>
          <a:xfrm>
            <a:off x="548640" y="3794760"/>
            <a:ext cx="310896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Describe the outcome</a:t>
            </a:r>
            <a:endParaRPr lang="en-US" sz="1500" dirty="0"/>
          </a:p>
        </p:txBody>
      </p:sp>
      <p:sp>
        <p:nvSpPr>
          <p:cNvPr id="9" name="Text 4"/>
          <p:cNvSpPr/>
          <p:nvPr/>
        </p:nvSpPr>
        <p:spPr>
          <a:xfrm>
            <a:off x="4937760" y="3794760"/>
            <a:ext cx="310896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The agent handles the how</a:t>
            </a:r>
            <a:endParaRPr lang="en-US" sz="1500" dirty="0"/>
          </a:p>
        </p:txBody>
      </p:sp>
      <p:sp>
        <p:nvSpPr>
          <p:cNvPr id="10" name="Text 5"/>
          <p:cNvSpPr/>
          <p:nvPr/>
        </p:nvSpPr>
        <p:spPr>
          <a:xfrm>
            <a:off x="914400" y="4663440"/>
            <a:ext cx="10360152" cy="1463040"/>
          </a:xfrm>
          <a:prstGeom prst="rect">
            <a:avLst/>
          </a:prstGeom>
          <a:noFill/>
          <a:ln/>
        </p:spPr>
        <p:txBody>
          <a:bodyPr wrap="square" rtlCol="0" anchor="ctr"/>
          <a:lstStyle/>
          <a:p>
            <a:pPr algn="ctr" indent="0" marL="0">
              <a:lnSpc>
                <a:spcPct val="120000"/>
              </a:lnSpc>
              <a:buNone/>
            </a:pPr>
            <a:r>
              <a:rPr lang="en-US" sz="1900" dirty="0">
                <a:solidFill>
                  <a:srgbClr val="EAF2F5"/>
                </a:solidFill>
                <a:latin typeface="Cambria" pitchFamily="34" charset="0"/>
                <a:ea typeface="Cambria" pitchFamily="34" charset="-122"/>
                <a:cs typeface="Cambria" pitchFamily="34" charset="-120"/>
              </a:rPr>
              <a:t>Instead of clicking through ten menus yourself, you describe the outcome you want. That's why teams use platforms like Mistral Studio: to build, test, and safely run agents at scale.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Quick recap</a:t>
            </a:r>
            <a:endParaRPr lang="en-US" sz="3200" dirty="0"/>
          </a:p>
        </p:txBody>
      </p:sp>
      <p:sp>
        <p:nvSpPr>
          <p:cNvPr id="3" name="Shape 1"/>
          <p:cNvSpPr/>
          <p:nvPr/>
        </p:nvSpPr>
        <p:spPr>
          <a:xfrm>
            <a:off x="425196" y="1920240"/>
            <a:ext cx="3566160" cy="3566160"/>
          </a:xfrm>
          <a:prstGeom prst="roundRect">
            <a:avLst>
              <a:gd name="adj" fmla="val 3077"/>
            </a:avLst>
          </a:prstGeom>
          <a:solidFill>
            <a:srgbClr val="EAF2F5"/>
          </a:solidFill>
          <a:ln/>
        </p:spPr>
      </p:sp>
      <p:sp>
        <p:nvSpPr>
          <p:cNvPr id="4" name="Shape 2"/>
          <p:cNvSpPr/>
          <p:nvPr/>
        </p:nvSpPr>
        <p:spPr>
          <a:xfrm>
            <a:off x="1705356" y="2286000"/>
            <a:ext cx="1005840" cy="100584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1966874" y="2547518"/>
            <a:ext cx="482803" cy="482803"/>
          </a:xfrm>
          <a:prstGeom prst="rect">
            <a:avLst/>
          </a:prstGeom>
        </p:spPr>
      </p:pic>
      <p:sp>
        <p:nvSpPr>
          <p:cNvPr id="6" name="Text 3"/>
          <p:cNvSpPr/>
          <p:nvPr/>
        </p:nvSpPr>
        <p:spPr>
          <a:xfrm>
            <a:off x="653796" y="3474720"/>
            <a:ext cx="3108960" cy="457200"/>
          </a:xfrm>
          <a:prstGeom prst="rect">
            <a:avLst/>
          </a:prstGeom>
          <a:noFill/>
          <a:ln/>
        </p:spPr>
        <p:txBody>
          <a:bodyPr wrap="square"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 macro</a:t>
            </a:r>
            <a:endParaRPr lang="en-US" sz="1800" dirty="0"/>
          </a:p>
        </p:txBody>
      </p:sp>
      <p:sp>
        <p:nvSpPr>
          <p:cNvPr id="7" name="Text 4"/>
          <p:cNvSpPr/>
          <p:nvPr/>
        </p:nvSpPr>
        <p:spPr>
          <a:xfrm>
            <a:off x="745236" y="3977640"/>
            <a:ext cx="2926080" cy="1188720"/>
          </a:xfrm>
          <a:prstGeom prst="rect">
            <a:avLst/>
          </a:prstGeom>
          <a:noFill/>
          <a:ln/>
        </p:spPr>
        <p:txBody>
          <a:bodyPr wrap="square" rtlCol="0" anchor="ctr"/>
          <a:lstStyle/>
          <a:p>
            <a:pPr algn="ctr" indent="0" marL="0">
              <a:buNone/>
            </a:pPr>
            <a:r>
              <a:rPr lang="en-US" sz="1400" dirty="0">
                <a:solidFill>
                  <a:srgbClr val="16202A"/>
                </a:solidFill>
                <a:latin typeface="Calibri" pitchFamily="34" charset="0"/>
                <a:ea typeface="Calibri" pitchFamily="34" charset="-122"/>
                <a:cs typeface="Calibri" pitchFamily="34" charset="-120"/>
              </a:rPr>
              <a:t>Follows fixed, pre-written steps.</a:t>
            </a:r>
            <a:endParaRPr lang="en-US" sz="1400" dirty="0"/>
          </a:p>
        </p:txBody>
      </p:sp>
      <p:sp>
        <p:nvSpPr>
          <p:cNvPr id="8" name="Shape 5"/>
          <p:cNvSpPr/>
          <p:nvPr/>
        </p:nvSpPr>
        <p:spPr>
          <a:xfrm>
            <a:off x="4311396" y="1920240"/>
            <a:ext cx="3566160" cy="3566160"/>
          </a:xfrm>
          <a:prstGeom prst="roundRect">
            <a:avLst>
              <a:gd name="adj" fmla="val 3077"/>
            </a:avLst>
          </a:prstGeom>
          <a:solidFill>
            <a:srgbClr val="EAF2F5"/>
          </a:solidFill>
          <a:ln/>
        </p:spPr>
      </p:sp>
      <p:sp>
        <p:nvSpPr>
          <p:cNvPr id="9" name="Shape 6"/>
          <p:cNvSpPr/>
          <p:nvPr/>
        </p:nvSpPr>
        <p:spPr>
          <a:xfrm>
            <a:off x="5591556" y="2286000"/>
            <a:ext cx="1005840" cy="1005840"/>
          </a:xfrm>
          <a:prstGeom prst="ellipse">
            <a:avLst/>
          </a:prstGeom>
          <a:solidFill>
            <a:srgbClr val="1C7293"/>
          </a:solidFill>
          <a:ln/>
        </p:spPr>
      </p:sp>
      <p:pic>
        <p:nvPicPr>
          <p:cNvPr id="10" name="Image 1" descr="preencoded.png">    </p:cNvPr>
          <p:cNvPicPr>
            <a:picLocks noChangeAspect="1"/>
          </p:cNvPicPr>
          <p:nvPr/>
        </p:nvPicPr>
        <p:blipFill>
          <a:blip r:embed="rId2"/>
          <a:stretch>
            <a:fillRect/>
          </a:stretch>
        </p:blipFill>
        <p:spPr>
          <a:xfrm>
            <a:off x="5853074" y="2547518"/>
            <a:ext cx="482803" cy="482803"/>
          </a:xfrm>
          <a:prstGeom prst="rect">
            <a:avLst/>
          </a:prstGeom>
        </p:spPr>
      </p:pic>
      <p:sp>
        <p:nvSpPr>
          <p:cNvPr id="11" name="Text 7"/>
          <p:cNvSpPr/>
          <p:nvPr/>
        </p:nvSpPr>
        <p:spPr>
          <a:xfrm>
            <a:off x="4539996" y="3474720"/>
            <a:ext cx="3108960" cy="457200"/>
          </a:xfrm>
          <a:prstGeom prst="rect">
            <a:avLst/>
          </a:prstGeom>
          <a:noFill/>
          <a:ln/>
        </p:spPr>
        <p:txBody>
          <a:bodyPr wrap="square"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An agent</a:t>
            </a:r>
            <a:endParaRPr lang="en-US" sz="1800" dirty="0"/>
          </a:p>
        </p:txBody>
      </p:sp>
      <p:sp>
        <p:nvSpPr>
          <p:cNvPr id="12" name="Text 8"/>
          <p:cNvSpPr/>
          <p:nvPr/>
        </p:nvSpPr>
        <p:spPr>
          <a:xfrm>
            <a:off x="4631436" y="3977640"/>
            <a:ext cx="2926080" cy="1188720"/>
          </a:xfrm>
          <a:prstGeom prst="rect">
            <a:avLst/>
          </a:prstGeom>
          <a:noFill/>
          <a:ln/>
        </p:spPr>
        <p:txBody>
          <a:bodyPr wrap="square" rtlCol="0" anchor="ctr"/>
          <a:lstStyle/>
          <a:p>
            <a:pPr algn="ctr" indent="0" marL="0">
              <a:buNone/>
            </a:pPr>
            <a:r>
              <a:rPr lang="en-US" sz="1400" dirty="0">
                <a:solidFill>
                  <a:srgbClr val="16202A"/>
                </a:solidFill>
                <a:latin typeface="Calibri" pitchFamily="34" charset="0"/>
                <a:ea typeface="Calibri" pitchFamily="34" charset="-122"/>
                <a:cs typeface="Calibri" pitchFamily="34" charset="-120"/>
              </a:rPr>
              <a:t>Plans its own steps toward a goal.</a:t>
            </a:r>
            <a:endParaRPr lang="en-US" sz="1400" dirty="0"/>
          </a:p>
        </p:txBody>
      </p:sp>
      <p:sp>
        <p:nvSpPr>
          <p:cNvPr id="13" name="Shape 9"/>
          <p:cNvSpPr/>
          <p:nvPr/>
        </p:nvSpPr>
        <p:spPr>
          <a:xfrm>
            <a:off x="8197596" y="1920240"/>
            <a:ext cx="3566160" cy="3566160"/>
          </a:xfrm>
          <a:prstGeom prst="roundRect">
            <a:avLst>
              <a:gd name="adj" fmla="val 3077"/>
            </a:avLst>
          </a:prstGeom>
          <a:solidFill>
            <a:srgbClr val="EAF2F5"/>
          </a:solidFill>
          <a:ln/>
        </p:spPr>
      </p:sp>
      <p:sp>
        <p:nvSpPr>
          <p:cNvPr id="14" name="Shape 10"/>
          <p:cNvSpPr/>
          <p:nvPr/>
        </p:nvSpPr>
        <p:spPr>
          <a:xfrm>
            <a:off x="9477756" y="2286000"/>
            <a:ext cx="1005840" cy="1005840"/>
          </a:xfrm>
          <a:prstGeom prst="ellipse">
            <a:avLst/>
          </a:prstGeom>
          <a:solidFill>
            <a:srgbClr val="065A82"/>
          </a:solidFill>
          <a:ln/>
        </p:spPr>
      </p:sp>
      <p:pic>
        <p:nvPicPr>
          <p:cNvPr id="15" name="Image 2" descr="preencoded.png">    </p:cNvPr>
          <p:cNvPicPr>
            <a:picLocks noChangeAspect="1"/>
          </p:cNvPicPr>
          <p:nvPr/>
        </p:nvPicPr>
        <p:blipFill>
          <a:blip r:embed="rId3"/>
          <a:stretch>
            <a:fillRect/>
          </a:stretch>
        </p:blipFill>
        <p:spPr>
          <a:xfrm>
            <a:off x="9739274" y="2547518"/>
            <a:ext cx="482803" cy="482803"/>
          </a:xfrm>
          <a:prstGeom prst="rect">
            <a:avLst/>
          </a:prstGeom>
        </p:spPr>
      </p:pic>
      <p:sp>
        <p:nvSpPr>
          <p:cNvPr id="16" name="Text 11"/>
          <p:cNvSpPr/>
          <p:nvPr/>
        </p:nvSpPr>
        <p:spPr>
          <a:xfrm>
            <a:off x="8426196" y="3474720"/>
            <a:ext cx="3108960" cy="457200"/>
          </a:xfrm>
          <a:prstGeom prst="rect">
            <a:avLst/>
          </a:prstGeom>
          <a:noFill/>
          <a:ln/>
        </p:spPr>
        <p:txBody>
          <a:bodyPr wrap="square"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Mistral Studio</a:t>
            </a:r>
            <a:endParaRPr lang="en-US" sz="1800" dirty="0"/>
          </a:p>
        </p:txBody>
      </p:sp>
      <p:sp>
        <p:nvSpPr>
          <p:cNvPr id="17" name="Text 12"/>
          <p:cNvSpPr/>
          <p:nvPr/>
        </p:nvSpPr>
        <p:spPr>
          <a:xfrm>
            <a:off x="8517636" y="3977640"/>
            <a:ext cx="2926080" cy="1188720"/>
          </a:xfrm>
          <a:prstGeom prst="rect">
            <a:avLst/>
          </a:prstGeom>
          <a:noFill/>
          <a:ln/>
        </p:spPr>
        <p:txBody>
          <a:bodyPr wrap="square" rtlCol="0" anchor="ctr"/>
          <a:lstStyle/>
          <a:p>
            <a:pPr algn="ctr" indent="0" marL="0">
              <a:buNone/>
            </a:pPr>
            <a:r>
              <a:rPr lang="en-US" sz="1400" dirty="0">
                <a:solidFill>
                  <a:srgbClr val="16202A"/>
                </a:solidFill>
                <a:latin typeface="Calibri" pitchFamily="34" charset="0"/>
                <a:ea typeface="Calibri" pitchFamily="34" charset="-122"/>
                <a:cs typeface="Calibri" pitchFamily="34" charset="-120"/>
              </a:rPr>
              <a:t>A real place where agents get built, run, and checked.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5408676" y="1371600"/>
            <a:ext cx="1371600" cy="137160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5765292" y="1728216"/>
            <a:ext cx="658368" cy="658368"/>
          </a:xfrm>
          <a:prstGeom prst="rect">
            <a:avLst/>
          </a:prstGeom>
        </p:spPr>
      </p:pic>
      <p:sp>
        <p:nvSpPr>
          <p:cNvPr id="4" name="Text 1"/>
          <p:cNvSpPr/>
          <p:nvPr/>
        </p:nvSpPr>
        <p:spPr>
          <a:xfrm>
            <a:off x="457200" y="3017520"/>
            <a:ext cx="11274552" cy="64008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That's “Agent” in plain English.</a:t>
            </a:r>
            <a:endParaRPr lang="en-US" sz="2600" dirty="0"/>
          </a:p>
        </p:txBody>
      </p:sp>
      <p:sp>
        <p:nvSpPr>
          <p:cNvPr id="5" name="Text 2"/>
          <p:cNvSpPr/>
          <p:nvPr/>
        </p:nvSpPr>
        <p:spPr>
          <a:xfrm>
            <a:off x="457200" y="3794760"/>
            <a:ext cx="11274552" cy="548640"/>
          </a:xfrm>
          <a:prstGeom prst="rect">
            <a:avLst/>
          </a:prstGeom>
          <a:noFill/>
          <a:ln/>
        </p:spPr>
        <p:txBody>
          <a:bodyPr wrap="square" rtlCol="0" anchor="ctr"/>
          <a:lstStyle/>
          <a:p>
            <a:pPr algn="ctr" indent="0" marL="0">
              <a:buNone/>
            </a:pPr>
            <a:r>
              <a:rPr lang="en-US" sz="1800" i="1" dirty="0">
                <a:solidFill>
                  <a:srgbClr val="1C7293"/>
                </a:solidFill>
                <a:latin typeface="Calibri" pitchFamily="34" charset="0"/>
                <a:ea typeface="Calibri" pitchFamily="34" charset="-122"/>
                <a:cs typeface="Calibri" pitchFamily="34" charset="-120"/>
              </a:rPr>
              <a:t>Next time: what's a “Model”? — the brain the agent uses to think.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2026-07-17T14:23:16Z</dcterms:created>
  <dcterms:modified xsi:type="dcterms:W3CDTF">2026-07-17T14:23:16Z</dcterms:modified>
</cp:coreProperties>
</file>